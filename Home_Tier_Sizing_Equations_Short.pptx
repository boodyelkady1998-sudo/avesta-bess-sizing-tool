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 steps: 1 Input: last bill (EGP) or last month (kWh). 2 Consumption: bill to kWh, split into day and night. 3 Sizing: solar PV (kWp) and battery (kWh). 4 New bill: grid import after solar, billed by tier. 5 Economics: price, savings, payback, backup.</a:t>
            </a:r>
          </a:p>
          <a:p>
            <a:r>
              <a:t>Tier rates are editable in the tool. Above 650 kWh, and again above 1000 kWh, the whole consumption bills at one flat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Method: find the tier by comparing the bill with the 'Bill at top' column, subtract the cost of the tiers below, divide the rest by that tier's rate.</a:t>
            </a:r>
          </a:p>
          <a:p>
            <a:r>
              <a:t>Worked examples: 300 EGP -&gt; 200 + (300 - 200) / 1.73 = 257.8 kWh (Tier 4). 1,000 EGP -&gt; 350 + (1,000 - 459.5) / 2.18 = 597.9 kWh (Tier 5). 2,000 EGP -&gt; 2,000 / 2.35 = 851.1 kWh (Tier 6). 4,000 EGP -&gt; 4,000 / 2.89 = 1,384.1 kWh (Tier 7).</a:t>
            </a:r>
          </a:p>
          <a:p>
            <a:r>
              <a:t>Check values of the bill: 90 kWh = 68.8; 300 = 373.0; 500 = 786.5; 800 = 1,880.0; 1,200 = 3,468.0 EGP.</a:t>
            </a:r>
          </a:p>
          <a:p>
            <a:r>
              <a:t>The tool computes the same result by bisection (largest M with Bill(M) &lt;= B, 60 halvings, rounded to 0.1 kWh), so it stays correct if tier rates are edited.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a battery, solar beyond the daytime load is lost, so solar only is sized to D. With a battery, extra solar charges it for the night (U = usable battery energy).</a:t>
            </a:r>
          </a:p>
          <a:p>
            <a:r>
              <a:t>Battery combinations by required kWh: up to 5.12 = LV_5; up to 16 = LV_16; up to 21.12 = LV_16 + LV_5; up to 32 = LV_32; up to 37.12 = LV_32 + LV_5; up to 48 = LV_32 + LV_16; up to 53.12 = LV_32 + LV_16 + LV_5; up to 64 = 2 x LV_32. Ties go to fewer units.</a:t>
            </a:r>
          </a:p>
          <a:p>
            <a:r>
              <a:t>'Full day' mode sizes the battery on E instead of N (the original Home Storage deck's method).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can never exceed the home's consumption, so the bill with solar is never higher than grid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Price examples: solar only (3 kWp x 8,000 + 3 kW x 6,000) x 1.10 = 46,200 EGP. Solar + battery (6.5 x 8,000 + 8 x 6,000) x 1.10 + 21.12 x 13,640 = 110,000 + 288,077 = 398,077 EGP.</a:t>
            </a:r>
          </a:p>
          <a:p>
            <a:r>
              <a:t>Standard inverter sizes: 3, 5, 6, 8, 10, 12, 15, 20 kW and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Solar sized just to bring consumption under a threshold earns the highest return per kWh.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AVESTA · EGYPT RESIDENTIAL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Home Tier Sizing: the equations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854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854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4171C"/>
                </a:solidFill>
                <a:latin typeface="Arial"/>
              </a:rPr>
              <a:t>1  Input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92400" y="2006600"/>
            <a:ext cx="254000" cy="152400"/>
          </a:xfrm>
          <a:prstGeom prst="rightArrow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97200" y="1854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7200" y="1854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4171C"/>
                </a:solidFill>
                <a:latin typeface="Arial"/>
              </a:rPr>
              <a:t>2  Consumption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76800" y="2006600"/>
            <a:ext cx="254000" cy="152400"/>
          </a:xfrm>
          <a:prstGeom prst="rightArrow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81600" y="1854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1600" y="1854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4171C"/>
                </a:solidFill>
                <a:latin typeface="Arial"/>
              </a:rPr>
              <a:t>3  Sizing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61200" y="2006600"/>
            <a:ext cx="254000" cy="152400"/>
          </a:xfrm>
          <a:prstGeom prst="rightArrow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66000" y="1854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6000" y="1854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4171C"/>
                </a:solidFill>
                <a:latin typeface="Arial"/>
              </a:rPr>
              <a:t>4  New bill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45600" y="2006600"/>
            <a:ext cx="254000" cy="152400"/>
          </a:xfrm>
          <a:prstGeom prst="rightArrow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50400" y="1854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0400" y="1854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4171C"/>
                </a:solidFill>
                <a:latin typeface="Arial"/>
              </a:rPr>
              <a:t>5  Economics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2800" y="2616200"/>
          <a:ext cx="10566400" cy="2794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4100"/>
                <a:gridCol w="2114550"/>
                <a:gridCol w="1797050"/>
                <a:gridCol w="5600700"/>
              </a:tblGrid>
              <a:tr h="3492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Monthly kWh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EGP / kWh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How it bills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0 – 50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0.68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Progressive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51 – 100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0.87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Progressive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101 – 200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Progressive; above 100 kWh the first 200 all bill at 1.00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201 – 350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1.73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Progressive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351 – 650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2.18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Progressive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651 – 1000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2.35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Flat on ALL kWh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&gt; 1000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2.89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Flat on ALL kWh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12800" y="5651500"/>
            <a:ext cx="105664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Tariff of the August 2026 bill (Youm7, Masrawy). Fees and future increases are ignored. Worked example throughout: a 2,000 EGP bill.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STEP 2 · BILL ↔ KWH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From consumption to bill, and back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905000"/>
          <a:ext cx="10560050" cy="264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6600"/>
                <a:gridCol w="1371600"/>
                <a:gridCol w="3378200"/>
                <a:gridCol w="1479550"/>
                <a:gridCol w="3594100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Tier</a:t>
                      </a:r>
                    </a:p>
                  </a:txBody>
                  <a:tcPr marL="88900" marR="88900" marT="50800" marB="5080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kWh (M)</a:t>
                      </a:r>
                    </a:p>
                  </a:txBody>
                  <a:tcPr marL="88900" marR="88900" marT="50800" marB="5080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Bill from M</a:t>
                      </a:r>
                    </a:p>
                  </a:txBody>
                  <a:tcPr marL="88900" marR="88900" marT="50800" marB="5080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Bill at top</a:t>
                      </a:r>
                    </a:p>
                  </a:txBody>
                  <a:tcPr marL="88900" marR="88900" marT="50800" marB="5080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171C"/>
                          </a:solidFill>
                          <a:latin typeface="Consolas"/>
                        </a:rPr>
                        <a:t>M from bill B</a:t>
                      </a:r>
                    </a:p>
                  </a:txBody>
                  <a:tcPr marL="88900" marR="88900" marT="50800" marB="50800" anchor="ctr">
                    <a:solidFill>
                      <a:srgbClr val="E6E9ED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0 – 50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0.68 × M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34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B ÷ 0.68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88900" marR="889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51 – 100</a:t>
                      </a:r>
                    </a:p>
                  </a:txBody>
                  <a:tcPr marL="88900" marR="889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34 + 0.87 × (M − 50)</a:t>
                      </a:r>
                    </a:p>
                  </a:txBody>
                  <a:tcPr marL="88900" marR="889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77.5</a:t>
                      </a:r>
                    </a:p>
                  </a:txBody>
                  <a:tcPr marL="88900" marR="889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50 + (B − 34) ÷ 0.87</a:t>
                      </a:r>
                    </a:p>
                  </a:txBody>
                  <a:tcPr marL="88900" marR="88900" marT="50800" marB="50800" anchor="ctr">
                    <a:solidFill>
                      <a:srgbClr val="F4F5F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101 – 200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1.00 × M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B ÷ 1.00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88900" marR="889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201 – 350</a:t>
                      </a:r>
                    </a:p>
                  </a:txBody>
                  <a:tcPr marL="88900" marR="889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200 + 1.73 × (M − 200)</a:t>
                      </a:r>
                    </a:p>
                  </a:txBody>
                  <a:tcPr marL="88900" marR="889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459.5</a:t>
                      </a:r>
                    </a:p>
                  </a:txBody>
                  <a:tcPr marL="88900" marR="889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200 + (B − 200) ÷ 1.73</a:t>
                      </a:r>
                    </a:p>
                  </a:txBody>
                  <a:tcPr marL="88900" marR="88900" marT="50800" marB="50800" anchor="ctr">
                    <a:solidFill>
                      <a:srgbClr val="F4F5F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351 – 650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459.5 + 2.18 × (M − 350)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1,113.5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350 + (B − 459.5) ÷ 2.18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88900" marR="889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651 – 1000</a:t>
                      </a:r>
                    </a:p>
                  </a:txBody>
                  <a:tcPr marL="88900" marR="889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2.35 × M</a:t>
                      </a:r>
                    </a:p>
                  </a:txBody>
                  <a:tcPr marL="88900" marR="889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2,350</a:t>
                      </a:r>
                    </a:p>
                  </a:txBody>
                  <a:tcPr marL="88900" marR="889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B ÷ 2.35</a:t>
                      </a:r>
                    </a:p>
                  </a:txBody>
                  <a:tcPr marL="88900" marR="88900" marT="50800" marB="50800" anchor="ctr">
                    <a:solidFill>
                      <a:srgbClr val="F4F5F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&gt; 1000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2.89 × M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4171C"/>
                          </a:solidFill>
                          <a:latin typeface="Consolas"/>
                        </a:rPr>
                        <a:t>B ÷ 2.89</a:t>
                      </a:r>
                    </a:p>
                  </a:txBody>
                  <a:tcPr marL="88900" marR="88900" marT="50800" marB="50800" anchor="ctr"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12800" y="4749800"/>
            <a:ext cx="10566400" cy="533400"/>
          </a:xfrm>
          <a:prstGeom prst="roundRect">
            <a:avLst>
              <a:gd name="adj" fmla="val 14285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600" y="4749800"/>
            <a:ext cx="10210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4171C"/>
                </a:solidFill>
                <a:latin typeface="Consolas"/>
              </a:rPr>
              <a:t>Bill jumps: 77.5 → 101 (100 kWh) · 1,113.5 → 1,527.5 (650 kWh) · 2,350 → 2,890 (1000 kWh)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5435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Example: 2,000 EGP lies between 1,527.5 and 2,350, so Tier 6: </a:t>
            </a:r>
            <a:r>
              <a:rPr sz="1300" b="1">
                <a:solidFill>
                  <a:srgbClr val="4A5260"/>
                </a:solidFill>
                <a:latin typeface="Arial"/>
              </a:rPr>
              <a:t>2,000 ÷ 2.35 = 851.1 kWh</a:t>
            </a:r>
            <a:r>
              <a:rPr sz="1300" b="0">
                <a:solidFill>
                  <a:srgbClr val="4A5260"/>
                </a:solidFill>
                <a:latin typeface="Arial"/>
              </a:rPr>
              <a:t>. A bill inside a jump maps to the threshold; the kWh printed on the bill is more exact.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STEP 3 · SIZING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Daily split, solar size and battery size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1905000"/>
            <a:ext cx="3386666" cy="3556000"/>
          </a:xfrm>
          <a:prstGeom prst="roundRect">
            <a:avLst>
              <a:gd name="adj" fmla="val 3000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08200"/>
            <a:ext cx="2980266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4171C"/>
                </a:solidFill>
                <a:latin typeface="Arial"/>
              </a:rPr>
              <a:t>Daily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5654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71C"/>
                </a:solidFill>
                <a:latin typeface="Consolas"/>
              </a:rPr>
              <a:t>E = M ÷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321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851.1 ÷ 30 = 28.37 kWh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3528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71C"/>
                </a:solidFill>
                <a:latin typeface="Consolas"/>
              </a:rPr>
              <a:t>N = E × night share (55%)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6195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15.60 kWh at night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1402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71C"/>
                </a:solidFill>
                <a:latin typeface="Consolas"/>
              </a:rPr>
              <a:t>D = E −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069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12.77 kWh in daytime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2666" y="1905000"/>
            <a:ext cx="3386666" cy="3556000"/>
          </a:xfrm>
          <a:prstGeom prst="roundRect">
            <a:avLst>
              <a:gd name="adj" fmla="val 3000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5866" y="2108200"/>
            <a:ext cx="2980266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4171C"/>
                </a:solidFill>
                <a:latin typeface="Arial"/>
              </a:rPr>
              <a:t>Solar PV (kWp)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5866" y="25654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71C"/>
                </a:solidFill>
                <a:latin typeface="Consolas"/>
              </a:rPr>
              <a:t>P = D ÷ 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5866" y="28321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Solar only: 2.66 → 3.0 kWp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5866" y="33528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71C"/>
                </a:solidFill>
                <a:latin typeface="Consolas"/>
              </a:rPr>
              <a:t>P = (D + min(N,U) ÷ η) ÷ 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5866" y="36195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Solar + battery: 6.08 → 6.5 kWp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5866" y="4140200"/>
            <a:ext cx="2980266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5260"/>
                </a:solidFill>
                <a:latin typeface="Arial"/>
              </a:rPr>
              <a:t>Y = 4.8 kWh/kWp/day, η = 95%. Rounded up to 0.5 kWp.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2533" y="1905000"/>
            <a:ext cx="3386666" cy="3556000"/>
          </a:xfrm>
          <a:prstGeom prst="roundRect">
            <a:avLst>
              <a:gd name="adj" fmla="val 3000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5733" y="2108200"/>
            <a:ext cx="2980266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4171C"/>
                </a:solidFill>
                <a:latin typeface="Arial"/>
              </a:rPr>
              <a:t>Battery (kWh)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5733" y="25654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71C"/>
                </a:solidFill>
                <a:latin typeface="Consolas"/>
              </a:rPr>
              <a:t>C = N ÷ (DoD × η)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5733" y="28321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15.60 ÷ 0.76 = 20.53 kWh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5733" y="33528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71C"/>
                </a:solidFill>
                <a:latin typeface="Consolas"/>
              </a:rPr>
              <a:t>Smallest AVESTA stack ≥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5733" y="36195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LV_16 + LV_5 = 21.12 kWh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5733" y="41402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71C"/>
                </a:solidFill>
                <a:latin typeface="Consolas"/>
              </a:rPr>
              <a:t>U = C × DoD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5733" y="4406900"/>
            <a:ext cx="2980266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16.90 kWh usable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" y="56134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Arial"/>
              </a:rPr>
              <a:t>DoD = 80%. Stacks: any number of LV_32, plus at most one LV_16 and one LV_5.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STEP 4 · NEW BILL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Grid import after solar (kWh per day)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905000"/>
          <a:ext cx="10560050" cy="2997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92750"/>
                <a:gridCol w="2533650"/>
                <a:gridCol w="2533650"/>
              </a:tblGrid>
              <a:tr h="37465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171C"/>
                          </a:solidFill>
                          <a:latin typeface="Arial"/>
                        </a:rPr>
                        <a:t>Equation</a:t>
                      </a:r>
                    </a:p>
                  </a:txBody>
                  <a:tcPr marL="107950" marR="107950" marT="63500" marB="6350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171C"/>
                          </a:solidFill>
                          <a:latin typeface="Arial"/>
                        </a:rPr>
                        <a:t>Solar only</a:t>
                      </a:r>
                    </a:p>
                  </a:txBody>
                  <a:tcPr marL="107950" marR="107950" marT="63500" marB="6350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4171C"/>
                          </a:solidFill>
                          <a:latin typeface="Arial"/>
                        </a:rPr>
                        <a:t>Solar + battery</a:t>
                      </a:r>
                    </a:p>
                  </a:txBody>
                  <a:tcPr marL="107950" marR="107950" marT="63500" marB="63500" anchor="ctr">
                    <a:solidFill>
                      <a:srgbClr val="E6E9E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Generation G = P × Y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14.40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31.20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Direct use = min(G, D)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12.77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12.77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Surplus = G − direct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1.63 (lost)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18.43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From battery = min(surplus × η, U, N)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15.60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Import / day = E − direct − battery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15.60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Import / month = × 30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468 kWh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0 kWh</a:t>
                      </a:r>
                    </a:p>
                  </a:txBody>
                  <a:tcPr marL="107950" marR="107950" marT="63500" marB="63500" anchor="ctr">
                    <a:solidFill>
                      <a:srgbClr val="F4F5F7"/>
                    </a:solidFill>
                  </a:tcPr>
                </a:tc>
              </a:tr>
              <a:tr h="37465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New bill = Bill(import)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717 EGP · Tier 5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4171C"/>
                          </a:solidFill>
                          <a:latin typeface="Arial"/>
                        </a:rPr>
                        <a:t>0 EGP</a:t>
                      </a:r>
                    </a:p>
                  </a:txBody>
                  <a:tcPr marL="107950" marR="107950" marT="63500" marB="63500" anchor="ctr"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5207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Exported surplus earns nothing: savings count only solar energy the home uses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STEP 5 ·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Price, savings, payback and backup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905000"/>
          <a:ext cx="10560050" cy="24447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127750"/>
                <a:gridCol w="2216150"/>
                <a:gridCol w="2216150"/>
              </a:tblGrid>
              <a:tr h="3492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Equation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Solar only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Solar + battery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Inverter = standard size ≥ max(3, P)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3 kW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8 kW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Price = (P × 8,000 + Inverter × 6,000) × 1.10 + C × 13,640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46,200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398,077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Monthly saving = Bill(M) − Bill(import)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1,283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2,000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Annual saving = monthly × 12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15,397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24,001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Payback = Price ÷ annual saving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3.0 years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16.6 years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492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Backup hours = U ÷ (E ÷ 24)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≈ 14.3 h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12800" y="4597400"/>
            <a:ext cx="10566400" cy="508000"/>
          </a:xfrm>
          <a:prstGeom prst="roundRect">
            <a:avLst>
              <a:gd name="adj" fmla="val 15000"/>
            </a:avLst>
          </a:prstGeom>
          <a:solidFill>
            <a:srgbClr val="FCFCFD"/>
          </a:solidFill>
          <a:ln w="635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600" y="4597400"/>
            <a:ext cx="102108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4171C"/>
                </a:solidFill>
                <a:latin typeface="Consolas"/>
              </a:rPr>
              <a:t>Recommend solar + battery when its payback ≤ 1.15 × solar-only payback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52578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The 10% for installation &amp; BOS applies to PV and inverter only, not to the battery. Backup hours use the average load; air conditioning peaks shorten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A3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2065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4171C"/>
                </a:solidFill>
                <a:latin typeface="Arial"/>
              </a:rPr>
              <a:t>TIER CLIFF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524000"/>
            <a:ext cx="105664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4171C"/>
                </a:solidFill>
                <a:latin typeface="Arial"/>
              </a:rPr>
              <a:t>The kWh just above 650 or 1000 are the most valuable to cut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857500"/>
            <a:ext cx="10566400" cy="609600"/>
          </a:xfrm>
          <a:prstGeom prst="roundRect">
            <a:avLst>
              <a:gd name="adj" fmla="val 12500"/>
            </a:avLst>
          </a:prstGeom>
          <a:solidFill>
            <a:srgbClr val="FCE3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600" y="2857500"/>
            <a:ext cx="102108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4171C"/>
                </a:solidFill>
                <a:latin typeface="Consolas"/>
              </a:rPr>
              <a:t>Value per kWh cut = (Bill(M) − Bill(T)) ÷ (M − T), with T = 650 or 1000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3810000"/>
            <a:ext cx="5715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14171C"/>
                </a:solidFill>
                <a:latin typeface="Consolas"/>
              </a:rPr>
              <a:t>4.41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4699000"/>
            <a:ext cx="596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A2F37"/>
                </a:solidFill>
                <a:latin typeface="Arial"/>
              </a:rPr>
              <a:t>EGP saved per kWh: (2,000 − 1,113.5) ÷ (851 − 650)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5500" y="3810000"/>
            <a:ext cx="42037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5A3A22"/>
                </a:solidFill>
                <a:latin typeface="Consolas"/>
              </a:rPr>
              <a:t>2.35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5500" y="4699000"/>
            <a:ext cx="42037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2A2F37"/>
                </a:solidFill>
                <a:latin typeface="Arial"/>
              </a:rPr>
              <a:t>EGP average price today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B84E0E"/>
                </a:solidFill>
                <a:latin typeface="Arial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4171C"/>
                </a:solidFill>
                <a:latin typeface="Arial"/>
              </a:rPr>
              <a:t>Default assumptions and their sources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1905000"/>
          <a:ext cx="10566400" cy="330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68650"/>
                <a:gridCol w="2959100"/>
                <a:gridCol w="4438650"/>
              </a:tblGrid>
              <a:tr h="330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Default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4171C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101600" marR="101600" marT="57150" marB="57150" anchor="ctr">
                    <a:solidFill>
                      <a:srgbClr val="E6E9ED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Night share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Estimate; needs measured load profiles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PV yield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4.8 kWh/kWp/day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Cairo ≈ 1,750 kWh/kWp per year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Depth of discharge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AVESTA LV datasheet: 6,000 cycles at 80%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Round-trip efficiency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95%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Home Storage deck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Battery price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13,640 EGP/kWh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Deck: €220 × 62 EGP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PV price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8,000 EGP/kWp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Deck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Inverter price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6,000 EGP/kW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Installation &amp; BOS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10% of PV + inverter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Deck: 10–15%</a:t>
                      </a:r>
                    </a:p>
                  </a:txBody>
                  <a:tcPr marL="101600" marR="101600" marT="57150" marB="57150" anchor="ctr">
                    <a:solidFill>
                      <a:srgbClr val="F4F5F7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Days per month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4171C"/>
                          </a:solidFill>
                          <a:latin typeface="Arial"/>
                        </a:rPr>
                        <a:t>Fixed</a:t>
                      </a:r>
                    </a:p>
                  </a:txBody>
                  <a:tcPr marL="101600" marR="101600" marT="57150" marB="57150" anchor="ctr"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5461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A5260"/>
                </a:solidFill>
                <a:latin typeface="Arial"/>
              </a:rPr>
              <a:t>All defaults except days per month are editable under “Assumptions &amp; prices” in the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