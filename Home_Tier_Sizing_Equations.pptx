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905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26A1B"/>
                </a:solidFill>
                <a:latin typeface="Arial"/>
              </a:rPr>
              <a:t>AVESTA · EGYPT RESIDENTIAL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260600"/>
            <a:ext cx="105664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4F5F7"/>
                </a:solidFill>
                <a:latin typeface="Arial"/>
              </a:rPr>
              <a:t>Home Tier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302000"/>
            <a:ext cx="825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C3C8D0"/>
                </a:solidFill>
                <a:latin typeface="Arial"/>
              </a:rPr>
              <a:t>The equations behind the tool, from the customer's bill to battery size, savings and payback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4318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1AD"/>
                </a:solidFill>
                <a:latin typeface="Arial"/>
              </a:rPr>
              <a:t>Worked example on every slide: a monthly bill of 2,000 EGP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Five steps from a bill to a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95500"/>
            <a:ext cx="1808480" cy="2095500"/>
          </a:xfrm>
          <a:prstGeom prst="roundRect">
            <a:avLst>
              <a:gd name="adj" fmla="val 5617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5200" y="2298700"/>
            <a:ext cx="150368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B84E0E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200" y="2730500"/>
            <a:ext cx="150368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4171C"/>
                </a:solidFill>
                <a:latin typeface="Arial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3086100"/>
            <a:ext cx="150368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Last bill (EGP) or last month (kWh)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86050" y="3067050"/>
            <a:ext cx="254000" cy="152400"/>
          </a:xfrm>
          <a:prstGeom prst="rightArrow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02280" y="2095500"/>
            <a:ext cx="1808480" cy="2095500"/>
          </a:xfrm>
          <a:prstGeom prst="roundRect">
            <a:avLst>
              <a:gd name="adj" fmla="val 5617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2298700"/>
            <a:ext cx="150368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B84E0E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730500"/>
            <a:ext cx="150368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4171C"/>
                </a:solidFill>
                <a:latin typeface="Arial"/>
              </a:rPr>
              <a:t>Consumption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086100"/>
            <a:ext cx="150368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Bill → kWh, split into day and night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76800" y="3067050"/>
            <a:ext cx="254000" cy="152400"/>
          </a:xfrm>
          <a:prstGeom prst="rightArrow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91760" y="2095500"/>
            <a:ext cx="1808480" cy="2095500"/>
          </a:xfrm>
          <a:prstGeom prst="roundRect">
            <a:avLst>
              <a:gd name="adj" fmla="val 5617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4160" y="2298700"/>
            <a:ext cx="150368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B84E0E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4160" y="2730500"/>
            <a:ext cx="150368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4171C"/>
                </a:solidFill>
                <a:latin typeface="Arial"/>
              </a:rPr>
              <a:t>Sizing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4160" y="3086100"/>
            <a:ext cx="150368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Solar PV (kWp) and battery (kWh)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61200" y="3067050"/>
            <a:ext cx="254000" cy="152400"/>
          </a:xfrm>
          <a:prstGeom prst="rightArrow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81240" y="2095500"/>
            <a:ext cx="1808480" cy="2095500"/>
          </a:xfrm>
          <a:prstGeom prst="roundRect">
            <a:avLst>
              <a:gd name="adj" fmla="val 5617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33640" y="2298700"/>
            <a:ext cx="150368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B84E0E"/>
                </a:solidFill>
                <a:latin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3640" y="2730500"/>
            <a:ext cx="150368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4171C"/>
                </a:solidFill>
                <a:latin typeface="Arial"/>
              </a:rPr>
              <a:t>New bill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3640" y="3086100"/>
            <a:ext cx="150368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Grid import after solar, billed by tier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51950" y="3067050"/>
            <a:ext cx="254000" cy="152400"/>
          </a:xfrm>
          <a:prstGeom prst="rightArrow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70720" y="2095500"/>
            <a:ext cx="1808480" cy="2095500"/>
          </a:xfrm>
          <a:prstGeom prst="roundRect">
            <a:avLst>
              <a:gd name="adj" fmla="val 5617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3120" y="2298700"/>
            <a:ext cx="150368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B84E0E"/>
                </a:solidFill>
                <a:latin typeface="Consola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3120" y="2730500"/>
            <a:ext cx="150368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4171C"/>
                </a:solidFill>
                <a:latin typeface="Arial"/>
              </a:rPr>
              <a:t>Economics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3120" y="3086100"/>
            <a:ext cx="150368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Price, savings, payback, backup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" y="45720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A5260"/>
                </a:solidFill>
                <a:latin typeface="Arial"/>
              </a:rPr>
              <a:t>Example: 2,000 EGP → 851 kWh per month → </a:t>
            </a:r>
            <a:r>
              <a:rPr sz="1400" b="1">
                <a:solidFill>
                  <a:srgbClr val="4A5260"/>
                </a:solidFill>
                <a:latin typeface="Arial"/>
              </a:rPr>
              <a:t>Solar only</a:t>
            </a:r>
            <a:r>
              <a:rPr sz="1400" b="0">
                <a:solidFill>
                  <a:srgbClr val="4A5260"/>
                </a:solidFill>
                <a:latin typeface="Arial"/>
              </a:rPr>
              <a:t> 3 kWp, or </a:t>
            </a:r>
            <a:r>
              <a:rPr sz="1400" b="1">
                <a:solidFill>
                  <a:srgbClr val="4A5260"/>
                </a:solidFill>
                <a:latin typeface="Arial"/>
              </a:rPr>
              <a:t>Solar + battery</a:t>
            </a:r>
            <a:r>
              <a:rPr sz="1400" b="0">
                <a:solidFill>
                  <a:srgbClr val="4A5260"/>
                </a:solidFill>
                <a:latin typeface="Arial"/>
              </a:rPr>
              <a:t> 6.5 kWp with 21.12 kWh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INPUT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Residential tariff tiers (August 2026 bill)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905000"/>
          <a:ext cx="10566400" cy="2997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54100"/>
                <a:gridCol w="2114550"/>
                <a:gridCol w="1797050"/>
                <a:gridCol w="5600700"/>
              </a:tblGrid>
              <a:tr h="3746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171C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107950" marR="107950" marT="63500" marB="6350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171C"/>
                          </a:solidFill>
                          <a:latin typeface="Arial"/>
                        </a:rPr>
                        <a:t>Monthly kWh</a:t>
                      </a:r>
                    </a:p>
                  </a:txBody>
                  <a:tcPr marL="107950" marR="107950" marT="63500" marB="6350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171C"/>
                          </a:solidFill>
                          <a:latin typeface="Arial"/>
                        </a:rPr>
                        <a:t>EGP / kWh</a:t>
                      </a:r>
                    </a:p>
                  </a:txBody>
                  <a:tcPr marL="107950" marR="107950" marT="63500" marB="6350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171C"/>
                          </a:solidFill>
                          <a:latin typeface="Arial"/>
                        </a:rPr>
                        <a:t>How it bills</a:t>
                      </a:r>
                    </a:p>
                  </a:txBody>
                  <a:tcPr marL="107950" marR="107950" marT="63500" marB="63500" anchor="ctr">
                    <a:solidFill>
                      <a:srgbClr val="E6E9E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0 – 50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0.68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Progressive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51 – 100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0.87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Progressive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101 – 200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Progressive; above 100 kWh the first 200 all bill at 1.00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201 – 350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1.73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Progressive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351 – 650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2.18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Progressive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651 – 1000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2.35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Flat on ALL kWh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&gt; 1000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2.89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Flat on ALL kWh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5207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Fees and future tariff increases are ignored. Rates are editable in the tool.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248400"/>
            <a:ext cx="105664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Sources: Youm7 and Masrawy, 1 August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STEP 2 · TARIFF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Monthly bill from consumption M (kWh)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905000"/>
          <a:ext cx="6413500" cy="25717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78050"/>
                <a:gridCol w="4235450"/>
              </a:tblGrid>
              <a:tr h="3492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Consolas"/>
                        </a:rPr>
                        <a:t>Consumption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Consolas"/>
                        </a:rPr>
                        <a:t>Bill (EGP)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M ≤ 50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0.68 × M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50 &lt; M ≤ 100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34 + 0.87 × (M − 50)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8255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100 &lt; M ≤ 650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1.00 × min(M, 200)</a:t>
                      </a:r>
                    </a:p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+ 1.73 × max(0, min(M, 350) − 200)</a:t>
                      </a:r>
                    </a:p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+ 2.18 × max(0, M − 350)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650 &lt; M ≤ 1000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2.35 × M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M &gt; 1000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2.89 × M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31100" y="1905000"/>
            <a:ext cx="38481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4171C"/>
                </a:solidFill>
                <a:latin typeface="Arial"/>
              </a:rPr>
              <a:t>Check values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31100" y="2286000"/>
          <a:ext cx="3848100" cy="22479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4050"/>
                <a:gridCol w="1924050"/>
              </a:tblGrid>
              <a:tr h="3746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171C"/>
                          </a:solidFill>
                          <a:latin typeface="Consolas"/>
                        </a:rPr>
                        <a:t>M (kWh)</a:t>
                      </a:r>
                    </a:p>
                  </a:txBody>
                  <a:tcPr marL="107950" marR="107950" marT="63500" marB="6350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171C"/>
                          </a:solidFill>
                          <a:latin typeface="Consolas"/>
                        </a:rPr>
                        <a:t>Bill (EGP)</a:t>
                      </a:r>
                    </a:p>
                  </a:txBody>
                  <a:tcPr marL="107950" marR="107950" marT="63500" marB="63500" anchor="ctr">
                    <a:solidFill>
                      <a:srgbClr val="E6E9E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onsolas"/>
                        </a:rPr>
                        <a:t>90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onsolas"/>
                        </a:rPr>
                        <a:t>68.8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onsolas"/>
                        </a:rPr>
                        <a:t>300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onsolas"/>
                        </a:rPr>
                        <a:t>373.0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onsolas"/>
                        </a:rPr>
                        <a:t>500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onsolas"/>
                        </a:rPr>
                        <a:t>786.5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onsolas"/>
                        </a:rPr>
                        <a:t>800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onsolas"/>
                        </a:rPr>
                        <a:t>1,880.0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onsolas"/>
                        </a:rPr>
                        <a:t>1,200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onsolas"/>
                        </a:rPr>
                        <a:t>3,468.0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STEP 2 · BILL → KWH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First, the bill at each tier boundary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905000"/>
          <a:ext cx="6223000" cy="24447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19250"/>
                <a:gridCol w="2984500"/>
                <a:gridCol w="1619250"/>
              </a:tblGrid>
              <a:tr h="3492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Consolas"/>
                        </a:rPr>
                        <a:t>Consumption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Consolas"/>
                        </a:rPr>
                        <a:t>Calculation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Consolas"/>
                        </a:rPr>
                        <a:t>Bill (EGP)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50 kWh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50 × 0.68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34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100 kWh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34 + 50 × 0.87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77.5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200 kWh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200 × 1.00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200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350 kWh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200 + 150 × 1.73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459.5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650 kWh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459.5 + 300 × 2.18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1,113.5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1000 kWh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1000 × 2.35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2,350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40600" y="1905000"/>
            <a:ext cx="40386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4171C"/>
                </a:solidFill>
                <a:latin typeface="Arial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40600" y="2311400"/>
            <a:ext cx="40386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4A5260"/>
                </a:solidFill>
                <a:latin typeface="Arial"/>
              </a:rPr>
              <a:t>1.</a:t>
            </a:r>
            <a:r>
              <a:rPr sz="1400" b="0">
                <a:solidFill>
                  <a:srgbClr val="4A5260"/>
                </a:solidFill>
                <a:latin typeface="Arial"/>
              </a:rPr>
              <a:t> Find the tier: compare the bill with these boundary bills.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4A5260"/>
                </a:solidFill>
                <a:latin typeface="Arial"/>
              </a:rPr>
              <a:t>2.</a:t>
            </a:r>
            <a:r>
              <a:rPr sz="1400" b="0">
                <a:solidFill>
                  <a:srgbClr val="4A5260"/>
                </a:solidFill>
                <a:latin typeface="Arial"/>
              </a:rPr>
              <a:t> Subtract the cost of the tiers below it.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4A5260"/>
                </a:solidFill>
                <a:latin typeface="Arial"/>
              </a:rPr>
              <a:t>3.</a:t>
            </a:r>
            <a:r>
              <a:rPr sz="1400" b="0">
                <a:solidFill>
                  <a:srgbClr val="4A5260"/>
                </a:solidFill>
                <a:latin typeface="Arial"/>
              </a:rPr>
              <a:t> Divide what is left by that tier's 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40600" y="4064000"/>
            <a:ext cx="40386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Above 100 kWh the first 200 kWh all bill at 1.00; above 650 kWh all consumption bills at one flat 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STEP 2 · BILL → KWH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Consumption M from the bill 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905000"/>
          <a:ext cx="10566400" cy="2794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78200"/>
                <a:gridCol w="1270000"/>
                <a:gridCol w="5918200"/>
              </a:tblGrid>
              <a:tr h="3492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Consolas"/>
                        </a:rPr>
                        <a:t>If the bill B is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Consolas"/>
                        </a:rPr>
                        <a:t>Tier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Consolas"/>
                        </a:rPr>
                        <a:t>Consumption M (kWh)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up to 34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B ÷ 0.68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34 – 77.5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50 + (B − 34) ÷ 0.87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101 – 200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B ÷ 1.00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200 – 459.5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200 + (B − 200) ÷ 1.73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459.5 – 1,113.5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350 + (B − 459.5) ÷ 2.18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1,527.5 – 2,350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B ÷ 2.35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2,890 and above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Consolas"/>
                        </a:rPr>
                        <a:t>B ÷ 2.89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50800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Bills between 77.5–101, 1,113.5–1,527.5 and 2,350–2,890 have no exact consumption (see the jumps slide).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STEP 2 · BILL → KWH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Four worked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905000"/>
            <a:ext cx="5181600" cy="1295400"/>
          </a:xfrm>
          <a:prstGeom prst="roundRect">
            <a:avLst>
              <a:gd name="adj" fmla="val 7843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82800"/>
            <a:ext cx="47752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4171C"/>
                </a:solidFill>
                <a:latin typeface="Consolas"/>
              </a:rPr>
              <a:t>300 EGP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514600"/>
            <a:ext cx="477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Between 200 and 459.5 → Tier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794000"/>
            <a:ext cx="4775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4171C"/>
                </a:solidFill>
                <a:latin typeface="Consolas"/>
              </a:rPr>
              <a:t>200 + (300 − 200) ÷ 1.73 = </a:t>
            </a:r>
            <a:r>
              <a:rPr sz="1400" b="1">
                <a:solidFill>
                  <a:srgbClr val="14171C"/>
                </a:solidFill>
                <a:latin typeface="Consolas"/>
              </a:rPr>
              <a:t>257.8 kWh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7600" y="1905000"/>
            <a:ext cx="5181600" cy="1295400"/>
          </a:xfrm>
          <a:prstGeom prst="roundRect">
            <a:avLst>
              <a:gd name="adj" fmla="val 7843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82800"/>
            <a:ext cx="47752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4171C"/>
                </a:solidFill>
                <a:latin typeface="Consolas"/>
              </a:rPr>
              <a:t>1,000 EGP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14600"/>
            <a:ext cx="477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Between 459.5 and 1,113.5 → Tier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94000"/>
            <a:ext cx="4775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4171C"/>
                </a:solidFill>
                <a:latin typeface="Consolas"/>
              </a:rPr>
              <a:t>350 + (1,000 − 459.5) ÷ 2.18 = </a:t>
            </a:r>
            <a:r>
              <a:rPr sz="1400" b="1">
                <a:solidFill>
                  <a:srgbClr val="14171C"/>
                </a:solidFill>
                <a:latin typeface="Consolas"/>
              </a:rPr>
              <a:t>597.9 kWh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3403600"/>
            <a:ext cx="5181600" cy="1295400"/>
          </a:xfrm>
          <a:prstGeom prst="roundRect">
            <a:avLst>
              <a:gd name="adj" fmla="val 7843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6000" y="3581400"/>
            <a:ext cx="47752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4171C"/>
                </a:solidFill>
                <a:latin typeface="Consolas"/>
              </a:rPr>
              <a:t>2,000 EGP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013200"/>
            <a:ext cx="477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Between 1,527.5 and 2,350 → Tier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292600"/>
            <a:ext cx="4775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4171C"/>
                </a:solidFill>
                <a:latin typeface="Consolas"/>
              </a:rPr>
              <a:t>2,000 ÷ 2.35 = </a:t>
            </a:r>
            <a:r>
              <a:rPr sz="1400" b="1">
                <a:solidFill>
                  <a:srgbClr val="14171C"/>
                </a:solidFill>
                <a:latin typeface="Consolas"/>
              </a:rPr>
              <a:t>851.1 kWh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7600" y="3403600"/>
            <a:ext cx="5181600" cy="1295400"/>
          </a:xfrm>
          <a:prstGeom prst="roundRect">
            <a:avLst>
              <a:gd name="adj" fmla="val 7843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581400"/>
            <a:ext cx="47752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4171C"/>
                </a:solidFill>
                <a:latin typeface="Consolas"/>
              </a:rPr>
              <a:t>4,000 EGP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13200"/>
            <a:ext cx="477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Above 2,890 → Tier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92600"/>
            <a:ext cx="4775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4171C"/>
                </a:solidFill>
                <a:latin typeface="Consolas"/>
              </a:rPr>
              <a:t>4,000 ÷ 2.89 = </a:t>
            </a:r>
            <a:r>
              <a:rPr sz="1400" b="1">
                <a:solidFill>
                  <a:srgbClr val="14171C"/>
                </a:solidFill>
                <a:latin typeface="Consolas"/>
              </a:rPr>
              <a:t>1,384.1 kWh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STEP 2 · BILL → KWH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How the tool computes it, and the bill jumps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905000"/>
            <a:ext cx="5130800" cy="533400"/>
          </a:xfrm>
          <a:prstGeom prst="roundRect">
            <a:avLst>
              <a:gd name="adj" fmla="val 14285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" y="1905000"/>
            <a:ext cx="47752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4171C"/>
                </a:solidFill>
                <a:latin typeface="Consolas"/>
              </a:rPr>
              <a:t>M = largest m where Bill(m) ≤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616200"/>
            <a:ext cx="51308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4A5260"/>
                </a:solidFill>
                <a:latin typeface="Arial"/>
              </a:rPr>
              <a:t>The tool gets the same result by bisection (60 halvings, rounded to 0.1 kWh), so it stays correct if the tier rates are edited.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" y="3632200"/>
            <a:ext cx="5130800" cy="787400"/>
          </a:xfrm>
          <a:prstGeom prst="roundRect">
            <a:avLst>
              <a:gd name="adj" fmla="val 9677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" y="3632200"/>
            <a:ext cx="4775200" cy="78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4171C"/>
                </a:solidFill>
                <a:latin typeface="Consolas"/>
              </a:rPr>
              <a:t>1,000 EGP → 597.9 kWh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4171C"/>
                </a:solidFill>
                <a:latin typeface="Consolas"/>
              </a:rPr>
              <a:t>2,000 EGP → 851.1 kWh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1905000"/>
            <a:ext cx="5130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4171C"/>
                </a:solidFill>
                <a:latin typeface="Arial"/>
              </a:rPr>
              <a:t>Bills inside a jump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48400" y="2286000"/>
          <a:ext cx="5130800" cy="1397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1900"/>
                <a:gridCol w="2362200"/>
                <a:gridCol w="1536700"/>
              </a:tblGrid>
              <a:tr h="3492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At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Bill jumps (EGP)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Mapped to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100 kWh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77.5 → 101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100 kWh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650 kWh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1,113.5 → 1,527.5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650 kWh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1000 kWh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2,350 → 2,890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1000 kWh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48400" y="3873500"/>
            <a:ext cx="51308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No consumption gives these bills exactly (fees are the usual cause), so the tool uses the threshold. Better: take the kWh printed on the bill.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STEP 2 · DAILY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Daily consumption and its day / night split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905000"/>
            <a:ext cx="10566400" cy="533400"/>
          </a:xfrm>
          <a:prstGeom prst="roundRect">
            <a:avLst>
              <a:gd name="adj" fmla="val 14285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" y="1905000"/>
            <a:ext cx="10210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4171C"/>
                </a:solidFill>
                <a:latin typeface="Consolas"/>
              </a:rPr>
              <a:t>E = M ÷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2540000"/>
            <a:ext cx="10566400" cy="533400"/>
          </a:xfrm>
          <a:prstGeom prst="roundRect">
            <a:avLst>
              <a:gd name="adj" fmla="val 14285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" y="2540000"/>
            <a:ext cx="10210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4171C"/>
                </a:solidFill>
                <a:latin typeface="Consolas"/>
              </a:rPr>
              <a:t>N = E × night share (default 55%)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3175000"/>
            <a:ext cx="10566400" cy="533400"/>
          </a:xfrm>
          <a:prstGeom prst="roundRect">
            <a:avLst>
              <a:gd name="adj" fmla="val 14285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600" y="3175000"/>
            <a:ext cx="10210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4171C"/>
                </a:solidFill>
                <a:latin typeface="Consolas"/>
              </a:rPr>
              <a:t>D = E − 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4064000"/>
            <a:ext cx="3420533" cy="1270000"/>
          </a:xfrm>
          <a:prstGeom prst="roundRect">
            <a:avLst>
              <a:gd name="adj" fmla="val 8000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241800"/>
            <a:ext cx="301413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4171C"/>
                </a:solidFill>
                <a:latin typeface="Consolas"/>
              </a:rPr>
              <a:t>28.37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927600"/>
            <a:ext cx="30141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260"/>
                </a:solidFill>
                <a:latin typeface="Arial"/>
              </a:rPr>
              <a:t>E · kWh per day (851.1 ÷ 30)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5733" y="4064000"/>
            <a:ext cx="3420533" cy="1270000"/>
          </a:xfrm>
          <a:prstGeom prst="roundRect">
            <a:avLst>
              <a:gd name="adj" fmla="val 8000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8933" y="4241800"/>
            <a:ext cx="301413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4171C"/>
                </a:solidFill>
                <a:latin typeface="Consolas"/>
              </a:rPr>
              <a:t>15.60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8933" y="4927600"/>
            <a:ext cx="30141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260"/>
                </a:solidFill>
                <a:latin typeface="Arial"/>
              </a:rPr>
              <a:t>N · kWh at night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8666" y="4064000"/>
            <a:ext cx="3420533" cy="1270000"/>
          </a:xfrm>
          <a:prstGeom prst="roundRect">
            <a:avLst>
              <a:gd name="adj" fmla="val 8000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1866" y="4241800"/>
            <a:ext cx="301413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4171C"/>
                </a:solidFill>
                <a:latin typeface="Consolas"/>
              </a:rPr>
              <a:t>12.77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1866" y="4927600"/>
            <a:ext cx="30141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260"/>
                </a:solidFill>
                <a:latin typeface="Arial"/>
              </a:rPr>
              <a:t>D · kWh in daytime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STEP 3 · SOLAR PV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Solar array size P (kWp)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898650"/>
            <a:ext cx="10566400" cy="546100"/>
          </a:xfrm>
          <a:prstGeom prst="roundRect">
            <a:avLst>
              <a:gd name="adj" fmla="val 13953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" y="1898650"/>
            <a:ext cx="102108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4171C"/>
                </a:solidFill>
                <a:latin typeface="Consolas"/>
              </a:rPr>
              <a:t>Daily generation G = P × Y, where Y = 4.8 kWh per kWp per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2749550"/>
            <a:ext cx="5181600" cy="2222500"/>
          </a:xfrm>
          <a:prstGeom prst="roundRect">
            <a:avLst>
              <a:gd name="adj" fmla="val 4571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952750"/>
            <a:ext cx="4775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4171C"/>
                </a:solidFill>
                <a:latin typeface="Arial"/>
              </a:rPr>
              <a:t>Solar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365500"/>
            <a:ext cx="4775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4171C"/>
                </a:solidFill>
                <a:latin typeface="Consolas"/>
              </a:rPr>
              <a:t>P = D ÷ 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746500"/>
            <a:ext cx="4775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260"/>
                </a:solidFill>
                <a:latin typeface="Consolas"/>
              </a:rPr>
              <a:t>12.77 ÷ 4.8 = 2.66 → </a:t>
            </a:r>
            <a:r>
              <a:rPr sz="1400" b="1">
                <a:solidFill>
                  <a:srgbClr val="4A5260"/>
                </a:solidFill>
                <a:latin typeface="Consolas"/>
              </a:rPr>
              <a:t>3.0 kWp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165600"/>
            <a:ext cx="4775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Without a battery, solar beyond the daytime load is lost.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7600" y="2749550"/>
            <a:ext cx="5181600" cy="2222500"/>
          </a:xfrm>
          <a:prstGeom prst="roundRect">
            <a:avLst>
              <a:gd name="adj" fmla="val 4571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952750"/>
            <a:ext cx="4775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4171C"/>
                </a:solidFill>
                <a:latin typeface="Arial"/>
              </a:rPr>
              <a:t>Solar + battery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65500"/>
            <a:ext cx="4775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4171C"/>
                </a:solidFill>
                <a:latin typeface="Consolas"/>
              </a:rPr>
              <a:t>P = (D + min(N, U) ÷ η) ÷ 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46500"/>
            <a:ext cx="4775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260"/>
                </a:solidFill>
                <a:latin typeface="Consolas"/>
              </a:rPr>
              <a:t>(12.77 + 15.60 ÷ 0.95) ÷ 4.8 = 6.08 → </a:t>
            </a:r>
            <a:r>
              <a:rPr sz="1400" b="1">
                <a:solidFill>
                  <a:srgbClr val="4A5260"/>
                </a:solidFill>
                <a:latin typeface="Consolas"/>
              </a:rPr>
              <a:t>6.5 kWp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65600"/>
            <a:ext cx="4775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Extra solar charges the battery for the night. U = usable battery energy, η = 95%.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527685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Both sizes round up to the next 0.5 kWp.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STEP 3 · BATTERY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Battery capacity C (kWh)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905000"/>
            <a:ext cx="5461000" cy="508000"/>
          </a:xfrm>
          <a:prstGeom prst="roundRect">
            <a:avLst>
              <a:gd name="adj" fmla="val 15000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" y="1905000"/>
            <a:ext cx="51054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4171C"/>
                </a:solidFill>
                <a:latin typeface="Consolas"/>
              </a:rPr>
              <a:t>C required = N ÷ (DoD × η)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2514600"/>
            <a:ext cx="5461000" cy="482600"/>
          </a:xfrm>
          <a:prstGeom prst="roundRect">
            <a:avLst>
              <a:gd name="adj" fmla="val 15789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" y="2514600"/>
            <a:ext cx="51054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4171C"/>
                </a:solidFill>
                <a:latin typeface="Consolas"/>
              </a:rPr>
              <a:t>15.60 ÷ (0.80 × 0.95) = 20.53 kWh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3149600"/>
            <a:ext cx="5461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4A5260"/>
                </a:solidFill>
                <a:latin typeface="Arial"/>
              </a:rPr>
              <a:t>Pick the smallest AVESTA combination at or above it: any number of LV_32, plus at most one LV_16 and one LV_5. Ties go to fewer units.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4089400"/>
            <a:ext cx="5461000" cy="762000"/>
          </a:xfrm>
          <a:prstGeom prst="roundRect">
            <a:avLst>
              <a:gd name="adj" fmla="val 10000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4089400"/>
            <a:ext cx="51054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4171C"/>
                </a:solidFill>
                <a:latin typeface="Consolas"/>
              </a:rPr>
              <a:t>→ LV_16 + LV_5 = 21.12 kWh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4171C"/>
                </a:solidFill>
                <a:latin typeface="Consolas"/>
              </a:rPr>
              <a:t>Usable U = C × DoD = 16.90 kWh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5003800"/>
            <a:ext cx="546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“Full day” mode uses E instead of N, the original deck's method.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78600" y="1905000"/>
          <a:ext cx="4800600" cy="31432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9300"/>
                <a:gridCol w="2781300"/>
              </a:tblGrid>
              <a:tr h="3492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Required kWh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Combination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up to 5.12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 × LV_5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up to 16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 × LV_16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up to 21.12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LV_16 + LV_5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up to 32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 × LV_32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up to 37.12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LV_32 + LV_5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up to 48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LV_32 + LV_16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up to 53.12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LV_32 + LV_16 + LV_5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up to 64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2 × LV_32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STEP 4 · NEW BILL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Grid import after solar (kWh per day)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905000"/>
          <a:ext cx="10560050" cy="2997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92750"/>
                <a:gridCol w="2533650"/>
                <a:gridCol w="2533650"/>
              </a:tblGrid>
              <a:tr h="3746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171C"/>
                          </a:solidFill>
                          <a:latin typeface="Arial"/>
                        </a:rPr>
                        <a:t>Equation</a:t>
                      </a:r>
                    </a:p>
                  </a:txBody>
                  <a:tcPr marL="107950" marR="107950" marT="63500" marB="6350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171C"/>
                          </a:solidFill>
                          <a:latin typeface="Arial"/>
                        </a:rPr>
                        <a:t>Solar only</a:t>
                      </a:r>
                    </a:p>
                  </a:txBody>
                  <a:tcPr marL="107950" marR="107950" marT="63500" marB="6350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171C"/>
                          </a:solidFill>
                          <a:latin typeface="Arial"/>
                        </a:rPr>
                        <a:t>Solar + battery</a:t>
                      </a:r>
                    </a:p>
                  </a:txBody>
                  <a:tcPr marL="107950" marR="107950" marT="63500" marB="63500" anchor="ctr">
                    <a:solidFill>
                      <a:srgbClr val="E6E9E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Generation G = P × Y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14.40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31.20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Direct use = min(G, D)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12.77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12.77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Surplus = G − direct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1.63 (lost)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18.43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From battery = min(surplus × η, U, N)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15.60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Import / day = E − direct − battery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15.60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Import / month = × 30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468 kWh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0 kWh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New bill = Bill(import)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717 EGP · Tier 5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0 EGP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5207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Exported surplus earns nothing: savings count only solar energy the home uses itself.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STEP 5 ·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System price (EGP)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905000"/>
            <a:ext cx="10566400" cy="482600"/>
          </a:xfrm>
          <a:prstGeom prst="roundRect">
            <a:avLst>
              <a:gd name="adj" fmla="val 15789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" y="1905000"/>
            <a:ext cx="102108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4171C"/>
                </a:solidFill>
                <a:latin typeface="Consolas"/>
              </a:rPr>
              <a:t>Inverter kW = smallest standard size ≥ max(3, P): 3, 5, 6, 8, 10, 12, 15, 20 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2489200"/>
            <a:ext cx="10566400" cy="482600"/>
          </a:xfrm>
          <a:prstGeom prst="roundRect">
            <a:avLst>
              <a:gd name="adj" fmla="val 15789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" y="2489200"/>
            <a:ext cx="102108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4171C"/>
                </a:solidFill>
                <a:latin typeface="Consolas"/>
              </a:rPr>
              <a:t>Price = (P × 8,000 + Inverter × 6,000) × 1.10 + C × 13,640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31496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The 10% for installation &amp; BOS applies to PV and inverter only, not to the battery.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3632200"/>
            <a:ext cx="5181600" cy="1473200"/>
          </a:xfrm>
          <a:prstGeom prst="roundRect">
            <a:avLst>
              <a:gd name="adj" fmla="val 6896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3835400"/>
            <a:ext cx="4775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4171C"/>
                </a:solidFill>
                <a:latin typeface="Arial"/>
              </a:rPr>
              <a:t>Solar only · 3 kWp, 3 kW inverter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16400"/>
            <a:ext cx="4775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260"/>
                </a:solidFill>
                <a:latin typeface="Consolas"/>
              </a:rPr>
              <a:t>(24,000 + 18,000) × 1.10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559300"/>
            <a:ext cx="477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4171C"/>
                </a:solidFill>
                <a:latin typeface="Consolas"/>
              </a:rPr>
              <a:t>46,200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7600" y="3632200"/>
            <a:ext cx="5181600" cy="1473200"/>
          </a:xfrm>
          <a:prstGeom prst="roundRect">
            <a:avLst>
              <a:gd name="adj" fmla="val 6896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835400"/>
            <a:ext cx="4775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4171C"/>
                </a:solidFill>
                <a:latin typeface="Arial"/>
              </a:rPr>
              <a:t>Solar + battery · 6.5 kWp, 8 kW inverter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16400"/>
            <a:ext cx="4775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260"/>
                </a:solidFill>
                <a:latin typeface="Consolas"/>
              </a:rPr>
              <a:t>(52,000 + 48,000) × 1.10 + 288,077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59300"/>
            <a:ext cx="477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4171C"/>
                </a:solidFill>
                <a:latin typeface="Consolas"/>
              </a:rPr>
              <a:t>398,077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STEP 5 ·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Savings, payback and backup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905000"/>
          <a:ext cx="10566400" cy="18732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18200"/>
                <a:gridCol w="2324100"/>
                <a:gridCol w="2324100"/>
              </a:tblGrid>
              <a:tr h="3746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171C"/>
                          </a:solidFill>
                          <a:latin typeface="Arial"/>
                        </a:rPr>
                        <a:t>Equation</a:t>
                      </a:r>
                    </a:p>
                  </a:txBody>
                  <a:tcPr marL="107950" marR="107950" marT="63500" marB="6350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171C"/>
                          </a:solidFill>
                          <a:latin typeface="Arial"/>
                        </a:rPr>
                        <a:t>Solar only</a:t>
                      </a:r>
                    </a:p>
                  </a:txBody>
                  <a:tcPr marL="107950" marR="107950" marT="63500" marB="6350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171C"/>
                          </a:solidFill>
                          <a:latin typeface="Arial"/>
                        </a:rPr>
                        <a:t>Solar + battery</a:t>
                      </a:r>
                    </a:p>
                  </a:txBody>
                  <a:tcPr marL="107950" marR="107950" marT="63500" marB="63500" anchor="ctr">
                    <a:solidFill>
                      <a:srgbClr val="E6E9E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Monthly saving = Bill(M) − Bill(import)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1,283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2,000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Annual saving = monthly × 12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15,397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24,001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Payback = Price ÷ annual saving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3.0 years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16.6 years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Backup hours = U ÷ (E ÷ 24)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≈ 14.3 h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12800" y="4191000"/>
            <a:ext cx="10566400" cy="482600"/>
          </a:xfrm>
          <a:prstGeom prst="roundRect">
            <a:avLst>
              <a:gd name="adj" fmla="val 15789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600" y="4191000"/>
            <a:ext cx="102108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171C"/>
                </a:solidFill>
                <a:latin typeface="Consolas"/>
              </a:rPr>
              <a:t>Recommend solar + battery when its payback ≤ 1.15 × solar-only payback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48514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Backup hours use the average load; peaks such as air conditioning shorten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A3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2065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4171C"/>
                </a:solidFill>
                <a:latin typeface="Arial"/>
              </a:rPr>
              <a:t>TIER CLIFF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524000"/>
            <a:ext cx="105664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4171C"/>
                </a:solidFill>
                <a:latin typeface="Arial"/>
              </a:rPr>
              <a:t>The kWh just above 650 or 1000 are the most valuable to cut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857500"/>
            <a:ext cx="10566400" cy="609600"/>
          </a:xfrm>
          <a:prstGeom prst="roundRect">
            <a:avLst>
              <a:gd name="adj" fmla="val 12500"/>
            </a:avLst>
          </a:prstGeom>
          <a:solidFill>
            <a:srgbClr val="FC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" y="2857500"/>
            <a:ext cx="102108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4171C"/>
                </a:solidFill>
                <a:latin typeface="Consolas"/>
              </a:rPr>
              <a:t>Value per kWh cut = (Bill(M) − Bill(T)) ÷ (M − T), with T = 650 or 1000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3810000"/>
            <a:ext cx="5715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14171C"/>
                </a:solidFill>
                <a:latin typeface="Consolas"/>
              </a:rPr>
              <a:t>4.41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4699000"/>
            <a:ext cx="596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A2F37"/>
                </a:solidFill>
                <a:latin typeface="Arial"/>
              </a:rPr>
              <a:t>EGP saved per kWh: (2,000 − 1,113.5) ÷ (851 − 650)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5500" y="3810000"/>
            <a:ext cx="42037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5A3A22"/>
                </a:solidFill>
                <a:latin typeface="Consolas"/>
              </a:rPr>
              <a:t>2.35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5500" y="4699000"/>
            <a:ext cx="42037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2A2F37"/>
                </a:solidFill>
                <a:latin typeface="Arial"/>
              </a:rPr>
              <a:t>EGP average price today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Default assumptions and their sources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905000"/>
          <a:ext cx="10566400" cy="330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68650"/>
                <a:gridCol w="2959100"/>
                <a:gridCol w="4438650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Default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Night share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Estimate; needs measured load profiles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PV yield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4.8 kWh/kWp/day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Cairo ≈ 1,750 kWh/kWp per year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Depth of discharge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AVESTA LV datasheet: 6,000 cycles at 80%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Round-trip efficiency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Home Storage deck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Battery price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13,640 EGP/kWh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Deck: €220 × 62 EGP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PV price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8,000 EGP/kWp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Deck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Inverter price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6,000 EGP/kW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Installation &amp; BOS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10% of PV + inverter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Deck: 10–15%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Days per month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Fixed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5461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All defaults except days per month are editable under “Assumptions &amp; prices” in the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