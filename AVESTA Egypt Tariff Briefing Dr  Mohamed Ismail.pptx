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Barlow" panose="00000500000000000000" pitchFamily="2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EgyptERA, Electricity Tariff Starting From April 2026. https://www.egyptera.org/en/TarrifApril2026.aspx . Verified 24 September 2026. Calculations by AVESTA Egypt for this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EgyptERA, Electricity Tariff Starting From April 2026. https://www.egyptera.org/en/TarrifApril2026.aspx . Verified 24 September 2026. Calculations by AVESTA Egypt for this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EgyptERA, Electricity Tariff Starting From April 2026. https://www.egyptera.org/en/TarrifApril2026.aspx . Verified 24 September 2026. Calculations by AVESTA Egypt for this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EgyptERA, Electricity Tariff Starting From April 2026. https://www.egyptera.org/en/TarrifApril2026.aspx . Verified 24 September 2026. Calculations by AVESTA Egypt for this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EgyptERA, Electricity Tariff Starting From April 2026. https://www.egyptera.org/en/TarrifApril2026.aspx . Verified 24 September 2026. Calculations by AVESTA Egypt for this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EgyptERA, Electricity Tariff Starting From April 2026. https://www.egyptera.org/en/TarrifApril2026.aspx . Verified 24 September 2026. Calculations by AVESTA Egypt for this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EgyptERA, Electricity Tariff Starting From April 2026. https://www.egyptera.org/en/TarrifApril2026.aspx . Verified 24 September 2026. Calculations by AVESTA Egypt for this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EgyptERA, Electricity Tariff Starting From April 2026. https://www.egyptera.org/en/TarrifApril2026.aspx . Verified 24 September 2026. Calculations by AVESTA Egypt for this briefing. These are internal cost-review recommendations, not regulatory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EgyptERA, Electricity Tariff Starting From April 2026. https://www.egyptera.org/en/TarrifApril2026.aspx . Verified 24 September 2026. Calculations by AVESTA Egypt for this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EgyptERA, Electricity Tariff Starting From April 2026. https://www.egyptera.org/en/TarrifApril2026.aspx . Verified 24 September 2026. Calculations by AVESTA Egypt for this briefing. Additional current-tariff listing: https://egyptera.org/ar/ . Logo supplied by the user. Barlow font source: https://github.com/google/fonts/tree/main/ofl/barlow (SIL Open Font License).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26000" t="32000" r="25000" b="38000"/>
          <a:stretch/>
        </p:blipFill>
        <p:spPr>
          <a:xfrm>
            <a:off x="533400" y="228600"/>
            <a:ext cx="1524000" cy="628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4F23831-E971-4AFB-B4BB-B5FB50060A6A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00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6661FB-B722-4132-8A6D-7698C72528CE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10953750" cy="1657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4950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4950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Commercial electricity</a:t>
            </a:r>
          </a:p>
          <a:p>
            <a:pPr>
              <a:defRPr sz="4950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4950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tariffs in Egypt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6212BF-A32C-42F2-8C0E-A0D17B678E0E}"/>
              </a:ext>
            </a:extLst>
          </p:cNvPr>
          <p:cNvSpPr>
            <a:spLocks noGrp="1"/>
          </p:cNvSpPr>
          <p:nvPr/>
        </p:nvSpPr>
        <p:spPr>
          <a:xfrm>
            <a:off x="533400" y="36671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F36023"/>
                </a:solidFill>
                <a:latin typeface="Barlow"/>
                <a:ea typeface="Barlow"/>
                <a:cs typeface="Barlow"/>
              </a:defRPr>
            </a:pPr>
            <a:r>
              <a:rPr sz="2325" b="1">
                <a:solidFill>
                  <a:srgbClr val="F36023"/>
                </a:solidFill>
                <a:latin typeface="Barlow"/>
                <a:ea typeface="Barlow"/>
                <a:cs typeface="Barlow"/>
              </a:rPr>
              <a:t>Management briefing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739DD3-D644-4246-B47F-C5913F17D846}"/>
              </a:ext>
            </a:extLst>
          </p:cNvPr>
          <p:cNvSpPr>
            <a:spLocks noGrp="1"/>
          </p:cNvSpPr>
          <p:nvPr/>
        </p:nvSpPr>
        <p:spPr>
          <a:xfrm>
            <a:off x="533400" y="4581525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100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Prepared for Dr Mohamed Ismail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A6F71-79C1-454F-8FBC-4BA2A53B4F06}"/>
              </a:ext>
            </a:extLst>
          </p:cNvPr>
          <p:cNvSpPr>
            <a:spLocks noGrp="1"/>
          </p:cNvSpPr>
          <p:nvPr/>
        </p:nvSpPr>
        <p:spPr>
          <a:xfrm>
            <a:off x="533400" y="517207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650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AVESTA Egypt</a:t>
            </a:r>
          </a:p>
          <a:p>
            <a:pPr>
              <a:defRPr sz="1650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650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April 2026 tariff. Verified 24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78269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l="26000" t="32000" r="25000" b="38000"/>
          <a:stretch/>
        </p:blipFill>
        <p:spPr>
          <a:xfrm>
            <a:off x="533400" y="228600"/>
            <a:ext cx="1524000" cy="628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E2CFFB-D119-4406-926C-2E491E390269}"/>
              </a:ext>
            </a:extLst>
          </p:cNvPr>
          <p:cNvSpPr>
            <a:spLocks noGrp="1"/>
          </p:cNvSpPr>
          <p:nvPr/>
        </p:nvSpPr>
        <p:spPr>
          <a:xfrm>
            <a:off x="533400" y="1095375"/>
            <a:ext cx="11144250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300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3300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Executive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A0C2CD-2A08-4EA3-AED6-03ECDFA21719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00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31886D-6FBC-47E0-90D5-4DEEC8AE17F6}"/>
              </a:ext>
            </a:extLst>
          </p:cNvPr>
          <p:cNvSpPr>
            <a:spLocks noGrp="1"/>
          </p:cNvSpPr>
          <p:nvPr/>
        </p:nvSpPr>
        <p:spPr>
          <a:xfrm>
            <a:off x="533400" y="2305050"/>
            <a:ext cx="50482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6150" b="1">
                <a:solidFill>
                  <a:srgbClr val="F36023"/>
                </a:solidFill>
                <a:latin typeface="Barlow"/>
                <a:ea typeface="Barlow"/>
                <a:cs typeface="Barlow"/>
              </a:defRPr>
            </a:pPr>
            <a:r>
              <a:rPr sz="6150" b="1">
                <a:solidFill>
                  <a:srgbClr val="F36023"/>
                </a:solidFill>
                <a:latin typeface="Barlow"/>
                <a:ea typeface="Barlow"/>
                <a:cs typeface="Barlow"/>
              </a:rPr>
              <a:t>1.62–2.79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9D160A-B991-481A-9AA5-FE1B85338F0E}"/>
              </a:ext>
            </a:extLst>
          </p:cNvPr>
          <p:cNvSpPr>
            <a:spLocks noGrp="1"/>
          </p:cNvSpPr>
          <p:nvPr/>
        </p:nvSpPr>
        <p:spPr>
          <a:xfrm>
            <a:off x="533400" y="3286125"/>
            <a:ext cx="50482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175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EGP per kWh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301313-7DAD-4825-A918-98D70E3CE76C}"/>
              </a:ext>
            </a:extLst>
          </p:cNvPr>
          <p:cNvSpPr>
            <a:spLocks noGrp="1"/>
          </p:cNvSpPr>
          <p:nvPr/>
        </p:nvSpPr>
        <p:spPr>
          <a:xfrm>
            <a:off x="533400" y="4010025"/>
            <a:ext cx="50482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175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Commercial energy rates vary</a:t>
            </a:r>
          </a:p>
          <a:p>
            <a:pPr>
              <a:defRPr sz="2175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175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with monthly consumption.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228EEC-8DA1-4F88-A4D5-DF9C8D52AAC3}"/>
              </a:ext>
            </a:extLst>
          </p:cNvPr>
          <p:cNvSpPr>
            <a:spLocks noGrp="1"/>
          </p:cNvSpPr>
          <p:nvPr/>
        </p:nvSpPr>
        <p:spPr>
          <a:xfrm>
            <a:off x="6343650" y="2257425"/>
            <a:ext cx="504825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550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Thresholds can reprice all units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5684D-E038-4904-92DA-05BD0C608E3D}"/>
              </a:ext>
            </a:extLst>
          </p:cNvPr>
          <p:cNvSpPr>
            <a:spLocks noGrp="1"/>
          </p:cNvSpPr>
          <p:nvPr/>
        </p:nvSpPr>
        <p:spPr>
          <a:xfrm>
            <a:off x="6343650" y="3181350"/>
            <a:ext cx="5000625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175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Crossing 100, 250 or 1,000 kWh changes the rate applied to the whole month’s consumption.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08908D-A7C0-4D48-A075-7878298503A2}"/>
              </a:ext>
            </a:extLst>
          </p:cNvPr>
          <p:cNvSpPr>
            <a:spLocks noGrp="1"/>
          </p:cNvSpPr>
          <p:nvPr/>
        </p:nvSpPr>
        <p:spPr>
          <a:xfrm>
            <a:off x="6343650" y="4533900"/>
            <a:ext cx="5000625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175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Service fees and stamp duty add to the energy charge.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1E914E-E2E5-4A2C-8478-07E661EB2C5E}"/>
              </a:ext>
            </a:extLst>
          </p:cNvPr>
          <p:cNvSpPr>
            <a:spLocks noGrp="1"/>
          </p:cNvSpPr>
          <p:nvPr/>
        </p:nvSpPr>
        <p:spPr>
          <a:xfrm>
            <a:off x="533400" y="59912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75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Scope: accounts registered under EgyptERA’s commercial slab schedule.</a:t>
            </a:r>
          </a:p>
        </p:txBody>
      </p:sp>
    </p:spTree>
    <p:extLst>
      <p:ext uri="{BB962C8B-B14F-4D97-AF65-F5344CB8AC3E}">
        <p14:creationId xmlns:p14="http://schemas.microsoft.com/office/powerpoint/2010/main" val="2011620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26000" t="32000" r="25000" b="38000"/>
          <a:stretch/>
        </p:blipFill>
        <p:spPr>
          <a:xfrm>
            <a:off x="533400" y="228600"/>
            <a:ext cx="1524000" cy="628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CB7DA61-93A0-4BBE-9BD7-B3D1CA93B5B6}"/>
              </a:ext>
            </a:extLst>
          </p:cNvPr>
          <p:cNvSpPr>
            <a:spLocks noGrp="1"/>
          </p:cNvSpPr>
          <p:nvPr/>
        </p:nvSpPr>
        <p:spPr>
          <a:xfrm>
            <a:off x="533400" y="1095375"/>
            <a:ext cx="11144250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300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3300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Commercial tariff schedule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7669FC-8971-454B-B812-DFF95476125D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00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03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533400" y="2076450"/>
          <a:ext cx="11125200" cy="338137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Monthly use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EGP per kWh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Calculation basis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1–100 kWh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All units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101–250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All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251–600 kWh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2.64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All units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601–1,000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2.64 / 2.74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First 600 / units above 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Above 1,000 kWh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2.79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All units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5A85E7A-ED36-418C-8A15-648B8462A0C2}"/>
              </a:ext>
            </a:extLst>
          </p:cNvPr>
          <p:cNvSpPr>
            <a:spLocks noGrp="1"/>
          </p:cNvSpPr>
          <p:nvPr/>
        </p:nvSpPr>
        <p:spPr>
          <a:xfrm>
            <a:off x="533400" y="59912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75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Effective from April 2026. Energy rates exclude service charges and stamp duty.</a:t>
            </a:r>
          </a:p>
        </p:txBody>
      </p:sp>
    </p:spTree>
    <p:extLst>
      <p:ext uri="{BB962C8B-B14F-4D97-AF65-F5344CB8AC3E}">
        <p14:creationId xmlns:p14="http://schemas.microsoft.com/office/powerpoint/2010/main" val="1393134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l="26000" t="32000" r="25000" b="38000"/>
          <a:stretch/>
        </p:blipFill>
        <p:spPr>
          <a:xfrm>
            <a:off x="533400" y="228600"/>
            <a:ext cx="1524000" cy="628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33E4AE9-7906-4EA6-B166-1FD57675E5F7}"/>
              </a:ext>
            </a:extLst>
          </p:cNvPr>
          <p:cNvSpPr>
            <a:spLocks noGrp="1"/>
          </p:cNvSpPr>
          <p:nvPr/>
        </p:nvSpPr>
        <p:spPr>
          <a:xfrm>
            <a:off x="533400" y="1095375"/>
            <a:ext cx="11144250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300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3300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Additional monthly charges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61922C-B387-4A07-8D9A-D41441488C11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00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04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533400" y="2133600"/>
          <a:ext cx="5810250" cy="350520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74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Monthly use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Service fee in EGP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1–100 kWh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5.00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101–250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251–600 kWh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20.00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601–1,000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Above 1,000 kWh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40.00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Zero use or 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5B14FEC-EF8D-4771-B320-9A2D3661611A}"/>
              </a:ext>
            </a:extLst>
          </p:cNvPr>
          <p:cNvSpPr>
            <a:spLocks noGrp="1"/>
          </p:cNvSpPr>
          <p:nvPr/>
        </p:nvSpPr>
        <p:spPr>
          <a:xfrm>
            <a:off x="7191375" y="2152650"/>
            <a:ext cx="3810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250" b="1">
                <a:solidFill>
                  <a:srgbClr val="F36023"/>
                </a:solidFill>
                <a:latin typeface="Barlow"/>
                <a:ea typeface="Barlow"/>
                <a:cs typeface="Barlow"/>
              </a:defRPr>
            </a:pPr>
            <a:r>
              <a:rPr sz="5250" b="1">
                <a:solidFill>
                  <a:srgbClr val="F36023"/>
                </a:solidFill>
                <a:latin typeface="Barlow"/>
                <a:ea typeface="Barlow"/>
                <a:cs typeface="Barlow"/>
              </a:rPr>
              <a:t>0.03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76DA5-5A69-4151-B624-D142FF5DCCC3}"/>
              </a:ext>
            </a:extLst>
          </p:cNvPr>
          <p:cNvSpPr>
            <a:spLocks noGrp="1"/>
          </p:cNvSpPr>
          <p:nvPr/>
        </p:nvSpPr>
        <p:spPr>
          <a:xfrm>
            <a:off x="7191375" y="3019425"/>
            <a:ext cx="40957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100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EGP per kWh</a:t>
            </a:r>
          </a:p>
          <a:p>
            <a:pPr>
              <a:defRPr sz="2100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100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Consumption stamp duty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7D24ED-76CD-4E26-A52A-192AE2005C3E}"/>
              </a:ext>
            </a:extLst>
          </p:cNvPr>
          <p:cNvSpPr>
            <a:spLocks noGrp="1"/>
          </p:cNvSpPr>
          <p:nvPr/>
        </p:nvSpPr>
        <p:spPr>
          <a:xfrm>
            <a:off x="7191375" y="4381500"/>
            <a:ext cx="4048125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325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EGP 3 annual stamp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2E4AD5-B0E6-4240-A6D5-F0D4C2531DFD}"/>
              </a:ext>
            </a:extLst>
          </p:cNvPr>
          <p:cNvSpPr>
            <a:spLocks noGrp="1"/>
          </p:cNvSpPr>
          <p:nvPr/>
        </p:nvSpPr>
        <p:spPr>
          <a:xfrm>
            <a:off x="7191375" y="4953000"/>
            <a:ext cx="4191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1800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At contracting and in January.</a:t>
            </a:r>
          </a:p>
          <a:p>
            <a:pPr>
              <a:defRPr sz="1800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1800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Excluded from the examples.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C6B6AB-42A2-49BB-A3A5-2563AA294E0E}"/>
              </a:ext>
            </a:extLst>
          </p:cNvPr>
          <p:cNvSpPr>
            <a:spLocks noGrp="1"/>
          </p:cNvSpPr>
          <p:nvPr/>
        </p:nvSpPr>
        <p:spPr>
          <a:xfrm>
            <a:off x="533400" y="59912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75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EgyptERA retains the service-fee schedule headed January 2024 on its current tariff page.</a:t>
            </a:r>
          </a:p>
        </p:txBody>
      </p:sp>
    </p:spTree>
    <p:extLst>
      <p:ext uri="{BB962C8B-B14F-4D97-AF65-F5344CB8AC3E}">
        <p14:creationId xmlns:p14="http://schemas.microsoft.com/office/powerpoint/2010/main" val="1307892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26000" t="32000" r="25000" b="38000"/>
          <a:stretch/>
        </p:blipFill>
        <p:spPr>
          <a:xfrm>
            <a:off x="533400" y="228600"/>
            <a:ext cx="1524000" cy="628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439DD3-E705-4E17-8DD8-0793CDB7EC30}"/>
              </a:ext>
            </a:extLst>
          </p:cNvPr>
          <p:cNvSpPr>
            <a:spLocks noGrp="1"/>
          </p:cNvSpPr>
          <p:nvPr/>
        </p:nvSpPr>
        <p:spPr>
          <a:xfrm>
            <a:off x="533400" y="1095375"/>
            <a:ext cx="11144250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300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3300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Worked example at 800 kWh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2A95DA-760E-4E06-B55E-F3E4ECB243CF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00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05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533400" y="2114550"/>
          <a:ext cx="11125200" cy="2638425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6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Bill component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Calculation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EGP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First 600 kWh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600 × 2.64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1,584.00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Next 200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200 × 2.74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548.00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Customer service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Monthly fee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25.00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Consumption 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800 × 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B9C7CEB-6497-4275-8344-C60675B51795}"/>
              </a:ext>
            </a:extLst>
          </p:cNvPr>
          <p:cNvSpPr>
            <a:spLocks noGrp="1"/>
          </p:cNvSpPr>
          <p:nvPr/>
        </p:nvSpPr>
        <p:spPr>
          <a:xfrm>
            <a:off x="533400" y="5162550"/>
            <a:ext cx="64770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550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Illustrative monthly bill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7C5DFA-3C86-401B-82D3-8A5EA56A9A17}"/>
              </a:ext>
            </a:extLst>
          </p:cNvPr>
          <p:cNvSpPr>
            <a:spLocks noGrp="1"/>
          </p:cNvSpPr>
          <p:nvPr/>
        </p:nvSpPr>
        <p:spPr>
          <a:xfrm>
            <a:off x="7762875" y="5038725"/>
            <a:ext cx="3895725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675" b="1">
                <a:solidFill>
                  <a:srgbClr val="F36023"/>
                </a:solidFill>
                <a:latin typeface="Barlow"/>
                <a:ea typeface="Barlow"/>
                <a:cs typeface="Barlow"/>
              </a:defRPr>
            </a:pPr>
            <a:r>
              <a:rPr sz="3675" b="1">
                <a:solidFill>
                  <a:srgbClr val="F36023"/>
                </a:solidFill>
                <a:latin typeface="Barlow"/>
                <a:ea typeface="Barlow"/>
                <a:cs typeface="Barlow"/>
              </a:rPr>
              <a:t>EGP 2,181.00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02D0CC-303C-4FC7-9D9D-C92CD6D42117}"/>
              </a:ext>
            </a:extLst>
          </p:cNvPr>
          <p:cNvSpPr>
            <a:spLocks noGrp="1"/>
          </p:cNvSpPr>
          <p:nvPr/>
        </p:nvSpPr>
        <p:spPr>
          <a:xfrm>
            <a:off x="533400" y="59912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75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One monthly billing period. Excludes the annual stamp and account-specific adjustments.</a:t>
            </a:r>
          </a:p>
        </p:txBody>
      </p:sp>
    </p:spTree>
    <p:extLst>
      <p:ext uri="{BB962C8B-B14F-4D97-AF65-F5344CB8AC3E}">
        <p14:creationId xmlns:p14="http://schemas.microsoft.com/office/powerpoint/2010/main" val="1260692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26000" t="32000" r="25000" b="38000"/>
          <a:stretch/>
        </p:blipFill>
        <p:spPr>
          <a:xfrm>
            <a:off x="533400" y="228600"/>
            <a:ext cx="1524000" cy="628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A67D39-19E9-4915-8A7C-69D84CDC2FAA}"/>
              </a:ext>
            </a:extLst>
          </p:cNvPr>
          <p:cNvSpPr>
            <a:spLocks noGrp="1"/>
          </p:cNvSpPr>
          <p:nvPr/>
        </p:nvSpPr>
        <p:spPr>
          <a:xfrm>
            <a:off x="533400" y="1095375"/>
            <a:ext cx="11144250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300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3300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Illustrative monthly bills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1AEF07-494C-4C28-8C53-2277BC6DE8F6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00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06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533400" y="2152650"/>
          <a:ext cx="11125200" cy="330517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08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Use in kWh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Energy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Service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Stamp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Total EGP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129.60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5.00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2.40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137.00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432.00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453.00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1,056.00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20.00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12.00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1,088.00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2,132.00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2,181.00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3,348.00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40.00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36.00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3,424.00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827C1E8-E956-4CB1-A129-2CDCEBAE09B6}"/>
              </a:ext>
            </a:extLst>
          </p:cNvPr>
          <p:cNvSpPr>
            <a:spLocks noGrp="1"/>
          </p:cNvSpPr>
          <p:nvPr/>
        </p:nvSpPr>
        <p:spPr>
          <a:xfrm>
            <a:off x="533400" y="59912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75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All financial amounts in EGP. Assumptions match the worked example.</a:t>
            </a:r>
          </a:p>
        </p:txBody>
      </p:sp>
    </p:spTree>
    <p:extLst>
      <p:ext uri="{BB962C8B-B14F-4D97-AF65-F5344CB8AC3E}">
        <p14:creationId xmlns:p14="http://schemas.microsoft.com/office/powerpoint/2010/main" val="50893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26000" t="32000" r="25000" b="38000"/>
          <a:stretch/>
        </p:blipFill>
        <p:spPr>
          <a:xfrm>
            <a:off x="533400" y="228600"/>
            <a:ext cx="1524000" cy="628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7521F2-EE49-47EA-B053-1FEEC5C994E6}"/>
              </a:ext>
            </a:extLst>
          </p:cNvPr>
          <p:cNvSpPr>
            <a:spLocks noGrp="1"/>
          </p:cNvSpPr>
          <p:nvPr/>
        </p:nvSpPr>
        <p:spPr>
          <a:xfrm>
            <a:off x="533400" y="1095375"/>
            <a:ext cx="11144250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300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3300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A single kWh can trigger a larger bill increase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8CF395-880A-4684-B1D6-0A4FED388EAF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00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07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533400" y="2152650"/>
          <a:ext cx="11125200" cy="283845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76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Consumption change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Bill before EGP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Bill after EGP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</a:rPr>
                        <a:t>Increase EGP</a:t>
                      </a:r>
                    </a:p>
                  </a:txBody>
                  <a:tcPr>
                    <a:solidFill>
                      <a:srgbClr val="091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69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100 to 101 kWh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170.00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236.19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66.19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69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250 to 251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562.50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690.17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127.67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69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600 to 601 kWh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1,622.00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1,629.77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7.77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69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1,000 to 1,001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2,735.00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2,862.82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9132E"/>
                          </a:solidFill>
                          <a:latin typeface="Barlow"/>
                          <a:ea typeface="Barlow"/>
                          <a:cs typeface="Barlow"/>
                        </a:rPr>
                        <a:t>127.82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E9EFAE7-0BA9-475A-8577-07611E6FC3B4}"/>
              </a:ext>
            </a:extLst>
          </p:cNvPr>
          <p:cNvSpPr>
            <a:spLocks noGrp="1"/>
          </p:cNvSpPr>
          <p:nvPr/>
        </p:nvSpPr>
        <p:spPr>
          <a:xfrm>
            <a:off x="533400" y="5257800"/>
            <a:ext cx="11125200" cy="657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F36023"/>
                </a:solidFill>
                <a:latin typeface="Barlow"/>
                <a:ea typeface="Barlow"/>
                <a:cs typeface="Barlow"/>
              </a:defRPr>
            </a:pPr>
            <a:r>
              <a:rPr sz="2100" b="1">
                <a:solidFill>
                  <a:srgbClr val="F36023"/>
                </a:solidFill>
                <a:latin typeface="Barlow"/>
                <a:ea typeface="Barlow"/>
                <a:cs typeface="Barlow"/>
              </a:rPr>
              <a:t>At 251 kWh, all units move to EGP 2.64 per kWh.</a:t>
            </a:r>
          </a:p>
          <a:p>
            <a:pPr>
              <a:defRPr sz="2100" b="1">
                <a:solidFill>
                  <a:srgbClr val="F36023"/>
                </a:solidFill>
                <a:latin typeface="Barlow"/>
                <a:ea typeface="Barlow"/>
                <a:cs typeface="Barlow"/>
              </a:defRPr>
            </a:pPr>
            <a:r>
              <a:rPr sz="2100" b="1">
                <a:solidFill>
                  <a:srgbClr val="F36023"/>
                </a:solidFill>
                <a:latin typeface="Barlow"/>
                <a:ea typeface="Barlow"/>
                <a:cs typeface="Barlow"/>
              </a:rPr>
              <a:t>The service fee also rises from EGP 15 to EGP 20.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2FCFFE-B79E-4F40-89B7-4F603F20DAAC}"/>
              </a:ext>
            </a:extLst>
          </p:cNvPr>
          <p:cNvSpPr>
            <a:spLocks noGrp="1"/>
          </p:cNvSpPr>
          <p:nvPr/>
        </p:nvSpPr>
        <p:spPr>
          <a:xfrm>
            <a:off x="533400" y="59912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75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Calculated totals include service fees and consumption stamp duty.</a:t>
            </a:r>
          </a:p>
        </p:txBody>
      </p:sp>
    </p:spTree>
    <p:extLst>
      <p:ext uri="{BB962C8B-B14F-4D97-AF65-F5344CB8AC3E}">
        <p14:creationId xmlns:p14="http://schemas.microsoft.com/office/powerpoint/2010/main" val="1183299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rcRect l="26000" t="32000" r="25000" b="38000"/>
          <a:stretch/>
        </p:blipFill>
        <p:spPr>
          <a:xfrm>
            <a:off x="533400" y="228600"/>
            <a:ext cx="1524000" cy="628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7B133F-C956-49F5-B358-9E5E26B1CBB0}"/>
              </a:ext>
            </a:extLst>
          </p:cNvPr>
          <p:cNvSpPr>
            <a:spLocks noGrp="1"/>
          </p:cNvSpPr>
          <p:nvPr/>
        </p:nvSpPr>
        <p:spPr>
          <a:xfrm>
            <a:off x="533400" y="1095375"/>
            <a:ext cx="11144250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300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3300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Implications for AVESTA cost reviews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BB91A-78E2-4AA9-A6F8-3201AC39666A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00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CE7971-4697-4871-B782-2874FF85D15F}"/>
              </a:ext>
            </a:extLst>
          </p:cNvPr>
          <p:cNvSpPr>
            <a:spLocks noGrp="1"/>
          </p:cNvSpPr>
          <p:nvPr/>
        </p:nvSpPr>
        <p:spPr>
          <a:xfrm>
            <a:off x="533400" y="2219325"/>
            <a:ext cx="80962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F36023"/>
                </a:solidFill>
                <a:latin typeface="Barlow"/>
                <a:ea typeface="Barlow"/>
                <a:cs typeface="Barlow"/>
              </a:defRPr>
            </a:pPr>
            <a:r>
              <a:rPr sz="3150" b="1">
                <a:solidFill>
                  <a:srgbClr val="F36023"/>
                </a:solidFill>
                <a:latin typeface="Barlow"/>
                <a:ea typeface="Barlow"/>
                <a:cs typeface="Barlow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7A49FE-EC29-4661-A571-AE5EC0570944}"/>
              </a:ext>
            </a:extLst>
          </p:cNvPr>
          <p:cNvSpPr>
            <a:spLocks noGrp="1"/>
          </p:cNvSpPr>
          <p:nvPr/>
        </p:nvSpPr>
        <p:spPr>
          <a:xfrm>
            <a:off x="1619250" y="2219325"/>
            <a:ext cx="9810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475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Account category determines the calculation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606DAB-9F62-4A2E-8BBD-B9AB88B338C6}"/>
              </a:ext>
            </a:extLst>
          </p:cNvPr>
          <p:cNvSpPr>
            <a:spLocks noGrp="1"/>
          </p:cNvSpPr>
          <p:nvPr/>
        </p:nvSpPr>
        <p:spPr>
          <a:xfrm>
            <a:off x="1619250" y="2790825"/>
            <a:ext cx="9620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025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Confirm the commercial classification on the bill or supply contract.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E0EF2-3065-43F9-BF12-2F50A51A8A88}"/>
              </a:ext>
            </a:extLst>
          </p:cNvPr>
          <p:cNvSpPr>
            <a:spLocks noGrp="1"/>
          </p:cNvSpPr>
          <p:nvPr/>
        </p:nvSpPr>
        <p:spPr>
          <a:xfrm>
            <a:off x="533400" y="3562350"/>
            <a:ext cx="80962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F36023"/>
                </a:solidFill>
                <a:latin typeface="Barlow"/>
                <a:ea typeface="Barlow"/>
                <a:cs typeface="Barlow"/>
              </a:defRPr>
            </a:pPr>
            <a:r>
              <a:rPr sz="3150" b="1">
                <a:solidFill>
                  <a:srgbClr val="F36023"/>
                </a:solidFill>
                <a:latin typeface="Barlow"/>
                <a:ea typeface="Barlow"/>
                <a:cs typeface="Barlow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A3933E-3497-4DAD-B383-8C184054871A}"/>
              </a:ext>
            </a:extLst>
          </p:cNvPr>
          <p:cNvSpPr>
            <a:spLocks noGrp="1"/>
          </p:cNvSpPr>
          <p:nvPr/>
        </p:nvSpPr>
        <p:spPr>
          <a:xfrm>
            <a:off x="1619250" y="35623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475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Monthly consumption determines threshold exposure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C318E1-D0AF-4F13-B631-B609960ECD40}"/>
              </a:ext>
            </a:extLst>
          </p:cNvPr>
          <p:cNvSpPr>
            <a:spLocks noGrp="1"/>
          </p:cNvSpPr>
          <p:nvPr/>
        </p:nvSpPr>
        <p:spPr>
          <a:xfrm>
            <a:off x="1619250" y="4133850"/>
            <a:ext cx="9620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025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Review complete monthly kWh totals when estimating costs or savings.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C47885-4448-4D58-9945-FE4A240AB94A}"/>
              </a:ext>
            </a:extLst>
          </p:cNvPr>
          <p:cNvSpPr>
            <a:spLocks noGrp="1"/>
          </p:cNvSpPr>
          <p:nvPr/>
        </p:nvSpPr>
        <p:spPr>
          <a:xfrm>
            <a:off x="533400" y="4905375"/>
            <a:ext cx="80962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F36023"/>
                </a:solidFill>
                <a:latin typeface="Barlow"/>
                <a:ea typeface="Barlow"/>
                <a:cs typeface="Barlow"/>
              </a:defRPr>
            </a:pPr>
            <a:r>
              <a:rPr sz="3150" b="1">
                <a:solidFill>
                  <a:srgbClr val="F36023"/>
                </a:solidFill>
                <a:latin typeface="Barlow"/>
                <a:ea typeface="Barlow"/>
                <a:cs typeface="Barlow"/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4A05FD-0557-487B-ADA7-6577EB1FDC54}"/>
              </a:ext>
            </a:extLst>
          </p:cNvPr>
          <p:cNvSpPr>
            <a:spLocks noGrp="1"/>
          </p:cNvSpPr>
          <p:nvPr/>
        </p:nvSpPr>
        <p:spPr>
          <a:xfrm>
            <a:off x="1619250" y="4905375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475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Full bill comparisons support accurate decisions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B92878-FD34-4675-9C7F-7F75C0DBDD6C}"/>
              </a:ext>
            </a:extLst>
          </p:cNvPr>
          <p:cNvSpPr>
            <a:spLocks noGrp="1"/>
          </p:cNvSpPr>
          <p:nvPr/>
        </p:nvSpPr>
        <p:spPr>
          <a:xfrm>
            <a:off x="1619250" y="5476875"/>
            <a:ext cx="9620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025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Recalculate energy, service fees and stamp duty for each scenario.</a:t>
            </a:r>
          </a:p>
        </p:txBody>
      </p:sp>
    </p:spTree>
    <p:extLst>
      <p:ext uri="{BB962C8B-B14F-4D97-AF65-F5344CB8AC3E}">
        <p14:creationId xmlns:p14="http://schemas.microsoft.com/office/powerpoint/2010/main" val="2113219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l="26000" t="32000" r="25000" b="38000"/>
          <a:stretch/>
        </p:blipFill>
        <p:spPr>
          <a:xfrm>
            <a:off x="533400" y="228600"/>
            <a:ext cx="1524000" cy="628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0E50FE5-6F01-44B5-BA0D-4603BB489831}"/>
              </a:ext>
            </a:extLst>
          </p:cNvPr>
          <p:cNvSpPr>
            <a:spLocks noGrp="1"/>
          </p:cNvSpPr>
          <p:nvPr/>
        </p:nvSpPr>
        <p:spPr>
          <a:xfrm>
            <a:off x="533400" y="1095375"/>
            <a:ext cx="11144250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300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3300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Assumptions and billing boundaries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625A07-DBEF-4F13-B486-69EEF5931EDB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00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1F0E82-77BA-4936-87DA-14AD69AAB528}"/>
              </a:ext>
            </a:extLst>
          </p:cNvPr>
          <p:cNvSpPr>
            <a:spLocks noGrp="1"/>
          </p:cNvSpPr>
          <p:nvPr/>
        </p:nvSpPr>
        <p:spPr>
          <a:xfrm>
            <a:off x="533400" y="2200275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F36023"/>
                </a:solidFill>
                <a:latin typeface="Barlow"/>
                <a:ea typeface="Barlow"/>
                <a:cs typeface="Barlow"/>
              </a:defRPr>
            </a:pPr>
            <a:r>
              <a:rPr sz="2475" b="1">
                <a:solidFill>
                  <a:srgbClr val="F36023"/>
                </a:solidFill>
                <a:latin typeface="Barlow"/>
                <a:ea typeface="Barlow"/>
                <a:cs typeface="Barlow"/>
              </a:rPr>
              <a:t>Monthly basis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8DEF6D-401C-494B-848E-CF7652AEF0AD}"/>
              </a:ext>
            </a:extLst>
          </p:cNvPr>
          <p:cNvSpPr>
            <a:spLocks noGrp="1"/>
          </p:cNvSpPr>
          <p:nvPr/>
        </p:nvSpPr>
        <p:spPr>
          <a:xfrm>
            <a:off x="533400" y="2828925"/>
            <a:ext cx="5048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175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One complete billing month. Distributor allocations govern irregular periods, estimated readings and tariff transitions.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30664A-5265-4A32-A81C-36A50A40188A}"/>
              </a:ext>
            </a:extLst>
          </p:cNvPr>
          <p:cNvSpPr>
            <a:spLocks noGrp="1"/>
          </p:cNvSpPr>
          <p:nvPr/>
        </p:nvSpPr>
        <p:spPr>
          <a:xfrm>
            <a:off x="6400800" y="2200275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F36023"/>
                </a:solidFill>
                <a:latin typeface="Barlow"/>
                <a:ea typeface="Barlow"/>
                <a:cs typeface="Barlow"/>
              </a:defRPr>
            </a:pPr>
            <a:r>
              <a:rPr sz="2475" b="1">
                <a:solidFill>
                  <a:srgbClr val="F36023"/>
                </a:solidFill>
                <a:latin typeface="Barlow"/>
                <a:ea typeface="Barlow"/>
                <a:cs typeface="Barlow"/>
              </a:rPr>
              <a:t>Excluded items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A6DA83-A5AE-459B-8679-85EDFD3DF16F}"/>
              </a:ext>
            </a:extLst>
          </p:cNvPr>
          <p:cNvSpPr>
            <a:spLocks noGrp="1"/>
          </p:cNvSpPr>
          <p:nvPr/>
        </p:nvSpPr>
        <p:spPr>
          <a:xfrm>
            <a:off x="6400800" y="2828925"/>
            <a:ext cx="5048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175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Arrears, instalments, connection or meter payments, collection charges and other account adjustments.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109D58-696F-4BB2-A780-D02ACF644C9F}"/>
              </a:ext>
            </a:extLst>
          </p:cNvPr>
          <p:cNvSpPr>
            <a:spLocks noGrp="1"/>
          </p:cNvSpPr>
          <p:nvPr/>
        </p:nvSpPr>
        <p:spPr>
          <a:xfrm>
            <a:off x="533400" y="4476750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F36023"/>
                </a:solidFill>
                <a:latin typeface="Barlow"/>
                <a:ea typeface="Barlow"/>
                <a:cs typeface="Barlow"/>
              </a:defRPr>
            </a:pPr>
            <a:r>
              <a:rPr sz="2475" b="1">
                <a:solidFill>
                  <a:srgbClr val="F36023"/>
                </a:solidFill>
                <a:latin typeface="Barlow"/>
                <a:ea typeface="Barlow"/>
                <a:cs typeface="Barlow"/>
              </a:rPr>
              <a:t>Tax and rounding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8BE1AF-AB2E-4DBF-B0B2-19C44EFD45CE}"/>
              </a:ext>
            </a:extLst>
          </p:cNvPr>
          <p:cNvSpPr>
            <a:spLocks noGrp="1"/>
          </p:cNvSpPr>
          <p:nvPr/>
        </p:nvSpPr>
        <p:spPr>
          <a:xfrm>
            <a:off x="533400" y="5038725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025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No separate VAT amount modeled. Invoice rounding and prepaid deductions may differ.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EF479A-5075-4817-BC02-C159A224F185}"/>
              </a:ext>
            </a:extLst>
          </p:cNvPr>
          <p:cNvSpPr>
            <a:spLocks noGrp="1"/>
          </p:cNvSpPr>
          <p:nvPr/>
        </p:nvSpPr>
        <p:spPr>
          <a:xfrm>
            <a:off x="6400800" y="44767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F36023"/>
                </a:solidFill>
                <a:latin typeface="Barlow"/>
                <a:ea typeface="Barlow"/>
                <a:cs typeface="Barlow"/>
              </a:defRPr>
            </a:pPr>
            <a:r>
              <a:rPr sz="2475" b="1">
                <a:solidFill>
                  <a:srgbClr val="F36023"/>
                </a:solidFill>
                <a:latin typeface="Barlow"/>
                <a:ea typeface="Barlow"/>
                <a:cs typeface="Barlow"/>
              </a:rPr>
              <a:t>Tariff applicability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D6360B-AEA7-48E8-8BFF-992ED2DA90AF}"/>
              </a:ext>
            </a:extLst>
          </p:cNvPr>
          <p:cNvSpPr>
            <a:spLocks noGrp="1"/>
          </p:cNvSpPr>
          <p:nvPr/>
        </p:nvSpPr>
        <p:spPr>
          <a:xfrm>
            <a:off x="6400800" y="5038725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025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The schedule uses a 0.92 power-factor basis. Examples include no power-factor adjustment.</a:t>
            </a:r>
          </a:p>
        </p:txBody>
      </p:sp>
    </p:spTree>
    <p:extLst>
      <p:ext uri="{BB962C8B-B14F-4D97-AF65-F5344CB8AC3E}">
        <p14:creationId xmlns:p14="http://schemas.microsoft.com/office/powerpoint/2010/main" val="1999796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l="26000" t="32000" r="25000" b="38000"/>
          <a:stretch/>
        </p:blipFill>
        <p:spPr>
          <a:xfrm>
            <a:off x="533400" y="228600"/>
            <a:ext cx="1524000" cy="628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EB08F0-715E-4671-BFC4-0EA7DFFBD647}"/>
              </a:ext>
            </a:extLst>
          </p:cNvPr>
          <p:cNvSpPr>
            <a:spLocks noGrp="1"/>
          </p:cNvSpPr>
          <p:nvPr/>
        </p:nvSpPr>
        <p:spPr>
          <a:xfrm>
            <a:off x="533400" y="1095375"/>
            <a:ext cx="11144250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300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3300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Official references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099E28-6A51-46FF-B641-6C389A82D7DC}"/>
              </a:ext>
            </a:extLst>
          </p:cNvPr>
          <p:cNvSpPr>
            <a:spLocks noGrp="1"/>
          </p:cNvSpPr>
          <p:nvPr/>
        </p:nvSpPr>
        <p:spPr>
          <a:xfrm>
            <a:off x="11144250" y="639127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200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C06E62-8A61-4183-95FB-3643DBAD940F}"/>
              </a:ext>
            </a:extLst>
          </p:cNvPr>
          <p:cNvSpPr>
            <a:spLocks noGrp="1"/>
          </p:cNvSpPr>
          <p:nvPr/>
        </p:nvSpPr>
        <p:spPr>
          <a:xfrm>
            <a:off x="533400" y="2276475"/>
            <a:ext cx="111252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625" b="1">
                <a:solidFill>
                  <a:srgbClr val="F36023"/>
                </a:solidFill>
                <a:latin typeface="Barlow"/>
                <a:ea typeface="Barlow"/>
                <a:cs typeface="Barlow"/>
              </a:defRPr>
            </a:pPr>
            <a:r>
              <a:rPr sz="2625" b="1">
                <a:solidFill>
                  <a:srgbClr val="F36023"/>
                </a:solidFill>
                <a:latin typeface="Barlow"/>
                <a:ea typeface="Barlow"/>
                <a:cs typeface="Barlow"/>
              </a:rPr>
              <a:t>EgyptERA tariff schedule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7E40B5-B07F-4FFA-8DC3-2D25D83E23EF}"/>
              </a:ext>
            </a:extLst>
          </p:cNvPr>
          <p:cNvSpPr>
            <a:spLocks noGrp="1"/>
          </p:cNvSpPr>
          <p:nvPr/>
        </p:nvSpPr>
        <p:spPr>
          <a:xfrm>
            <a:off x="533400" y="2981325"/>
            <a:ext cx="111252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175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Electricity Tariff Starting From April 2026</a:t>
            </a:r>
          </a:p>
          <a:p>
            <a:pPr>
              <a:defRPr sz="2175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175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Commercial tariffs, customer service fees, stamp values and application notes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810D2E-315B-4A04-A481-FB3AE9F51BEE}"/>
              </a:ext>
            </a:extLst>
          </p:cNvPr>
          <p:cNvSpPr>
            <a:spLocks noGrp="1"/>
          </p:cNvSpPr>
          <p:nvPr/>
        </p:nvSpPr>
        <p:spPr>
          <a:xfrm>
            <a:off x="533400" y="4200525"/>
            <a:ext cx="11125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0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1800" b="0">
                <a:solidFill>
                  <a:srgbClr val="09132E"/>
                </a:solidFill>
                <a:latin typeface="Barlow"/>
                <a:ea typeface="Barlow"/>
                <a:cs typeface="Barlow"/>
              </a:rPr>
              <a:t>https://www.egyptera.org/en/TarrifApril2026.aspx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8C70AB-9C9A-4DCD-A33B-8076597396B9}"/>
              </a:ext>
            </a:extLst>
          </p:cNvPr>
          <p:cNvSpPr>
            <a:spLocks noGrp="1"/>
          </p:cNvSpPr>
          <p:nvPr/>
        </p:nvSpPr>
        <p:spPr>
          <a:xfrm>
            <a:off x="533400" y="4895850"/>
            <a:ext cx="111252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09132E"/>
                </a:solidFill>
                <a:latin typeface="Barlow"/>
                <a:ea typeface="Barlow"/>
                <a:cs typeface="Barlow"/>
              </a:defRPr>
            </a:pPr>
            <a:r>
              <a:rPr sz="2025" b="1">
                <a:solidFill>
                  <a:srgbClr val="09132E"/>
                </a:solidFill>
                <a:latin typeface="Barlow"/>
                <a:ea typeface="Barlow"/>
                <a:cs typeface="Barlow"/>
              </a:rPr>
              <a:t>Verified on 24 September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BE6CAB-04E5-444C-A2C2-AB77E9E05B2B}"/>
              </a:ext>
            </a:extLst>
          </p:cNvPr>
          <p:cNvSpPr>
            <a:spLocks noGrp="1"/>
          </p:cNvSpPr>
          <p:nvPr/>
        </p:nvSpPr>
        <p:spPr>
          <a:xfrm>
            <a:off x="533400" y="5467350"/>
            <a:ext cx="111252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875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Check the current official schedule before reusing these rates.</a:t>
            </a:r>
          </a:p>
          <a:p>
            <a:pPr>
              <a:defRPr sz="1875" b="0">
                <a:solidFill>
                  <a:srgbClr val="526079"/>
                </a:solidFill>
                <a:latin typeface="Barlow"/>
                <a:ea typeface="Barlow"/>
                <a:cs typeface="Barlow"/>
              </a:defRPr>
            </a:pPr>
            <a:r>
              <a:rPr sz="1875" b="0">
                <a:solidFill>
                  <a:srgbClr val="526079"/>
                </a:solidFill>
                <a:latin typeface="Barlow"/>
                <a:ea typeface="Barlow"/>
                <a:cs typeface="Barlow"/>
              </a:rPr>
              <a:t>Calculations in this briefing derive from the published tariff.</a:t>
            </a:r>
          </a:p>
        </p:txBody>
      </p:sp>
    </p:spTree>
    <p:extLst>
      <p:ext uri="{BB962C8B-B14F-4D97-AF65-F5344CB8AC3E}">
        <p14:creationId xmlns:p14="http://schemas.microsoft.com/office/powerpoint/2010/main" val="1854707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1022</Words>
  <Application>Microsoft Office PowerPoint</Application>
  <DocSecurity>0</DocSecurity>
  <PresentationFormat>Widescreen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Barlow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Youssef Hisham</cp:lastModifiedBy>
  <cp:revision>1</cp:revision>
  <dcterms:created xsi:type="dcterms:W3CDTF">2026-09-24T13:30:30Z</dcterms:created>
  <dcterms:modified xsi:type="dcterms:W3CDTF">2026-09-24T13:31:00Z</dcterms:modified>
</cp:coreProperties>
</file>