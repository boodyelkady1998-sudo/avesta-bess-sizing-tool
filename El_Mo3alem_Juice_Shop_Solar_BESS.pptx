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880ca98ff64855" /><Relationship Type="http://schemas.openxmlformats.org/officeDocument/2006/relationships/extended-properties" Target="/docProps/app.xml" Id="R1ea71caa9aff4565" /><Relationship Type="http://schemas.openxmlformats.org/officeDocument/2006/relationships/officeDocument" Target="/ppt/presentation.xml" Id="R67ce59932c32447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fc5aa1166784134"/>
  </p:sldMasterIdLst>
  <p:notesMasterIdLst>
    <p:notesMasterId xmlns:r="http://schemas.openxmlformats.org/officeDocument/2006/relationships" r:id="R19801abdbbaa4fcf"/>
  </p:notesMasterIdLst>
  <p:sldIdLst>
    <p:sldId xmlns:r="http://schemas.openxmlformats.org/officeDocument/2006/relationships" id="256" r:id="Rcb5dc5f3e16c4020"/>
    <p:sldId xmlns:r="http://schemas.openxmlformats.org/officeDocument/2006/relationships" id="257" r:id="Rdd06630c79a0479a"/>
    <p:sldId xmlns:r="http://schemas.openxmlformats.org/officeDocument/2006/relationships" id="258" r:id="R0b5164a99476456d"/>
    <p:sldId xmlns:r="http://schemas.openxmlformats.org/officeDocument/2006/relationships" id="259" r:id="R78a1dba513254af1"/>
    <p:sldId xmlns:r="http://schemas.openxmlformats.org/officeDocument/2006/relationships" id="260" r:id="R7f4c721786a34b07"/>
    <p:sldId xmlns:r="http://schemas.openxmlformats.org/officeDocument/2006/relationships" id="261" r:id="R6c3386a1a9ec43e9"/>
    <p:sldId xmlns:r="http://schemas.openxmlformats.org/officeDocument/2006/relationships" id="262" r:id="Rc83457ef6e614ed2"/>
    <p:sldId xmlns:r="http://schemas.openxmlformats.org/officeDocument/2006/relationships" id="263" r:id="R7d5fcc3751604371"/>
    <p:sldId xmlns:r="http://schemas.openxmlformats.org/officeDocument/2006/relationships" id="264" r:id="R706c60ce63174e8d"/>
    <p:sldId xmlns:r="http://schemas.openxmlformats.org/officeDocument/2006/relationships" id="265" r:id="R2ef6a769f0424bc3"/>
    <p:sldId xmlns:r="http://schemas.openxmlformats.org/officeDocument/2006/relationships" id="266" r:id="Rae27e19024bf49b8"/>
    <p:sldId xmlns:r="http://schemas.openxmlformats.org/officeDocument/2006/relationships" id="267" r:id="R6d9bb0caf0e84c3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eaa1b0ffe4a420c" /><Relationship Type="http://schemas.openxmlformats.org/officeDocument/2006/relationships/slideMaster" Target="/ppt/slideMasters/slideMaster1.xml" Id="R6fc5aa1166784134" /><Relationship Type="http://schemas.openxmlformats.org/officeDocument/2006/relationships/notesMaster" Target="/ppt/notesMasters/notesMaster1.xml" Id="R19801abdbbaa4fcf" /><Relationship Type="http://schemas.openxmlformats.org/officeDocument/2006/relationships/presProps" Target="/ppt/presProps.xml" Id="Rcbb449ab9dd54aab" /><Relationship Type="http://schemas.openxmlformats.org/officeDocument/2006/relationships/viewProps" Target="/ppt/viewProps.xml" Id="R25fb8dc510f4436b" /><Relationship Type="http://schemas.openxmlformats.org/officeDocument/2006/relationships/tableStyles" Target="/ppt/tableStyles.xml" Id="R13e5830f05954515" /><Relationship Type="http://schemas.openxmlformats.org/officeDocument/2006/relationships/slide" Target="/ppt/slides/slide1.xml" Id="Rcb5dc5f3e16c4020" /><Relationship Type="http://schemas.openxmlformats.org/officeDocument/2006/relationships/slide" Target="/ppt/slides/slide2.xml" Id="Rdd06630c79a0479a" /><Relationship Type="http://schemas.openxmlformats.org/officeDocument/2006/relationships/slide" Target="/ppt/slides/slide3.xml" Id="R0b5164a99476456d" /><Relationship Type="http://schemas.openxmlformats.org/officeDocument/2006/relationships/slide" Target="/ppt/slides/slide4.xml" Id="R78a1dba513254af1" /><Relationship Type="http://schemas.openxmlformats.org/officeDocument/2006/relationships/slide" Target="/ppt/slides/slide5.xml" Id="R7f4c721786a34b07" /><Relationship Type="http://schemas.openxmlformats.org/officeDocument/2006/relationships/slide" Target="/ppt/slides/slide6.xml" Id="R6c3386a1a9ec43e9" /><Relationship Type="http://schemas.openxmlformats.org/officeDocument/2006/relationships/slide" Target="/ppt/slides/slide7.xml" Id="Rc83457ef6e614ed2" /><Relationship Type="http://schemas.openxmlformats.org/officeDocument/2006/relationships/slide" Target="/ppt/slides/slide8.xml" Id="R7d5fcc3751604371" /><Relationship Type="http://schemas.openxmlformats.org/officeDocument/2006/relationships/slide" Target="/ppt/slides/slide9.xml" Id="R706c60ce63174e8d" /><Relationship Type="http://schemas.openxmlformats.org/officeDocument/2006/relationships/slide" Target="/ppt/slides/slide10.xml" Id="R2ef6a769f0424bc3" /><Relationship Type="http://schemas.openxmlformats.org/officeDocument/2006/relationships/slide" Target="/ppt/slides/slide11.xml" Id="Rae27e19024bf49b8" /><Relationship Type="http://schemas.openxmlformats.org/officeDocument/2006/relationships/slide" Target="/ppt/slides/slide12.xml" Id="R6d9bb0caf0e84c3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3975c5ac5274c2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498a63055724a4f" /><Relationship Type="http://schemas.openxmlformats.org/officeDocument/2006/relationships/notesMaster" Target="/ppt/notesMasters/notesMaster1.xml" Id="Rce7bd6aced594e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5877071c8c948f4" /><Relationship Type="http://schemas.openxmlformats.org/officeDocument/2006/relationships/notesMaster" Target="/ppt/notesMasters/notesMaster1.xml" Id="R1db5c66989f3409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cd42955910740bd" /><Relationship Type="http://schemas.openxmlformats.org/officeDocument/2006/relationships/notesMaster" Target="/ppt/notesMasters/notesMaster1.xml" Id="Radd2715a5b724fa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6b9762b8b4947e7" /><Relationship Type="http://schemas.openxmlformats.org/officeDocument/2006/relationships/notesMaster" Target="/ppt/notesMasters/notesMaster1.xml" Id="Rfd25c3b0c13a44e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ff4cc7e5a394a41" /><Relationship Type="http://schemas.openxmlformats.org/officeDocument/2006/relationships/notesMaster" Target="/ppt/notesMasters/notesMaster1.xml" Id="Re941dc2189e643a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12f8252f7c04365" /><Relationship Type="http://schemas.openxmlformats.org/officeDocument/2006/relationships/notesMaster" Target="/ppt/notesMasters/notesMaster1.xml" Id="R70f69707277a436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76d991073b04177" /><Relationship Type="http://schemas.openxmlformats.org/officeDocument/2006/relationships/notesMaster" Target="/ppt/notesMasters/notesMaster1.xml" Id="Rdddca6e6d98b4a8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380beb7159a4ea4" /><Relationship Type="http://schemas.openxmlformats.org/officeDocument/2006/relationships/notesMaster" Target="/ppt/notesMasters/notesMaster1.xml" Id="R6036e3190d5c4cb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c47022dcf2146c3" /><Relationship Type="http://schemas.openxmlformats.org/officeDocument/2006/relationships/notesMaster" Target="/ppt/notesMasters/notesMaster1.xml" Id="Rcba5a051f4c14de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5c1b82f15db4f13" /><Relationship Type="http://schemas.openxmlformats.org/officeDocument/2006/relationships/notesMaster" Target="/ppt/notesMasters/notesMaster1.xml" Id="Rfee4ccfb8b15475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7aac72c9fcd48b3" /><Relationship Type="http://schemas.openxmlformats.org/officeDocument/2006/relationships/notesMaster" Target="/ppt/notesMasters/notesMaster1.xml" Id="R8d8721e4651046e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b98c95deba94732" /><Relationship Type="http://schemas.openxmlformats.org/officeDocument/2006/relationships/notesMaster" Target="/ppt/notesMasters/notesMaster1.xml" Id="R8e303b47d528423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Equipment estimate from the site report totals 66.1 kWh/day against 80.7 kWh/day on the meter; the meter figure is used.</a:t>
            </a:r>
          </a:p>
          <a:p xmlns:a="http://schemas.openxmlformats.org/drawingml/2006/main">
            <a:r>
              <a:t>Night share: refrigeration 42.4 x 14/24 + lights 4.5 x 8/15 + juicing 19.2 x 60% = 38.7 of 66.1 kWh = 58%.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European Commission JRC PVGIS 5.3, retrieved 30 September 2026. https://re.jrc.ec.europa.eu/api/v5_3/PVcalc?lat=30.0444&amp;lon=31.2357&amp;peakpower=1&amp;loss=14&amp;angle=30&amp;aspect=0&amp;pvtechchoice=crystSi&amp;mountingplace=free&amp;outputformat=json</a:t>
            </a:r>
          </a:p>
          <a:p xmlns:a="http://schemas.openxmlformats.org/drawingml/2006/main">
            <a:r>
              <a:t>PVGIS-SARAH3 / ERA5, 2005-2023. Cairo reference location 30.0444 N, 31.2357 E; 1 kWp crystalline silicon; fixed south-facing, 30-degree tilt, free-standing; user-entered system loss 14%. This is modeled PV electricity output, not irradiance or a site measurement. Local rooftop shading is not surveyed. Existing battery efficiency convention remains preliminary and needs harmonization before a customer quote.</a:t>
            </a:r>
          </a:p>
          <a:p xmlns:a="http://schemas.openxmlformats.org/drawingml/2006/main">
            <a:r>
              <a:t>Recalculated using Y=4.98 and the existing 58% night-share scenario. Monthly saving remains an average-day illustration, not a twelve-month hourly simulation. Battery discharge losses require a separate model correction.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European Commission JRC PVGIS 5.3, retrieved 30 September 2026. https://re.jrc.ec.europa.eu/api/v5_3/PVcalc?lat=30.0444&amp;lon=31.2357&amp;peakpower=1&amp;loss=14&amp;angle=30&amp;aspect=0&amp;pvtechchoice=crystSi&amp;mountingplace=free&amp;outputformat=json</a:t>
            </a:r>
          </a:p>
          <a:p xmlns:a="http://schemas.openxmlformats.org/drawingml/2006/main">
            <a:r>
              <a:t>PVGIS-SARAH3 / ERA5, 2005-2023. Cairo reference location 30.0444 N, 31.2357 E; 1 kWp crystalline silicon; fixed south-facing, 30-degree tilt, free-standing; user-entered system loss 14%. This is modeled PV electricity output, not irradiance or a site measurement. Local rooftop shading is not surveyed. Existing battery efficiency convention remains preliminary and needs harmonization before a customer quote.</a:t>
            </a:r>
          </a:p>
          <a:p xmlns:a="http://schemas.openxmlformats.org/drawingml/2006/main">
            <a:r>
              <a:t>A: (7 × 8000 + 8 × 6000) × 1.10 = 114400. B: unchanged 372240. C: (17 × 8000 + 20 × 6000) × 1.10 + 64 × 13640 = 1154560.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European Commission JRC PVGIS 5.3, retrieved 30 September 2026. https://re.jrc.ec.europa.eu/api/v5_3/PVcalc?lat=30.0444&amp;lon=31.2357&amp;peakpower=1&amp;loss=14&amp;angle=30&amp;aspect=0&amp;pvtechchoice=crystSi&amp;mountingplace=free&amp;outputformat=json</a:t>
            </a:r>
          </a:p>
          <a:p xmlns:a="http://schemas.openxmlformats.org/drawingml/2006/main">
            <a:r>
              <a:t>PVGIS-SARAH3 / ERA5, 2005-2023. Cairo reference location 30.0444 N, 31.2357 E; 1 kWp crystalline silicon; fixed south-facing, 30-degree tilt, free-standing; user-entered system loss 14%. This is modeled PV electricity output, not irradiance or a site measurement. Local rooftop shading is not surveyed. Existing battery efficiency convention remains preliminary and needs harmonization before a customer quote.</a:t>
            </a:r>
          </a:p>
          <a:p xmlns:a="http://schemas.openxmlformats.org/drawingml/2006/main">
            <a:r>
              <a:t>Recalculated using Y=4.98 and the existing 58% night-share scenario. Monthly saving remains an average-day illustration, not a twelve-month hourly simulation. Battery discharge losses require a separate model correction.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European Commission JRC PVGIS 5.3, retrieved 30 September 2026. https://re.jrc.ec.europa.eu/api/v5_3/PVcalc?lat=30.0444&amp;lon=31.2357&amp;peakpower=1&amp;loss=14&amp;angle=30&amp;aspect=0&amp;pvtechchoice=crystSi&amp;mountingplace=free&amp;outputformat=json</a:t>
            </a:r>
          </a:p>
          <a:p xmlns:a="http://schemas.openxmlformats.org/drawingml/2006/main">
            <a:r>
              <a:t>PVGIS-SARAH3 / ERA5, 2005-2023. Cairo reference location 30.0444 N, 31.2357 E; 1 kWp crystalline silicon; fixed south-facing, 30-degree tilt, free-standing; user-entered system loss 14%. This is modeled PV electricity output, not irradiance or a site measurement. Local rooftop shading is not surveyed. Existing battery efficiency convention remains preliminary and needs harmonization before a customer quote.</a:t>
            </a:r>
          </a:p>
          <a:p xmlns:a="http://schemas.openxmlformats.org/drawingml/2006/main">
            <a:r>
              <a:t>Recalculated using Y=4.98 and the existing 58% night-share scenario. Monthly saving remains an average-day illustration, not a twelve-month hourly simulation. Battery discharge losses require a separate model correction.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European Commission JRC PVGIS 5.3, retrieved 30 September 2026. https://re.jrc.ec.europa.eu/api/v5_3/PVcalc?lat=30.0444&amp;lon=31.2357&amp;peakpower=1&amp;loss=14&amp;angle=30&amp;aspect=0&amp;pvtechchoice=crystSi&amp;mountingplace=free&amp;outputformat=json</a:t>
            </a:r>
          </a:p>
          <a:p xmlns:a="http://schemas.openxmlformats.org/drawingml/2006/main">
            <a:r>
              <a:t>PVGIS-SARAH3 / ERA5, 2005-2023. Cairo reference location 30.0444 N, 31.2357 E; 1 kWp crystalline silicon; fixed south-facing, 30-degree tilt, free-standing; user-entered system loss 14%. This is modeled PV electricity output, not irradiance or a site measurement. Local rooftop shading is not surveyed. Existing battery efficiency convention remains preliminary and needs harmonization before a customer quote.</a:t>
            </a:r>
          </a:p>
          <a:p xmlns:a="http://schemas.openxmlformats.org/drawingml/2006/main">
            <a:r>
              <a:t>Recalculated using Y=4.98 and the existing 58% night-share scenario. Monthly saving remains an average-day illustration, not a twelve-month hourly simulation. Battery discharge losses require a separate model correction.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European Commission JRC PVGIS 5.3, retrieved 30 September 2026. https://re.jrc.ec.europa.eu/api/v5_3/PVcalc?lat=30.0444&amp;lon=31.2357&amp;peakpower=1&amp;loss=14&amp;angle=30&amp;aspect=0&amp;pvtechchoice=crystSi&amp;mountingplace=free&amp;outputformat=json</a:t>
            </a:r>
          </a:p>
          <a:p xmlns:a="http://schemas.openxmlformats.org/drawingml/2006/main">
            <a:r>
              <a:t>PVGIS-SARAH3 / ERA5, 2005-2023. Cairo reference location 30.0444 N, 31.2357 E; 1 kWp crystalline silicon; fixed south-facing, 30-degree tilt, free-standing; user-entered system loss 14%. This is modeled PV electricity output, not irradiance or a site measurement. Local rooftop shading is not surveyed. Existing battery efficiency convention remains preliminary and needs harmonization before a customer quote.</a:t>
            </a:r>
          </a:p>
          <a:p xmlns:a="http://schemas.openxmlformats.org/drawingml/2006/main">
            <a:r>
              <a:t>Recalculated using Y=4.98 and the existing 58% night-share scenario. Monthly saving remains an average-day illustration, not a twelve-month hourly simulation. Battery discharge losses require a separate model correction.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European Commission JRC PVGIS 5.3, retrieved 30 September 2026. https://re.jrc.ec.europa.eu/api/v5_3/PVcalc?lat=30.0444&amp;lon=31.2357&amp;peakpower=1&amp;loss=14&amp;angle=30&amp;aspect=0&amp;pvtechchoice=crystSi&amp;mountingplace=free&amp;outputformat=json</a:t>
            </a:r>
          </a:p>
          <a:p xmlns:a="http://schemas.openxmlformats.org/drawingml/2006/main">
            <a:r>
              <a:t>PVGIS-SARAH3 / ERA5, 2005-2023. Cairo reference location 30.0444 N, 31.2357 E; 1 kWp crystalline silicon; fixed south-facing, 30-degree tilt, free-standing; user-entered system loss 14%. This is modeled PV electricity output, not irradiance or a site measurement. Local rooftop shading is not surveyed. Existing battery efficiency convention remains preliminary and needs harmonization before a customer quote.</a:t>
            </a:r>
          </a:p>
          <a:p xmlns:a="http://schemas.openxmlformats.org/drawingml/2006/main">
            <a:r>
              <a:t>Recalculated using Y=4.98 and the existing 58% night-share scenario. Monthly saving remains an average-day illustration, not a twelve-month hourly simulation. Battery discharge losses require a separate model correction.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European Commission JRC PVGIS 5.3, retrieved 30 September 2026. https://re.jrc.ec.europa.eu/api/v5_3/PVcalc?lat=30.0444&amp;lon=31.2357&amp;peakpower=1&amp;loss=14&amp;angle=30&amp;aspect=0&amp;pvtechchoice=crystSi&amp;mountingplace=free&amp;outputformat=json</a:t>
            </a:r>
          </a:p>
          <a:p xmlns:a="http://schemas.openxmlformats.org/drawingml/2006/main">
            <a:r>
              <a:t>PVGIS-SARAH3 / ERA5, 2005-2023. Cairo reference location 30.0444 N, 31.2357 E; 1 kWp crystalline silicon; fixed south-facing, 30-degree tilt, free-standing; user-entered system loss 14%. This is modeled PV electricity output, not irradiance or a site measurement. Local rooftop shading is not surveyed. Existing battery efficiency convention remains preliminary and needs harmonization before a customer quote.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European Commission JRC PVGIS 5.3, retrieved 30 September 2026. https://re.jrc.ec.europa.eu/api/v5_3/PVcalc?lat=30.0444&amp;lon=31.2357&amp;peakpower=1&amp;loss=14&amp;angle=30&amp;aspect=0&amp;pvtechchoice=crystSi&amp;mountingplace=free&amp;outputformat=json</a:t>
            </a:r>
          </a:p>
          <a:p xmlns:a="http://schemas.openxmlformats.org/drawingml/2006/main">
            <a:r>
              <a:t>PVGIS-SARAH3 / ERA5, 2005-2023. Cairo reference location 30.0444 N, 31.2357 E; 1 kWp crystalline silicon; fixed south-facing, 30-degree tilt, free-standing; user-entered system loss 14%. This is modeled PV electricity output, not irradiance or a site measurement. Local rooftop shading is not surveyed. Existing battery efficiency convention remains preliminary and needs harmonization before a customer quote.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19a1f0a7d44f5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2a455e9c5540e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bc1806c411459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abb21a81f44df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d478229b27444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7a58af2c064d9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ae27e2e09b4e9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451b71eeaf4b1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d92b7c01e445f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d6388d107348f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b167c73f9d4d2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F7DAEC9-F881-4133-A4AA-6DA24E8BB6A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5FE31A9-9C29-47E4-8891-A206527D175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9809A94-D4AB-4365-AEE4-2A19176CD2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59CB9B0-9D19-44AE-B76B-9E62524D7B3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CFB82D6-5482-47C4-B433-5276BE9A41D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16366F4-0D99-4ADB-9980-0A6C337DE1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6B0FE67-5E54-4CB4-A218-C70E4DBB46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7B9601F-1587-488F-8594-E516C9876A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D415327-FA0F-4FED-9153-2ED063579A3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983472E-C46C-4B92-8E7B-94920368AA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5793303-F3A4-4E3D-9301-F894EA50C6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CA2C570-E356-408D-A256-097524EDC6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455171F-9FB2-4126-8285-3B31FF1BCC8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055E4E-8658-4419-BD65-61722B4833D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BAEB77-F50F-4737-B2AC-031391EC9E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9515FD8-1F65-4D7D-B2C3-275A73E70E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BD3F1BE-0252-42C9-AE89-066E368D0C9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0640E91-A51F-472D-AFB4-7CEE6EAA828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3C04D67-8244-4B0C-8E03-70C74CADD0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5E7502C-0753-436E-AF8B-76E1E8882D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B714D22-112D-4762-A154-33D3CC606F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2FDC8ED-4F2D-476C-8FA4-B32C8D4A60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5E967CA-0453-42D3-AC2D-C2072DB6DB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B10A2C7-BB37-41B8-A56D-EF2264248DC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77D2D4E-5362-405D-8477-EBFB837C7C5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B0152C8-0B6A-4625-A6A2-A4476CF828AE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68667B0-A925-40F9-BB94-A51154712F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69F186E9-6887-44DB-AB4B-093C6FC7CE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A01BC7E-594D-469D-9962-B567707DD5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B931080-7CA0-41E2-B0AB-09241E451E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B33EEF3E-AB33-4402-9E07-BEB6091BE10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6CA938B-56C0-4780-8388-E933AE1D132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46688D4-E875-4921-B67F-6F0C2944E7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603D7F3-2DD1-4819-BCA0-72D8085FE29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59FF2CC9-D942-4BAB-A7B0-35222FAFC42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89E9393-3110-4FBD-AFAD-34540DF9F6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CB73877-4EDF-40FC-804C-11F5D1ABBD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E5AB99F-71DC-4455-986D-47F70ED6DC6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AB37D2D-A1D7-4A98-87B7-5F629B1F3E7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71AC580-2648-41AD-995E-A77EDE7EFC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504750A-0278-491D-A877-6ABD1B2FFAB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77DFB52-0472-4407-89D7-1E23A8A83D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258CEF5-56DD-40D0-BC43-261174F8AE4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BC51F527-1075-4250-A3B7-CE854DC4BC15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E3B72AA-7C2F-4412-AF04-E76B1CE23D7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4FCC09B-B47E-4F49-9C99-0A0233D5323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9182CF4-29D6-4CD0-9086-7D749688ED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30098F2-E9C6-451F-85F4-737A2490FA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375E38C-04FE-4FB0-83AD-557989F803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A495E92-2F7A-449E-9F51-27A991D80AA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D9EEC2-C095-4FCA-8433-A7001DA5DF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471723A-5C0C-4705-B211-0150DC9B09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188279D-1838-43F5-94B4-D6AFBD988E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5BCA44B8-84AA-4908-9A21-E34CA613DE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7120E15-48BC-43F0-A61B-6BDEAA22D34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F671A40-7CB8-40C4-8E25-DF2A8AF949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DB20911-916A-429E-8585-89915CAEC95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39E018E-D48C-48E1-ABBA-DC38C0241A9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b994bb5b31141b5" /><Relationship Type="http://schemas.openxmlformats.org/officeDocument/2006/relationships/slideLayout" Target="/ppt/slideLayouts/slideLayout1.xml" Id="R2f6ffdde4b604957" /><Relationship Type="http://schemas.openxmlformats.org/officeDocument/2006/relationships/slideLayout" Target="/ppt/slideLayouts/slideLayout2.xml" Id="R60c2fd42e5644cbe" /><Relationship Type="http://schemas.openxmlformats.org/officeDocument/2006/relationships/slideLayout" Target="/ppt/slideLayouts/slideLayout3.xml" Id="R04ae5f092ec146e8" /><Relationship Type="http://schemas.openxmlformats.org/officeDocument/2006/relationships/slideLayout" Target="/ppt/slideLayouts/slideLayout4.xml" Id="Rcc9d6c2f625945b6" /><Relationship Type="http://schemas.openxmlformats.org/officeDocument/2006/relationships/slideLayout" Target="/ppt/slideLayouts/slideLayout5.xml" Id="Re89d97fadf2548b6" /><Relationship Type="http://schemas.openxmlformats.org/officeDocument/2006/relationships/slideLayout" Target="/ppt/slideLayouts/slideLayout6.xml" Id="R31f2d4700a2246ea" /><Relationship Type="http://schemas.openxmlformats.org/officeDocument/2006/relationships/slideLayout" Target="/ppt/slideLayouts/slideLayout7.xml" Id="Rf77f5282d2a74f58" /><Relationship Type="http://schemas.openxmlformats.org/officeDocument/2006/relationships/slideLayout" Target="/ppt/slideLayouts/slideLayout8.xml" Id="R0b980e7cbcae4399" /><Relationship Type="http://schemas.openxmlformats.org/officeDocument/2006/relationships/slideLayout" Target="/ppt/slideLayouts/slideLayout9.xml" Id="R5d6b83578e194eb7" /><Relationship Type="http://schemas.openxmlformats.org/officeDocument/2006/relationships/slideLayout" Target="/ppt/slideLayouts/slideLayout10.xml" Id="R6b9ec6ab3621493a" /><Relationship Type="http://schemas.openxmlformats.org/officeDocument/2006/relationships/slideLayout" Target="/ppt/slideLayouts/slideLayout11.xml" Id="Rc95b93c8feb349c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37D0875-9D3E-41F4-B1D4-17F252E1F2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4A10FC-2D26-4FBC-B21E-E2C885D0E76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410DDB-DBDA-46C3-993D-099208BCCAF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ED9C912-A14B-4CCF-9A3E-36BEA4AC1A1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513F935-F053-485D-93C2-03D38DE2BA1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6ffdde4b604957"/>
    <p:sldLayoutId xmlns:r="http://schemas.openxmlformats.org/officeDocument/2006/relationships" id="2147483650" r:id="R60c2fd42e5644cbe"/>
    <p:sldLayoutId xmlns:r="http://schemas.openxmlformats.org/officeDocument/2006/relationships" id="2147483651" r:id="R04ae5f092ec146e8"/>
    <p:sldLayoutId xmlns:r="http://schemas.openxmlformats.org/officeDocument/2006/relationships" id="2147483652" r:id="Rcc9d6c2f625945b6"/>
    <p:sldLayoutId xmlns:r="http://schemas.openxmlformats.org/officeDocument/2006/relationships" id="2147483653" r:id="Re89d97fadf2548b6"/>
    <p:sldLayoutId xmlns:r="http://schemas.openxmlformats.org/officeDocument/2006/relationships" id="2147483654" r:id="R31f2d4700a2246ea"/>
    <p:sldLayoutId xmlns:r="http://schemas.openxmlformats.org/officeDocument/2006/relationships" id="2147483655" r:id="Rf77f5282d2a74f58"/>
    <p:sldLayoutId xmlns:r="http://schemas.openxmlformats.org/officeDocument/2006/relationships" id="2147483656" r:id="R0b980e7cbcae4399"/>
    <p:sldLayoutId xmlns:r="http://schemas.openxmlformats.org/officeDocument/2006/relationships" id="2147483657" r:id="R5d6b83578e194eb7"/>
    <p:sldLayoutId xmlns:r="http://schemas.openxmlformats.org/officeDocument/2006/relationships" id="2147483658" r:id="R6b9ec6ab3621493a"/>
    <p:sldLayoutId xmlns:r="http://schemas.openxmlformats.org/officeDocument/2006/relationships" id="2147483659" r:id="Rc95b93c8feb349ca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395ecb9252745e5" /><Relationship Type="http://schemas.openxmlformats.org/officeDocument/2006/relationships/notesSlide" Target="/ppt/notesSlides/notesSlide1.xml" Id="Rfc100385195643e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e43341dabd7451b" /><Relationship Type="http://schemas.openxmlformats.org/officeDocument/2006/relationships/notesSlide" Target="/ppt/notesSlides/notesSlide2.xml" Id="R629f47cc3d2745f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8138811e2a245e1" /><Relationship Type="http://schemas.openxmlformats.org/officeDocument/2006/relationships/notesSlide" Target="/ppt/notesSlides/notesSlide3.xml" Id="Rc127d96c7a694eb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55e1db01d3f42ea" /><Relationship Type="http://schemas.openxmlformats.org/officeDocument/2006/relationships/notesSlide" Target="/ppt/notesSlides/notesSlide4.xml" Id="Re3e7fdc5c5134af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5e102d94473496f" /><Relationship Type="http://schemas.openxmlformats.org/officeDocument/2006/relationships/notesSlide" Target="/ppt/notesSlides/notesSlide5.xml" Id="Rad934b2f3ecc43f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3c6fa2b8b704649" /><Relationship Type="http://schemas.openxmlformats.org/officeDocument/2006/relationships/notesSlide" Target="/ppt/notesSlides/notesSlide6.xml" Id="R91f9ac1edafe49e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647fa0453c34fd3" /><Relationship Type="http://schemas.openxmlformats.org/officeDocument/2006/relationships/notesSlide" Target="/ppt/notesSlides/notesSlide7.xml" Id="Rce6fe435750b4e5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1e1dadd8fea4bd0" /><Relationship Type="http://schemas.openxmlformats.org/officeDocument/2006/relationships/notesSlide" Target="/ppt/notesSlides/notesSlide8.xml" Id="R6c4fcc9d661f447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760b763b4ad4d00" /><Relationship Type="http://schemas.openxmlformats.org/officeDocument/2006/relationships/notesSlide" Target="/ppt/notesSlides/notesSlide9.xml" Id="R8d338f66f716441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6fcc806a16e4229" /><Relationship Type="http://schemas.openxmlformats.org/officeDocument/2006/relationships/notesSlide" Target="/ppt/notesSlides/notesSlide10.xml" Id="Rb2bb8d6461c84af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36a46194654007" /><Relationship Type="http://schemas.openxmlformats.org/officeDocument/2006/relationships/notesSlide" Target="/ppt/notesSlides/notesSlide11.xml" Id="R85fd17e543f449b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bb7f8b30d344ef" /><Relationship Type="http://schemas.openxmlformats.org/officeDocument/2006/relationships/notesSlide" Target="/ppt/notesSlides/notesSlide12.xml" Id="R70591771e3ac4e7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17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C04E002-5E98-4204-BF37-C9A4BA4A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778000"/>
            <a:ext cx="105664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400" b="1">
                <a:solidFill>
                  <a:srgbClr val="F26A1B"/>
                </a:solidFill>
                <a:latin typeface="Arial"/>
                <a:ea typeface="Arial"/>
                <a:cs typeface="Arial"/>
              </a:rPr>
              <a:t>AVESTA · EL MO3ALEM JUICE SHOP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364C0C0-0566-4FAD-9B42-D9C8AC5A7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2133600"/>
            <a:ext cx="10566400" cy="952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4800" b="1">
                <a:solidFill>
                  <a:srgbClr val="F4F5F7"/>
                </a:solidFill>
                <a:latin typeface="Arial"/>
                <a:ea typeface="Arial"/>
                <a:cs typeface="Arial"/>
              </a:rPr>
              <a:t>Solar + battery: buy it or subscribe?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041E2FD-C58A-474E-9AFB-F634506A2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3175000"/>
            <a:ext cx="8890000" cy="825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2000" b="0">
                <a:solidFill>
                  <a:srgbClr val="C3C8D0"/>
                </a:solidFill>
                <a:latin typeface="Arial"/>
                <a:ea typeface="Arial"/>
                <a:cs typeface="Arial"/>
              </a:rPr>
              <a:t>Payback if the shop buys the system, and the monthly subscription if AVESTA provides it free and recovers the cost from the shop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69F8F88-AA37-4AD5-A72D-2B74124A2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4445000"/>
            <a:ext cx="105664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400" b="0">
                <a:solidFill>
                  <a:srgbClr val="9AA1AD"/>
                </a:solidFill>
                <a:latin typeface="Arial"/>
                <a:ea typeface="Arial"/>
                <a:cs typeface="Arial"/>
              </a:rPr>
              <a:t>Basis: August 2026 bill · commercial tariff (EgyptERA, April 2026) · no maintenance or interest included</a:t>
            </a:r>
          </a:p>
        </p:txBody>
      </p:sp>
    </p:spTree>
    <p:extLst>
      <p:ext uri="{BB962C8B-B14F-4D97-AF65-F5344CB8AC3E}">
        <p14:creationId xmlns:p14="http://schemas.microsoft.com/office/powerpoint/2010/main" val="8991499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B48A3DD-2DEE-44EF-8E2A-7D7714582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812800"/>
            <a:ext cx="1056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THE SHOP TODAY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64FC342-8838-405C-B2A7-B59DCBCCD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117600"/>
            <a:ext cx="105664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</a:pPr>
            <a:r>
              <a:rPr sz="32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2,421 kWh a month, refrigeration around the clock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10C785BC-DAE6-4DF3-9AE2-85D40F95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905000"/>
            <a:ext cx="2527300" cy="1270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7B94457-7786-40B4-B71C-00563F267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2082800"/>
            <a:ext cx="2120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3000" b="1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2,421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F78A271-1ED4-4C9B-9D92-21CCDC86E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2679700"/>
            <a:ext cx="21209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3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kWh per month
312,070 − 309,649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D1CC37FE-0B95-453F-A50D-684F496F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1905000"/>
            <a:ext cx="2527300" cy="1270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89BCD16-678B-4B0B-A819-252CDFD4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082800"/>
            <a:ext cx="2120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3000" b="1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80.7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EE072C3-880F-4002-AA32-3B7031F06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679700"/>
            <a:ext cx="21209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3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kWh per day
E = 2,421 ÷ 30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407F177-1596-4A9C-9DF7-D4C2D273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05000"/>
            <a:ext cx="2527300" cy="1270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FD49576-8DA6-44B4-B45A-CFA455AC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5400" y="2082800"/>
            <a:ext cx="2120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3000" b="1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6,867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0B032AB-7EBC-4D69-9B62-A3DF2879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5400" y="2679700"/>
            <a:ext cx="21209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3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EGP per month
at the official tariff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123E285A-43BB-4FF3-8526-CBFB60F8B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900" y="1905000"/>
            <a:ext cx="2527300" cy="1270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179C0E1-4065-411C-8A2C-F9761B5E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5100" y="2082800"/>
            <a:ext cx="2120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3000" b="1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58%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D5F4E64-5DEF-4996-8A25-7472EFA0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5100" y="2679700"/>
            <a:ext cx="21209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3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of daily energy used
after sunset (N)</a:t>
            </a:r>
          </a:p>
        </p:txBody>
      </p:sp>
      <p:graphicFrame>
        <p:nvGraphicFramePr>
          <p:cNvPr id="33" name="Table 15"/>
          <p:cNvGraphicFramePr/>
          <p:nvPr/>
        </p:nvGraphicFramePr>
        <p:xfrm>
          <a:off xmlns:a="http://schemas.openxmlformats.org/drawingml/2006/main" x="812800" y="3429000"/>
          <a:ext xmlns:a="http://schemas.openxmlformats.org/drawingml/2006/main" cx="10566400" cy="1422400"/>
        </p:xfrm>
        <a:graphic xmlns:a="http://schemas.openxmlformats.org/drawingml/2006/main"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648200"/>
                <a:gridCol w="1479550"/>
                <a:gridCol w="1479550"/>
                <a:gridCol w="2959100"/>
              </a:tblGrid>
              <a:tr h="3556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Main loads (estimated)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Qty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kWh/day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Runs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Refrigerators and ice-cream freezers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42.4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24 h, compressors cycling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Juicers, blender, ice crusher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19.2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Opening hours, busiest in the evening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LED lights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25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4.5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15 h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DC329D4-3216-4899-8876-FD0A14E4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5372100"/>
            <a:ext cx="105664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2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The receipt shows EGP 8,279. The official tariff explains EGP 6,867; the EGP 1,412 gap needs the detailed invoice. Savings below use the official tariff (the conservative case).</a:t>
            </a:r>
          </a:p>
        </p:txBody>
      </p:sp>
    </p:spTree>
    <p:extLst>
      <p:ext uri="{BB962C8B-B14F-4D97-AF65-F5344CB8AC3E}">
        <p14:creationId xmlns:p14="http://schemas.microsoft.com/office/powerpoint/2010/main" val="14582103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88A4A88-C777-4B42-B8D6-9B8D31D32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812800"/>
            <a:ext cx="1056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STEP 1 · BILL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E9930F8-33CF-4F35-AEAF-F8E74EF4D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117600"/>
            <a:ext cx="105664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</a:pPr>
            <a:r>
              <a:rPr sz="32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Commercial tariff and the monthly bill</a:t>
            </a:r>
          </a:p>
        </p:txBody>
      </p:sp>
      <p:graphicFrame>
        <p:nvGraphicFramePr>
          <p:cNvPr id="15" name="Table 3"/>
          <p:cNvGraphicFramePr/>
          <p:nvPr/>
        </p:nvGraphicFramePr>
        <p:xfrm>
          <a:off xmlns:a="http://schemas.openxmlformats.org/drawingml/2006/main" x="812800" y="1905000"/>
          <a:ext xmlns:a="http://schemas.openxmlformats.org/drawingml/2006/main" cx="6096000" cy="2489200"/>
        </p:xfrm>
        <a:graphic xmlns:a="http://schemas.openxmlformats.org/drawingml/2006/main"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70100"/>
                <a:gridCol w="1587500"/>
                <a:gridCol w="2438400"/>
              </a:tblGrid>
              <a:tr h="3556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Monthly kWh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EGP / kWh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Service fee (EGP)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 – 100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1.62 all units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101 – 250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2.16 all units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251 – 600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2.64 all units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601 – 1,000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2.64 / 2.74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25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Above 1,000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2.79 all units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Zero use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42AF4C2A-FBE8-45F5-B13D-67E8285F0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3600" y="1905000"/>
            <a:ext cx="4165600" cy="1079500"/>
          </a:xfrm>
          <a:prstGeom xmlns:a="http://schemas.openxmlformats.org/drawingml/2006/main" prst="roundRect">
            <a:avLst>
              <a:gd name="adj" fmla="val 7058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9643105-B68F-48B6-9122-FF1D5992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905000"/>
            <a:ext cx="3810000" cy="1079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5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Bill(M) = Energy(M)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5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  + Service fee(M)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5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  + 0.03 × 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DDDD919-208E-475C-AB9A-821870CFF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3600" y="3162300"/>
            <a:ext cx="41656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For this shop (M above 1,000 kWh):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32CC71A-A443-40B1-8224-27D41B13B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3600" y="3479800"/>
            <a:ext cx="4165600" cy="1079500"/>
          </a:xfrm>
          <a:prstGeom xmlns:a="http://schemas.openxmlformats.org/drawingml/2006/main" prst="roundRect">
            <a:avLst>
              <a:gd name="adj" fmla="val 7058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0F76FA0-EC9C-4997-A94B-A703F674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479800"/>
            <a:ext cx="3810000" cy="1079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5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2,421 × 2.79 = 6,754.59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5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+ 40 + 2,421 × 0.03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5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= 6,867.22 EGP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2E27200-BDF1-475F-A96F-4FE202036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4699000"/>
            <a:ext cx="60960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2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601–1,000 kWh: first 600 at 2.64, the rest at 2.74. Stamp duty = 3 piasters per kWh.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9277BCB-25E9-4C92-ABE2-B9FD30D84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248400"/>
            <a:ext cx="10566400" cy="20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Source: EgyptERA, Electricity Tariff Starting From April 2026 (verified 24 Sep 2026)</a:t>
            </a:r>
          </a:p>
        </p:txBody>
      </p:sp>
    </p:spTree>
    <p:extLst>
      <p:ext uri="{BB962C8B-B14F-4D97-AF65-F5344CB8AC3E}">
        <p14:creationId xmlns:p14="http://schemas.microsoft.com/office/powerpoint/2010/main" val="18457029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EEB7564-22E4-4DF5-A122-8FF162C57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812800"/>
            <a:ext cx="1056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STEP 2 · SIZING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EB2E608-2744-4AC4-B91F-89BBC8E4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117600"/>
            <a:ext cx="105664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</a:pPr>
            <a:r>
              <a:rPr sz="32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Daily split, solar size and battery size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9CFC68AB-F3A2-4E06-A9AD-BDF83CAA1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905000"/>
            <a:ext cx="3386666" cy="3683000"/>
          </a:xfrm>
          <a:prstGeom xmlns:a="http://schemas.openxmlformats.org/drawingml/2006/main" prst="roundRect">
            <a:avLst>
              <a:gd name="adj" fmla="val 3000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BDA9228-5A63-416F-8BAB-4449B03F4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2108200"/>
            <a:ext cx="2980266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6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Daily energy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6F5E0C-8BD7-440C-A4FC-0DB771EE3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25654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E = M ÷ 30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B32E93-98C9-41D4-A40A-F0630C7CC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28321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80.7 kWh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0C265A1-2E22-411E-986F-5F61B39D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33528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N = E × 58%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2AA4297-B8DB-4E5F-898D-C2C43D46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36195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46.8 kWh at night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6DBC55D-F9C8-44C4-8F8D-DD3DEF5B5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41402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D = E − N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C7FC3A1-1161-4CA0-93F9-987DF56C6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44069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33.9 kWh in daytime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D103B7E-A4BE-4337-BC51-6980CA950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666" y="1905000"/>
            <a:ext cx="3386666" cy="3683000"/>
          </a:xfrm>
          <a:prstGeom xmlns:a="http://schemas.openxmlformats.org/drawingml/2006/main" prst="roundRect">
            <a:avLst>
              <a:gd name="adj" fmla="val 3000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72A5A2D-C669-4436-A371-55690B283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5866" y="2108200"/>
            <a:ext cx="2980266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6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Solar PV (kWp)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578BAFC-A493-4134-94F8-86EA1568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5866" y="25654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P = (D + min(N, U) ÷ η) ÷ 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8175D30-662F-41AD-9AD0-E4EBDB65A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5866" y="28321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rounded up to 0.5 kWp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30C6743-211C-489C-9D47-21B6CC288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5866" y="33528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G = P × 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A7B17EA-12E1-4728-9B5E-70FF1C4A6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5866" y="36195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daily generation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7816276D-6F81-4EA5-A6E1-9D3ECA5A7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5866" y="4140200"/>
            <a:ext cx="2980266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2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Y = 4.98 kWh/kWp/day (PVGIS; slides 11–12). η = 95%. Without battery: P = D ÷ Y.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DCE5744F-4210-477F-ADE5-B9ECE4CA7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2533" y="1905000"/>
            <a:ext cx="3386666" cy="3683000"/>
          </a:xfrm>
          <a:prstGeom xmlns:a="http://schemas.openxmlformats.org/drawingml/2006/main" prst="roundRect">
            <a:avLst>
              <a:gd name="adj" fmla="val 3000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011B9D3-8BFB-4E1B-A474-6F629A26D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5733" y="2108200"/>
            <a:ext cx="2980266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6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Battery (kWh)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222B7AE9-BD31-4EC2-9070-5F2DC59F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5733" y="25654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C = N ÷ (DoD × η)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84348F8-DB7C-4428-8FE9-D559022F1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5733" y="28321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46.8 ÷ 0.76 = 61.6 kWh for the whole night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161B1D7-EB13-418F-A3B4-62C1EBB3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5733" y="33528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U = C × DoD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5D12BDFD-3B4C-4C84-9738-AF9D8FD1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5733" y="3619500"/>
            <a:ext cx="2980266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usable energy, DoD = 80%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F6EB9784-6157-4BD1-8B83-650D83C89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5733" y="4140200"/>
            <a:ext cx="2980266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2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Option B uses one LV_16 for backup and part of the night; option C covers the night with 2 × LV_32.</a:t>
            </a:r>
          </a:p>
        </p:txBody>
      </p:sp>
    </p:spTree>
    <p:extLst>
      <p:ext uri="{BB962C8B-B14F-4D97-AF65-F5344CB8AC3E}">
        <p14:creationId xmlns:p14="http://schemas.microsoft.com/office/powerpoint/2010/main" val="1700890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79055C1-F7B9-4A5B-A7B7-C473D89FD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812800"/>
            <a:ext cx="1056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STEP 3 · OPTIONS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C005C3D-5FEF-4BD3-8A76-B33322BEF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117600"/>
            <a:ext cx="105664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</a:pPr>
            <a:r>
              <a:rPr sz="32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Three systems and their price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469FA7E4-D54C-4EEF-B271-DE3FA4EE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905000"/>
            <a:ext cx="10566400" cy="4826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282C65D-8940-4C54-B124-3CE8E3FF0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05000"/>
            <a:ext cx="10210800" cy="482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5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Price = (P × 8,000 + Inverter × 6,000) × 1.10 + C × 13,640</a:t>
            </a:r>
          </a:p>
        </p:txBody>
      </p:sp>
      <p:graphicFrame>
        <p:nvGraphicFramePr>
          <p:cNvPr id="13" name="Table 5"/>
          <p:cNvGraphicFramePr/>
          <p:nvPr/>
        </p:nvGraphicFramePr>
        <p:xfrm>
          <a:off xmlns:a="http://schemas.openxmlformats.org/drawingml/2006/main" x="812800" y="2590800"/>
          <a:ext xmlns:a="http://schemas.openxmlformats.org/drawingml/2006/main" cx="10560050" cy="2209800"/>
        </p:xfrm>
        <a:graphic xmlns:a="http://schemas.openxmlformats.org/drawingml/2006/main"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11600"/>
                <a:gridCol w="2216150"/>
                <a:gridCol w="2216150"/>
                <a:gridCol w="2216150"/>
              </a:tblGrid>
              <a:tr h="368300">
                <a:tc>
                  <a:txBody>
                    <a:bodyPr wrap="square"/>
                    <a:lstStyle/>
                    <a:p/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A · Solar only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B · Solar + LV_16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C · Solar + 2 × LV_32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Solar PV (P)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7.0 kWp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10 kWp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17.0 kWp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Battery (C)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16 kWh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64 kWh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Inverter = standard size ≥ max(3, P)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8 kW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10 kW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20 kW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Roof area (≈ 6 m² per kWp)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≈ 42 m²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≈ 60 m²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≈ 102 m²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System price (EGP)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114,400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372,240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1,154,560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876D0FA-DF63-4568-B9D8-AED388D6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5080000"/>
            <a:ext cx="105664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2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The 10% for installation and BOS applies to PV and inverter only. Prices are AVESTA customer prices: battery 13,640 EGP/kWh, PV 8,000 EGP/kWp, inverter 6,000 EGP/kW.</a:t>
            </a:r>
          </a:p>
        </p:txBody>
      </p:sp>
    </p:spTree>
    <p:extLst>
      <p:ext uri="{BB962C8B-B14F-4D97-AF65-F5344CB8AC3E}">
        <p14:creationId xmlns:p14="http://schemas.microsoft.com/office/powerpoint/2010/main" val="7571984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19D4004-7F00-44B0-AE1B-64A18321D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812800"/>
            <a:ext cx="1056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STEP 4 · NEW BILL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F443ACB-302C-4C40-8FB4-D1566AA83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117600"/>
            <a:ext cx="105664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</a:pPr>
            <a:r>
              <a:rPr sz="32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Grid import after solar and the monthly saving</a:t>
            </a:r>
          </a:p>
        </p:txBody>
      </p:sp>
      <p:graphicFrame>
        <p:nvGraphicFramePr>
          <p:cNvPr id="9" name="Table 3"/>
          <p:cNvGraphicFramePr/>
          <p:nvPr/>
        </p:nvGraphicFramePr>
        <p:xfrm>
          <a:off xmlns:a="http://schemas.openxmlformats.org/drawingml/2006/main" x="812800" y="1905000"/>
          <a:ext xmlns:a="http://schemas.openxmlformats.org/drawingml/2006/main" cx="10560050" cy="2578100"/>
        </p:xfrm>
        <a:graphic xmlns:a="http://schemas.openxmlformats.org/drawingml/2006/main"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92750"/>
                <a:gridCol w="1689100"/>
                <a:gridCol w="1689100"/>
                <a:gridCol w="1689100"/>
              </a:tblGrid>
              <a:tr h="3683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Equation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A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B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C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Generation G = P × Y (kWh/day)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34.9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49.8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84.7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Direct use = min(G, D)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33.9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33.9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33.9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From battery = min((G − direct) × η, U, N)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0.0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12.8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46.8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Import / month = (E − direct − battery) × 30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1,404 kWh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1,020 kWh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0 kWh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New bill = Bill(import)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4,000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2,917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Monthly saving = 6,867 − new bill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2,867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3,950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6,858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519A7D4-D2F1-4F49-8894-DDDFDE668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4699000"/>
            <a:ext cx="105664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2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Surplus solar sent to the grid earns nothing; savings count only solar energy the shop uses itself. C imports nothing, so only the EGP 9 zero-use fee remains.</a:t>
            </a:r>
          </a:p>
        </p:txBody>
      </p:sp>
    </p:spTree>
    <p:extLst>
      <p:ext uri="{BB962C8B-B14F-4D97-AF65-F5344CB8AC3E}">
        <p14:creationId xmlns:p14="http://schemas.microsoft.com/office/powerpoint/2010/main" val="84897873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7F29F49-0F1C-423F-97DA-E0C010DE1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812800"/>
            <a:ext cx="1056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SCENARIO 1 · THE SHOP BUYS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BCB3BEF-3E21-4F89-93DD-330D648A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117600"/>
            <a:ext cx="105664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</a:pPr>
            <a:r>
              <a:rPr sz="32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Payback = price ÷ annual saving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A1259BAA-C266-41C6-8543-09283EA0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905000"/>
            <a:ext cx="10566400" cy="4826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185EC3B-327A-4460-BD27-56C3029F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05000"/>
            <a:ext cx="10210800" cy="482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5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Payback (years) = System price ÷ (Monthly saving × 12)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B0B4561-6457-4B24-98C0-338AC69F1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2590800"/>
            <a:ext cx="3386666" cy="25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D75626E-F1CA-42DE-9A89-79599B7C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2794000"/>
            <a:ext cx="2980266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6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A · Solar only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38F021B-C97D-4BEE-AA05-C3A28BC31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3175000"/>
            <a:ext cx="2980266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4400" b="1">
                <a:solidFill>
                  <a:srgbClr val="1F7A4D"/>
                </a:solidFill>
                <a:latin typeface="Consolas"/>
                <a:ea typeface="Consolas"/>
                <a:cs typeface="Consolas"/>
              </a:rPr>
              <a:t>3.3 yrs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6C9070D-35C2-4FCD-86E2-458A18C20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3962400"/>
            <a:ext cx="2980266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</a:pPr>
            <a:r>
              <a:rPr sz="1300" b="0">
                <a:solidFill>
                  <a:srgbClr val="4A5260"/>
                </a:solidFill>
                <a:latin typeface="Consolas"/>
                <a:ea typeface="Consolas"/>
                <a:cs typeface="Consolas"/>
              </a:rPr>
              <a:t>114,400 ÷ 34,409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</a:pPr>
            <a:r>
              <a:rPr sz="1300" b="0">
                <a:solidFill>
                  <a:srgbClr val="4A5260"/>
                </a:solidFill>
                <a:latin typeface="Consolas"/>
                <a:ea typeface="Consolas"/>
                <a:cs typeface="Consolas"/>
              </a:rPr>
              <a:t>Saving 2,867 EGP a month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9CFF510-E456-4E93-AC58-47D0821EE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666" y="2590800"/>
            <a:ext cx="3386666" cy="25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DC330D6-BE67-40CD-8ADB-C060016B4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5866" y="2794000"/>
            <a:ext cx="2980266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6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B · Solar + LV_16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1984D52-4927-415A-8873-A1979E852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5866" y="3175000"/>
            <a:ext cx="2980266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4400" b="1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7.9 yrs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D7B17DE-F84B-4952-AF87-958153ADF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5866" y="3962400"/>
            <a:ext cx="2980266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</a:pPr>
            <a:r>
              <a:rPr sz="1300" b="0">
                <a:solidFill>
                  <a:srgbClr val="4A5260"/>
                </a:solidFill>
                <a:latin typeface="Consolas"/>
                <a:ea typeface="Consolas"/>
                <a:cs typeface="Consolas"/>
              </a:rPr>
              <a:t>372,240 ÷ 47,404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</a:pPr>
            <a:r>
              <a:rPr sz="1300" b="0">
                <a:solidFill>
                  <a:srgbClr val="4A5260"/>
                </a:solidFill>
                <a:latin typeface="Consolas"/>
                <a:ea typeface="Consolas"/>
                <a:cs typeface="Consolas"/>
              </a:rPr>
              <a:t>Saving 3,950 EGP a month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FE60FA5-C998-4F7E-943C-6EC63CB6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2533" y="2590800"/>
            <a:ext cx="3386666" cy="25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0FE9E5A-142C-44C5-9F7A-B8919D609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5733" y="2794000"/>
            <a:ext cx="2980266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6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C · Solar + 2 × LV_32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6BDB339-B56E-492E-A321-EAFAA68B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5733" y="3175000"/>
            <a:ext cx="2980266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>
              <a:rPr sz="4400" b="1">
                <a:solidFill>
                  <a:srgbClr val="B42318"/>
                </a:solidFill>
                <a:latin typeface="Consolas"/>
                <a:ea typeface="Consolas"/>
                <a:cs typeface="Consolas"/>
              </a:rPr>
              <a:t>14.0 yrs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532DCB6-DF94-4BC0-B803-FD85FE146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5733" y="3962400"/>
            <a:ext cx="2980266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</a:pPr>
            <a:r>
              <a:rPr sz="1300" b="0">
                <a:solidFill>
                  <a:srgbClr val="4A5260"/>
                </a:solidFill>
                <a:latin typeface="Consolas"/>
                <a:ea typeface="Consolas"/>
                <a:cs typeface="Consolas"/>
              </a:rPr>
              <a:t>1,154,560 ÷ 82,299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</a:pPr>
            <a:r>
              <a:rPr sz="1300" b="0">
                <a:solidFill>
                  <a:srgbClr val="4A5260"/>
                </a:solidFill>
                <a:latin typeface="Consolas"/>
                <a:ea typeface="Consolas"/>
                <a:cs typeface="Consolas"/>
              </a:rPr>
              <a:t>Saving 6,858 EGP a month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3D22B3E-E8C3-4A14-9208-BE1ED01D5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5334000"/>
            <a:ext cx="105664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2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Battery warranty is 10 years; cycle life (6,000 cycles at 80% DoD) is about 16 years of daily use.</a:t>
            </a:r>
          </a:p>
        </p:txBody>
      </p:sp>
    </p:spTree>
    <p:extLst>
      <p:ext uri="{BB962C8B-B14F-4D97-AF65-F5344CB8AC3E}">
        <p14:creationId xmlns:p14="http://schemas.microsoft.com/office/powerpoint/2010/main" val="11944692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A914F98-CDA0-435A-B3F0-598AF2C03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812800"/>
            <a:ext cx="1056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SCENARIO 2 · AVESTA PROVIDES IT, THE SHOP SUBSCRIBES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E8F242E-D619-4293-8384-E78796CC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117600"/>
            <a:ext cx="105664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</a:pPr>
            <a:r>
              <a:rPr sz="32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Monthly subscription = price ÷ months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417085FA-2EB0-4EFC-954E-9B96AD161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905000"/>
            <a:ext cx="105664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CFCFD"/>
          </a:solidFill>
          <a:ln xmlns:a="http://schemas.openxmlformats.org/drawingml/2006/main" w="6350">
            <a:solidFill>
              <a:srgbClr val="DDE1E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7FAA269-0985-4C6B-AF74-31766EE9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05000"/>
            <a:ext cx="1021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4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Subscription = System price ÷ (Years × 12)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4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Shortest term = System price ÷ Monthly saving   (subscription = full saving)</a:t>
            </a:r>
          </a:p>
        </p:txBody>
      </p:sp>
      <p:graphicFrame>
        <p:nvGraphicFramePr>
          <p:cNvPr id="14" name="Table 5"/>
          <p:cNvGraphicFramePr/>
          <p:nvPr/>
        </p:nvGraphicFramePr>
        <p:xfrm>
          <a:off xmlns:a="http://schemas.openxmlformats.org/drawingml/2006/main" x="812800" y="2870200"/>
          <a:ext xmlns:a="http://schemas.openxmlformats.org/drawingml/2006/main" cx="10572750" cy="1625600"/>
        </p:xfrm>
        <a:graphic xmlns:a="http://schemas.openxmlformats.org/drawingml/2006/main"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33650"/>
                <a:gridCol w="2324100"/>
                <a:gridCol w="1905000"/>
                <a:gridCol w="1905000"/>
                <a:gridCol w="1905000"/>
              </a:tblGrid>
              <a:tr h="406400">
                <a:tc>
                  <a:txBody>
                    <a:bodyPr wrap="square"/>
                    <a:lstStyle/>
                    <a:p/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Shortest term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5 years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8 years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10 years</a:t>
                      </a:r>
                    </a:p>
                  </a:txBody>
                  <a:tcPr marL="101600" marR="101600" marT="57150" marB="57150" anchor="ctr">
                    <a:solidFill>
                      <a:srgbClr val="E6E9ED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A · Solar only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3.3 yrs · 2,867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1,907  (+961)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1,192  (+1,676)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953  (+1,914)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B · Solar + LV_16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7.9 yrs · 3,950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6,204  (−2,254)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3,878  (+73)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3,102  (+848)</a:t>
                      </a:r>
                    </a:p>
                  </a:txBody>
                  <a:tcPr marL="101600" marR="101600" marT="57150" marB="57150" anchor="ctr">
                    <a:solidFill>
                      <a:srgbClr val="F4F5F7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C · Solar + 2 × LV_32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14.0 yrs · 6,858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19,243  (−12,384)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12,027  (−5,168)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9,621  (−2,763)</a:t>
                      </a:r>
                    </a:p>
                  </a:txBody>
                  <a:tcPr marL="101600" marR="101600" marT="57150" marB="57150" anchor="ctr">
                    <a:solidFill>
                      <a:srgbClr val="FCFC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DE9A444-F95F-4815-B66F-343478160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4699000"/>
            <a:ext cx="10566400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2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EGP per month. In brackets: what the shop still saves each month after paying (saving − subscription). A negative value means the shop pays more than its bill today.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DE42DEB-08F3-45D4-953C-84D796249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5397500"/>
            <a:ext cx="105664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2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No maintenance, insurance or interest is included, as requested.</a:t>
            </a:r>
          </a:p>
        </p:txBody>
      </p:sp>
    </p:spTree>
    <p:extLst>
      <p:ext uri="{BB962C8B-B14F-4D97-AF65-F5344CB8AC3E}">
        <p14:creationId xmlns:p14="http://schemas.microsoft.com/office/powerpoint/2010/main" val="47816213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A36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2487F1-9CDA-4B32-829C-35AC1B4C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952500"/>
            <a:ext cx="1056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RECOMMENDATION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8EB2498-CB7C-415B-960A-882A168B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270000"/>
            <a:ext cx="105664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</a:pPr>
            <a:r>
              <a:rPr sz="36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Solar pays for itself; the battery buys backup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84E1BB65-1C5D-47ED-B7FC-266534A3B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2286000"/>
            <a:ext cx="5181600" cy="27940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CE3D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2310A70-54CC-4F70-BE55-DED421E4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14600"/>
            <a:ext cx="467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8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Option A · Solar 7.0 kWp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BB76234-6517-4261-867A-F08865BB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84500"/>
            <a:ext cx="46736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2000" b="1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Buy: 3.3 years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F8D1D37-3D6E-45EC-AC66-82A3F4E7B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9800"/>
            <a:ext cx="4673600" cy="635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5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Subscribe: 1,192 EGP/month for 8 years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7B8EFD6-359D-43D4-965D-96E360D0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41800"/>
            <a:ext cx="4673600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400" b="0">
                <a:solidFill>
                  <a:srgbClr val="2A2F37"/>
                </a:solidFill>
                <a:latin typeface="Arial"/>
                <a:ea typeface="Arial"/>
                <a:cs typeface="Arial"/>
              </a:rPr>
              <a:t>Shop keeps 1,676 EGP a month from day one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26557340-F413-4CDD-B5B9-B133FCB0A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2286000"/>
            <a:ext cx="5181600" cy="27940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CE3D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58E009E-3570-40AD-A177-3DB388E01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2514600"/>
            <a:ext cx="4673600" cy="31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8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Option B · Solar 10 kWp + LV_16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8BE0551-26AB-4B4F-8DFE-E08E4F768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2984500"/>
            <a:ext cx="46736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2000" b="1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Buy: 7.9 years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1F2F9BE-C660-4CEA-BF0D-89A3A6B42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3479800"/>
            <a:ext cx="4673600" cy="635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500" b="0">
                <a:solidFill>
                  <a:srgbClr val="14171C"/>
                </a:solidFill>
                <a:latin typeface="Consolas"/>
                <a:ea typeface="Consolas"/>
                <a:cs typeface="Consolas"/>
              </a:rPr>
              <a:t>Subscribe: 3,102 EGP/month for 10 years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85D2F43-AB32-4284-80A0-1D808A76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4241800"/>
            <a:ext cx="4673600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400" b="0">
                <a:solidFill>
                  <a:srgbClr val="2A2F37"/>
                </a:solidFill>
                <a:latin typeface="Arial"/>
                <a:ea typeface="Arial"/>
                <a:cs typeface="Arial"/>
              </a:rPr>
              <a:t>Shop keeps 848 EGP a month and ≈ 7 h of refrigeration backup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A94A925-F36E-4D6D-A934-4E0875F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5334000"/>
            <a:ext cx="105664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400" b="0">
                <a:solidFill>
                  <a:srgbClr val="14171C"/>
                </a:solidFill>
                <a:latin typeface="Arial"/>
                <a:ea typeface="Arial"/>
                <a:cs typeface="Arial"/>
              </a:rPr>
              <a:t>Option C: 14-year simple payback and about 102 m² of roof.</a:t>
            </a:r>
          </a:p>
        </p:txBody>
      </p:sp>
    </p:spTree>
    <p:extLst>
      <p:ext uri="{BB962C8B-B14F-4D97-AF65-F5344CB8AC3E}">
        <p14:creationId xmlns:p14="http://schemas.microsoft.com/office/powerpoint/2010/main" val="12810964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058D485-4C9A-46F6-A2D4-2A473B89D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812800"/>
            <a:ext cx="1056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</a:pPr>
            <a:r>
              <a:rPr sz="13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REFERENCE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BAE35FB-3DB2-472A-9D2C-7E747D64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117600"/>
            <a:ext cx="10566400" cy="5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</a:pPr>
            <a:r>
              <a:rPr sz="32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Assumptions and open points</a:t>
            </a:r>
          </a:p>
        </p:txBody>
      </p:sp>
      <p:graphicFrame>
        <p:nvGraphicFramePr>
          <p:cNvPr id="9" name="Table 3"/>
          <p:cNvGraphicFramePr/>
          <p:nvPr/>
        </p:nvGraphicFramePr>
        <p:xfrm>
          <a:off xmlns:a="http://schemas.openxmlformats.org/drawingml/2006/main" x="812800" y="1905000"/>
          <a:ext xmlns:a="http://schemas.openxmlformats.org/drawingml/2006/main" cx="10566400" cy="2971800"/>
        </p:xfrm>
        <a:graphic xmlns:a="http://schemas.openxmlformats.org/drawingml/2006/main"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68650"/>
                <a:gridCol w="2749550"/>
                <a:gridCol w="4648200"/>
              </a:tblGrid>
              <a:tr h="330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Item</a:t>
                      </a:r>
                    </a:p>
                  </a:txBody>
                  <a:tcPr marL="88900" marR="88900" marT="50800" marB="5080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Value</a:t>
                      </a:r>
                    </a:p>
                  </a:txBody>
                  <a:tcPr marL="88900" marR="88900" marT="50800" marB="50800" anchor="ctr">
                    <a:solidFill>
                      <a:srgbClr val="E6E9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Source / status</a:t>
                      </a:r>
                    </a:p>
                  </a:txBody>
                  <a:tcPr marL="88900" marR="88900" marT="50800" marB="50800" anchor="ctr">
                    <a:solidFill>
                      <a:srgbClr val="E6E9ED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Monthly consumption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2,421 kWh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Meter readings, August 2026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Bill basis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6,867 EGP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Official tariff; receipt shows 8,279 (gap to confirm)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Night share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58%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Estimated from equipment; confirm opening hours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PV yield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4.98 kWh/kWp/day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PVGIS Cairo reference model; see slides 11–12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DoD / efficiency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80% / 95%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AVESTA LV datasheet / Home Storage deck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Prices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13,640 · 8,000 · 6,000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Battery EGP/kWh · PV EGP/kWp · inverter EGP/kW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Maintenance, interest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Not included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Excluded on request</a:t>
                      </a:r>
                    </a:p>
                  </a:txBody>
                  <a:tcPr marL="88900" marR="88900" marT="50800" marB="50800" anchor="ctr">
                    <a:solidFill>
                      <a:srgbClr val="FCFCFD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Seasonality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August only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Peak month; annual saving is likely lower</a:t>
                      </a:r>
                    </a:p>
                  </a:txBody>
                  <a:tcPr marL="88900" marR="88900" marT="50800" marB="50800"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D620A8C-87E7-4058-9202-3686833B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5080000"/>
            <a:ext cx="10566400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12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Needed from the shop: detailed invoice, 3–6 months of bills, opening hours, roof area, outage hours, sugarcane juicer starting current.</a:t>
            </a:r>
          </a:p>
        </p:txBody>
      </p:sp>
    </p:spTree>
    <p:extLst>
      <p:ext uri="{BB962C8B-B14F-4D97-AF65-F5344CB8AC3E}">
        <p14:creationId xmlns:p14="http://schemas.microsoft.com/office/powerpoint/2010/main" val="109514320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399F34-80F4-4818-B0E9-B9007E5E6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09625"/>
            <a:ext cx="1057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B84E0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REFERENCE · PVGIS CAIRO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7429BA-3B42-4F08-B7DC-B48FB8A7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114425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4171C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Monthly solar electricity production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6C6EB7-2F59-4F00-A742-236691F13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859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A526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Reference system: 1 kWp. A 550 W panel is shown as an illustrative panel size.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809625" y="2095500"/>
          <a:ext xmlns:a="http://schemas.openxmlformats.org/drawingml/2006/main" cx="1057275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2571750"/>
                <a:gridCol w="2762250"/>
                <a:gridCol w="2857500"/>
              </a:tblGrid>
              <a:tr h="4762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Month</a:t>
                      </a:r>
                    </a:p>
                  </a:txBody>
                  <a:tcPr marL="76200" marR="76200" marT="19050" marB="19050">
                    <a:solidFill>
                      <a:srgbClr val="E8EB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Daily / 1 kWp</a:t>
                      </a:r>
                    </a:p>
                    <a:p>
                      <a:r>
                        <a:rPr sz="12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(kWh/day)</a:t>
                      </a:r>
                    </a:p>
                  </a:txBody>
                  <a:tcPr marL="76200" marR="76200" marT="19050" marB="19050">
                    <a:solidFill>
                      <a:srgbClr val="E8EB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Monthly / 1 kWp</a:t>
                      </a:r>
                    </a:p>
                    <a:p>
                      <a:r>
                        <a:rPr sz="12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(kWh/month)</a:t>
                      </a:r>
                    </a:p>
                  </a:txBody>
                  <a:tcPr marL="76200" marR="76200" marT="19050" marB="19050">
                    <a:solidFill>
                      <a:srgbClr val="E8EB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Daily / 550 W panel</a:t>
                      </a:r>
                    </a:p>
                    <a:p>
                      <a:r>
                        <a:rPr sz="1200" b="1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(kWh/day)</a:t>
                      </a:r>
                    </a:p>
                  </a:txBody>
                  <a:tcPr marL="76200" marR="76200" marT="19050" marB="19050">
                    <a:solidFill>
                      <a:srgbClr val="E8EBE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January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4.24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131.30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2.33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February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4.62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129.45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2.54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March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5.20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161.06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2.86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April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5.36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160.86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2.95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May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5.25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162.72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2.89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June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5.29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158.62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2.91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July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5.31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164.66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2.92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August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5.38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166.80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2.96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September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5.37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161.00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2.95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October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4.98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154.53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2.74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November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4.57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136.97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2.51</a:t>
                      </a:r>
                    </a:p>
                  </a:txBody>
                  <a:tcPr marL="76200" marR="76200" marT="19050" marB="19050">
                    <a:solidFill>
                      <a:srgbClr val="FCFCF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December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4.21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130.40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4171C"/>
                          </a:solidFill>
                          <a:latin typeface="Arial"/>
                          <a:ea typeface="Arial"/>
                          <a:cs typeface="Arial"/>
                        </a:rPr>
                        <a:t>2.32</a:t>
                      </a:r>
                    </a:p>
                  </a:txBody>
                  <a:tcPr marL="76200" marR="76200" marT="19050" marB="19050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A2C0A6-7ECD-4FF6-98CF-FA47D305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181725"/>
            <a:ext cx="1057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A52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JRC PVGIS 5.3 · SARAH3 / ERA5 (2005–2023) · Cairo 30.0444 N, 31.2357 E · retrieved 30 Sep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638A40-47C3-4BAD-B83E-BB4B56048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486525"/>
            <a:ext cx="1057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A52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South-facing, 30° tilt, crystalline silicon, free-standing, 14% entered system loss; local roof shading not surveyed.</a:t>
            </a:r>
          </a:p>
        </p:txBody>
      </p:sp>
    </p:spTree>
    <p:extLst>
      <p:ext uri="{BB962C8B-B14F-4D97-AF65-F5344CB8AC3E}">
        <p14:creationId xmlns:p14="http://schemas.microsoft.com/office/powerpoint/2010/main" val="186868806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F62359-D476-4DAD-9134-E9A99FB57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09625"/>
            <a:ext cx="1057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B84E0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REFERENCE · AVERAGES AND SETTINGS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BBB2D9-7722-4618-B132-7556BCE53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114425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4171C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How the Cairo average is calculated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45A6EB-6266-4EE6-861D-CC346D80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981200"/>
            <a:ext cx="1057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4171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4171C"/>
                </a:solidFill>
                <a:latin typeface="Arial"/>
                <a:ea typeface="Arial"/>
                <a:cs typeface="Arial"/>
              </a:rPr>
              <a:t>Average of the 12 daily monthly values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28AA3F-5FEA-4051-919C-7A21E6CAE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457450"/>
            <a:ext cx="1057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B84E0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84E0E"/>
                </a:solidFill>
                <a:latin typeface="Consolas"/>
                <a:ea typeface="Consolas"/>
                <a:cs typeface="Consolas"/>
              </a:rPr>
              <a:t>(4.24 + 4.62 + 5.20 + 5.36 + 5.25 + 5.29 + 5.31 + 5.38 + 5.37 + 4.98 + 4.57 + 4.21) ÷ 12</a:t>
            </a:r>
          </a:p>
          <a:p xmlns:a="http://schemas.openxmlformats.org/drawingml/2006/main">
            <a:pPr>
              <a:defRPr sz="1650" b="0">
                <a:solidFill>
                  <a:srgbClr val="B84E0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84E0E"/>
                </a:solidFill>
                <a:latin typeface="Consolas"/>
                <a:ea typeface="Consolas"/>
                <a:cs typeface="Consolas"/>
              </a:rPr>
              <a:t>= 4.9817 ≈ 4.98 kWh/kWp/day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5B6E4B-1DD0-4081-8AE2-D9AEE26F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4171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4171C"/>
                </a:solidFill>
                <a:latin typeface="Arial"/>
                <a:ea typeface="Arial"/>
                <a:cs typeface="Arial"/>
              </a:rPr>
              <a:t>Average monthly output = sum of monthly outputs ÷ 12 = 151.53 kWh/kWp/month</a:t>
            </a:r>
          </a:p>
          <a:p xmlns:a="http://schemas.openxmlformats.org/drawingml/2006/main">
            <a:pPr>
              <a:defRPr sz="1650" b="0">
                <a:solidFill>
                  <a:srgbClr val="14171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4171C"/>
                </a:solidFill>
                <a:latin typeface="Arial"/>
                <a:ea typeface="Arial"/>
                <a:cs typeface="Arial"/>
              </a:rPr>
              <a:t>Annual output = 1,818.36 kWh/kWp/year; annual daily average = 1818.36 ÷ 365 ≈ 4.9818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7AD506-6368-455B-B73A-434F16248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41960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84E0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84E0E"/>
                </a:solidFill>
                <a:latin typeface="Arial"/>
                <a:ea typeface="Arial"/>
                <a:cs typeface="Arial"/>
              </a:rPr>
              <a:t>Example: 550 W = 0.55 kWp → average daily output ≈ 0.55 × 4.98 = 2.74 kWh/day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EDA635-0C9A-4605-A2C9-35AA5D60A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048250"/>
            <a:ext cx="10572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A526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The 1,750 kWh/year estimate is replaced by this sourced reference calculation.</a:t>
            </a:r>
          </a:p>
          <a:p xmlns:a="http://schemas.openxmlformats.org/drawingml/2006/main">
            <a:pPr>
              <a:defRPr sz="1500" b="0">
                <a:solidFill>
                  <a:srgbClr val="4A526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PVGIS electricity output already includes modeled PV losses; battery losses are additional.</a:t>
            </a:r>
          </a:p>
          <a:p xmlns:a="http://schemas.openxmlformats.org/drawingml/2006/main">
            <a:pPr>
              <a:defRPr sz="1500" b="0">
                <a:solidFill>
                  <a:srgbClr val="4A526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These are historical climate averages. Actual output varies by month, weather, shading and cleaning.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F8ED2F-D107-4D25-B778-ABA956F7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248400"/>
            <a:ext cx="1057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A52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A5260"/>
                </a:solidFill>
                <a:latin typeface="Arial"/>
                <a:ea typeface="Arial"/>
                <a:cs typeface="Arial"/>
              </a:rPr>
              <a:t>Source: European Commission JRC PVGIS 5.3 · inputs and full calculation URL are in speaker notes.</a:t>
            </a:r>
          </a:p>
        </p:txBody>
      </p:sp>
    </p:spTree>
    <p:extLst>
      <p:ext uri="{BB962C8B-B14F-4D97-AF65-F5344CB8AC3E}">
        <p14:creationId xmlns:p14="http://schemas.microsoft.com/office/powerpoint/2010/main" val="205876343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2026-09-30T14:17:27.4560000Z</dcterms:created>
  <dcterms:modified xsi:type="dcterms:W3CDTF">2026-09-30T14:17:27.4560000Z</dcterms:modified>
</coreProperties>
</file>