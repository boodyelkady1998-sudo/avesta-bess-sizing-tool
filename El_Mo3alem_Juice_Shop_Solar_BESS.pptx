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6d292da78b42ff" /><Relationship Type="http://schemas.openxmlformats.org/officeDocument/2006/relationships/extended-properties" Target="/docProps/app.xml" Id="R49275af87acc477d" /><Relationship Type="http://schemas.openxmlformats.org/officeDocument/2006/relationships/officeDocument" Target="/ppt/presentation.xml" Id="Re9f6fcb5646643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635925e8d04ecc"/>
  </p:sldMasterIdLst>
  <p:notesMasterIdLst>
    <p:notesMasterId xmlns:r="http://schemas.openxmlformats.org/officeDocument/2006/relationships" r:id="R987a6bc1003a4714"/>
  </p:notesMasterIdLst>
  <p:sldIdLst>
    <p:sldId xmlns:r="http://schemas.openxmlformats.org/officeDocument/2006/relationships" id="256" r:id="Rd1dbfa975acf444e"/>
    <p:sldId xmlns:r="http://schemas.openxmlformats.org/officeDocument/2006/relationships" id="257" r:id="Rd79c317041914a19"/>
    <p:sldId xmlns:r="http://schemas.openxmlformats.org/officeDocument/2006/relationships" id="258" r:id="R54f2e97a2dc8438c"/>
    <p:sldId xmlns:r="http://schemas.openxmlformats.org/officeDocument/2006/relationships" id="259" r:id="R130763a409394a65"/>
    <p:sldId xmlns:r="http://schemas.openxmlformats.org/officeDocument/2006/relationships" id="260" r:id="R52d3f099c99b4d36"/>
    <p:sldId xmlns:r="http://schemas.openxmlformats.org/officeDocument/2006/relationships" id="261" r:id="R2c1cb99ae03d4d55"/>
    <p:sldId xmlns:r="http://schemas.openxmlformats.org/officeDocument/2006/relationships" id="262" r:id="Rdefba6fa3ae04b95"/>
    <p:sldId xmlns:r="http://schemas.openxmlformats.org/officeDocument/2006/relationships" id="263" r:id="R71c35853d284465d"/>
    <p:sldId xmlns:r="http://schemas.openxmlformats.org/officeDocument/2006/relationships" id="264" r:id="Rae2279b887674205"/>
    <p:sldId xmlns:r="http://schemas.openxmlformats.org/officeDocument/2006/relationships" id="265" r:id="Rbecfdf7582fb4d44"/>
    <p:sldId xmlns:r="http://schemas.openxmlformats.org/officeDocument/2006/relationships" id="266" r:id="R954f3a4dcf374c16"/>
    <p:sldId xmlns:r="http://schemas.openxmlformats.org/officeDocument/2006/relationships" id="267" r:id="Rd01404ed0138473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9eb1855cc14107" /><Relationship Type="http://schemas.openxmlformats.org/officeDocument/2006/relationships/slideMaster" Target="/ppt/slideMasters/slideMaster1.xml" Id="R52635925e8d04ecc" /><Relationship Type="http://schemas.openxmlformats.org/officeDocument/2006/relationships/notesMaster" Target="/ppt/notesMasters/notesMaster1.xml" Id="R987a6bc1003a4714" /><Relationship Type="http://schemas.openxmlformats.org/officeDocument/2006/relationships/presProps" Target="/ppt/presProps.xml" Id="R044efde146294c7e" /><Relationship Type="http://schemas.openxmlformats.org/officeDocument/2006/relationships/viewProps" Target="/ppt/viewProps.xml" Id="R4fbe5a67ffdf4eb9" /><Relationship Type="http://schemas.openxmlformats.org/officeDocument/2006/relationships/tableStyles" Target="/ppt/tableStyles.xml" Id="R71e1b84e122a4ffd" /><Relationship Type="http://schemas.openxmlformats.org/officeDocument/2006/relationships/slide" Target="/ppt/slides/slide1.xml" Id="Rd1dbfa975acf444e" /><Relationship Type="http://schemas.openxmlformats.org/officeDocument/2006/relationships/slide" Target="/ppt/slides/slide2.xml" Id="Rd79c317041914a19" /><Relationship Type="http://schemas.openxmlformats.org/officeDocument/2006/relationships/slide" Target="/ppt/slides/slide3.xml" Id="R54f2e97a2dc8438c" /><Relationship Type="http://schemas.openxmlformats.org/officeDocument/2006/relationships/slide" Target="/ppt/slides/slide4.xml" Id="R130763a409394a65" /><Relationship Type="http://schemas.openxmlformats.org/officeDocument/2006/relationships/slide" Target="/ppt/slides/slide5.xml" Id="R52d3f099c99b4d36" /><Relationship Type="http://schemas.openxmlformats.org/officeDocument/2006/relationships/slide" Target="/ppt/slides/slide6.xml" Id="R2c1cb99ae03d4d55" /><Relationship Type="http://schemas.openxmlformats.org/officeDocument/2006/relationships/slide" Target="/ppt/slides/slide7.xml" Id="Rdefba6fa3ae04b95" /><Relationship Type="http://schemas.openxmlformats.org/officeDocument/2006/relationships/slide" Target="/ppt/slides/slide8.xml" Id="R71c35853d284465d" /><Relationship Type="http://schemas.openxmlformats.org/officeDocument/2006/relationships/slide" Target="/ppt/slides/slide9.xml" Id="Rae2279b887674205" /><Relationship Type="http://schemas.openxmlformats.org/officeDocument/2006/relationships/slide" Target="/ppt/slides/slide10.xml" Id="Rbecfdf7582fb4d44" /><Relationship Type="http://schemas.openxmlformats.org/officeDocument/2006/relationships/slide" Target="/ppt/slides/slide11.xml" Id="R954f3a4dcf374c16" /><Relationship Type="http://schemas.openxmlformats.org/officeDocument/2006/relationships/slide" Target="/ppt/slides/slide12.xml" Id="Rd01404ed013847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ff1b3c416c4a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4883fe2b664335" /><Relationship Type="http://schemas.openxmlformats.org/officeDocument/2006/relationships/notesMaster" Target="/ppt/notesMasters/notesMaster1.xml" Id="R654a621317304a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f727280e184c2a" /><Relationship Type="http://schemas.openxmlformats.org/officeDocument/2006/relationships/notesMaster" Target="/ppt/notesMasters/notesMaster1.xml" Id="R033f3084830f46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76b47d825f42fd" /><Relationship Type="http://schemas.openxmlformats.org/officeDocument/2006/relationships/notesMaster" Target="/ppt/notesMasters/notesMaster1.xml" Id="R0021758ff1f14d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ca860506074c35" /><Relationship Type="http://schemas.openxmlformats.org/officeDocument/2006/relationships/notesMaster" Target="/ppt/notesMasters/notesMaster1.xml" Id="Rb203a6dab6f94d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59415b3f7a46a6" /><Relationship Type="http://schemas.openxmlformats.org/officeDocument/2006/relationships/notesMaster" Target="/ppt/notesMasters/notesMaster1.xml" Id="R9398b28163ba40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aecd623b824c19" /><Relationship Type="http://schemas.openxmlformats.org/officeDocument/2006/relationships/notesMaster" Target="/ppt/notesMasters/notesMaster1.xml" Id="R80d02ad8c7e948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8127754e3344ff" /><Relationship Type="http://schemas.openxmlformats.org/officeDocument/2006/relationships/notesMaster" Target="/ppt/notesMasters/notesMaster1.xml" Id="Rf09f2d16c96243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8844ee3ca44e59" /><Relationship Type="http://schemas.openxmlformats.org/officeDocument/2006/relationships/notesMaster" Target="/ppt/notesMasters/notesMaster1.xml" Id="R8e2e1524433b47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f48172b47849bd" /><Relationship Type="http://schemas.openxmlformats.org/officeDocument/2006/relationships/notesMaster" Target="/ppt/notesMasters/notesMaster1.xml" Id="R38f850c331544d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53712f68b7411f" /><Relationship Type="http://schemas.openxmlformats.org/officeDocument/2006/relationships/notesMaster" Target="/ppt/notesMasters/notesMaster1.xml" Id="R6285dc031f994a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bec8c3563243be" /><Relationship Type="http://schemas.openxmlformats.org/officeDocument/2006/relationships/notesMaster" Target="/ppt/notesMasters/notesMaster1.xml" Id="R6bcbd26e534f47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2d30b98508345d8" /><Relationship Type="http://schemas.openxmlformats.org/officeDocument/2006/relationships/notesMaster" Target="/ppt/notesMasters/notesMaster1.xml" Id="R6abb5c47e1364d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Equipment inventory estimate totals 66.1 kWh/day; meter-based baseline 80.7 kWh/day is used. The former 58% inferred split is superseded.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Day/night split set to 50%/50% by user request on 30 September 2026. Scenario assumption, not measured. E=80.7, D=N=40.35 kWh/day. Required whole-night nameplate capacity=40.35/(0.8*0.95)=53.0921 kWh. Option C retains the two-LV_32 (64 kWh) stack for the comparison. The existing battery efficiency convention remains preliminary; this update changes the consumption split only.</a:t>
            </a:r>
          </a:p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scenarios: [{"C":0,"U":0,"P":8.5,"inv":10,"G":42.330000000000005,"direct":40.35,"battery":0,"M":1210.5,"newbill":3453.61,"saving":3413.61,"price":140800,"payback":3.4372213970937904},{"C":16,"U":12.8,"P":11,"inv":12,"G":54.78,"direct":40.35,"battery":12.8,"M":826.5,"newbill":2254.405,"saving":4612.8150000000005,"price":394240,"payback":7.12218750011291},{"C":64,"U":51.2,"P":17,"inv":20,"G":84.66000000000001,"direct":40.35,"battery":40.35,"M":0,"newbill":9,"saving":6858.22,"price":1154560,"payback":14.028907403573132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0e930d7d5e44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8534dcee8f46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4075874f042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483af6bd974b4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6487b7d33344b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0dbbb5d9cc488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b7370d011445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216807bea04d7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dbb084ab0849e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1a91f890bd42d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c2392311124a0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7DAEC9-F881-4133-A4AA-6DA24E8BB6A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5FE31A9-9C29-47E4-8891-A206527D17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9809A94-D4AB-4365-AEE4-2A19176CD2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59CB9B0-9D19-44AE-B76B-9E62524D7B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FB82D6-5482-47C4-B433-5276BE9A41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6366F4-0D99-4ADB-9980-0A6C337DE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B0FE67-5E54-4CB4-A218-C70E4DBB46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B9601F-1587-488F-8594-E516C9876A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415327-FA0F-4FED-9153-2ED063579A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83472E-C46C-4B92-8E7B-94920368AA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5793303-F3A4-4E3D-9301-F894EA50C6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CA2C570-E356-408D-A256-097524EDC6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455171F-9FB2-4126-8285-3B31FF1BCC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055E4E-8658-4419-BD65-61722B4833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BAEB77-F50F-4737-B2AC-031391EC9E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9515FD8-1F65-4D7D-B2C3-275A73E70E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D3F1BE-0252-42C9-AE89-066E368D0C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0640E91-A51F-472D-AFB4-7CEE6EAA828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3C04D67-8244-4B0C-8E03-70C74CADD0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5E7502C-0753-436E-AF8B-76E1E8882D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714D22-112D-4762-A154-33D3CC606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FDC8ED-4F2D-476C-8FA4-B32C8D4A60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E967CA-0453-42D3-AC2D-C2072DB6DB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B10A2C7-BB37-41B8-A56D-EF2264248DC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77D2D4E-5362-405D-8477-EBFB837C7C5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B0152C8-0B6A-4625-A6A2-A4476CF828A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68667B0-A925-40F9-BB94-A51154712F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9F186E9-6887-44DB-AB4B-093C6FC7CE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01BC7E-594D-469D-9962-B567707DD5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931080-7CA0-41E2-B0AB-09241E451E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33EEF3E-AB33-4402-9E07-BEB6091BE1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CA938B-56C0-4780-8388-E933AE1D13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46688D4-E875-4921-B67F-6F0C2944E7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603D7F3-2DD1-4819-BCA0-72D8085FE2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FF2CC9-D942-4BAB-A7B0-35222FAFC4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9E9393-3110-4FBD-AFAD-34540DF9F6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73877-4EDF-40FC-804C-11F5D1ABB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5AB99F-71DC-4455-986D-47F70ED6DC6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B37D2D-A1D7-4A98-87B7-5F629B1F3E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71AC580-2648-41AD-995E-A77EDE7EFC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504750A-0278-491D-A877-6ABD1B2FFAB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77DFB52-0472-4407-89D7-1E23A8A83D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58CEF5-56DD-40D0-BC43-261174F8AE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C51F527-1075-4250-A3B7-CE854DC4BC1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E3B72AA-7C2F-4412-AF04-E76B1CE23D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FCC09B-B47E-4F49-9C99-0A0233D532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9182CF4-29D6-4CD0-9086-7D749688ED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30098F2-E9C6-451F-85F4-737A2490F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75E38C-04FE-4FB0-83AD-557989F80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A495E92-2F7A-449E-9F51-27A991D80A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D9EEC2-C095-4FCA-8433-A7001DA5DF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71723A-5C0C-4705-B211-0150DC9B09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88279D-1838-43F5-94B4-D6AFBD988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BCA44B8-84AA-4908-9A21-E34CA613DE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120E15-48BC-43F0-A61B-6BDEAA22D3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671A40-7CB8-40C4-8E25-DF2A8AF949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B20911-916A-429E-8585-89915CAEC9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39E018E-D48C-48E1-ABBA-DC38C0241A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ea2dffc8914dbc" /><Relationship Type="http://schemas.openxmlformats.org/officeDocument/2006/relationships/slideLayout" Target="/ppt/slideLayouts/slideLayout1.xml" Id="R7c9911751cfb4599" /><Relationship Type="http://schemas.openxmlformats.org/officeDocument/2006/relationships/slideLayout" Target="/ppt/slideLayouts/slideLayout2.xml" Id="R88b0b6c2aebc4d80" /><Relationship Type="http://schemas.openxmlformats.org/officeDocument/2006/relationships/slideLayout" Target="/ppt/slideLayouts/slideLayout3.xml" Id="R0bafb86b5d624099" /><Relationship Type="http://schemas.openxmlformats.org/officeDocument/2006/relationships/slideLayout" Target="/ppt/slideLayouts/slideLayout4.xml" Id="Rc052efd513a94629" /><Relationship Type="http://schemas.openxmlformats.org/officeDocument/2006/relationships/slideLayout" Target="/ppt/slideLayouts/slideLayout5.xml" Id="R6f6c6fc69f964950" /><Relationship Type="http://schemas.openxmlformats.org/officeDocument/2006/relationships/slideLayout" Target="/ppt/slideLayouts/slideLayout6.xml" Id="R66c0c43a215e420a" /><Relationship Type="http://schemas.openxmlformats.org/officeDocument/2006/relationships/slideLayout" Target="/ppt/slideLayouts/slideLayout7.xml" Id="R47c6beec6c704d62" /><Relationship Type="http://schemas.openxmlformats.org/officeDocument/2006/relationships/slideLayout" Target="/ppt/slideLayouts/slideLayout8.xml" Id="R2aa53ecea75b49f3" /><Relationship Type="http://schemas.openxmlformats.org/officeDocument/2006/relationships/slideLayout" Target="/ppt/slideLayouts/slideLayout9.xml" Id="R1bb1c0fc06b343b3" /><Relationship Type="http://schemas.openxmlformats.org/officeDocument/2006/relationships/slideLayout" Target="/ppt/slideLayouts/slideLayout10.xml" Id="Re1e7364add86416f" /><Relationship Type="http://schemas.openxmlformats.org/officeDocument/2006/relationships/slideLayout" Target="/ppt/slideLayouts/slideLayout11.xml" Id="R9fe582dc16ec40b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7D0875-9D3E-41F4-B1D4-17F252E1F2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4A10FC-2D26-4FBC-B21E-E2C885D0E7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410DDB-DBDA-46C3-993D-099208BCCAF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D9C912-A14B-4CCF-9A3E-36BEA4AC1A1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513F935-F053-485D-93C2-03D38DE2BA1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9911751cfb4599"/>
    <p:sldLayoutId xmlns:r="http://schemas.openxmlformats.org/officeDocument/2006/relationships" id="2147483650" r:id="R88b0b6c2aebc4d80"/>
    <p:sldLayoutId xmlns:r="http://schemas.openxmlformats.org/officeDocument/2006/relationships" id="2147483651" r:id="R0bafb86b5d624099"/>
    <p:sldLayoutId xmlns:r="http://schemas.openxmlformats.org/officeDocument/2006/relationships" id="2147483652" r:id="Rc052efd513a94629"/>
    <p:sldLayoutId xmlns:r="http://schemas.openxmlformats.org/officeDocument/2006/relationships" id="2147483653" r:id="R6f6c6fc69f964950"/>
    <p:sldLayoutId xmlns:r="http://schemas.openxmlformats.org/officeDocument/2006/relationships" id="2147483654" r:id="R66c0c43a215e420a"/>
    <p:sldLayoutId xmlns:r="http://schemas.openxmlformats.org/officeDocument/2006/relationships" id="2147483655" r:id="R47c6beec6c704d62"/>
    <p:sldLayoutId xmlns:r="http://schemas.openxmlformats.org/officeDocument/2006/relationships" id="2147483656" r:id="R2aa53ecea75b49f3"/>
    <p:sldLayoutId xmlns:r="http://schemas.openxmlformats.org/officeDocument/2006/relationships" id="2147483657" r:id="R1bb1c0fc06b343b3"/>
    <p:sldLayoutId xmlns:r="http://schemas.openxmlformats.org/officeDocument/2006/relationships" id="2147483658" r:id="Re1e7364add86416f"/>
    <p:sldLayoutId xmlns:r="http://schemas.openxmlformats.org/officeDocument/2006/relationships" id="2147483659" r:id="R9fe582dc16ec40b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b0854e4e074572" /><Relationship Type="http://schemas.openxmlformats.org/officeDocument/2006/relationships/notesSlide" Target="/ppt/notesSlides/notesSlide1.xml" Id="Rcd9b4714f7d947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a389e63aa94492" /><Relationship Type="http://schemas.openxmlformats.org/officeDocument/2006/relationships/notesSlide" Target="/ppt/notesSlides/notesSlide2.xml" Id="Rcfc78b041fe04c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9ce25d407a4e74" /><Relationship Type="http://schemas.openxmlformats.org/officeDocument/2006/relationships/notesSlide" Target="/ppt/notesSlides/notesSlide3.xml" Id="R2da5c9f496264e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b42129a5c040bc" /><Relationship Type="http://schemas.openxmlformats.org/officeDocument/2006/relationships/notesSlide" Target="/ppt/notesSlides/notesSlide4.xml" Id="Rf87db7fcc5394e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7d40bf26994e83" /><Relationship Type="http://schemas.openxmlformats.org/officeDocument/2006/relationships/notesSlide" Target="/ppt/notesSlides/notesSlide5.xml" Id="R58b7f67a46c541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1b19cb12654abe" /><Relationship Type="http://schemas.openxmlformats.org/officeDocument/2006/relationships/notesSlide" Target="/ppt/notesSlides/notesSlide6.xml" Id="R3ea997f187e54b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e7de724fb843d6" /><Relationship Type="http://schemas.openxmlformats.org/officeDocument/2006/relationships/notesSlide" Target="/ppt/notesSlides/notesSlide7.xml" Id="Rab425b0973ba4c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1d05da39e149c5" /><Relationship Type="http://schemas.openxmlformats.org/officeDocument/2006/relationships/notesSlide" Target="/ppt/notesSlides/notesSlide8.xml" Id="R272f6481cf0f4a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cf970539654849" /><Relationship Type="http://schemas.openxmlformats.org/officeDocument/2006/relationships/notesSlide" Target="/ppt/notesSlides/notesSlide9.xml" Id="R703f9ee349db43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4c19d1bd19446f" /><Relationship Type="http://schemas.openxmlformats.org/officeDocument/2006/relationships/notesSlide" Target="/ppt/notesSlides/notesSlide10.xml" Id="R263c113bbefa424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9a649133041cd" /><Relationship Type="http://schemas.openxmlformats.org/officeDocument/2006/relationships/notesSlide" Target="/ppt/notesSlides/notesSlide11.xml" Id="R9e03fa60a49f499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05e231d1b45dc" /><Relationship Type="http://schemas.openxmlformats.org/officeDocument/2006/relationships/notesSlide" Target="/ppt/notesSlides/notesSlide12.xml" Id="Rad97bdac78074d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7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04E002-5E98-4204-BF37-C9A4BA4A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778000"/>
            <a:ext cx="105664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1">
                <a:solidFill>
                  <a:srgbClr val="F26A1B"/>
                </a:solidFill>
                <a:latin typeface="Arial"/>
                <a:ea typeface="Arial"/>
                <a:cs typeface="Arial"/>
              </a:rPr>
              <a:t>AVESTA · EL MO3ALEM JUICE SHOP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64C0C0-0566-4FAD-9B42-D9C8AC5A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133600"/>
            <a:ext cx="105664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800" b="1">
                <a:solidFill>
                  <a:srgbClr val="F4F5F7"/>
                </a:solidFill>
                <a:latin typeface="Arial"/>
                <a:ea typeface="Arial"/>
                <a:cs typeface="Arial"/>
              </a:rPr>
              <a:t>Solar + battery: buy it or subscribe?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041E2FD-C58A-474E-9AFB-F634506A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175000"/>
            <a:ext cx="8890000" cy="82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2000" b="0">
                <a:solidFill>
                  <a:srgbClr val="C3C8D0"/>
                </a:solidFill>
                <a:latin typeface="Arial"/>
                <a:ea typeface="Arial"/>
                <a:cs typeface="Arial"/>
              </a:rPr>
              <a:t>Payback if the shop buys the system, and the monthly subscription if AVESTA provides it free and recovers the cost from the shop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9F8F88-AA37-4AD5-A72D-2B74124A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445000"/>
            <a:ext cx="105664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0">
                <a:solidFill>
                  <a:srgbClr val="9AA1AD"/>
                </a:solidFill>
                <a:latin typeface="Arial"/>
                <a:ea typeface="Arial"/>
                <a:cs typeface="Arial"/>
              </a:rPr>
              <a:t>Basis: August 2026 bill · commercial tariff (EgyptERA, April 2026) · no maintenance or interest included</a:t>
            </a:r>
          </a:p>
        </p:txBody>
      </p:sp>
    </p:spTree>
    <p:extLst>
      <p:ext uri="{BB962C8B-B14F-4D97-AF65-F5344CB8AC3E}">
        <p14:creationId xmlns:p14="http://schemas.microsoft.com/office/powerpoint/2010/main" val="8991499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48A3DD-2DEE-44EF-8E2A-7D771458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THE SHOP TODAY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4FC342-8838-405C-B2A7-B59DCBCC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2,421 kWh a month, refrigeration around the clock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10C785BC-DAE6-4DF3-9AE2-85D40F95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B94457-7786-40B4-B71C-00563F26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2,421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F78A271-1ED4-4C9B-9D92-21CCDC86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679700"/>
            <a:ext cx="212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kWh per month
312,070 − 309,649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1CC37FE-0B95-453F-A50D-684F496F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89BCD16-678B-4B0B-A819-252CDFD4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80.7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EE072C3-880F-4002-AA32-3B7031F0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79700"/>
            <a:ext cx="212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kWh per day
E = 2,421 ÷ 30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407F177-1596-4A9C-9DF7-D4C2D273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FD49576-8DA6-44B4-B45A-CFA455AC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54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6,867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0B032AB-7EBC-4D69-9B62-A3DF2879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5400" y="2679700"/>
            <a:ext cx="212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EGP per month
at the official tariff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23E285A-43BB-4FF3-8526-CBFB60F8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9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179C0E1-4065-411C-8A2C-F9761B5E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51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50%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5F4E64-5DEF-4996-8A25-7472EFA0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5100" y="2679700"/>
            <a:ext cx="212090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assumed night share
50% day / 50% night</a:t>
            </a:r>
          </a:p>
        </p:txBody>
      </p:sp>
      <p:graphicFrame>
        <p:nvGraphicFramePr>
          <p:cNvPr id="33" name="Table 15"/>
          <p:cNvGraphicFramePr/>
          <p:nvPr/>
        </p:nvGraphicFramePr>
        <p:xfrm>
          <a:off xmlns:a="http://schemas.openxmlformats.org/drawingml/2006/main" x="812800" y="3429000"/>
          <a:ext xmlns:a="http://schemas.openxmlformats.org/drawingml/2006/main" cx="10566400" cy="14224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648200"/>
                <a:gridCol w="1479550"/>
                <a:gridCol w="1479550"/>
                <a:gridCol w="2959100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Main loads (estimated)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Qty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kWh/day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Runs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Refrigerators and ice-cream freezers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42.4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24 h, compressors cycling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Juicers, blender, ice crusher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19.2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Opening hours, busiest in the evening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LED lights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 h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C329D4-3216-4899-8876-FD0A14E4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721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 receipt shows EGP 8,279. The official tariff explains EGP 6,867; the EGP 1,412 gap needs the detailed invoice. Savings below use the official tariff (the conservative case).</a:t>
            </a:r>
          </a:p>
        </p:txBody>
      </p:sp>
    </p:spTree>
    <p:extLst>
      <p:ext uri="{BB962C8B-B14F-4D97-AF65-F5344CB8AC3E}">
        <p14:creationId xmlns:p14="http://schemas.microsoft.com/office/powerpoint/2010/main" val="14582103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8A4A88-C777-4B42-B8D6-9B8D31D3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1 · BILL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9930F8-33CF-4F35-AEAF-F8E74EF4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Commercial tariff and the monthly bill</a:t>
            </a:r>
          </a:p>
        </p:txBody>
      </p:sp>
      <p:graphicFrame>
        <p:nvGraphicFramePr>
          <p:cNvPr id="15" name="Table 3"/>
          <p:cNvGraphicFramePr/>
          <p:nvPr/>
        </p:nvGraphicFramePr>
        <p:xfrm>
          <a:off xmlns:a="http://schemas.openxmlformats.org/drawingml/2006/main" x="812800" y="1905000"/>
          <a:ext xmlns:a="http://schemas.openxmlformats.org/drawingml/2006/main" cx="6096000" cy="24892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0100"/>
                <a:gridCol w="1587500"/>
                <a:gridCol w="2438400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kWh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EGP / kWh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Service fee (EGP)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 – 100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1.62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101 – 250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2.16 all units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251 – 600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2.64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601 – 1,000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2.64 / 2.74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Above 1,000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2.79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Zero use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2AF4C2A-FBE8-45F5-B13D-67E8285F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0" y="1905000"/>
            <a:ext cx="4165600" cy="1079500"/>
          </a:xfrm>
          <a:prstGeom xmlns:a="http://schemas.openxmlformats.org/drawingml/2006/main" prst="roundRect">
            <a:avLst>
              <a:gd name="adj" fmla="val 7058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643105-B68F-48B6-9122-FF1D5992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05000"/>
            <a:ext cx="3810000" cy="1079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Bill(M) = Energy(M)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  + Service fee(M)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  + 0.03 × 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DDDD919-208E-475C-AB9A-821870CF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0" y="3162300"/>
            <a:ext cx="41656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For this shop (M above 1,000 kWh):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32CC71A-A443-40B1-8224-27D41B13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0" y="3479800"/>
            <a:ext cx="4165600" cy="1079500"/>
          </a:xfrm>
          <a:prstGeom xmlns:a="http://schemas.openxmlformats.org/drawingml/2006/main" prst="roundRect">
            <a:avLst>
              <a:gd name="adj" fmla="val 7058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0F76FA0-EC9C-4997-A94B-A703F674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479800"/>
            <a:ext cx="3810000" cy="1079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2,421 × 2.79 = 6,754.59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+ 40 + 2,421 × 0.03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= 6,867.22 EGP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2E27200-BDF1-475F-A96F-4FE20203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699000"/>
            <a:ext cx="609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601–1,000 kWh: first 600 at 2.64, the rest at 2.74. Stamp duty = 3 piasters per kWh.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9277BCB-25E9-4C92-ABE2-B9FD30D8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248400"/>
            <a:ext cx="10566400" cy="20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Source: EgyptERA, Electricity Tariff Starting From April 2026 (verified 24 Sep 2026)</a:t>
            </a:r>
          </a:p>
        </p:txBody>
      </p:sp>
    </p:spTree>
    <p:extLst>
      <p:ext uri="{BB962C8B-B14F-4D97-AF65-F5344CB8AC3E}">
        <p14:creationId xmlns:p14="http://schemas.microsoft.com/office/powerpoint/2010/main" val="1845702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EB7564-22E4-4DF5-A122-8FF162C5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2 · SIZING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B2E608-2744-4AC4-B91F-89BBC8E4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Daily split, solar size and battery size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9CFC68AB-F3A2-4E06-A9AD-BDF83CAA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3386666" cy="3683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BDA9228-5A63-416F-8BAB-4449B03F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1082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Daily energy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6F5E0C-8BD7-440C-A4FC-0DB771EE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5654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E = M ÷ 30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32E93-98C9-41D4-A40A-F0630C7C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8321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80.7 kWh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0C265A1-2E22-411E-986F-5F61B39D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3528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N = E × 50%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2AA4297-B8DB-4E5F-898D-C2C43D46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6195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40.35 kWh at night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DBC55D-F9C8-44C4-8F8D-DD3DEF5B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41402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D = E − 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C7FC3A1-1161-4CA0-93F9-987DF56C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44069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40.35 kWh in daytime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D103B7E-A4BE-4337-BC51-6980CA95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666" y="1905000"/>
            <a:ext cx="3386666" cy="3683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72A5A2D-C669-4436-A371-55690B28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1082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Solar PV (kWp)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578BAFC-A493-4134-94F8-86EA1568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5654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P = (D + min(N, U) ÷ η) ÷ 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175D30-662F-41AD-9AD0-E4EBDB65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8321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rounded up to 0.5 kWp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30C6743-211C-489C-9D47-21B6CC28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3528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G = P × 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A7B17EA-12E1-4728-9B5E-70FF1C4A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6195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daily generation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816276D-6F81-4EA5-A6E1-9D3ECA5A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41402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Y = 4.98 kWh/kWp/day (PVGIS; slides 11–12). η = 95%. Without battery: P = D ÷ Y.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CE5744F-4210-477F-ADE5-B9ECE4CA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533" y="1905000"/>
            <a:ext cx="3386666" cy="3683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11B9D3-8BFB-4E1B-A474-6F629A26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1082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Battery (kWh)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22B7AE9-BD31-4EC2-9070-5F2DC59F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5654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C = N ÷ (DoD × η)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84348F8-DB7C-4428-8FE9-D559022F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832100"/>
            <a:ext cx="2980266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40.35 ÷ 0.76 = 53.1 kWh for the whole night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161B1D7-EB13-418F-A3B4-62C1EBB3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3528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U = C × DoD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D12BDFD-3B4C-4C84-9738-AF9D8FD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6195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usable energy, DoD = 80%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6EB9784-6157-4BD1-8B83-650D83C8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41402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Option B uses one LV_16 for backup and part of the night; option C covers the night with 2 × LV_32.</a:t>
            </a:r>
          </a:p>
        </p:txBody>
      </p:sp>
    </p:spTree>
    <p:extLst>
      <p:ext uri="{BB962C8B-B14F-4D97-AF65-F5344CB8AC3E}">
        <p14:creationId xmlns:p14="http://schemas.microsoft.com/office/powerpoint/2010/main" val="1700890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9055C1-F7B9-4A5B-A7B7-C473D89F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3 · OPTIONS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005C3D-5FEF-4BD3-8A76-B33322BE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Three systems and their price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469FA7E4-D54C-4EEF-B271-DE3FA4EE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10566400" cy="4826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82C65D-8940-4C54-B124-3CE8E3FF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10210800" cy="482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Price = (P × 8,000 + Inverter × 6,000) × 1.10 + C × 13,640</a:t>
            </a:r>
          </a:p>
        </p:txBody>
      </p:sp>
      <p:graphicFrame>
        <p:nvGraphicFramePr>
          <p:cNvPr id="13" name="Table 5"/>
          <p:cNvGraphicFramePr/>
          <p:nvPr/>
        </p:nvGraphicFramePr>
        <p:xfrm>
          <a:off xmlns:a="http://schemas.openxmlformats.org/drawingml/2006/main" x="812800" y="2590800"/>
          <a:ext xmlns:a="http://schemas.openxmlformats.org/drawingml/2006/main" cx="10560050" cy="22098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1600"/>
                <a:gridCol w="2216150"/>
                <a:gridCol w="2216150"/>
                <a:gridCol w="2216150"/>
              </a:tblGrid>
              <a:tr h="368300">
                <a:tc>
                  <a:txBody>
                    <a:bodyPr wrap="square"/>
                    <a:lstStyle/>
                    <a:p/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 · Solar only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 · Solar + LV_16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C · Solar + 2 × LV_32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Solar PV (P)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8.5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11.0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17.0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Battery (C)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64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Inverter = standard size ≥ max(3, 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10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12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20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Roof area (≈ 6 m² per kWp)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≈ 51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≈ 66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≈ 102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System price (EGP)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140,800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394,240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1,154,560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76D0FA-DF63-4568-B9D8-AED388D6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0800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 10% for installation and BOS applies to PV and inverter only. Prices are AVESTA customer prices: battery 13,640 EGP/kWh, PV 8,000 EGP/kWp, inverter 6,000 EGP/kW.</a:t>
            </a:r>
          </a:p>
        </p:txBody>
      </p:sp>
    </p:spTree>
    <p:extLst>
      <p:ext uri="{BB962C8B-B14F-4D97-AF65-F5344CB8AC3E}">
        <p14:creationId xmlns:p14="http://schemas.microsoft.com/office/powerpoint/2010/main" val="7571984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9D4004-7F00-44B0-AE1B-64A18321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4 · NEW BILL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443ACB-302C-4C40-8FB4-D1566AA8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Grid import after solar and the monthly saving</a:t>
            </a:r>
          </a:p>
        </p:txBody>
      </p:sp>
      <p:graphicFrame>
        <p:nvGraphicFramePr>
          <p:cNvPr id="9" name="Table 3"/>
          <p:cNvGraphicFramePr/>
          <p:nvPr/>
        </p:nvGraphicFramePr>
        <p:xfrm>
          <a:off xmlns:a="http://schemas.openxmlformats.org/drawingml/2006/main" x="812800" y="1905000"/>
          <a:ext xmlns:a="http://schemas.openxmlformats.org/drawingml/2006/main" cx="10560050" cy="25781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92750"/>
                <a:gridCol w="1689100"/>
                <a:gridCol w="1689100"/>
                <a:gridCol w="1689100"/>
              </a:tblGrid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Equation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Generation G = P × Y (kWh/day)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42.3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54.8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84.7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Direct use = min(G, D)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40.35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40.35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40.35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From battery = min((G − direct) × η, U, N)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0.00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12.80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40.35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Import / month = (E − direct − battery) × 30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1,211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827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0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New bill = Bill(import)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3,454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2,254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saving = 6,867 − new bill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3,414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4,613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6,858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519A7D4-D2F1-4F49-8894-DDDFDE66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6990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Surplus solar sent to the grid earns nothing; savings count only solar energy the shop uses itself. C imports nothing, so only the EGP 9 zero-use fee remains.</a:t>
            </a:r>
          </a:p>
        </p:txBody>
      </p:sp>
    </p:spTree>
    <p:extLst>
      <p:ext uri="{BB962C8B-B14F-4D97-AF65-F5344CB8AC3E}">
        <p14:creationId xmlns:p14="http://schemas.microsoft.com/office/powerpoint/2010/main" val="8489787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F29F49-0F1C-423F-97DA-E0C010DE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SCENARIO 1 · THE SHOP BUYS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CB3BEF-3E21-4F89-93DD-330D648A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Payback = price ÷ annual saving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A1259BAA-C266-41C6-8543-09283EA0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10566400" cy="4826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185EC3B-327A-4460-BD27-56C3029F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10210800" cy="482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Payback (years) = System price ÷ (Monthly saving × 12)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B0B4561-6457-4B24-98C0-338AC69F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590800"/>
            <a:ext cx="3386666" cy="25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75626E-F1CA-42DE-9A89-79599B7C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7940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A · Solar only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38F021B-C97D-4BEE-AA05-C3A28BC3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175000"/>
            <a:ext cx="2980266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400" b="1">
                <a:solidFill>
                  <a:srgbClr val="1F7A4D"/>
                </a:solidFill>
                <a:latin typeface="Consolas"/>
                <a:ea typeface="Consolas"/>
                <a:cs typeface="Consolas"/>
              </a:rPr>
              <a:t>3.4 yrs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C9070D-35C2-4FCD-86E2-458A18C2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9624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140,800 ÷ 40,963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Saving 3,414 EGP a month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9CFF510-E456-4E93-AC58-47D0821E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666" y="2590800"/>
            <a:ext cx="3386666" cy="25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DC330D6-BE67-40CD-8ADB-C060016B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7940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B · Solar + LV_16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1984D52-4927-415A-8873-A1979E85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175000"/>
            <a:ext cx="2980266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4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7.1 yrs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D7B17DE-F84B-4952-AF87-958153AD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9624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394,240 ÷ 55,354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Saving 4,613 EGP a month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FE60FA5-C998-4F7E-943C-6EC63CB6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533" y="2590800"/>
            <a:ext cx="3386666" cy="25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E9E5A-142C-44C5-9F7A-B8919D60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7940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C · Solar + 2 × LV_32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BDB339-B56E-492E-A321-EAFAA68B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175000"/>
            <a:ext cx="2980266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4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14.0 yrs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532DCB6-DF94-4BC0-B803-FD85FE14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9624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1,154,560 ÷ 82,299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Saving 6,858 EGP a month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3D22B3E-E8C3-4A14-9208-BE1ED01D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340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Battery warranty is 10 years; cycle life (6,000 cycles at 80% DoD) is about 16 years of daily use.</a:t>
            </a:r>
          </a:p>
        </p:txBody>
      </p:sp>
    </p:spTree>
    <p:extLst>
      <p:ext uri="{BB962C8B-B14F-4D97-AF65-F5344CB8AC3E}">
        <p14:creationId xmlns:p14="http://schemas.microsoft.com/office/powerpoint/2010/main" val="1194469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914F98-CDA0-435A-B3F0-598AF2C0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SCENARIO 2 · AVESTA PROVIDES IT, THE SHOP SUBSCRIBES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8F242E-D619-4293-8384-E78796CC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Monthly subscription = price ÷ months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417085FA-2EB0-4EFC-954E-9B96AD16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105664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FAA269-0985-4C6B-AF74-31766EE9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1021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4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Subscription = System price ÷ (Years × 12)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4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Shortest term = System price ÷ Monthly saving   (subscription = full saving)</a:t>
            </a:r>
          </a:p>
        </p:txBody>
      </p:sp>
      <p:graphicFrame>
        <p:nvGraphicFramePr>
          <p:cNvPr id="14" name="Table 5"/>
          <p:cNvGraphicFramePr/>
          <p:nvPr/>
        </p:nvGraphicFramePr>
        <p:xfrm>
          <a:off xmlns:a="http://schemas.openxmlformats.org/drawingml/2006/main" x="812800" y="2870200"/>
          <a:ext xmlns:a="http://schemas.openxmlformats.org/drawingml/2006/main" cx="10572750" cy="16256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3650"/>
                <a:gridCol w="2324100"/>
                <a:gridCol w="1905000"/>
                <a:gridCol w="1905000"/>
                <a:gridCol w="1905000"/>
              </a:tblGrid>
              <a:tr h="406400">
                <a:tc>
                  <a:txBody>
                    <a:bodyPr wrap="square"/>
                    <a:lstStyle/>
                    <a:p/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Shortest term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10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 · Solar only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3.4 yrs · 3,414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2,347  (+1,067)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1,467  (+1,947)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1,173  (+2,240)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 · Solar + LV_16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7.1 yrs · 4,613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6,571  (−1,958)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4,107  (+506)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3,285  (+1,327)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C · Solar + 2 × LV_32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14.0 yrs · 6,858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19,243  (−12,384)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12,027  (−5,168)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9,621  (−2,763)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E9A444-F95F-4815-B66F-34347816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699000"/>
            <a:ext cx="105664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EGP per month. In brackets: what the shop still saves each month after paying (saving − subscription). A negative value means the shop pays more than its bill today.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DE42DEB-08F3-45D4-953C-84D79624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97500"/>
            <a:ext cx="1056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No maintenance, insurance or interest is included, as requested.</a:t>
            </a:r>
          </a:p>
        </p:txBody>
      </p:sp>
    </p:spTree>
    <p:extLst>
      <p:ext uri="{BB962C8B-B14F-4D97-AF65-F5344CB8AC3E}">
        <p14:creationId xmlns:p14="http://schemas.microsoft.com/office/powerpoint/2010/main" val="4781621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A36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2487F1-9CDA-4B32-829C-35AC1B4C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9525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8EB2498-CB7C-415B-960A-882A168B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270000"/>
            <a:ext cx="1056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Solar pays for itself; the battery buys backup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4E1BB65-1C5D-47ED-B7FC-266534A3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286000"/>
            <a:ext cx="5181600" cy="2794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CE3D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310A70-54CC-4F70-BE55-DED421E4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467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8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Option A · Solar 8.5 kWp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B76234-6517-4261-867A-F08865BB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84500"/>
            <a:ext cx="467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Buy: 3.4 years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8D1D37-3D6E-45EC-AC66-82A3F4E7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9800"/>
            <a:ext cx="4673600" cy="635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Subscribe: 1,467 EGP/month for 8 years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B8EFD6-359D-43D4-965D-96E360D0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1800"/>
            <a:ext cx="46736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400" b="0">
                <a:solidFill>
                  <a:srgbClr val="2A2F37"/>
                </a:solidFill>
                <a:latin typeface="Arial"/>
                <a:ea typeface="Arial"/>
                <a:cs typeface="Arial"/>
              </a:rPr>
              <a:t>Shop keeps 1,947 EGP a month from day one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6557340-F413-4CDD-B5B9-B133FCB0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286000"/>
            <a:ext cx="5181600" cy="2794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CE3D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58E009E-3570-40AD-A177-3DB388E0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514600"/>
            <a:ext cx="467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8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Option B · Solar 11.0 kWp + LV_16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8BE0551-26AB-4B4F-8DFE-E08E4F76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984500"/>
            <a:ext cx="467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Buy: 7.1 years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F2F9BE-C660-4CEA-BF0D-89A3A6B4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479800"/>
            <a:ext cx="4673600" cy="635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Subscribe: 3,285 EGP/month for 10 years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85D2F43-AB32-4284-80A0-1D808A76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4241800"/>
            <a:ext cx="46736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400" b="0">
                <a:solidFill>
                  <a:srgbClr val="2A2F37"/>
                </a:solidFill>
                <a:latin typeface="Arial"/>
                <a:ea typeface="Arial"/>
                <a:cs typeface="Arial"/>
              </a:rPr>
              <a:t>Shop keeps 1,327 EGP a month and ≈ 7 h of refrigeration backup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A94A925-F36E-4D6D-A934-4E0875F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34000"/>
            <a:ext cx="1056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0">
                <a:solidFill>
                  <a:srgbClr val="14171C"/>
                </a:solidFill>
                <a:latin typeface="Arial"/>
                <a:ea typeface="Arial"/>
                <a:cs typeface="Arial"/>
              </a:rPr>
              <a:t>Option C: 14-year simple payback and about 102 m² of roof.</a:t>
            </a:r>
          </a:p>
        </p:txBody>
      </p:sp>
    </p:spTree>
    <p:extLst>
      <p:ext uri="{BB962C8B-B14F-4D97-AF65-F5344CB8AC3E}">
        <p14:creationId xmlns:p14="http://schemas.microsoft.com/office/powerpoint/2010/main" val="12810964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58D485-4C9A-46F6-A2D4-2A473B89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AE35FB-3DB2-472A-9D2C-7E747D64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Assumptions and open points</a:t>
            </a:r>
          </a:p>
        </p:txBody>
      </p:sp>
      <p:graphicFrame>
        <p:nvGraphicFramePr>
          <p:cNvPr id="9" name="Table 3"/>
          <p:cNvGraphicFramePr/>
          <p:nvPr/>
        </p:nvGraphicFramePr>
        <p:xfrm>
          <a:off xmlns:a="http://schemas.openxmlformats.org/drawingml/2006/main" x="812800" y="1905000"/>
          <a:ext xmlns:a="http://schemas.openxmlformats.org/drawingml/2006/main" cx="10566400" cy="29718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68650"/>
                <a:gridCol w="2749550"/>
                <a:gridCol w="4648200"/>
              </a:tblGrid>
              <a:tr h="330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Source / status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consumption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2,421 kWh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Meter readings, August 2026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Bill basis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6,867 EGP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Official tariff; receipt shows 8,279 (gap to confirm)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Day / night share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50% / 50%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Scenario assumption; not measured at the shop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PV yield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4.98 kWh/kWp/day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PVGIS Cairo reference model; see slides 11–12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DoD / efficiency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80% / 95%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AVESTA LV datasheet / Home Storage deck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Prices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13,640 · 8,000 · 6,000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Battery EGP/kWh · PV EGP/kWp · inverter EGP/kW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Maintenance, interest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Not included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Excluded on request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Seasonality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August only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Peak month; annual saving is likely lower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D620A8C-87E7-4058-9202-3686833B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080000"/>
            <a:ext cx="105664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Needed from the shop: detailed invoice, 3–6 months of bills, opening hours, roof area, outage hours, sugarcane juicer starting current.</a:t>
            </a:r>
          </a:p>
        </p:txBody>
      </p:sp>
    </p:spTree>
    <p:extLst>
      <p:ext uri="{BB962C8B-B14F-4D97-AF65-F5344CB8AC3E}">
        <p14:creationId xmlns:p14="http://schemas.microsoft.com/office/powerpoint/2010/main" val="10951432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99F34-80F4-4818-B0E9-B9007E5E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096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B84E0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REFERENCE · PVGIS CAIRO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429BA-3B42-4F08-B7DC-B48FB8A7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1144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Monthly solar electricity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C6EB7-2F59-4F00-A742-236691F1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859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Reference system: 1 kWp. A 550 W panel is shown as an illustrative panel size.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09625" y="2095500"/>
          <a:ext xmlns:a="http://schemas.openxmlformats.org/drawingml/2006/main" cx="105727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571750"/>
                <a:gridCol w="2762250"/>
                <a:gridCol w="2857500"/>
              </a:tblGrid>
              <a:tr h="4762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Daily / 1 kWp</a:t>
                      </a:r>
                    </a:p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(kWh/day)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/ 1 kWp</a:t>
                      </a:r>
                    </a:p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(kWh/month)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Daily / 550 W panel</a:t>
                      </a:r>
                    </a:p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(kWh/day)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January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4.24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131.30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2.33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February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4.62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129.45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2.54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March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5.20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161.06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2.86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April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5.36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160.86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2.95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May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5.25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162.72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2.89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June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5.29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158.62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2.91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July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5.31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164.66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2.92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August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5.38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166.80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2.96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September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5.37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161.00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2.95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October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4.98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154.53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2.74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November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4.57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136.97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2.51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December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4.21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130.40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2.32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2C0A6-7ECD-4FF6-98CF-FA47D305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817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JRC PVGIS 5.3 · SARAH3 / ERA5 (2005–2023) · Cairo 30.0444 N, 31.2357 E · retrieved 30 Sep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38A40-47C3-4BAD-B83E-BB4B5604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4865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South-facing, 30° tilt, crystalline silicon, free-standing, 14% entered system loss; local roof shading not surveyed.</a:t>
            </a:r>
          </a:p>
        </p:txBody>
      </p:sp>
    </p:spTree>
    <p:extLst>
      <p:ext uri="{BB962C8B-B14F-4D97-AF65-F5344CB8AC3E}">
        <p14:creationId xmlns:p14="http://schemas.microsoft.com/office/powerpoint/2010/main" val="18686880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F62359-D476-4DAD-9134-E9A99FB5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096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B84E0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REFERENCE · AVERAGES AND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BB2D9-7722-4618-B132-7556BCE5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1144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How the Cairo average is calculated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5A6EB-6266-4EE6-861D-CC346D80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8120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Average of the 12 daily monthly values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8AA3F-5FEA-4051-919C-7A21E6CA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1057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B84E0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84E0E"/>
                </a:solidFill>
                <a:latin typeface="Consolas"/>
                <a:ea typeface="Consolas"/>
                <a:cs typeface="Consolas"/>
              </a:rPr>
              <a:t>(4.24 + 4.62 + 5.20 + 5.36 + 5.25 + 5.29 + 5.31 + 5.38 + 5.37 + 4.98 + 4.57 + 4.21) ÷ 12</a:t>
            </a:r>
          </a:p>
          <a:p xmlns:a="http://schemas.openxmlformats.org/drawingml/2006/main">
            <a:pPr>
              <a:buNone/>
              <a:defRPr sz="1650" b="0">
                <a:solidFill>
                  <a:srgbClr val="B84E0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84E0E"/>
                </a:solidFill>
                <a:latin typeface="Consolas"/>
                <a:ea typeface="Consolas"/>
                <a:cs typeface="Consolas"/>
              </a:rPr>
              <a:t>= 4.9817 ≈ 4.98 kWh/kWp/day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B6E4B-1DD0-4081-8AE2-D9AEE26F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171C"/>
                </a:solidFill>
                <a:latin typeface="Arial"/>
                <a:ea typeface="Arial"/>
                <a:cs typeface="Arial"/>
              </a:rPr>
              <a:t>Average monthly output = sum of monthly outputs ÷ 12 = 151.53 kWh/kWp/month</a:t>
            </a:r>
          </a:p>
          <a:p xmlns:a="http://schemas.openxmlformats.org/drawingml/2006/main">
            <a:pPr>
              <a:buNone/>
              <a:defRPr sz="1650" b="0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171C"/>
                </a:solidFill>
                <a:latin typeface="Arial"/>
                <a:ea typeface="Arial"/>
                <a:cs typeface="Arial"/>
              </a:rPr>
              <a:t>Annual output = 1,818.36 kWh/kWp/year; annual daily average = 1818.36 ÷ 365 ≈ 4.9818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AD506-6368-455B-B73A-434F1624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196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B84E0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Example: 550 W = 0.55 kWp → average daily output ≈ 0.55 × 4.98 = 2.74 kWh/day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DA635-0C9A-4605-A2C9-35AA5D60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48250"/>
            <a:ext cx="10572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 1,750 kWh/year estimate is replaced by this sourced reference calculation.</a:t>
            </a:r>
          </a:p>
          <a:p xmlns:a="http://schemas.openxmlformats.org/drawingml/2006/main">
            <a:pPr>
              <a:buNone/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PVGIS electricity output already includes modeled PV losses; battery losses are additional.</a:t>
            </a:r>
          </a:p>
          <a:p xmlns:a="http://schemas.openxmlformats.org/drawingml/2006/main">
            <a:pPr>
              <a:buNone/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These are historical climate averages. Actual output varies by month, weather, shading and cleaning.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8ED2F-D107-4D25-B778-ABA956F7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4840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Source: European Commission JRC PVGIS 5.3 · inputs and full calculation URL are in speaker notes.</a:t>
            </a:r>
          </a:p>
        </p:txBody>
      </p:sp>
    </p:spTree>
    <p:extLst>
      <p:ext uri="{BB962C8B-B14F-4D97-AF65-F5344CB8AC3E}">
        <p14:creationId xmlns:p14="http://schemas.microsoft.com/office/powerpoint/2010/main" val="205876343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2026-09-30T14:35:29.6890000Z</dcterms:created>
  <dcterms:modified xsi:type="dcterms:W3CDTF">2026-09-30T14:35:29.6890000Z</dcterms:modified>
</coreProperties>
</file>