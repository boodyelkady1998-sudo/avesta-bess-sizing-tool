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f9a0e9717d4b4e" /><Relationship Type="http://schemas.openxmlformats.org/officeDocument/2006/relationships/extended-properties" Target="/docProps/app.xml" Id="Re79cf3884e724068" /><Relationship Type="http://schemas.openxmlformats.org/officeDocument/2006/relationships/officeDocument" Target="/ppt/presentation.xml" Id="Rcc2c89361d3b40c6" /></Relationships>
</file>

<file path=ppt/presentation.xml><?xml version="1.0" encoding="utf-8"?>
<p:presentation xmlns:p="http://schemas.openxmlformats.org/presentationml/2006/main">
  <p:sldMasterIdLst>
    <p:sldMasterId xmlns:r="http://schemas.openxmlformats.org/officeDocument/2006/relationships" id="2147483648" r:id="R4dfed77aab4e4476"/>
  </p:sldMasterIdLst>
  <p:notesMasterIdLst>
    <p:notesMasterId xmlns:r="http://schemas.openxmlformats.org/officeDocument/2006/relationships" r:id="Rd7d48735ea104090"/>
  </p:notesMasterIdLst>
  <p:sldIdLst>
    <p:sldId xmlns:r="http://schemas.openxmlformats.org/officeDocument/2006/relationships" id="256" r:id="R1d56117e8b4c4ece"/>
    <p:sldId xmlns:r="http://schemas.openxmlformats.org/officeDocument/2006/relationships" id="257" r:id="R2111acf423664d89"/>
    <p:sldId xmlns:r="http://schemas.openxmlformats.org/officeDocument/2006/relationships" id="258" r:id="Ra7f15bdf33a44cc5"/>
    <p:sldId xmlns:r="http://schemas.openxmlformats.org/officeDocument/2006/relationships" id="259" r:id="R5f510731156f45f4"/>
    <p:sldId xmlns:r="http://schemas.openxmlformats.org/officeDocument/2006/relationships" id="260" r:id="Rff8da135a8824ca7"/>
    <p:sldId xmlns:r="http://schemas.openxmlformats.org/officeDocument/2006/relationships" id="261" r:id="R36e9a7446f8c4f1c"/>
    <p:sldId xmlns:r="http://schemas.openxmlformats.org/officeDocument/2006/relationships" id="262" r:id="R4fd23c0041654624"/>
    <p:sldId xmlns:r="http://schemas.openxmlformats.org/officeDocument/2006/relationships" id="263" r:id="R63acfb8628094ae7"/>
    <p:sldId xmlns:r="http://schemas.openxmlformats.org/officeDocument/2006/relationships" id="264" r:id="Ra25fc645d4514fee"/>
    <p:sldId xmlns:r="http://schemas.openxmlformats.org/officeDocument/2006/relationships" id="265" r:id="R37ba2d89e6ce461d"/>
    <p:sldId xmlns:r="http://schemas.openxmlformats.org/officeDocument/2006/relationships" id="266" r:id="R93e966a879b04c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5038a2a53b446e0" /><Relationship Type="http://schemas.openxmlformats.org/officeDocument/2006/relationships/slideMaster" Target="/ppt/slideMasters/slideMaster1.xml" Id="R4dfed77aab4e4476" /><Relationship Type="http://schemas.openxmlformats.org/officeDocument/2006/relationships/notesMaster" Target="/ppt/notesMasters/notesMaster1.xml" Id="Rd7d48735ea104090" /><Relationship Type="http://schemas.openxmlformats.org/officeDocument/2006/relationships/presProps" Target="/ppt/presProps.xml" Id="R864c95f248a0433c" /><Relationship Type="http://schemas.openxmlformats.org/officeDocument/2006/relationships/viewProps" Target="/ppt/viewProps.xml" Id="R15aaddd9a0794c47" /><Relationship Type="http://schemas.openxmlformats.org/officeDocument/2006/relationships/tableStyles" Target="/ppt/tableStyles.xml" Id="R0f6a829bf81445ee" /><Relationship Type="http://schemas.openxmlformats.org/officeDocument/2006/relationships/slide" Target="/ppt/slides/slide1.xml" Id="R1d56117e8b4c4ece" /><Relationship Type="http://schemas.openxmlformats.org/officeDocument/2006/relationships/slide" Target="/ppt/slides/slide2.xml" Id="R2111acf423664d89" /><Relationship Type="http://schemas.openxmlformats.org/officeDocument/2006/relationships/slide" Target="/ppt/slides/slide3.xml" Id="Ra7f15bdf33a44cc5" /><Relationship Type="http://schemas.openxmlformats.org/officeDocument/2006/relationships/slide" Target="/ppt/slides/slide4.xml" Id="R5f510731156f45f4" /><Relationship Type="http://schemas.openxmlformats.org/officeDocument/2006/relationships/slide" Target="/ppt/slides/slide5.xml" Id="Rff8da135a8824ca7" /><Relationship Type="http://schemas.openxmlformats.org/officeDocument/2006/relationships/slide" Target="/ppt/slides/slide6.xml" Id="R36e9a7446f8c4f1c" /><Relationship Type="http://schemas.openxmlformats.org/officeDocument/2006/relationships/slide" Target="/ppt/slides/slide7.xml" Id="R4fd23c0041654624" /><Relationship Type="http://schemas.openxmlformats.org/officeDocument/2006/relationships/slide" Target="/ppt/slides/slide8.xml" Id="R63acfb8628094ae7" /><Relationship Type="http://schemas.openxmlformats.org/officeDocument/2006/relationships/slide" Target="/ppt/slides/slide9.xml" Id="Ra25fc645d4514fee" /><Relationship Type="http://schemas.openxmlformats.org/officeDocument/2006/relationships/slide" Target="/ppt/slides/slide10.xml" Id="R37ba2d89e6ce461d" /><Relationship Type="http://schemas.openxmlformats.org/officeDocument/2006/relationships/slide" Target="/ppt/slides/slide11.xml" Id="R93e966a879b04c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34e21721ef4f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10eabbf0a84ad2" /><Relationship Type="http://schemas.openxmlformats.org/officeDocument/2006/relationships/notesMaster" Target="/ppt/notesMasters/notesMaster1.xml" Id="R74ed9be878a943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e84c6e49084cd2" /><Relationship Type="http://schemas.openxmlformats.org/officeDocument/2006/relationships/notesMaster" Target="/ppt/notesMasters/notesMaster1.xml" Id="R3c4a7de7ad2c46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5c9b4ae38d4dfe" /><Relationship Type="http://schemas.openxmlformats.org/officeDocument/2006/relationships/notesMaster" Target="/ppt/notesMasters/notesMaster1.xml" Id="Rcce6bf7937bb45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7445b658774b11" /><Relationship Type="http://schemas.openxmlformats.org/officeDocument/2006/relationships/notesMaster" Target="/ppt/notesMasters/notesMaster1.xml" Id="R093aff09823f49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bb1efff0204773" /><Relationship Type="http://schemas.openxmlformats.org/officeDocument/2006/relationships/notesMaster" Target="/ppt/notesMasters/notesMaster1.xml" Id="Re8a1f22a34fc48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8aeee87b884b21" /><Relationship Type="http://schemas.openxmlformats.org/officeDocument/2006/relationships/notesMaster" Target="/ppt/notesMasters/notesMaster1.xml" Id="Rd894a90346a341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01dc690e9c4747" /><Relationship Type="http://schemas.openxmlformats.org/officeDocument/2006/relationships/notesMaster" Target="/ppt/notesMasters/notesMaster1.xml" Id="R05d21cb23b0b41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69ff34bd60427d" /><Relationship Type="http://schemas.openxmlformats.org/officeDocument/2006/relationships/notesMaster" Target="/ppt/notesMasters/notesMaster1.xml" Id="R5dc64ebdd50940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7d896e0a444bf8" /><Relationship Type="http://schemas.openxmlformats.org/officeDocument/2006/relationships/notesMaster" Target="/ppt/notesMasters/notesMaster1.xml" Id="R4c4676dd034c48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539f6e16294d48" /><Relationship Type="http://schemas.openxmlformats.org/officeDocument/2006/relationships/notesMaster" Target="/ppt/notesMasters/notesMaster1.xml" Id="R4d958265acb84a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90f414ca094115" /><Relationship Type="http://schemas.openxmlformats.org/officeDocument/2006/relationships/notesMaster" Target="/ppt/notesMasters/notesMaster1.xml" Id="R943d9ca5fb9e4b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b6fdba3e6b4f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8052b134ef42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3fc7e60fe24d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a8b802c3d214d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6702a0135c47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2762cee0895431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d6fd06304de47d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3f9355193064d7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b751a2eab704a5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d94943b5bbe4d0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25cb36b5e7f4c0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7DAEC9-F881-4133-A4AA-6DA24E8BB6A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5FE31A9-9C29-47E4-8891-A206527D175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F9809A94-D4AB-4365-AEE4-2A19176CD2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59CB9B0-9D19-44AE-B76B-9E62524D7B3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CFB82D6-5482-47C4-B433-5276BE9A41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6366F4-0D99-4ADB-9980-0A6C337DE15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6B0FE67-5E54-4CB4-A218-C70E4DBB462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7B9601F-1587-488F-8594-E516C9876A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D415327-FA0F-4FED-9153-2ED063579A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983472E-C46C-4B92-8E7B-94920368AA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793303-F3A4-4E3D-9301-F894EA50C682}"/>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CA2C570-E356-408D-A256-097524EDC66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455171F-9FB2-4126-8285-3B31FF1BCC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8055E4E-8658-4419-BD65-61722B4833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BAEB77-F50F-4737-B2AC-031391EC9E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9515FD8-1F65-4D7D-B2C3-275A73E70EE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BD3F1BE-0252-42C9-AE89-066E368D0C9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00640E91-A51F-472D-AFB4-7CEE6EAA828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C3C04D67-8244-4B0C-8E03-70C74CADD0A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E5E7502C-0753-436E-AF8B-76E1E8882D9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B714D22-112D-4762-A154-33D3CC606F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FDC8ED-4F2D-476C-8FA4-B32C8D4A60A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5E967CA-0453-42D3-AC2D-C2072DB6DB1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B10A2C7-BB37-41B8-A56D-EF2264248DC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77D2D4E-5362-405D-8477-EBFB837C7C51}"/>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B0152C8-0B6A-4625-A6A2-A4476CF828AE}"/>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268667B0-A925-40F9-BB94-A51154712F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69F186E9-6887-44DB-AB4B-093C6FC7CE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A01BC7E-594D-469D-9962-B567707DD57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931080-7CA0-41E2-B0AB-09241E451E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B33EEF3E-AB33-4402-9E07-BEB6091BE10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46CA938B-56C0-4780-8388-E933AE1D132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46688D4-E875-4921-B67F-6F0C2944E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603D7F3-2DD1-4819-BCA0-72D8085FE2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59FF2CC9-D942-4BAB-A7B0-35222FAFC4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89E9393-3110-4FBD-AFAD-34540DF9F6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CB73877-4EDF-40FC-804C-11F5D1ABBDD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E5AB99F-71DC-4455-986D-47F70ED6DC6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AAB37D2D-A1D7-4A98-87B7-5F629B1F3E71}"/>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71AC580-2648-41AD-995E-A77EDE7EFC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E504750A-0278-491D-A877-6ABD1B2FFAB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77DFB52-0472-4407-89D7-1E23A8A83D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258CEF5-56DD-40D0-BC43-261174F8AE4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BC51F527-1075-4250-A3B7-CE854DC4BC1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9E3B72AA-7C2F-4412-AF04-E76B1CE23D73}"/>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4FCC09B-B47E-4F49-9C99-0A0233D532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E9182CF4-29D6-4CD0-9086-7D749688ED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30098F2-E9C6-451F-85F4-737A2490FA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75E38C-04FE-4FB0-83AD-557989F8031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A495E92-2F7A-449E-9F51-27A991D80AA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5D9EEC2-C095-4FCA-8433-A7001DA5DF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471723A-5C0C-4705-B211-0150DC9B09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188279D-1838-43F5-94B4-D6AFBD988E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BCA44B8-84AA-4908-9A21-E34CA613DE80}"/>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7120E15-48BC-43F0-A61B-6BDEAA22D34F}"/>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F671A40-7CB8-40C4-8E25-DF2A8AF949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DB20911-916A-429E-8585-89915CAEC9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39E018E-D48C-48E1-ABBA-DC38C0241A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1a858c085f4018" /><Relationship Type="http://schemas.openxmlformats.org/officeDocument/2006/relationships/slideLayout" Target="/ppt/slideLayouts/slideLayout1.xml" Id="R198e44a32171483c" /><Relationship Type="http://schemas.openxmlformats.org/officeDocument/2006/relationships/slideLayout" Target="/ppt/slideLayouts/slideLayout2.xml" Id="Raeed95ca5cf143fd" /><Relationship Type="http://schemas.openxmlformats.org/officeDocument/2006/relationships/slideLayout" Target="/ppt/slideLayouts/slideLayout3.xml" Id="Rcdf1db89a4be40f8" /><Relationship Type="http://schemas.openxmlformats.org/officeDocument/2006/relationships/slideLayout" Target="/ppt/slideLayouts/slideLayout4.xml" Id="R7860047620584cab" /><Relationship Type="http://schemas.openxmlformats.org/officeDocument/2006/relationships/slideLayout" Target="/ppt/slideLayouts/slideLayout5.xml" Id="R13eb3f9ec3684ba8" /><Relationship Type="http://schemas.openxmlformats.org/officeDocument/2006/relationships/slideLayout" Target="/ppt/slideLayouts/slideLayout6.xml" Id="R2476dd1c2bcd44e1" /><Relationship Type="http://schemas.openxmlformats.org/officeDocument/2006/relationships/slideLayout" Target="/ppt/slideLayouts/slideLayout7.xml" Id="R890ea9d7bd404b37" /><Relationship Type="http://schemas.openxmlformats.org/officeDocument/2006/relationships/slideLayout" Target="/ppt/slideLayouts/slideLayout8.xml" Id="Rfe216ba785c445fb" /><Relationship Type="http://schemas.openxmlformats.org/officeDocument/2006/relationships/slideLayout" Target="/ppt/slideLayouts/slideLayout9.xml" Id="R710f5148d8bd4370" /><Relationship Type="http://schemas.openxmlformats.org/officeDocument/2006/relationships/slideLayout" Target="/ppt/slideLayouts/slideLayout10.xml" Id="R85bd5b60ad324adf" /><Relationship Type="http://schemas.openxmlformats.org/officeDocument/2006/relationships/slideLayout" Target="/ppt/slideLayouts/slideLayout11.xml" Id="Refd931c5ac1d48d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37D0875-9D3E-41F4-B1D4-17F252E1F2D6}"/>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04A10FC-2D26-4FBC-B21E-E2C885D0E76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4410DDB-DBDA-46C3-993D-099208BCCAF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ED9C912-A14B-4CCF-9A3E-36BEA4AC1A1B}"/>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513F935-F053-485D-93C2-03D38DE2BA1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8e44a32171483c"/>
    <p:sldLayoutId xmlns:r="http://schemas.openxmlformats.org/officeDocument/2006/relationships" id="2147483650" r:id="Raeed95ca5cf143fd"/>
    <p:sldLayoutId xmlns:r="http://schemas.openxmlformats.org/officeDocument/2006/relationships" id="2147483651" r:id="Rcdf1db89a4be40f8"/>
    <p:sldLayoutId xmlns:r="http://schemas.openxmlformats.org/officeDocument/2006/relationships" id="2147483652" r:id="R7860047620584cab"/>
    <p:sldLayoutId xmlns:r="http://schemas.openxmlformats.org/officeDocument/2006/relationships" id="2147483653" r:id="R13eb3f9ec3684ba8"/>
    <p:sldLayoutId xmlns:r="http://schemas.openxmlformats.org/officeDocument/2006/relationships" id="2147483654" r:id="R2476dd1c2bcd44e1"/>
    <p:sldLayoutId xmlns:r="http://schemas.openxmlformats.org/officeDocument/2006/relationships" id="2147483655" r:id="R890ea9d7bd404b37"/>
    <p:sldLayoutId xmlns:r="http://schemas.openxmlformats.org/officeDocument/2006/relationships" id="2147483656" r:id="Rfe216ba785c445fb"/>
    <p:sldLayoutId xmlns:r="http://schemas.openxmlformats.org/officeDocument/2006/relationships" id="2147483657" r:id="R710f5148d8bd4370"/>
    <p:sldLayoutId xmlns:r="http://schemas.openxmlformats.org/officeDocument/2006/relationships" id="2147483658" r:id="R85bd5b60ad324adf"/>
    <p:sldLayoutId xmlns:r="http://schemas.openxmlformats.org/officeDocument/2006/relationships" id="2147483659" r:id="Refd931c5ac1d48da"/>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22a5c7daa4549e5" /><Relationship Type="http://schemas.openxmlformats.org/officeDocument/2006/relationships/notesSlide" Target="/ppt/notesSlides/notesSlide1.xml" Id="Rc95c001e409f40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aea1623a7184ef9" /><Relationship Type="http://schemas.openxmlformats.org/officeDocument/2006/relationships/notesSlide" Target="/ppt/notesSlides/notesSlide2.xml" Id="Re0efe28f5c3842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49f5d7b229d04cd0" /><Relationship Type="http://schemas.openxmlformats.org/officeDocument/2006/relationships/notesSlide" Target="/ppt/notesSlides/notesSlide3.xml" Id="Rad5d509e33974d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1b028312789b4665" /><Relationship Type="http://schemas.openxmlformats.org/officeDocument/2006/relationships/notesSlide" Target="/ppt/notesSlides/notesSlide4.xml" Id="R1697e4e61bf542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17c5f14f9164935" /><Relationship Type="http://schemas.openxmlformats.org/officeDocument/2006/relationships/notesSlide" Target="/ppt/notesSlides/notesSlide5.xml" Id="R7ac0aee51cea44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18de196b2d54552" /><Relationship Type="http://schemas.openxmlformats.org/officeDocument/2006/relationships/notesSlide" Target="/ppt/notesSlides/notesSlide6.xml" Id="R78d620b1068f4e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c8092c60a6de40de" /><Relationship Type="http://schemas.openxmlformats.org/officeDocument/2006/relationships/notesSlide" Target="/ppt/notesSlides/notesSlide7.xml" Id="R8e4fd935234f48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b737dfd14108406d" /><Relationship Type="http://schemas.openxmlformats.org/officeDocument/2006/relationships/notesSlide" Target="/ppt/notesSlides/notesSlide8.xml" Id="Rb465b438057043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61afbca5345748aa" /><Relationship Type="http://schemas.openxmlformats.org/officeDocument/2006/relationships/notesSlide" Target="/ppt/notesSlides/notesSlide9.xml" Id="Re23a49f0d8be45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f9e48407f94b49" /><Relationship Type="http://schemas.openxmlformats.org/officeDocument/2006/relationships/notesSlide" Target="/ppt/notesSlides/notesSlide10.xml" Id="Re8c9c27f410343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1d57568926445ca" /><Relationship Type="http://schemas.openxmlformats.org/officeDocument/2006/relationships/notesSlide" Target="/ppt/notesSlides/notesSlide11.xml" Id="R565f61f00ec1459d" /></Relationships>
</file>

<file path=ppt/slides/slide1.xml><?xml version="1.0" encoding="utf-8"?>
<p:sld xmlns:p="http://schemas.openxmlformats.org/presentationml/2006/main">
  <p:cSld>
    <p:bg>
      <p:bgPr>
        <a:solidFill xmlns:a="http://schemas.openxmlformats.org/drawingml/2006/main">
          <a:srgbClr val="14171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C04E002-5E98-4204-BF37-C9A4BA4A760B}"/>
              </a:ext>
            </a:extLst>
          </p:cNvPr>
          <p:cNvSpPr>
            <a:spLocks xmlns:a="http://schemas.openxmlformats.org/drawingml/2006/main" noGrp="1"/>
          </p:cNvSpPr>
          <p:nvPr/>
        </p:nvSpPr>
        <p:spPr>
          <a:xfrm xmlns:a="http://schemas.openxmlformats.org/drawingml/2006/main">
            <a:off x="812800" y="17780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400" b="1">
                <a:solidFill>
                  <a:srgbClr val="F26A1B"/>
                </a:solidFill>
                <a:latin typeface="Arial"/>
                <a:ea typeface="Arial"/>
                <a:cs typeface="Arial"/>
              </a:rPr>
              <a:t>AVESTA · EL MO3ALEM JUICE SHOP</a:t>
            </a:r>
          </a:p>
        </p:txBody>
      </p:sp>
      <p:sp>
        <p:nvSpPr>
          <p:cNvPr id="3" name="TextBox 2">
            <a:extLst xmlns:a="http://schemas.openxmlformats.org/drawingml/2006/main">
              <a:ext uri="{FF2B5EF4-FFF2-40B4-BE49-F238E27FC236}">
                <a16:creationId xmlns:a16="http://schemas.microsoft.com/office/drawing/2014/main" id="{E364C0C0-0566-4FAD-9B42-D9C8AC5A79D3}"/>
              </a:ext>
            </a:extLst>
          </p:cNvPr>
          <p:cNvSpPr>
            <a:spLocks xmlns:a="http://schemas.openxmlformats.org/drawingml/2006/main" noGrp="1"/>
          </p:cNvSpPr>
          <p:nvPr/>
        </p:nvSpPr>
        <p:spPr>
          <a:xfrm xmlns:a="http://schemas.openxmlformats.org/drawingml/2006/main">
            <a:off x="812800" y="2133600"/>
            <a:ext cx="1056640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0000"/>
              </a:lnSpc>
              <a:buNone/>
            </a:pPr>
            <a:r>
              <a:rPr sz="4800" b="1">
                <a:solidFill>
                  <a:srgbClr val="F4F5F7"/>
                </a:solidFill>
                <a:latin typeface="Arial"/>
                <a:ea typeface="Arial"/>
                <a:cs typeface="Arial"/>
              </a:rPr>
              <a:t>Solar + battery: buy it or subscribe?</a:t>
            </a:r>
          </a:p>
        </p:txBody>
      </p:sp>
      <p:sp>
        <p:nvSpPr>
          <p:cNvPr id="4" name="TextBox 3">
            <a:extLst xmlns:a="http://schemas.openxmlformats.org/drawingml/2006/main">
              <a:ext uri="{FF2B5EF4-FFF2-40B4-BE49-F238E27FC236}">
                <a16:creationId xmlns:a16="http://schemas.microsoft.com/office/drawing/2014/main" id="{F041E2FD-C58A-474E-9AFB-F634506A2FA8}"/>
              </a:ext>
            </a:extLst>
          </p:cNvPr>
          <p:cNvSpPr>
            <a:spLocks xmlns:a="http://schemas.openxmlformats.org/drawingml/2006/main" noGrp="1"/>
          </p:cNvSpPr>
          <p:nvPr/>
        </p:nvSpPr>
        <p:spPr>
          <a:xfrm xmlns:a="http://schemas.openxmlformats.org/drawingml/2006/main">
            <a:off x="812800" y="3175000"/>
            <a:ext cx="8890000" cy="8915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2250" b="0">
                <a:solidFill>
                  <a:srgbClr val="FFFFFF"/>
                </a:solidFill>
                <a:latin typeface="Arial"/>
                <a:ea typeface="Arial"/>
                <a:cs typeface="Arial"/>
              </a:defRPr>
            </a:pPr>
            <a:r>
              <a:rPr sz="2250" b="0">
                <a:solidFill>
                  <a:srgbClr val="FFFFFF"/>
                </a:solidFill>
                <a:latin typeface="Arial"/>
                <a:ea typeface="Arial"/>
                <a:cs typeface="Arial"/>
              </a:rPr>
              <a:t>System purchase payback and an illustrative monthly subscription with no upfront payment</a:t>
            </a:r>
          </a:p>
        </p:txBody>
      </p:sp>
      <p:sp>
        <p:nvSpPr>
          <p:cNvPr id="5" name="TextBox 4">
            <a:extLst xmlns:a="http://schemas.openxmlformats.org/drawingml/2006/main">
              <a:ext uri="{FF2B5EF4-FFF2-40B4-BE49-F238E27FC236}">
                <a16:creationId xmlns:a16="http://schemas.microsoft.com/office/drawing/2014/main" id="{369F8F88-AA37-4AD5-A72D-2B74124A2ED8}"/>
              </a:ext>
            </a:extLst>
          </p:cNvPr>
          <p:cNvSpPr>
            <a:spLocks xmlns:a="http://schemas.openxmlformats.org/drawingml/2006/main" noGrp="1"/>
          </p:cNvSpPr>
          <p:nvPr/>
        </p:nvSpPr>
        <p:spPr>
          <a:xfrm xmlns:a="http://schemas.openxmlformats.org/drawingml/2006/main">
            <a:off x="812800" y="44450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400" b="0">
                <a:solidFill>
                  <a:srgbClr val="9AA1AD"/>
                </a:solidFill>
                <a:latin typeface="Arial"/>
                <a:ea typeface="Arial"/>
                <a:cs typeface="Arial"/>
              </a:rPr>
              <a:t>Basis: August 2026 bill · commercial tariff (EgyptERA, April 2026) · no maintenance or interest included</a:t>
            </a:r>
          </a:p>
        </p:txBody>
      </p:sp>
    </p:spTree>
    <p:extLst>
      <p:ext uri="{BB962C8B-B14F-4D97-AF65-F5344CB8AC3E}">
        <p14:creationId xmlns:p14="http://schemas.microsoft.com/office/powerpoint/2010/main" val="899149921"/>
      </p:ext>
    </p:extLst>
  </p:cSld>
</p:sld>
</file>

<file path=ppt/slides/slide2.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B48A3DD-2DEE-44EF-8E2A-7D7714582F7B}"/>
              </a:ext>
            </a:extLst>
          </p:cNvPr>
          <p:cNvSpPr>
            <a:spLocks xmlns:a="http://schemas.openxmlformats.org/drawingml/2006/main" noGrp="1"/>
          </p:cNvSpPr>
          <p:nvPr/>
        </p:nvSpPr>
        <p:spPr>
          <a:xfrm xmlns:a="http://schemas.openxmlformats.org/drawingml/2006/main">
            <a:off x="812800" y="812800"/>
            <a:ext cx="1056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THE SHOP TODAY</a:t>
            </a:r>
          </a:p>
        </p:txBody>
      </p:sp>
      <p:sp>
        <p:nvSpPr>
          <p:cNvPr id="3" name="TextBox 2">
            <a:extLst xmlns:a="http://schemas.openxmlformats.org/drawingml/2006/main">
              <a:ext uri="{FF2B5EF4-FFF2-40B4-BE49-F238E27FC236}">
                <a16:creationId xmlns:a16="http://schemas.microsoft.com/office/drawing/2014/main" id="{164FC342-8838-405C-B2A7-B59DCBCCDDB4}"/>
              </a:ext>
            </a:extLst>
          </p:cNvPr>
          <p:cNvSpPr>
            <a:spLocks xmlns:a="http://schemas.openxmlformats.org/drawingml/2006/main" noGrp="1"/>
          </p:cNvSpPr>
          <p:nvPr/>
        </p:nvSpPr>
        <p:spPr>
          <a:xfrm xmlns:a="http://schemas.openxmlformats.org/drawingml/2006/main">
            <a:off x="812800" y="1117600"/>
            <a:ext cx="10566400" cy="508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buNone/>
            </a:pPr>
            <a:r>
              <a:rPr sz="3200" b="1">
                <a:solidFill>
                  <a:srgbClr val="14171C"/>
                </a:solidFill>
                <a:latin typeface="Arial"/>
                <a:ea typeface="Arial"/>
                <a:cs typeface="Arial"/>
              </a:rPr>
              <a:t>2,421 kWh a month, refrigeration around the clock</a:t>
            </a:r>
          </a:p>
        </p:txBody>
      </p:sp>
      <p:sp>
        <p:nvSpPr>
          <p:cNvPr id="4" name="Rounded Rectangle 3">
            <a:extLst xmlns:a="http://schemas.openxmlformats.org/drawingml/2006/main">
              <a:ext uri="{FF2B5EF4-FFF2-40B4-BE49-F238E27FC236}">
                <a16:creationId xmlns:a16="http://schemas.microsoft.com/office/drawing/2014/main" id="{10C785BC-DAE6-4DF3-9AE2-85D40F951606}"/>
              </a:ext>
            </a:extLst>
          </p:cNvPr>
          <p:cNvSpPr>
            <a:spLocks xmlns:a="http://schemas.openxmlformats.org/drawingml/2006/main" noGrp="1"/>
          </p:cNvSpPr>
          <p:nvPr/>
        </p:nvSpPr>
        <p:spPr>
          <a:xfrm xmlns:a="http://schemas.openxmlformats.org/drawingml/2006/main">
            <a:off x="812800" y="1905000"/>
            <a:ext cx="2527300" cy="1270000"/>
          </a:xfrm>
          <a:prstGeom xmlns:a="http://schemas.openxmlformats.org/drawingml/2006/main" prst="roundRect">
            <a:avLst>
              <a:gd name="adj" fmla="val 8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37B94457-7786-40B4-B71C-00563F267865}"/>
              </a:ext>
            </a:extLst>
          </p:cNvPr>
          <p:cNvSpPr>
            <a:spLocks xmlns:a="http://schemas.openxmlformats.org/drawingml/2006/main" noGrp="1"/>
          </p:cNvSpPr>
          <p:nvPr/>
        </p:nvSpPr>
        <p:spPr>
          <a:xfrm xmlns:a="http://schemas.openxmlformats.org/drawingml/2006/main">
            <a:off x="1016000" y="2082800"/>
            <a:ext cx="21209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3000" b="1">
                <a:solidFill>
                  <a:srgbClr val="14171C"/>
                </a:solidFill>
                <a:latin typeface="Consolas"/>
                <a:ea typeface="Consolas"/>
                <a:cs typeface="Consolas"/>
              </a:rPr>
              <a:t>2,421</a:t>
            </a:r>
          </a:p>
        </p:txBody>
      </p:sp>
      <p:sp>
        <p:nvSpPr>
          <p:cNvPr id="6" name="TextBox 5">
            <a:extLst xmlns:a="http://schemas.openxmlformats.org/drawingml/2006/main">
              <a:ext uri="{FF2B5EF4-FFF2-40B4-BE49-F238E27FC236}">
                <a16:creationId xmlns:a16="http://schemas.microsoft.com/office/drawing/2014/main" id="{0F78A271-1ED4-4C9B-9D92-21CCDC86E9EB}"/>
              </a:ext>
            </a:extLst>
          </p:cNvPr>
          <p:cNvSpPr>
            <a:spLocks xmlns:a="http://schemas.openxmlformats.org/drawingml/2006/main" noGrp="1"/>
          </p:cNvSpPr>
          <p:nvPr/>
        </p:nvSpPr>
        <p:spPr>
          <a:xfrm xmlns:a="http://schemas.openxmlformats.org/drawingml/2006/main">
            <a:off x="1016000" y="2679700"/>
            <a:ext cx="21209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30000"/>
              </a:lnSpc>
              <a:buNone/>
            </a:pPr>
            <a:r>
              <a:rPr sz="1300" b="0">
                <a:solidFill>
                  <a:srgbClr val="4A5260"/>
                </a:solidFill>
                <a:latin typeface="Arial"/>
                <a:ea typeface="Arial"/>
                <a:cs typeface="Arial"/>
              </a:rPr>
              <a:t>kWh per month
312,070 − 309,649</a:t>
            </a:r>
          </a:p>
        </p:txBody>
      </p:sp>
      <p:sp>
        <p:nvSpPr>
          <p:cNvPr id="7" name="Rounded Rectangle 6">
            <a:extLst xmlns:a="http://schemas.openxmlformats.org/drawingml/2006/main">
              <a:ext uri="{FF2B5EF4-FFF2-40B4-BE49-F238E27FC236}">
                <a16:creationId xmlns:a16="http://schemas.microsoft.com/office/drawing/2014/main" id="{D1CC37FE-0B95-453F-A50D-684F496FC747}"/>
              </a:ext>
            </a:extLst>
          </p:cNvPr>
          <p:cNvSpPr>
            <a:spLocks xmlns:a="http://schemas.openxmlformats.org/drawingml/2006/main" noGrp="1"/>
          </p:cNvSpPr>
          <p:nvPr/>
        </p:nvSpPr>
        <p:spPr>
          <a:xfrm xmlns:a="http://schemas.openxmlformats.org/drawingml/2006/main">
            <a:off x="3492500" y="1905000"/>
            <a:ext cx="2527300" cy="1270000"/>
          </a:xfrm>
          <a:prstGeom xmlns:a="http://schemas.openxmlformats.org/drawingml/2006/main" prst="roundRect">
            <a:avLst>
              <a:gd name="adj" fmla="val 8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689BCD16-678B-4B0B-A819-252CDFD4A17D}"/>
              </a:ext>
            </a:extLst>
          </p:cNvPr>
          <p:cNvSpPr>
            <a:spLocks xmlns:a="http://schemas.openxmlformats.org/drawingml/2006/main" noGrp="1"/>
          </p:cNvSpPr>
          <p:nvPr/>
        </p:nvSpPr>
        <p:spPr>
          <a:xfrm xmlns:a="http://schemas.openxmlformats.org/drawingml/2006/main">
            <a:off x="3695700" y="2082800"/>
            <a:ext cx="21209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3000" b="1">
                <a:solidFill>
                  <a:srgbClr val="14171C"/>
                </a:solidFill>
                <a:latin typeface="Consolas"/>
                <a:ea typeface="Consolas"/>
                <a:cs typeface="Consolas"/>
              </a:rPr>
              <a:t>80.7</a:t>
            </a:r>
          </a:p>
        </p:txBody>
      </p:sp>
      <p:sp>
        <p:nvSpPr>
          <p:cNvPr id="9" name="TextBox 8">
            <a:extLst xmlns:a="http://schemas.openxmlformats.org/drawingml/2006/main">
              <a:ext uri="{FF2B5EF4-FFF2-40B4-BE49-F238E27FC236}">
                <a16:creationId xmlns:a16="http://schemas.microsoft.com/office/drawing/2014/main" id="{8EE072C3-880F-4002-AA32-3B7031F0683D}"/>
              </a:ext>
            </a:extLst>
          </p:cNvPr>
          <p:cNvSpPr>
            <a:spLocks xmlns:a="http://schemas.openxmlformats.org/drawingml/2006/main" noGrp="1"/>
          </p:cNvSpPr>
          <p:nvPr/>
        </p:nvSpPr>
        <p:spPr>
          <a:xfrm xmlns:a="http://schemas.openxmlformats.org/drawingml/2006/main">
            <a:off x="3695700" y="2679700"/>
            <a:ext cx="21209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30000"/>
              </a:lnSpc>
              <a:buNone/>
            </a:pPr>
            <a:r>
              <a:rPr sz="1300" b="0">
                <a:solidFill>
                  <a:srgbClr val="4A5260"/>
                </a:solidFill>
                <a:latin typeface="Arial"/>
                <a:ea typeface="Arial"/>
                <a:cs typeface="Arial"/>
              </a:rPr>
              <a:t>kWh per day
E = 2,421 ÷ 30</a:t>
            </a:r>
          </a:p>
        </p:txBody>
      </p:sp>
      <p:sp>
        <p:nvSpPr>
          <p:cNvPr id="10" name="Rounded Rectangle 9">
            <a:extLst xmlns:a="http://schemas.openxmlformats.org/drawingml/2006/main">
              <a:ext uri="{FF2B5EF4-FFF2-40B4-BE49-F238E27FC236}">
                <a16:creationId xmlns:a16="http://schemas.microsoft.com/office/drawing/2014/main" id="{9407F177-1596-4A9C-9DF7-D4C2D273A40A}"/>
              </a:ext>
            </a:extLst>
          </p:cNvPr>
          <p:cNvSpPr>
            <a:spLocks xmlns:a="http://schemas.openxmlformats.org/drawingml/2006/main" noGrp="1"/>
          </p:cNvSpPr>
          <p:nvPr/>
        </p:nvSpPr>
        <p:spPr>
          <a:xfrm xmlns:a="http://schemas.openxmlformats.org/drawingml/2006/main">
            <a:off x="6172200" y="1905000"/>
            <a:ext cx="2527300" cy="1270000"/>
          </a:xfrm>
          <a:prstGeom xmlns:a="http://schemas.openxmlformats.org/drawingml/2006/main" prst="roundRect">
            <a:avLst>
              <a:gd name="adj" fmla="val 8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5FD49576-8DA6-44B4-B45A-CFA455ACFD31}"/>
              </a:ext>
            </a:extLst>
          </p:cNvPr>
          <p:cNvSpPr>
            <a:spLocks xmlns:a="http://schemas.openxmlformats.org/drawingml/2006/main" noGrp="1"/>
          </p:cNvSpPr>
          <p:nvPr/>
        </p:nvSpPr>
        <p:spPr>
          <a:xfrm xmlns:a="http://schemas.openxmlformats.org/drawingml/2006/main">
            <a:off x="6375400" y="2082800"/>
            <a:ext cx="21209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3000" b="1">
                <a:solidFill>
                  <a:srgbClr val="14171C"/>
                </a:solidFill>
                <a:latin typeface="Consolas"/>
                <a:ea typeface="Consolas"/>
                <a:cs typeface="Consolas"/>
              </a:rPr>
              <a:t>6,867</a:t>
            </a:r>
          </a:p>
        </p:txBody>
      </p:sp>
      <p:sp>
        <p:nvSpPr>
          <p:cNvPr id="12" name="TextBox 11">
            <a:extLst xmlns:a="http://schemas.openxmlformats.org/drawingml/2006/main">
              <a:ext uri="{FF2B5EF4-FFF2-40B4-BE49-F238E27FC236}">
                <a16:creationId xmlns:a16="http://schemas.microsoft.com/office/drawing/2014/main" id="{20B032AB-7EBC-4D69-9B62-A3DF28792EA0}"/>
              </a:ext>
            </a:extLst>
          </p:cNvPr>
          <p:cNvSpPr>
            <a:spLocks xmlns:a="http://schemas.openxmlformats.org/drawingml/2006/main" noGrp="1"/>
          </p:cNvSpPr>
          <p:nvPr/>
        </p:nvSpPr>
        <p:spPr>
          <a:xfrm xmlns:a="http://schemas.openxmlformats.org/drawingml/2006/main">
            <a:off x="6375400" y="2679700"/>
            <a:ext cx="21209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30000"/>
              </a:lnSpc>
              <a:buNone/>
            </a:pPr>
            <a:r>
              <a:rPr sz="1300" b="0">
                <a:solidFill>
                  <a:srgbClr val="4A5260"/>
                </a:solidFill>
                <a:latin typeface="Arial"/>
                <a:ea typeface="Arial"/>
                <a:cs typeface="Arial"/>
              </a:rPr>
              <a:t>EGP per month
at the official tariff</a:t>
            </a:r>
          </a:p>
        </p:txBody>
      </p:sp>
      <p:sp>
        <p:nvSpPr>
          <p:cNvPr id="13" name="Rounded Rectangle 12">
            <a:extLst xmlns:a="http://schemas.openxmlformats.org/drawingml/2006/main">
              <a:ext uri="{FF2B5EF4-FFF2-40B4-BE49-F238E27FC236}">
                <a16:creationId xmlns:a16="http://schemas.microsoft.com/office/drawing/2014/main" id="{123E285A-43BB-4FF3-8526-CBFB60F8B4A7}"/>
              </a:ext>
            </a:extLst>
          </p:cNvPr>
          <p:cNvSpPr>
            <a:spLocks xmlns:a="http://schemas.openxmlformats.org/drawingml/2006/main" noGrp="1"/>
          </p:cNvSpPr>
          <p:nvPr/>
        </p:nvSpPr>
        <p:spPr>
          <a:xfrm xmlns:a="http://schemas.openxmlformats.org/drawingml/2006/main">
            <a:off x="8851900" y="1905000"/>
            <a:ext cx="2527300" cy="1270000"/>
          </a:xfrm>
          <a:prstGeom xmlns:a="http://schemas.openxmlformats.org/drawingml/2006/main" prst="roundRect">
            <a:avLst>
              <a:gd name="adj" fmla="val 8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0179C0E1-4065-411C-8A2C-F9761B5EE0F4}"/>
              </a:ext>
            </a:extLst>
          </p:cNvPr>
          <p:cNvSpPr>
            <a:spLocks xmlns:a="http://schemas.openxmlformats.org/drawingml/2006/main" noGrp="1"/>
          </p:cNvSpPr>
          <p:nvPr/>
        </p:nvSpPr>
        <p:spPr>
          <a:xfrm xmlns:a="http://schemas.openxmlformats.org/drawingml/2006/main">
            <a:off x="9055100" y="2082800"/>
            <a:ext cx="21209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3000" b="1">
                <a:solidFill>
                  <a:srgbClr val="14171C"/>
                </a:solidFill>
                <a:latin typeface="Consolas"/>
                <a:ea typeface="Consolas"/>
                <a:cs typeface="Consolas"/>
              </a:rPr>
              <a:t>50%</a:t>
            </a:r>
          </a:p>
        </p:txBody>
      </p:sp>
      <p:sp>
        <p:nvSpPr>
          <p:cNvPr id="15" name="TextBox 14">
            <a:extLst xmlns:a="http://schemas.openxmlformats.org/drawingml/2006/main">
              <a:ext uri="{FF2B5EF4-FFF2-40B4-BE49-F238E27FC236}">
                <a16:creationId xmlns:a16="http://schemas.microsoft.com/office/drawing/2014/main" id="{1D5F4E64-5DEF-4996-8A25-7472EFA03CAF}"/>
              </a:ext>
            </a:extLst>
          </p:cNvPr>
          <p:cNvSpPr>
            <a:spLocks xmlns:a="http://schemas.openxmlformats.org/drawingml/2006/main" noGrp="1"/>
          </p:cNvSpPr>
          <p:nvPr/>
        </p:nvSpPr>
        <p:spPr>
          <a:xfrm xmlns:a="http://schemas.openxmlformats.org/drawingml/2006/main">
            <a:off x="9055100" y="2679700"/>
            <a:ext cx="2120900" cy="51511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30000"/>
              </a:lnSpc>
              <a:buNone/>
            </a:pPr>
            <a:r>
              <a:rPr sz="1300" b="0">
                <a:solidFill>
                  <a:srgbClr val="4A5260"/>
                </a:solidFill>
                <a:latin typeface="Arial"/>
                <a:ea typeface="Arial"/>
                <a:cs typeface="Arial"/>
              </a:rPr>
              <a:t>assumed night share
50% day / 50% night</a:t>
            </a:r>
          </a:p>
        </p:txBody>
      </p:sp>
      <p:sp>
        <p:nvSpPr>
          <p:cNvPr id="17" name="TextBox 16">
            <a:extLst xmlns:a="http://schemas.openxmlformats.org/drawingml/2006/main">
              <a:ext uri="{FF2B5EF4-FFF2-40B4-BE49-F238E27FC236}">
                <a16:creationId xmlns:a16="http://schemas.microsoft.com/office/drawing/2014/main" id="{7DC329D4-3216-4899-8876-FD0A14E40595}"/>
              </a:ext>
            </a:extLst>
          </p:cNvPr>
          <p:cNvSpPr>
            <a:spLocks xmlns:a="http://schemas.openxmlformats.org/drawingml/2006/main" noGrp="1"/>
          </p:cNvSpPr>
          <p:nvPr/>
        </p:nvSpPr>
        <p:spPr>
          <a:xfrm xmlns:a="http://schemas.openxmlformats.org/drawingml/2006/main">
            <a:off x="809625" y="5676900"/>
            <a:ext cx="10572750" cy="5619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275" b="0">
                <a:solidFill>
                  <a:srgbClr val="4A5260"/>
                </a:solidFill>
                <a:latin typeface="Arial"/>
                <a:ea typeface="Arial"/>
                <a:cs typeface="Arial"/>
              </a:defRPr>
            </a:pPr>
            <a:r>
              <a:rPr sz="1275" b="0">
                <a:solidFill>
                  <a:srgbClr val="4A5260"/>
                </a:solidFill>
                <a:latin typeface="Arial"/>
                <a:ea typeface="Arial"/>
                <a:cs typeface="Arial"/>
              </a:rPr>
              <a:t>Receipt: 8,279 EGP. Tariff model: 6,867.22 EGP. The 1,411.78 EGP difference needs the detailed invoice.</a:t>
            </a:r>
          </a:p>
          <a:p xmlns:a="http://schemas.openxmlformats.org/drawingml/2006/main">
            <a:pPr algn="l">
              <a:lnSpc>
                <a:spcPct val="135000"/>
              </a:lnSpc>
              <a:buNone/>
              <a:defRPr sz="1275" b="0">
                <a:solidFill>
                  <a:srgbClr val="4A5260"/>
                </a:solidFill>
                <a:latin typeface="Arial"/>
                <a:ea typeface="Arial"/>
                <a:cs typeface="Arial"/>
              </a:defRPr>
            </a:pPr>
            <a:r>
              <a:rPr sz="1275" b="0">
                <a:solidFill>
                  <a:srgbClr val="4A5260"/>
                </a:solidFill>
                <a:latin typeface="Arial"/>
                <a:ea typeface="Arial"/>
                <a:cs typeface="Arial"/>
              </a:rPr>
              <a:t>Daily use assumes a 30-day billing period. The 50/50 split is an unmeasured scenario.</a:t>
            </a:r>
          </a:p>
        </p:txBody>
      </p:sp>
      <p:graphicFrame>
        <p:nvGraphicFramePr>
          <p:cNvPr id="38" name=""/>
          <p:cNvGraphicFramePr/>
          <p:nvPr/>
        </p:nvGraphicFramePr>
        <p:xfrm>
          <a:off xmlns:a="http://schemas.openxmlformats.org/drawingml/2006/main" x="809625" y="3571875"/>
          <a:ext xmlns:a="http://schemas.openxmlformats.org/drawingml/2006/main" cx="6096000" cy="2019300"/>
        </p:xfrm>
        <a:graphic xmlns:a="http://schemas.openxmlformats.org/drawingml/2006/main">
          <a:graphicData uri="http://schemas.openxmlformats.org/drawingml/2006/table">
            <a:tbl>
              <a:tblPr/>
              <a:tblGrid>
                <a:gridCol w="1762125"/>
                <a:gridCol w="2266950"/>
                <a:gridCol w="2066925"/>
              </a:tblGrid>
              <a:tr h="304800">
                <a:tc>
                  <a:txBody>
                    <a:bodyPr/>
                    <a:lstStyle/>
                    <a:p>
                      <a:r>
                        <a:rPr sz="1275" b="1">
                          <a:solidFill>
                            <a:srgbClr val="14171C"/>
                          </a:solidFill>
                          <a:latin typeface="Arial"/>
                          <a:ea typeface="Arial"/>
                          <a:cs typeface="Arial"/>
                        </a:rPr>
                        <a:t>Monthly kWh</a:t>
                      </a:r>
                    </a:p>
                  </a:txBody>
                  <a:tcPr marL="85725" marR="85725" marT="19050" marB="19050">
                    <a:solidFill>
                      <a:srgbClr val="E6E9ED"/>
                    </a:solidFill>
                  </a:tcPr>
                </a:tc>
                <a:tc>
                  <a:txBody>
                    <a:bodyPr/>
                    <a:lstStyle/>
                    <a:p>
                      <a:r>
                        <a:rPr sz="1275" b="1">
                          <a:solidFill>
                            <a:srgbClr val="14171C"/>
                          </a:solidFill>
                          <a:latin typeface="Arial"/>
                          <a:ea typeface="Arial"/>
                          <a:cs typeface="Arial"/>
                        </a:rPr>
                        <a:t>EGP / kWh</a:t>
                      </a:r>
                    </a:p>
                  </a:txBody>
                  <a:tcPr marL="85725" marR="85725" marT="19050" marB="19050">
                    <a:solidFill>
                      <a:srgbClr val="E6E9ED"/>
                    </a:solidFill>
                  </a:tcPr>
                </a:tc>
                <a:tc>
                  <a:txBody>
                    <a:bodyPr/>
                    <a:lstStyle/>
                    <a:p>
                      <a:r>
                        <a:rPr sz="1275" b="1">
                          <a:solidFill>
                            <a:srgbClr val="14171C"/>
                          </a:solidFill>
                          <a:latin typeface="Arial"/>
                          <a:ea typeface="Arial"/>
                          <a:cs typeface="Arial"/>
                        </a:rPr>
                        <a:t>Service fee (EGP)</a:t>
                      </a:r>
                    </a:p>
                  </a:txBody>
                  <a:tcPr marL="85725" marR="85725" marT="19050" marB="19050">
                    <a:solidFill>
                      <a:srgbClr val="E6E9ED"/>
                    </a:solidFill>
                  </a:tcPr>
                </a:tc>
              </a:tr>
              <a:tr h="285750">
                <a:tc>
                  <a:txBody>
                    <a:bodyPr/>
                    <a:lstStyle/>
                    <a:p>
                      <a:r>
                        <a:rPr sz="1275" b="0">
                          <a:solidFill>
                            <a:srgbClr val="14171C"/>
                          </a:solidFill>
                          <a:latin typeface="Arial"/>
                          <a:ea typeface="Arial"/>
                          <a:cs typeface="Arial"/>
                        </a:rPr>
                        <a:t>1–100</a:t>
                      </a:r>
                    </a:p>
                  </a:txBody>
                  <a:tcPr marL="85725" marR="85725" marT="19050" marB="19050">
                    <a:solidFill>
                      <a:srgbClr val="FCFCFD"/>
                    </a:solidFill>
                  </a:tcPr>
                </a:tc>
                <a:tc>
                  <a:txBody>
                    <a:bodyPr/>
                    <a:lstStyle/>
                    <a:p>
                      <a:r>
                        <a:rPr sz="1275" b="0">
                          <a:solidFill>
                            <a:srgbClr val="14171C"/>
                          </a:solidFill>
                          <a:latin typeface="Arial"/>
                          <a:ea typeface="Arial"/>
                          <a:cs typeface="Arial"/>
                        </a:rPr>
                        <a:t>1.62, all units</a:t>
                      </a:r>
                    </a:p>
                  </a:txBody>
                  <a:tcPr marL="85725" marR="85725" marT="19050" marB="19050">
                    <a:solidFill>
                      <a:srgbClr val="FCFCFD"/>
                    </a:solidFill>
                  </a:tcPr>
                </a:tc>
                <a:tc>
                  <a:txBody>
                    <a:bodyPr/>
                    <a:lstStyle/>
                    <a:p>
                      <a:r>
                        <a:rPr sz="1275" b="0">
                          <a:solidFill>
                            <a:srgbClr val="14171C"/>
                          </a:solidFill>
                          <a:latin typeface="Arial"/>
                          <a:ea typeface="Arial"/>
                          <a:cs typeface="Arial"/>
                        </a:rPr>
                        <a:t>5</a:t>
                      </a:r>
                    </a:p>
                  </a:txBody>
                  <a:tcPr marL="85725" marR="85725" marT="19050" marB="19050">
                    <a:solidFill>
                      <a:srgbClr val="FCFCFD"/>
                    </a:solidFill>
                  </a:tcPr>
                </a:tc>
              </a:tr>
              <a:tr h="285750">
                <a:tc>
                  <a:txBody>
                    <a:bodyPr/>
                    <a:lstStyle/>
                    <a:p>
                      <a:r>
                        <a:rPr sz="1275" b="0">
                          <a:solidFill>
                            <a:srgbClr val="14171C"/>
                          </a:solidFill>
                          <a:latin typeface="Arial"/>
                          <a:ea typeface="Arial"/>
                          <a:cs typeface="Arial"/>
                        </a:rPr>
                        <a:t>101–250</a:t>
                      </a:r>
                    </a:p>
                  </a:txBody>
                  <a:tcPr marL="85725" marR="85725" marT="19050" marB="19050">
                    <a:solidFill>
                      <a:srgbClr val="F4F5F7"/>
                    </a:solidFill>
                  </a:tcPr>
                </a:tc>
                <a:tc>
                  <a:txBody>
                    <a:bodyPr/>
                    <a:lstStyle/>
                    <a:p>
                      <a:r>
                        <a:rPr sz="1275" b="0">
                          <a:solidFill>
                            <a:srgbClr val="14171C"/>
                          </a:solidFill>
                          <a:latin typeface="Arial"/>
                          <a:ea typeface="Arial"/>
                          <a:cs typeface="Arial"/>
                        </a:rPr>
                        <a:t>2.16, all units</a:t>
                      </a:r>
                    </a:p>
                  </a:txBody>
                  <a:tcPr marL="85725" marR="85725" marT="19050" marB="19050">
                    <a:solidFill>
                      <a:srgbClr val="F4F5F7"/>
                    </a:solidFill>
                  </a:tcPr>
                </a:tc>
                <a:tc>
                  <a:txBody>
                    <a:bodyPr/>
                    <a:lstStyle/>
                    <a:p>
                      <a:r>
                        <a:rPr sz="1275" b="0">
                          <a:solidFill>
                            <a:srgbClr val="14171C"/>
                          </a:solidFill>
                          <a:latin typeface="Arial"/>
                          <a:ea typeface="Arial"/>
                          <a:cs typeface="Arial"/>
                        </a:rPr>
                        <a:t>15</a:t>
                      </a:r>
                    </a:p>
                  </a:txBody>
                  <a:tcPr marL="85725" marR="85725" marT="19050" marB="19050">
                    <a:solidFill>
                      <a:srgbClr val="F4F5F7"/>
                    </a:solidFill>
                  </a:tcPr>
                </a:tc>
              </a:tr>
              <a:tr h="285750">
                <a:tc>
                  <a:txBody>
                    <a:bodyPr/>
                    <a:lstStyle/>
                    <a:p>
                      <a:r>
                        <a:rPr sz="1275" b="0">
                          <a:solidFill>
                            <a:srgbClr val="14171C"/>
                          </a:solidFill>
                          <a:latin typeface="Arial"/>
                          <a:ea typeface="Arial"/>
                          <a:cs typeface="Arial"/>
                        </a:rPr>
                        <a:t>251–600</a:t>
                      </a:r>
                    </a:p>
                  </a:txBody>
                  <a:tcPr marL="85725" marR="85725" marT="19050" marB="19050">
                    <a:solidFill>
                      <a:srgbClr val="FCFCFD"/>
                    </a:solidFill>
                  </a:tcPr>
                </a:tc>
                <a:tc>
                  <a:txBody>
                    <a:bodyPr/>
                    <a:lstStyle/>
                    <a:p>
                      <a:r>
                        <a:rPr sz="1275" b="0">
                          <a:solidFill>
                            <a:srgbClr val="14171C"/>
                          </a:solidFill>
                          <a:latin typeface="Arial"/>
                          <a:ea typeface="Arial"/>
                          <a:cs typeface="Arial"/>
                        </a:rPr>
                        <a:t>2.64, all units</a:t>
                      </a:r>
                    </a:p>
                  </a:txBody>
                  <a:tcPr marL="85725" marR="85725" marT="19050" marB="19050">
                    <a:solidFill>
                      <a:srgbClr val="FCFCFD"/>
                    </a:solidFill>
                  </a:tcPr>
                </a:tc>
                <a:tc>
                  <a:txBody>
                    <a:bodyPr/>
                    <a:lstStyle/>
                    <a:p>
                      <a:r>
                        <a:rPr sz="1275" b="0">
                          <a:solidFill>
                            <a:srgbClr val="14171C"/>
                          </a:solidFill>
                          <a:latin typeface="Arial"/>
                          <a:ea typeface="Arial"/>
                          <a:cs typeface="Arial"/>
                        </a:rPr>
                        <a:t>20</a:t>
                      </a:r>
                    </a:p>
                  </a:txBody>
                  <a:tcPr marL="85725" marR="85725" marT="19050" marB="19050">
                    <a:solidFill>
                      <a:srgbClr val="FCFCFD"/>
                    </a:solidFill>
                  </a:tcPr>
                </a:tc>
              </a:tr>
              <a:tr h="285750">
                <a:tc>
                  <a:txBody>
                    <a:bodyPr/>
                    <a:lstStyle/>
                    <a:p>
                      <a:r>
                        <a:rPr sz="1275" b="0">
                          <a:solidFill>
                            <a:srgbClr val="14171C"/>
                          </a:solidFill>
                          <a:latin typeface="Arial"/>
                          <a:ea typeface="Arial"/>
                          <a:cs typeface="Arial"/>
                        </a:rPr>
                        <a:t>601–1,000</a:t>
                      </a:r>
                    </a:p>
                  </a:txBody>
                  <a:tcPr marL="85725" marR="85725" marT="19050" marB="19050">
                    <a:solidFill>
                      <a:srgbClr val="F4F5F7"/>
                    </a:solidFill>
                  </a:tcPr>
                </a:tc>
                <a:tc>
                  <a:txBody>
                    <a:bodyPr/>
                    <a:lstStyle/>
                    <a:p>
                      <a:r>
                        <a:rPr sz="1275" b="0">
                          <a:solidFill>
                            <a:srgbClr val="14171C"/>
                          </a:solidFill>
                          <a:latin typeface="Arial"/>
                          <a:ea typeface="Arial"/>
                          <a:cs typeface="Arial"/>
                        </a:rPr>
                        <a:t>2.64 / 2.74*</a:t>
                      </a:r>
                    </a:p>
                  </a:txBody>
                  <a:tcPr marL="85725" marR="85725" marT="19050" marB="19050">
                    <a:solidFill>
                      <a:srgbClr val="F4F5F7"/>
                    </a:solidFill>
                  </a:tcPr>
                </a:tc>
                <a:tc>
                  <a:txBody>
                    <a:bodyPr/>
                    <a:lstStyle/>
                    <a:p>
                      <a:r>
                        <a:rPr sz="1275" b="0">
                          <a:solidFill>
                            <a:srgbClr val="14171C"/>
                          </a:solidFill>
                          <a:latin typeface="Arial"/>
                          <a:ea typeface="Arial"/>
                          <a:cs typeface="Arial"/>
                        </a:rPr>
                        <a:t>25</a:t>
                      </a:r>
                    </a:p>
                  </a:txBody>
                  <a:tcPr marL="85725" marR="85725" marT="19050" marB="19050">
                    <a:solidFill>
                      <a:srgbClr val="F4F5F7"/>
                    </a:solidFill>
                  </a:tcPr>
                </a:tc>
              </a:tr>
              <a:tr h="285750">
                <a:tc>
                  <a:txBody>
                    <a:bodyPr/>
                    <a:lstStyle/>
                    <a:p>
                      <a:r>
                        <a:rPr sz="1275" b="0">
                          <a:solidFill>
                            <a:srgbClr val="14171C"/>
                          </a:solidFill>
                          <a:latin typeface="Arial"/>
                          <a:ea typeface="Arial"/>
                          <a:cs typeface="Arial"/>
                        </a:rPr>
                        <a:t>Above 1,000</a:t>
                      </a:r>
                    </a:p>
                  </a:txBody>
                  <a:tcPr marL="85725" marR="85725" marT="19050" marB="19050">
                    <a:solidFill>
                      <a:srgbClr val="FCFCFD"/>
                    </a:solidFill>
                  </a:tcPr>
                </a:tc>
                <a:tc>
                  <a:txBody>
                    <a:bodyPr/>
                    <a:lstStyle/>
                    <a:p>
                      <a:r>
                        <a:rPr sz="1275" b="0">
                          <a:solidFill>
                            <a:srgbClr val="14171C"/>
                          </a:solidFill>
                          <a:latin typeface="Arial"/>
                          <a:ea typeface="Arial"/>
                          <a:cs typeface="Arial"/>
                        </a:rPr>
                        <a:t>2.79, all units</a:t>
                      </a:r>
                    </a:p>
                  </a:txBody>
                  <a:tcPr marL="85725" marR="85725" marT="19050" marB="19050">
                    <a:solidFill>
                      <a:srgbClr val="FCFCFD"/>
                    </a:solidFill>
                  </a:tcPr>
                </a:tc>
                <a:tc>
                  <a:txBody>
                    <a:bodyPr/>
                    <a:lstStyle/>
                    <a:p>
                      <a:r>
                        <a:rPr sz="1275" b="0">
                          <a:solidFill>
                            <a:srgbClr val="14171C"/>
                          </a:solidFill>
                          <a:latin typeface="Arial"/>
                          <a:ea typeface="Arial"/>
                          <a:cs typeface="Arial"/>
                        </a:rPr>
                        <a:t>40</a:t>
                      </a:r>
                    </a:p>
                  </a:txBody>
                  <a:tcPr marL="85725" marR="85725" marT="19050" marB="19050">
                    <a:solidFill>
                      <a:srgbClr val="FCFCFD"/>
                    </a:solidFill>
                  </a:tcPr>
                </a:tc>
              </a:tr>
              <a:tr h="285750">
                <a:tc>
                  <a:txBody>
                    <a:bodyPr/>
                    <a:lstStyle/>
                    <a:p>
                      <a:r>
                        <a:rPr sz="1275" b="0">
                          <a:solidFill>
                            <a:srgbClr val="14171C"/>
                          </a:solidFill>
                          <a:latin typeface="Arial"/>
                          <a:ea typeface="Arial"/>
                          <a:cs typeface="Arial"/>
                        </a:rPr>
                        <a:t>Zero use</a:t>
                      </a:r>
                    </a:p>
                  </a:txBody>
                  <a:tcPr marL="85725" marR="85725" marT="19050" marB="19050">
                    <a:solidFill>
                      <a:srgbClr val="F4F5F7"/>
                    </a:solidFill>
                  </a:tcPr>
                </a:tc>
                <a:tc>
                  <a:txBody>
                    <a:bodyPr/>
                    <a:lstStyle/>
                    <a:p>
                      <a:r>
                        <a:rPr sz="1275" b="0">
                          <a:solidFill>
                            <a:srgbClr val="14171C"/>
                          </a:solidFill>
                          <a:latin typeface="Arial"/>
                          <a:ea typeface="Arial"/>
                          <a:cs typeface="Arial"/>
                        </a:rPr>
                        <a:t>—</a:t>
                      </a:r>
                    </a:p>
                  </a:txBody>
                  <a:tcPr marL="85725" marR="85725" marT="19050" marB="19050">
                    <a:solidFill>
                      <a:srgbClr val="F4F5F7"/>
                    </a:solidFill>
                  </a:tcPr>
                </a:tc>
                <a:tc>
                  <a:txBody>
                    <a:bodyPr/>
                    <a:lstStyle/>
                    <a:p>
                      <a:r>
                        <a:rPr sz="1275" b="0">
                          <a:solidFill>
                            <a:srgbClr val="14171C"/>
                          </a:solidFill>
                          <a:latin typeface="Arial"/>
                          <a:ea typeface="Arial"/>
                          <a:cs typeface="Arial"/>
                        </a:rPr>
                        <a:t>9</a:t>
                      </a:r>
                    </a:p>
                  </a:txBody>
                  <a:tcPr marL="85725" marR="85725" marT="19050" marB="19050">
                    <a:solidFill>
                      <a:srgbClr val="F4F5F7"/>
                    </a:solidFill>
                  </a:tcPr>
                </a:tc>
              </a:tr>
            </a:tbl>
          </a:graphicData>
        </a:graphic>
      </p:graphicFrame>
      <p:sp>
        <p:nvSpPr>
          <p:cNvPr id="19" name="">
            <a:extLst xmlns:a="http://schemas.openxmlformats.org/drawingml/2006/main">
              <a:ext uri="{FF2B5EF4-FFF2-40B4-BE49-F238E27FC236}">
                <a16:creationId xmlns:a16="http://schemas.microsoft.com/office/drawing/2014/main" id="{14B567C3-3683-4406-B996-68E79DBAA6A1}"/>
              </a:ext>
            </a:extLst>
          </p:cNvPr>
          <p:cNvSpPr>
            <a:spLocks xmlns:a="http://schemas.openxmlformats.org/drawingml/2006/main" noGrp="1"/>
          </p:cNvSpPr>
          <p:nvPr/>
        </p:nvSpPr>
        <p:spPr>
          <a:xfrm xmlns:a="http://schemas.openxmlformats.org/drawingml/2006/main">
            <a:off x="809625" y="3228975"/>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Commercial tariff and monthly bill</a:t>
            </a:r>
          </a:p>
        </p:txBody>
      </p:sp>
      <p:sp>
        <p:nvSpPr>
          <p:cNvPr id="20" name="">
            <a:extLst xmlns:a="http://schemas.openxmlformats.org/drawingml/2006/main">
              <a:ext uri="{FF2B5EF4-FFF2-40B4-BE49-F238E27FC236}">
                <a16:creationId xmlns:a16="http://schemas.microsoft.com/office/drawing/2014/main" id="{4A9E8BC9-053C-4B68-A1E9-9C36BA0E2E89}"/>
              </a:ext>
            </a:extLst>
          </p:cNvPr>
          <p:cNvSpPr>
            <a:spLocks xmlns:a="http://schemas.openxmlformats.org/drawingml/2006/main" noGrp="1"/>
          </p:cNvSpPr>
          <p:nvPr/>
        </p:nvSpPr>
        <p:spPr>
          <a:xfrm xmlns:a="http://schemas.openxmlformats.org/drawingml/2006/main">
            <a:off x="7143750" y="3514725"/>
            <a:ext cx="4238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171C"/>
                </a:solidFill>
                <a:latin typeface="Consolas"/>
                <a:ea typeface="Consolas"/>
                <a:cs typeface="Consolas"/>
              </a:defRPr>
            </a:pPr>
            <a:r>
              <a:rPr sz="1500" b="0">
                <a:solidFill>
                  <a:srgbClr val="14171C"/>
                </a:solidFill>
                <a:latin typeface="Consolas"/>
                <a:ea typeface="Consolas"/>
                <a:cs typeface="Consolas"/>
              </a:rPr>
              <a:t>Bill = energy + service + 0.03 × kWh</a:t>
            </a:r>
          </a:p>
          <a:p xmlns:a="http://schemas.openxmlformats.org/drawingml/2006/main">
            <a:pPr>
              <a:defRPr sz="1500" b="0">
                <a:solidFill>
                  <a:srgbClr val="14171C"/>
                </a:solidFill>
                <a:latin typeface="Consolas"/>
                <a:ea typeface="Consolas"/>
                <a:cs typeface="Consolas"/>
              </a:defRPr>
            </a:pPr>
            <a:r>
              <a:rPr sz="1500" b="0">
                <a:solidFill>
                  <a:srgbClr val="14171C"/>
                </a:solidFill>
                <a:latin typeface="Consolas"/>
                <a:ea typeface="Consolas"/>
                <a:cs typeface="Consolas"/>
              </a:rPr>
              <a:t>2,421 × 2.79 = 6,754.59</a:t>
            </a:r>
          </a:p>
          <a:p xmlns:a="http://schemas.openxmlformats.org/drawingml/2006/main">
            <a:pPr>
              <a:defRPr sz="1500" b="0">
                <a:solidFill>
                  <a:srgbClr val="14171C"/>
                </a:solidFill>
                <a:latin typeface="Consolas"/>
                <a:ea typeface="Consolas"/>
                <a:cs typeface="Consolas"/>
              </a:defRPr>
            </a:pPr>
            <a:r>
              <a:rPr sz="1500" b="0">
                <a:solidFill>
                  <a:srgbClr val="14171C"/>
                </a:solidFill>
                <a:latin typeface="Consolas"/>
                <a:ea typeface="Consolas"/>
                <a:cs typeface="Consolas"/>
              </a:rPr>
              <a:t>+ 40 + 72.63 = 6,867.22 EGP</a:t>
            </a:r>
          </a:p>
        </p:txBody>
      </p:sp>
      <p:sp>
        <p:nvSpPr>
          <p:cNvPr id="21" name="">
            <a:extLst xmlns:a="http://schemas.openxmlformats.org/drawingml/2006/main">
              <a:ext uri="{FF2B5EF4-FFF2-40B4-BE49-F238E27FC236}">
                <a16:creationId xmlns:a16="http://schemas.microsoft.com/office/drawing/2014/main" id="{0DD7AAA5-D351-4680-9DFE-4594FEEF4E51}"/>
              </a:ext>
            </a:extLst>
          </p:cNvPr>
          <p:cNvSpPr>
            <a:spLocks xmlns:a="http://schemas.openxmlformats.org/drawingml/2006/main" noGrp="1"/>
          </p:cNvSpPr>
          <p:nvPr/>
        </p:nvSpPr>
        <p:spPr>
          <a:xfrm xmlns:a="http://schemas.openxmlformats.org/drawingml/2006/main">
            <a:off x="7143750" y="4829175"/>
            <a:ext cx="4238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*601–1,000: first 600 at 2.64, rest at 2.74.</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Consumption stamp: 0.03 EGP/kWh.</a:t>
            </a:r>
          </a:p>
        </p:txBody>
      </p:sp>
      <p:sp>
        <p:nvSpPr>
          <p:cNvPr id="22" name="">
            <a:extLst xmlns:a="http://schemas.openxmlformats.org/drawingml/2006/main">
              <a:ext uri="{FF2B5EF4-FFF2-40B4-BE49-F238E27FC236}">
                <a16:creationId xmlns:a16="http://schemas.microsoft.com/office/drawing/2014/main" id="{EF7647FF-8F08-4E08-8510-9F46AE6A9758}"/>
              </a:ext>
            </a:extLst>
          </p:cNvPr>
          <p:cNvSpPr>
            <a:spLocks xmlns:a="http://schemas.openxmlformats.org/drawingml/2006/main" noGrp="1"/>
          </p:cNvSpPr>
          <p:nvPr/>
        </p:nvSpPr>
        <p:spPr>
          <a:xfrm xmlns:a="http://schemas.openxmlformats.org/drawingml/2006/main">
            <a:off x="809625" y="63341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5260"/>
                </a:solidFill>
                <a:latin typeface="Arial"/>
                <a:ea typeface="Arial"/>
                <a:cs typeface="Arial"/>
              </a:defRPr>
            </a:pPr>
            <a:r>
              <a:rPr sz="1200" b="0">
                <a:solidFill>
                  <a:srgbClr val="4A5260"/>
                </a:solidFill>
                <a:latin typeface="Arial"/>
                <a:ea typeface="Arial"/>
                <a:cs typeface="Arial"/>
              </a:rPr>
              <a:t>Source: EgyptERA, commercial tariff from April 2026. Annual 3 EGP stamp excluded equally from both cases.</a:t>
            </a:r>
          </a:p>
        </p:txBody>
      </p:sp>
    </p:spTree>
    <p:extLst>
      <p:ext uri="{BB962C8B-B14F-4D97-AF65-F5344CB8AC3E}">
        <p14:creationId xmlns:p14="http://schemas.microsoft.com/office/powerpoint/2010/main" val="1458210311"/>
      </p:ext>
    </p:extLst>
  </p:cSld>
</p:sld>
</file>

<file path=ppt/slides/slide3.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EEB7564-22E4-4DF5-A122-8FF162C57B11}"/>
              </a:ext>
            </a:extLst>
          </p:cNvPr>
          <p:cNvSpPr>
            <a:spLocks xmlns:a="http://schemas.openxmlformats.org/drawingml/2006/main" noGrp="1"/>
          </p:cNvSpPr>
          <p:nvPr/>
        </p:nvSpPr>
        <p:spPr>
          <a:xfrm xmlns:a="http://schemas.openxmlformats.org/drawingml/2006/main">
            <a:off x="812800" y="812800"/>
            <a:ext cx="1056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STEP 2 · SIZING</a:t>
            </a:r>
          </a:p>
        </p:txBody>
      </p:sp>
      <p:sp>
        <p:nvSpPr>
          <p:cNvPr id="3" name="TextBox 2">
            <a:extLst xmlns:a="http://schemas.openxmlformats.org/drawingml/2006/main">
              <a:ext uri="{FF2B5EF4-FFF2-40B4-BE49-F238E27FC236}">
                <a16:creationId xmlns:a16="http://schemas.microsoft.com/office/drawing/2014/main" id="{2EB2E608-2744-4AC4-B91F-89BBC8E4CFB9}"/>
              </a:ext>
            </a:extLst>
          </p:cNvPr>
          <p:cNvSpPr>
            <a:spLocks xmlns:a="http://schemas.openxmlformats.org/drawingml/2006/main" noGrp="1"/>
          </p:cNvSpPr>
          <p:nvPr/>
        </p:nvSpPr>
        <p:spPr>
          <a:xfrm xmlns:a="http://schemas.openxmlformats.org/drawingml/2006/main">
            <a:off x="812800" y="1117600"/>
            <a:ext cx="10566400" cy="508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buNone/>
            </a:pPr>
            <a:r>
              <a:rPr sz="3200" b="1">
                <a:solidFill>
                  <a:srgbClr val="14171C"/>
                </a:solidFill>
                <a:latin typeface="Arial"/>
                <a:ea typeface="Arial"/>
                <a:cs typeface="Arial"/>
              </a:rPr>
              <a:t>Daily split, solar size and battery size</a:t>
            </a:r>
          </a:p>
        </p:txBody>
      </p:sp>
      <p:sp>
        <p:nvSpPr>
          <p:cNvPr id="4" name="Rounded Rectangle 3">
            <a:extLst xmlns:a="http://schemas.openxmlformats.org/drawingml/2006/main">
              <a:ext uri="{FF2B5EF4-FFF2-40B4-BE49-F238E27FC236}">
                <a16:creationId xmlns:a16="http://schemas.microsoft.com/office/drawing/2014/main" id="{9CFC68AB-F3A2-4E06-A9AD-BDF83CAA137B}"/>
              </a:ext>
            </a:extLst>
          </p:cNvPr>
          <p:cNvSpPr>
            <a:spLocks xmlns:a="http://schemas.openxmlformats.org/drawingml/2006/main" noGrp="1"/>
          </p:cNvSpPr>
          <p:nvPr/>
        </p:nvSpPr>
        <p:spPr>
          <a:xfrm xmlns:a="http://schemas.openxmlformats.org/drawingml/2006/main">
            <a:off x="812800" y="1905000"/>
            <a:ext cx="3386666" cy="3683000"/>
          </a:xfrm>
          <a:prstGeom xmlns:a="http://schemas.openxmlformats.org/drawingml/2006/main" prst="roundRect">
            <a:avLst>
              <a:gd name="adj" fmla="val 3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4BDA9228-5A63-416F-8BAB-4449B03F4AF0}"/>
              </a:ext>
            </a:extLst>
          </p:cNvPr>
          <p:cNvSpPr>
            <a:spLocks xmlns:a="http://schemas.openxmlformats.org/drawingml/2006/main" noGrp="1"/>
          </p:cNvSpPr>
          <p:nvPr/>
        </p:nvSpPr>
        <p:spPr>
          <a:xfrm xmlns:a="http://schemas.openxmlformats.org/drawingml/2006/main">
            <a:off x="1016000" y="2108200"/>
            <a:ext cx="2980266"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600" b="1">
                <a:solidFill>
                  <a:srgbClr val="14171C"/>
                </a:solidFill>
                <a:latin typeface="Arial"/>
                <a:ea typeface="Arial"/>
                <a:cs typeface="Arial"/>
              </a:rPr>
              <a:t>Daily energy</a:t>
            </a:r>
          </a:p>
        </p:txBody>
      </p:sp>
      <p:sp>
        <p:nvSpPr>
          <p:cNvPr id="6" name="TextBox 5">
            <a:extLst xmlns:a="http://schemas.openxmlformats.org/drawingml/2006/main">
              <a:ext uri="{FF2B5EF4-FFF2-40B4-BE49-F238E27FC236}">
                <a16:creationId xmlns:a16="http://schemas.microsoft.com/office/drawing/2014/main" id="{276F5E0C-8BD7-440C-A4FC-0DB771EE3DDA}"/>
              </a:ext>
            </a:extLst>
          </p:cNvPr>
          <p:cNvSpPr>
            <a:spLocks xmlns:a="http://schemas.openxmlformats.org/drawingml/2006/main" noGrp="1"/>
          </p:cNvSpPr>
          <p:nvPr/>
        </p:nvSpPr>
        <p:spPr>
          <a:xfrm xmlns:a="http://schemas.openxmlformats.org/drawingml/2006/main">
            <a:off x="1016000" y="2565400"/>
            <a:ext cx="298026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0">
                <a:solidFill>
                  <a:srgbClr val="14171C"/>
                </a:solidFill>
                <a:latin typeface="Consolas"/>
                <a:ea typeface="Consolas"/>
                <a:cs typeface="Consolas"/>
              </a:rPr>
              <a:t>E = M ÷ 30</a:t>
            </a:r>
          </a:p>
        </p:txBody>
      </p:sp>
      <p:sp>
        <p:nvSpPr>
          <p:cNvPr id="7" name="TextBox 6">
            <a:extLst xmlns:a="http://schemas.openxmlformats.org/drawingml/2006/main">
              <a:ext uri="{FF2B5EF4-FFF2-40B4-BE49-F238E27FC236}">
                <a16:creationId xmlns:a16="http://schemas.microsoft.com/office/drawing/2014/main" id="{D2B32E93-98C9-41D4-A40A-F0630C7CC08C}"/>
              </a:ext>
            </a:extLst>
          </p:cNvPr>
          <p:cNvSpPr>
            <a:spLocks xmlns:a="http://schemas.openxmlformats.org/drawingml/2006/main" noGrp="1"/>
          </p:cNvSpPr>
          <p:nvPr/>
        </p:nvSpPr>
        <p:spPr>
          <a:xfrm xmlns:a="http://schemas.openxmlformats.org/drawingml/2006/main">
            <a:off x="1016000" y="2832100"/>
            <a:ext cx="298026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80.7 kWh</a:t>
            </a:r>
          </a:p>
        </p:txBody>
      </p:sp>
      <p:sp>
        <p:nvSpPr>
          <p:cNvPr id="8" name="TextBox 7">
            <a:extLst xmlns:a="http://schemas.openxmlformats.org/drawingml/2006/main">
              <a:ext uri="{FF2B5EF4-FFF2-40B4-BE49-F238E27FC236}">
                <a16:creationId xmlns:a16="http://schemas.microsoft.com/office/drawing/2014/main" id="{D0C265A1-2E22-411E-986F-5F61B39D1ACD}"/>
              </a:ext>
            </a:extLst>
          </p:cNvPr>
          <p:cNvSpPr>
            <a:spLocks xmlns:a="http://schemas.openxmlformats.org/drawingml/2006/main" noGrp="1"/>
          </p:cNvSpPr>
          <p:nvPr/>
        </p:nvSpPr>
        <p:spPr>
          <a:xfrm xmlns:a="http://schemas.openxmlformats.org/drawingml/2006/main">
            <a:off x="1016000" y="3352800"/>
            <a:ext cx="298026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0">
                <a:solidFill>
                  <a:srgbClr val="14171C"/>
                </a:solidFill>
                <a:latin typeface="Consolas"/>
                <a:ea typeface="Consolas"/>
                <a:cs typeface="Consolas"/>
              </a:rPr>
              <a:t>N = E × 50%</a:t>
            </a:r>
          </a:p>
        </p:txBody>
      </p:sp>
      <p:sp>
        <p:nvSpPr>
          <p:cNvPr id="9" name="TextBox 8">
            <a:extLst xmlns:a="http://schemas.openxmlformats.org/drawingml/2006/main">
              <a:ext uri="{FF2B5EF4-FFF2-40B4-BE49-F238E27FC236}">
                <a16:creationId xmlns:a16="http://schemas.microsoft.com/office/drawing/2014/main" id="{32AA4297-B8DB-4E5F-898D-C2C43D46BA9A}"/>
              </a:ext>
            </a:extLst>
          </p:cNvPr>
          <p:cNvSpPr>
            <a:spLocks xmlns:a="http://schemas.openxmlformats.org/drawingml/2006/main" noGrp="1"/>
          </p:cNvSpPr>
          <p:nvPr/>
        </p:nvSpPr>
        <p:spPr>
          <a:xfrm xmlns:a="http://schemas.openxmlformats.org/drawingml/2006/main">
            <a:off x="1016000" y="3619500"/>
            <a:ext cx="298026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40.35 kWh at night</a:t>
            </a:r>
          </a:p>
        </p:txBody>
      </p:sp>
      <p:sp>
        <p:nvSpPr>
          <p:cNvPr id="10" name="TextBox 9">
            <a:extLst xmlns:a="http://schemas.openxmlformats.org/drawingml/2006/main">
              <a:ext uri="{FF2B5EF4-FFF2-40B4-BE49-F238E27FC236}">
                <a16:creationId xmlns:a16="http://schemas.microsoft.com/office/drawing/2014/main" id="{56DBC55D-F9C8-44C4-8F8D-DD3DEF5B5D64}"/>
              </a:ext>
            </a:extLst>
          </p:cNvPr>
          <p:cNvSpPr>
            <a:spLocks xmlns:a="http://schemas.openxmlformats.org/drawingml/2006/main" noGrp="1"/>
          </p:cNvSpPr>
          <p:nvPr/>
        </p:nvSpPr>
        <p:spPr>
          <a:xfrm xmlns:a="http://schemas.openxmlformats.org/drawingml/2006/main">
            <a:off x="1016000" y="4140200"/>
            <a:ext cx="298026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0">
                <a:solidFill>
                  <a:srgbClr val="14171C"/>
                </a:solidFill>
                <a:latin typeface="Consolas"/>
                <a:ea typeface="Consolas"/>
                <a:cs typeface="Consolas"/>
              </a:rPr>
              <a:t>D = E − N</a:t>
            </a:r>
          </a:p>
        </p:txBody>
      </p:sp>
      <p:sp>
        <p:nvSpPr>
          <p:cNvPr id="11" name="TextBox 10">
            <a:extLst xmlns:a="http://schemas.openxmlformats.org/drawingml/2006/main">
              <a:ext uri="{FF2B5EF4-FFF2-40B4-BE49-F238E27FC236}">
                <a16:creationId xmlns:a16="http://schemas.microsoft.com/office/drawing/2014/main" id="{4C7FC3A1-1161-4CA0-93F9-987DF56C600B}"/>
              </a:ext>
            </a:extLst>
          </p:cNvPr>
          <p:cNvSpPr>
            <a:spLocks xmlns:a="http://schemas.openxmlformats.org/drawingml/2006/main" noGrp="1"/>
          </p:cNvSpPr>
          <p:nvPr/>
        </p:nvSpPr>
        <p:spPr>
          <a:xfrm xmlns:a="http://schemas.openxmlformats.org/drawingml/2006/main">
            <a:off x="1016000" y="4406900"/>
            <a:ext cx="298026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40.35 kWh in daytime</a:t>
            </a:r>
          </a:p>
        </p:txBody>
      </p:sp>
      <p:sp>
        <p:nvSpPr>
          <p:cNvPr id="12" name="Rounded Rectangle 11">
            <a:extLst xmlns:a="http://schemas.openxmlformats.org/drawingml/2006/main">
              <a:ext uri="{FF2B5EF4-FFF2-40B4-BE49-F238E27FC236}">
                <a16:creationId xmlns:a16="http://schemas.microsoft.com/office/drawing/2014/main" id="{2D103B7E-A4BE-4337-BC51-6980CA950A29}"/>
              </a:ext>
            </a:extLst>
          </p:cNvPr>
          <p:cNvSpPr>
            <a:spLocks xmlns:a="http://schemas.openxmlformats.org/drawingml/2006/main" noGrp="1"/>
          </p:cNvSpPr>
          <p:nvPr/>
        </p:nvSpPr>
        <p:spPr>
          <a:xfrm xmlns:a="http://schemas.openxmlformats.org/drawingml/2006/main">
            <a:off x="4402666" y="1905000"/>
            <a:ext cx="3386666" cy="3683000"/>
          </a:xfrm>
          <a:prstGeom xmlns:a="http://schemas.openxmlformats.org/drawingml/2006/main" prst="roundRect">
            <a:avLst>
              <a:gd name="adj" fmla="val 3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B72A5A2D-C669-4436-A371-55690B283D5A}"/>
              </a:ext>
            </a:extLst>
          </p:cNvPr>
          <p:cNvSpPr>
            <a:spLocks xmlns:a="http://schemas.openxmlformats.org/drawingml/2006/main" noGrp="1"/>
          </p:cNvSpPr>
          <p:nvPr/>
        </p:nvSpPr>
        <p:spPr>
          <a:xfrm xmlns:a="http://schemas.openxmlformats.org/drawingml/2006/main">
            <a:off x="4605866" y="2108200"/>
            <a:ext cx="2980266"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600" b="1">
                <a:solidFill>
                  <a:srgbClr val="14171C"/>
                </a:solidFill>
                <a:latin typeface="Arial"/>
                <a:ea typeface="Arial"/>
                <a:cs typeface="Arial"/>
              </a:rPr>
              <a:t>Solar PV (kWp)</a:t>
            </a:r>
          </a:p>
        </p:txBody>
      </p:sp>
      <p:sp>
        <p:nvSpPr>
          <p:cNvPr id="14" name="TextBox 13">
            <a:extLst xmlns:a="http://schemas.openxmlformats.org/drawingml/2006/main">
              <a:ext uri="{FF2B5EF4-FFF2-40B4-BE49-F238E27FC236}">
                <a16:creationId xmlns:a16="http://schemas.microsoft.com/office/drawing/2014/main" id="{1578BAFC-A493-4134-94F8-86EA156869ED}"/>
              </a:ext>
            </a:extLst>
          </p:cNvPr>
          <p:cNvSpPr>
            <a:spLocks xmlns:a="http://schemas.openxmlformats.org/drawingml/2006/main" noGrp="1"/>
          </p:cNvSpPr>
          <p:nvPr/>
        </p:nvSpPr>
        <p:spPr>
          <a:xfrm xmlns:a="http://schemas.openxmlformats.org/drawingml/2006/main">
            <a:off x="4605866" y="2565400"/>
            <a:ext cx="298026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14171C"/>
                </a:solidFill>
                <a:latin typeface="Consolas"/>
                <a:ea typeface="Consolas"/>
                <a:cs typeface="Consolas"/>
              </a:defRPr>
            </a:pPr>
            <a:r>
              <a:rPr sz="1275" b="0">
                <a:solidFill>
                  <a:srgbClr val="14171C"/>
                </a:solidFill>
                <a:latin typeface="Consolas"/>
                <a:ea typeface="Consolas"/>
                <a:cs typeface="Consolas"/>
              </a:rPr>
              <a:t>P = (D + min(N, U × η) / η) / Y</a:t>
            </a:r>
          </a:p>
        </p:txBody>
      </p:sp>
      <p:sp>
        <p:nvSpPr>
          <p:cNvPr id="15" name="TextBox 14">
            <a:extLst xmlns:a="http://schemas.openxmlformats.org/drawingml/2006/main">
              <a:ext uri="{FF2B5EF4-FFF2-40B4-BE49-F238E27FC236}">
                <a16:creationId xmlns:a16="http://schemas.microsoft.com/office/drawing/2014/main" id="{68175D30-662F-41AD-9AD0-E4EBDB65AC9A}"/>
              </a:ext>
            </a:extLst>
          </p:cNvPr>
          <p:cNvSpPr>
            <a:spLocks xmlns:a="http://schemas.openxmlformats.org/drawingml/2006/main" noGrp="1"/>
          </p:cNvSpPr>
          <p:nvPr/>
        </p:nvSpPr>
        <p:spPr>
          <a:xfrm xmlns:a="http://schemas.openxmlformats.org/drawingml/2006/main">
            <a:off x="4605866" y="2832100"/>
            <a:ext cx="298026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rounded up to 0.5 kWp</a:t>
            </a:r>
          </a:p>
        </p:txBody>
      </p:sp>
      <p:sp>
        <p:nvSpPr>
          <p:cNvPr id="16" name="TextBox 15">
            <a:extLst xmlns:a="http://schemas.openxmlformats.org/drawingml/2006/main">
              <a:ext uri="{FF2B5EF4-FFF2-40B4-BE49-F238E27FC236}">
                <a16:creationId xmlns:a16="http://schemas.microsoft.com/office/drawing/2014/main" id="{F30C6743-211C-489C-9D47-21B6CC28841E}"/>
              </a:ext>
            </a:extLst>
          </p:cNvPr>
          <p:cNvSpPr>
            <a:spLocks xmlns:a="http://schemas.openxmlformats.org/drawingml/2006/main" noGrp="1"/>
          </p:cNvSpPr>
          <p:nvPr/>
        </p:nvSpPr>
        <p:spPr>
          <a:xfrm xmlns:a="http://schemas.openxmlformats.org/drawingml/2006/main">
            <a:off x="4605866" y="3352800"/>
            <a:ext cx="298026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0">
                <a:solidFill>
                  <a:srgbClr val="14171C"/>
                </a:solidFill>
                <a:latin typeface="Consolas"/>
                <a:ea typeface="Consolas"/>
                <a:cs typeface="Consolas"/>
              </a:rPr>
              <a:t>G = P × Y</a:t>
            </a:r>
          </a:p>
        </p:txBody>
      </p:sp>
      <p:sp>
        <p:nvSpPr>
          <p:cNvPr id="17" name="TextBox 16">
            <a:extLst xmlns:a="http://schemas.openxmlformats.org/drawingml/2006/main">
              <a:ext uri="{FF2B5EF4-FFF2-40B4-BE49-F238E27FC236}">
                <a16:creationId xmlns:a16="http://schemas.microsoft.com/office/drawing/2014/main" id="{DA7B17EA-12E1-4728-9B5E-70FF1C4A68DF}"/>
              </a:ext>
            </a:extLst>
          </p:cNvPr>
          <p:cNvSpPr>
            <a:spLocks xmlns:a="http://schemas.openxmlformats.org/drawingml/2006/main" noGrp="1"/>
          </p:cNvSpPr>
          <p:nvPr/>
        </p:nvSpPr>
        <p:spPr>
          <a:xfrm xmlns:a="http://schemas.openxmlformats.org/drawingml/2006/main">
            <a:off x="4605866" y="3619500"/>
            <a:ext cx="298026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daily generation</a:t>
            </a:r>
          </a:p>
        </p:txBody>
      </p:sp>
      <p:sp>
        <p:nvSpPr>
          <p:cNvPr id="18" name="TextBox 17">
            <a:extLst xmlns:a="http://schemas.openxmlformats.org/drawingml/2006/main">
              <a:ext uri="{FF2B5EF4-FFF2-40B4-BE49-F238E27FC236}">
                <a16:creationId xmlns:a16="http://schemas.microsoft.com/office/drawing/2014/main" id="{7816276D-6F81-4EA5-A6E1-9D3ECA5A7BC4}"/>
              </a:ext>
            </a:extLst>
          </p:cNvPr>
          <p:cNvSpPr>
            <a:spLocks xmlns:a="http://schemas.openxmlformats.org/drawingml/2006/main" noGrp="1"/>
          </p:cNvSpPr>
          <p:nvPr/>
        </p:nvSpPr>
        <p:spPr>
          <a:xfrm xmlns:a="http://schemas.openxmlformats.org/drawingml/2006/main">
            <a:off x="4605866" y="4140200"/>
            <a:ext cx="2980266" cy="104927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275" b="0">
                <a:solidFill>
                  <a:srgbClr val="4A5260"/>
                </a:solidFill>
                <a:latin typeface="Arial"/>
                <a:ea typeface="Arial"/>
                <a:cs typeface="Arial"/>
              </a:defRPr>
            </a:pPr>
            <a:r>
              <a:rPr sz="1275" b="0">
                <a:solidFill>
                  <a:srgbClr val="4A5260"/>
                </a:solidFill>
                <a:latin typeface="Arial"/>
                <a:ea typeface="Arial"/>
                <a:cs typeface="Arial"/>
              </a:rPr>
              <a:t>Y = 4.98 kWh/kWp/day</a:t>
            </a:r>
          </a:p>
          <a:p xmlns:a="http://schemas.openxmlformats.org/drawingml/2006/main">
            <a:pPr algn="l">
              <a:lnSpc>
                <a:spcPct val="135000"/>
              </a:lnSpc>
              <a:buNone/>
              <a:defRPr sz="1275" b="0">
                <a:solidFill>
                  <a:srgbClr val="4A5260"/>
                </a:solidFill>
                <a:latin typeface="Arial"/>
                <a:ea typeface="Arial"/>
                <a:cs typeface="Arial"/>
              </a:defRPr>
            </a:pPr>
            <a:r>
              <a:rPr sz="1275" b="0">
                <a:solidFill>
                  <a:srgbClr val="4A5260"/>
                </a:solidFill>
                <a:latin typeface="Arial"/>
                <a:ea typeface="Arial"/>
                <a:cs typeface="Arial"/>
              </a:rPr>
              <a:t>(PVGIS, slides 10–11).</a:t>
            </a:r>
          </a:p>
          <a:p xmlns:a="http://schemas.openxmlformats.org/drawingml/2006/main">
            <a:pPr algn="l">
              <a:lnSpc>
                <a:spcPct val="135000"/>
              </a:lnSpc>
              <a:buNone/>
              <a:defRPr sz="1275" b="0">
                <a:solidFill>
                  <a:srgbClr val="4A5260"/>
                </a:solidFill>
                <a:latin typeface="Arial"/>
                <a:ea typeface="Arial"/>
                <a:cs typeface="Arial"/>
              </a:defRPr>
            </a:pPr>
            <a:r>
              <a:rPr sz="1275" b="0">
                <a:solidFill>
                  <a:srgbClr val="4A5260"/>
                </a:solidFill>
                <a:latin typeface="Arial"/>
                <a:ea typeface="Arial"/>
                <a:cs typeface="Arial"/>
              </a:rPr>
              <a:t>η = 95% assumed storage efficiency. Without battery: P = D / Y.</a:t>
            </a:r>
          </a:p>
        </p:txBody>
      </p:sp>
      <p:sp>
        <p:nvSpPr>
          <p:cNvPr id="19" name="Rounded Rectangle 18">
            <a:extLst xmlns:a="http://schemas.openxmlformats.org/drawingml/2006/main">
              <a:ext uri="{FF2B5EF4-FFF2-40B4-BE49-F238E27FC236}">
                <a16:creationId xmlns:a16="http://schemas.microsoft.com/office/drawing/2014/main" id="{DCE5744F-4210-477F-ADE5-B9ECE4CA7813}"/>
              </a:ext>
            </a:extLst>
          </p:cNvPr>
          <p:cNvSpPr>
            <a:spLocks xmlns:a="http://schemas.openxmlformats.org/drawingml/2006/main" noGrp="1"/>
          </p:cNvSpPr>
          <p:nvPr/>
        </p:nvSpPr>
        <p:spPr>
          <a:xfrm xmlns:a="http://schemas.openxmlformats.org/drawingml/2006/main">
            <a:off x="7992533" y="1905000"/>
            <a:ext cx="3386666" cy="3683000"/>
          </a:xfrm>
          <a:prstGeom xmlns:a="http://schemas.openxmlformats.org/drawingml/2006/main" prst="roundRect">
            <a:avLst>
              <a:gd name="adj" fmla="val 3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3011B9D3-8BFB-4E1B-A474-6F629A26D948}"/>
              </a:ext>
            </a:extLst>
          </p:cNvPr>
          <p:cNvSpPr>
            <a:spLocks xmlns:a="http://schemas.openxmlformats.org/drawingml/2006/main" noGrp="1"/>
          </p:cNvSpPr>
          <p:nvPr/>
        </p:nvSpPr>
        <p:spPr>
          <a:xfrm xmlns:a="http://schemas.openxmlformats.org/drawingml/2006/main">
            <a:off x="8195733" y="2108200"/>
            <a:ext cx="2980266"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600" b="1">
                <a:solidFill>
                  <a:srgbClr val="14171C"/>
                </a:solidFill>
                <a:latin typeface="Arial"/>
                <a:ea typeface="Arial"/>
                <a:cs typeface="Arial"/>
              </a:rPr>
              <a:t>Battery (kWh)</a:t>
            </a:r>
          </a:p>
        </p:txBody>
      </p:sp>
      <p:sp>
        <p:nvSpPr>
          <p:cNvPr id="21" name="TextBox 20">
            <a:extLst xmlns:a="http://schemas.openxmlformats.org/drawingml/2006/main">
              <a:ext uri="{FF2B5EF4-FFF2-40B4-BE49-F238E27FC236}">
                <a16:creationId xmlns:a16="http://schemas.microsoft.com/office/drawing/2014/main" id="{222B7AE9-BD31-4EC2-9070-5F2DC59FB983}"/>
              </a:ext>
            </a:extLst>
          </p:cNvPr>
          <p:cNvSpPr>
            <a:spLocks xmlns:a="http://schemas.openxmlformats.org/drawingml/2006/main" noGrp="1"/>
          </p:cNvSpPr>
          <p:nvPr/>
        </p:nvSpPr>
        <p:spPr>
          <a:xfrm xmlns:a="http://schemas.openxmlformats.org/drawingml/2006/main">
            <a:off x="8195733" y="2565400"/>
            <a:ext cx="298026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0">
                <a:solidFill>
                  <a:srgbClr val="14171C"/>
                </a:solidFill>
                <a:latin typeface="Consolas"/>
                <a:ea typeface="Consolas"/>
                <a:cs typeface="Consolas"/>
              </a:rPr>
              <a:t>C = N ÷ (DoD × η)</a:t>
            </a:r>
          </a:p>
        </p:txBody>
      </p:sp>
      <p:sp>
        <p:nvSpPr>
          <p:cNvPr id="22" name="TextBox 21">
            <a:extLst xmlns:a="http://schemas.openxmlformats.org/drawingml/2006/main">
              <a:ext uri="{FF2B5EF4-FFF2-40B4-BE49-F238E27FC236}">
                <a16:creationId xmlns:a16="http://schemas.microsoft.com/office/drawing/2014/main" id="{684348F8-DB7C-4428-8FE9-D559022F18BD}"/>
              </a:ext>
            </a:extLst>
          </p:cNvPr>
          <p:cNvSpPr>
            <a:spLocks xmlns:a="http://schemas.openxmlformats.org/drawingml/2006/main" noGrp="1"/>
          </p:cNvSpPr>
          <p:nvPr/>
        </p:nvSpPr>
        <p:spPr>
          <a:xfrm xmlns:a="http://schemas.openxmlformats.org/drawingml/2006/main">
            <a:off x="8195733" y="2832100"/>
            <a:ext cx="298026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40.35 ÷ 0.76 = 53.1 kWh for the whole night</a:t>
            </a:r>
          </a:p>
        </p:txBody>
      </p:sp>
      <p:sp>
        <p:nvSpPr>
          <p:cNvPr id="23" name="TextBox 22">
            <a:extLst xmlns:a="http://schemas.openxmlformats.org/drawingml/2006/main">
              <a:ext uri="{FF2B5EF4-FFF2-40B4-BE49-F238E27FC236}">
                <a16:creationId xmlns:a16="http://schemas.microsoft.com/office/drawing/2014/main" id="{3161B1D7-EB13-418F-A3B4-62C1EBB318B2}"/>
              </a:ext>
            </a:extLst>
          </p:cNvPr>
          <p:cNvSpPr>
            <a:spLocks xmlns:a="http://schemas.openxmlformats.org/drawingml/2006/main" noGrp="1"/>
          </p:cNvSpPr>
          <p:nvPr/>
        </p:nvSpPr>
        <p:spPr>
          <a:xfrm xmlns:a="http://schemas.openxmlformats.org/drawingml/2006/main">
            <a:off x="8195733" y="3352800"/>
            <a:ext cx="298026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0">
                <a:solidFill>
                  <a:srgbClr val="14171C"/>
                </a:solidFill>
                <a:latin typeface="Consolas"/>
                <a:ea typeface="Consolas"/>
                <a:cs typeface="Consolas"/>
              </a:rPr>
              <a:t>U = C × DoD</a:t>
            </a:r>
          </a:p>
        </p:txBody>
      </p:sp>
      <p:sp>
        <p:nvSpPr>
          <p:cNvPr id="24" name="TextBox 23">
            <a:extLst xmlns:a="http://schemas.openxmlformats.org/drawingml/2006/main">
              <a:ext uri="{FF2B5EF4-FFF2-40B4-BE49-F238E27FC236}">
                <a16:creationId xmlns:a16="http://schemas.microsoft.com/office/drawing/2014/main" id="{5D12BDFD-3B4C-4C84-9738-AF9D8FD13387}"/>
              </a:ext>
            </a:extLst>
          </p:cNvPr>
          <p:cNvSpPr>
            <a:spLocks xmlns:a="http://schemas.openxmlformats.org/drawingml/2006/main" noGrp="1"/>
          </p:cNvSpPr>
          <p:nvPr/>
        </p:nvSpPr>
        <p:spPr>
          <a:xfrm xmlns:a="http://schemas.openxmlformats.org/drawingml/2006/main">
            <a:off x="8195733" y="3619500"/>
            <a:ext cx="298026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4A5260"/>
                </a:solidFill>
                <a:latin typeface="Arial"/>
                <a:ea typeface="Arial"/>
                <a:cs typeface="Arial"/>
              </a:defRPr>
            </a:pPr>
            <a:r>
              <a:rPr sz="1275" b="0">
                <a:solidFill>
                  <a:srgbClr val="4A5260"/>
                </a:solidFill>
                <a:latin typeface="Arial"/>
                <a:ea typeface="Arial"/>
                <a:cs typeface="Arial"/>
              </a:rPr>
              <a:t>Before losses, DoD = 80%.</a:t>
            </a:r>
          </a:p>
          <a:p xmlns:a="http://schemas.openxmlformats.org/drawingml/2006/main">
            <a:pPr algn="l">
              <a:lnSpc>
                <a:spcPct val="120000"/>
              </a:lnSpc>
              <a:buNone/>
              <a:defRPr sz="1275" b="0">
                <a:solidFill>
                  <a:srgbClr val="4A5260"/>
                </a:solidFill>
                <a:latin typeface="Arial"/>
                <a:ea typeface="Arial"/>
                <a:cs typeface="Arial"/>
              </a:defRPr>
            </a:pPr>
            <a:r>
              <a:rPr sz="1275" b="0">
                <a:solidFill>
                  <a:srgbClr val="4A5260"/>
                </a:solidFill>
                <a:latin typeface="Arial"/>
                <a:ea typeface="Arial"/>
                <a:cs typeface="Arial"/>
              </a:rPr>
              <a:t>To loads: U × η = C × 0.76.</a:t>
            </a:r>
          </a:p>
        </p:txBody>
      </p:sp>
      <p:sp>
        <p:nvSpPr>
          <p:cNvPr id="25" name="TextBox 24">
            <a:extLst xmlns:a="http://schemas.openxmlformats.org/drawingml/2006/main">
              <a:ext uri="{FF2B5EF4-FFF2-40B4-BE49-F238E27FC236}">
                <a16:creationId xmlns:a16="http://schemas.microsoft.com/office/drawing/2014/main" id="{F6EB9784-6157-4BD1-8B83-650D83C89BC2}"/>
              </a:ext>
            </a:extLst>
          </p:cNvPr>
          <p:cNvSpPr>
            <a:spLocks xmlns:a="http://schemas.openxmlformats.org/drawingml/2006/main" noGrp="1"/>
          </p:cNvSpPr>
          <p:nvPr/>
        </p:nvSpPr>
        <p:spPr>
          <a:xfrm xmlns:a="http://schemas.openxmlformats.org/drawingml/2006/main">
            <a:off x="8195733" y="4140200"/>
            <a:ext cx="2980266" cy="1016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275" b="0">
                <a:solidFill>
                  <a:srgbClr val="4A5260"/>
                </a:solidFill>
                <a:latin typeface="Arial"/>
                <a:ea typeface="Arial"/>
                <a:cs typeface="Arial"/>
              </a:defRPr>
            </a:pPr>
            <a:r>
              <a:rPr sz="1275" b="0">
                <a:solidFill>
                  <a:srgbClr val="4A5260"/>
                </a:solidFill>
                <a:latin typeface="Arial"/>
                <a:ea typeface="Arial"/>
                <a:cs typeface="Arial"/>
              </a:rPr>
              <a:t>B: 16 × 0.8 × 0.95 = 12.16 kWh to loads.</a:t>
            </a:r>
          </a:p>
          <a:p xmlns:a="http://schemas.openxmlformats.org/drawingml/2006/main">
            <a:pPr algn="l">
              <a:lnSpc>
                <a:spcPct val="135000"/>
              </a:lnSpc>
              <a:buNone/>
              <a:defRPr sz="1275" b="0">
                <a:solidFill>
                  <a:srgbClr val="4A5260"/>
                </a:solidFill>
                <a:latin typeface="Arial"/>
                <a:ea typeface="Arial"/>
                <a:cs typeface="Arial"/>
              </a:defRPr>
            </a:pPr>
            <a:r>
              <a:rPr sz="1275" b="0">
                <a:solidFill>
                  <a:srgbClr val="4A5260"/>
                </a:solidFill>
                <a:latin typeface="Arial"/>
                <a:ea typeface="Arial"/>
                <a:cs typeface="Arial"/>
              </a:rPr>
              <a:t>C: 64 kWh installed. Full-night coverage needs enough solar.</a:t>
            </a:r>
          </a:p>
        </p:txBody>
      </p:sp>
      <p:sp>
        <p:nvSpPr>
          <p:cNvPr id="26" name="">
            <a:extLst xmlns:a="http://schemas.openxmlformats.org/drawingml/2006/main">
              <a:ext uri="{FF2B5EF4-FFF2-40B4-BE49-F238E27FC236}">
                <a16:creationId xmlns:a16="http://schemas.microsoft.com/office/drawing/2014/main" id="{6D91D3EC-25AD-4ED2-AB77-1B88EECBA9C2}"/>
              </a:ext>
            </a:extLst>
          </p:cNvPr>
          <p:cNvSpPr>
            <a:spLocks xmlns:a="http://schemas.openxmlformats.org/drawingml/2006/main" noGrp="1"/>
          </p:cNvSpPr>
          <p:nvPr/>
        </p:nvSpPr>
        <p:spPr>
          <a:xfrm xmlns:a="http://schemas.openxmlformats.org/drawingml/2006/main">
            <a:off x="809625" y="58102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η lumps storage-path losses once at the output. Daily energy matching is a screening model, not an hourly dispatch design.</a:t>
            </a:r>
          </a:p>
        </p:txBody>
      </p:sp>
    </p:spTree>
    <p:extLst>
      <p:ext uri="{BB962C8B-B14F-4D97-AF65-F5344CB8AC3E}">
        <p14:creationId xmlns:p14="http://schemas.microsoft.com/office/powerpoint/2010/main" val="170089061"/>
      </p:ext>
    </p:extLst>
  </p:cSld>
</p:sld>
</file>

<file path=ppt/slides/slide4.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79055C1-F7B9-4A5B-A7B7-C473D89FD76E}"/>
              </a:ext>
            </a:extLst>
          </p:cNvPr>
          <p:cNvSpPr>
            <a:spLocks xmlns:a="http://schemas.openxmlformats.org/drawingml/2006/main" noGrp="1"/>
          </p:cNvSpPr>
          <p:nvPr/>
        </p:nvSpPr>
        <p:spPr>
          <a:xfrm xmlns:a="http://schemas.openxmlformats.org/drawingml/2006/main">
            <a:off x="812800" y="812800"/>
            <a:ext cx="1056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STEP 3 · OPTIONS</a:t>
            </a:r>
          </a:p>
        </p:txBody>
      </p:sp>
      <p:sp>
        <p:nvSpPr>
          <p:cNvPr id="3" name="TextBox 2">
            <a:extLst xmlns:a="http://schemas.openxmlformats.org/drawingml/2006/main">
              <a:ext uri="{FF2B5EF4-FFF2-40B4-BE49-F238E27FC236}">
                <a16:creationId xmlns:a16="http://schemas.microsoft.com/office/drawing/2014/main" id="{6C005C3D-5FEF-4BD3-8A76-B33322BEF1EE}"/>
              </a:ext>
            </a:extLst>
          </p:cNvPr>
          <p:cNvSpPr>
            <a:spLocks xmlns:a="http://schemas.openxmlformats.org/drawingml/2006/main" noGrp="1"/>
          </p:cNvSpPr>
          <p:nvPr/>
        </p:nvSpPr>
        <p:spPr>
          <a:xfrm xmlns:a="http://schemas.openxmlformats.org/drawingml/2006/main">
            <a:off x="812800" y="1117600"/>
            <a:ext cx="10566400" cy="508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buNone/>
            </a:pPr>
            <a:r>
              <a:rPr sz="3200" b="1">
                <a:solidFill>
                  <a:srgbClr val="14171C"/>
                </a:solidFill>
                <a:latin typeface="Arial"/>
                <a:ea typeface="Arial"/>
                <a:cs typeface="Arial"/>
              </a:rPr>
              <a:t>Three systems and their price</a:t>
            </a:r>
          </a:p>
        </p:txBody>
      </p:sp>
      <p:sp>
        <p:nvSpPr>
          <p:cNvPr id="4" name="Rounded Rectangle 3">
            <a:extLst xmlns:a="http://schemas.openxmlformats.org/drawingml/2006/main">
              <a:ext uri="{FF2B5EF4-FFF2-40B4-BE49-F238E27FC236}">
                <a16:creationId xmlns:a16="http://schemas.microsoft.com/office/drawing/2014/main" id="{469FA7E4-D54C-4EEF-B271-DE3FA4EE5C31}"/>
              </a:ext>
            </a:extLst>
          </p:cNvPr>
          <p:cNvSpPr>
            <a:spLocks xmlns:a="http://schemas.openxmlformats.org/drawingml/2006/main" noGrp="1"/>
          </p:cNvSpPr>
          <p:nvPr/>
        </p:nvSpPr>
        <p:spPr>
          <a:xfrm xmlns:a="http://schemas.openxmlformats.org/drawingml/2006/main">
            <a:off x="812800" y="1905000"/>
            <a:ext cx="10566400" cy="482600"/>
          </a:xfrm>
          <a:prstGeom xmlns:a="http://schemas.openxmlformats.org/drawingml/2006/main" prst="roundRect">
            <a:avLst>
              <a:gd name="adj" fmla="val 15789"/>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8282C65D-8940-4C54-B124-3CE8E3FF01FE}"/>
              </a:ext>
            </a:extLst>
          </p:cNvPr>
          <p:cNvSpPr>
            <a:spLocks xmlns:a="http://schemas.openxmlformats.org/drawingml/2006/main" noGrp="1"/>
          </p:cNvSpPr>
          <p:nvPr/>
        </p:nvSpPr>
        <p:spPr>
          <a:xfrm xmlns:a="http://schemas.openxmlformats.org/drawingml/2006/main">
            <a:off x="990600" y="1905000"/>
            <a:ext cx="102108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lnSpc>
                <a:spcPct val="130000"/>
              </a:lnSpc>
              <a:buNone/>
            </a:pPr>
            <a:r>
              <a:rPr sz="1500" b="0">
                <a:solidFill>
                  <a:srgbClr val="14171C"/>
                </a:solidFill>
                <a:latin typeface="Consolas"/>
                <a:ea typeface="Consolas"/>
                <a:cs typeface="Consolas"/>
              </a:rPr>
              <a:t>Price = (P × 8,000 + Inverter × 6,000) × 1.10 + C × 13,640</a:t>
            </a:r>
          </a:p>
        </p:txBody>
      </p:sp>
      <p:graphicFrame>
        <p:nvGraphicFramePr>
          <p:cNvPr id="14" name="Table 5"/>
          <p:cNvGraphicFramePr/>
          <p:nvPr/>
        </p:nvGraphicFramePr>
        <p:xfrm>
          <a:off xmlns:a="http://schemas.openxmlformats.org/drawingml/2006/main" x="812800" y="2590800"/>
          <a:ext xmlns:a="http://schemas.openxmlformats.org/drawingml/2006/main" cx="10560050" cy="2209800"/>
        </p:xfrm>
        <a:graphic xmlns:a="http://schemas.openxmlformats.org/drawingml/2006/main">
          <a:graphicData uri="http://schemas.openxmlformats.org/drawingml/2006/table">
            <a:tbl>
              <a:tblPr firstRow="1">
                <a:tableStyleId>{5C22544A-7EE6-4342-B048-85BDC9FD1C3A}</a:tableStyleId>
              </a:tblPr>
              <a:tblGrid>
                <a:gridCol w="3911600"/>
                <a:gridCol w="2216150"/>
                <a:gridCol w="2216150"/>
                <a:gridCol w="2216150"/>
              </a:tblGrid>
              <a:tr h="368300">
                <a:tc>
                  <a:txBody>
                    <a:bodyPr wrap="square"/>
                    <a:lstStyle/>
                    <a:p/>
                  </a:txBody>
                  <a:tcPr marL="101600" marR="101600" marT="57150" marB="57150" anchor="ctr">
                    <a:solidFill>
                      <a:srgbClr val="E6E9ED"/>
                    </a:solidFill>
                  </a:tcPr>
                </a:tc>
                <a:tc>
                  <a:txBody>
                    <a:bodyPr wrap="square"/>
                    <a:lstStyle/>
                    <a:p>
                      <a:r>
                        <a:rPr sz="1300" b="1">
                          <a:solidFill>
                            <a:srgbClr val="14171C"/>
                          </a:solidFill>
                          <a:latin typeface="Arial"/>
                          <a:ea typeface="Arial"/>
                          <a:cs typeface="Arial"/>
                        </a:rPr>
                        <a:t>A · Solar only</a:t>
                      </a:r>
                    </a:p>
                  </a:txBody>
                  <a:tcPr marL="101600" marR="101600" marT="57150" marB="57150" anchor="ctr">
                    <a:solidFill>
                      <a:srgbClr val="E6E9ED"/>
                    </a:solidFill>
                  </a:tcPr>
                </a:tc>
                <a:tc>
                  <a:txBody>
                    <a:bodyPr wrap="square"/>
                    <a:lstStyle/>
                    <a:p>
                      <a:r>
                        <a:rPr sz="1300" b="1">
                          <a:solidFill>
                            <a:srgbClr val="14171C"/>
                          </a:solidFill>
                          <a:latin typeface="Arial"/>
                          <a:ea typeface="Arial"/>
                          <a:cs typeface="Arial"/>
                        </a:rPr>
                        <a:t>B · Solar + LV_16</a:t>
                      </a:r>
                    </a:p>
                  </a:txBody>
                  <a:tcPr marL="101600" marR="101600" marT="57150" marB="57150" anchor="ctr">
                    <a:solidFill>
                      <a:srgbClr val="E6E9ED"/>
                    </a:solidFill>
                  </a:tcPr>
                </a:tc>
                <a:tc>
                  <a:txBody>
                    <a:bodyPr wrap="square"/>
                    <a:lstStyle/>
                    <a:p>
                      <a:r>
                        <a:rPr sz="1300" b="1">
                          <a:solidFill>
                            <a:srgbClr val="14171C"/>
                          </a:solidFill>
                          <a:latin typeface="Arial"/>
                          <a:ea typeface="Arial"/>
                          <a:cs typeface="Arial"/>
                        </a:rPr>
                        <a:t>C · Solar + 2 × LV_32</a:t>
                      </a:r>
                    </a:p>
                  </a:txBody>
                  <a:tcPr marL="101600" marR="101600" marT="57150" marB="57150" anchor="ctr">
                    <a:solidFill>
                      <a:srgbClr val="E6E9ED"/>
                    </a:solidFill>
                  </a:tcPr>
                </a:tc>
              </a:tr>
              <a:tr h="368300">
                <a:tc>
                  <a:txBody>
                    <a:bodyPr wrap="square"/>
                    <a:lstStyle/>
                    <a:p>
                      <a:r>
                        <a:rPr sz="1300" b="0">
                          <a:solidFill>
                            <a:srgbClr val="14171C"/>
                          </a:solidFill>
                          <a:latin typeface="Arial"/>
                          <a:ea typeface="Arial"/>
                          <a:cs typeface="Arial"/>
                        </a:rPr>
                        <a:t>Solar PV (P)</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8.5 kWp</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11.0 kWp</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17.0 kWp</a:t>
                      </a:r>
                    </a:p>
                  </a:txBody>
                  <a:tcPr marL="101600" marR="101600" marT="57150" marB="57150" anchor="ctr">
                    <a:solidFill>
                      <a:srgbClr val="FCFCFD"/>
                    </a:solidFill>
                  </a:tcPr>
                </a:tc>
              </a:tr>
              <a:tr h="368300">
                <a:tc>
                  <a:txBody>
                    <a:bodyPr wrap="square"/>
                    <a:lstStyle/>
                    <a:p>
                      <a:r>
                        <a:rPr sz="1300" b="0">
                          <a:solidFill>
                            <a:srgbClr val="14171C"/>
                          </a:solidFill>
                          <a:latin typeface="Arial"/>
                          <a:ea typeface="Arial"/>
                          <a:cs typeface="Arial"/>
                        </a:rPr>
                        <a:t>Battery (C)</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16 kWh</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64 kWh</a:t>
                      </a:r>
                    </a:p>
                  </a:txBody>
                  <a:tcPr marL="101600" marR="101600" marT="57150" marB="57150" anchor="ctr">
                    <a:solidFill>
                      <a:srgbClr val="F4F5F7"/>
                    </a:solidFill>
                  </a:tcPr>
                </a:tc>
              </a:tr>
              <a:tr h="368300">
                <a:tc>
                  <a:txBody>
                    <a:bodyPr wrap="square"/>
                    <a:lstStyle/>
                    <a:p>
                      <a:r>
                        <a:rPr sz="1300" b="0">
                          <a:solidFill>
                            <a:srgbClr val="14171C"/>
                          </a:solidFill>
                          <a:latin typeface="Arial"/>
                          <a:ea typeface="Arial"/>
                          <a:cs typeface="Arial"/>
                        </a:rPr>
                        <a:t>Inverter = standard size ≥ max(3, P)</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10 kW</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12 kW</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20 kW</a:t>
                      </a:r>
                    </a:p>
                  </a:txBody>
                  <a:tcPr marL="101600" marR="101600" marT="57150" marB="57150" anchor="ctr">
                    <a:solidFill>
                      <a:srgbClr val="FCFCFD"/>
                    </a:solidFill>
                  </a:tcPr>
                </a:tc>
              </a:tr>
              <a:tr h="368300">
                <a:tc>
                  <a:txBody>
                    <a:bodyPr wrap="square"/>
                    <a:lstStyle/>
                    <a:p>
                      <a:r>
                        <a:rPr sz="1300" b="0">
                          <a:solidFill>
                            <a:srgbClr val="14171C"/>
                          </a:solidFill>
                          <a:latin typeface="Arial"/>
                          <a:ea typeface="Arial"/>
                          <a:cs typeface="Arial"/>
                        </a:rPr>
                        <a:t>Roof area (≈ 6 m² per kWp)</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 51 m²</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 66 m²</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 102 m²</a:t>
                      </a:r>
                    </a:p>
                  </a:txBody>
                  <a:tcPr marL="101600" marR="101600" marT="57150" marB="57150" anchor="ctr">
                    <a:solidFill>
                      <a:srgbClr val="F4F5F7"/>
                    </a:solidFill>
                  </a:tcPr>
                </a:tc>
              </a:tr>
              <a:tr h="368300">
                <a:tc>
                  <a:txBody>
                    <a:bodyPr wrap="square"/>
                    <a:lstStyle/>
                    <a:p>
                      <a:r>
                        <a:rPr sz="1300" b="1">
                          <a:solidFill>
                            <a:srgbClr val="14171C"/>
                          </a:solidFill>
                          <a:latin typeface="Arial"/>
                          <a:ea typeface="Arial"/>
                          <a:cs typeface="Arial"/>
                        </a:rPr>
                        <a:t>System price (EGP)</a:t>
                      </a:r>
                    </a:p>
                  </a:txBody>
                  <a:tcPr marL="101600" marR="101600" marT="57150" marB="57150" anchor="ctr">
                    <a:solidFill>
                      <a:srgbClr val="FCFCFD"/>
                    </a:solidFill>
                  </a:tcPr>
                </a:tc>
                <a:tc>
                  <a:txBody>
                    <a:bodyPr wrap="square"/>
                    <a:lstStyle/>
                    <a:p>
                      <a:r>
                        <a:rPr sz="1300" b="1">
                          <a:solidFill>
                            <a:srgbClr val="14171C"/>
                          </a:solidFill>
                          <a:latin typeface="Arial"/>
                          <a:ea typeface="Arial"/>
                          <a:cs typeface="Arial"/>
                        </a:rPr>
                        <a:t>140,800</a:t>
                      </a:r>
                    </a:p>
                  </a:txBody>
                  <a:tcPr marL="101600" marR="101600" marT="57150" marB="57150" anchor="ctr">
                    <a:solidFill>
                      <a:srgbClr val="FCFCFD"/>
                    </a:solidFill>
                  </a:tcPr>
                </a:tc>
                <a:tc>
                  <a:txBody>
                    <a:bodyPr wrap="square"/>
                    <a:lstStyle/>
                    <a:p>
                      <a:r>
                        <a:rPr sz="1300" b="1">
                          <a:solidFill>
                            <a:srgbClr val="14171C"/>
                          </a:solidFill>
                          <a:latin typeface="Arial"/>
                          <a:ea typeface="Arial"/>
                          <a:cs typeface="Arial"/>
                        </a:rPr>
                        <a:t>394,240</a:t>
                      </a:r>
                    </a:p>
                  </a:txBody>
                  <a:tcPr marL="101600" marR="101600" marT="57150" marB="57150" anchor="ctr">
                    <a:solidFill>
                      <a:srgbClr val="FCFCFD"/>
                    </a:solidFill>
                  </a:tcPr>
                </a:tc>
                <a:tc>
                  <a:txBody>
                    <a:bodyPr wrap="square"/>
                    <a:lstStyle/>
                    <a:p>
                      <a:r>
                        <a:rPr sz="1300" b="1">
                          <a:solidFill>
                            <a:srgbClr val="14171C"/>
                          </a:solidFill>
                          <a:latin typeface="Arial"/>
                          <a:ea typeface="Arial"/>
                          <a:cs typeface="Arial"/>
                        </a:rPr>
                        <a:t>1,154,560</a:t>
                      </a:r>
                    </a:p>
                  </a:txBody>
                  <a:tcPr marL="101600" marR="101600" marT="57150" marB="57150" anchor="ctr">
                    <a:solidFill>
                      <a:srgbClr val="FCFCFD"/>
                    </a:solidFill>
                  </a:tcPr>
                </a:tc>
              </a:tr>
            </a:tbl>
          </a:graphicData>
        </a:graphic>
      </p:graphicFrame>
      <p:sp>
        <p:nvSpPr>
          <p:cNvPr id="7" name="TextBox 6">
            <a:extLst xmlns:a="http://schemas.openxmlformats.org/drawingml/2006/main">
              <a:ext uri="{FF2B5EF4-FFF2-40B4-BE49-F238E27FC236}">
                <a16:creationId xmlns:a16="http://schemas.microsoft.com/office/drawing/2014/main" id="{5876D0FA-DF63-4568-B9D8-AED388D6C196}"/>
              </a:ext>
            </a:extLst>
          </p:cNvPr>
          <p:cNvSpPr>
            <a:spLocks xmlns:a="http://schemas.openxmlformats.org/drawingml/2006/main" noGrp="1"/>
          </p:cNvSpPr>
          <p:nvPr/>
        </p:nvSpPr>
        <p:spPr>
          <a:xfrm xmlns:a="http://schemas.openxmlformats.org/drawingml/2006/main">
            <a:off x="809625" y="5057775"/>
            <a:ext cx="10572750" cy="8001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350" b="0">
                <a:solidFill>
                  <a:srgbClr val="4A5260"/>
                </a:solidFill>
                <a:latin typeface="Arial"/>
                <a:ea typeface="Arial"/>
                <a:cs typeface="Arial"/>
              </a:defRPr>
            </a:pPr>
            <a:r>
              <a:rPr sz="1350" b="0">
                <a:solidFill>
                  <a:srgbClr val="4A5260"/>
                </a:solidFill>
                <a:latin typeface="Arial"/>
                <a:ea typeface="Arial"/>
                <a:cs typeface="Arial"/>
              </a:rPr>
              <a:t>Battery unit price = 220 EUR/kWh × 62 EGP/EUR = 13,640 EGP/kWh</a:t>
            </a:r>
          </a:p>
          <a:p xmlns:a="http://schemas.openxmlformats.org/drawingml/2006/main">
            <a:pPr algn="l">
              <a:lnSpc>
                <a:spcPct val="135000"/>
              </a:lnSpc>
              <a:buNone/>
              <a:defRPr sz="1350" b="0">
                <a:solidFill>
                  <a:srgbClr val="4A5260"/>
                </a:solidFill>
                <a:latin typeface="Arial"/>
                <a:ea typeface="Arial"/>
                <a:cs typeface="Arial"/>
              </a:defRPr>
            </a:pPr>
            <a:r>
              <a:rPr sz="1350" b="0">
                <a:solidFill>
                  <a:srgbClr val="4A5260"/>
                </a:solidFill>
                <a:latin typeface="Arial"/>
                <a:ea typeface="Arial"/>
                <a:cs typeface="Arial"/>
              </a:rPr>
              <a:t>Source: Home_Storage, slide 15. Both 220 EUR and the exchange rate are historical model inputs.</a:t>
            </a:r>
          </a:p>
          <a:p xmlns:a="http://schemas.openxmlformats.org/drawingml/2006/main">
            <a:pPr algn="l">
              <a:lnSpc>
                <a:spcPct val="135000"/>
              </a:lnSpc>
              <a:buNone/>
              <a:defRPr sz="1350" b="0">
                <a:solidFill>
                  <a:srgbClr val="4A5260"/>
                </a:solidFill>
                <a:latin typeface="Arial"/>
                <a:ea typeface="Arial"/>
                <a:cs typeface="Arial"/>
              </a:defRPr>
            </a:pPr>
            <a:r>
              <a:rPr sz="1350" b="0">
                <a:solidFill>
                  <a:srgbClr val="4A5260"/>
                </a:solidFill>
                <a:latin typeface="Arial"/>
                <a:ea typeface="Arial"/>
                <a:cs typeface="Arial"/>
              </a:rPr>
              <a:t>Customer selling-price assumptions. The 10% installation/BOS applies to PV + inverter only.</a:t>
            </a:r>
          </a:p>
        </p:txBody>
      </p:sp>
      <p:sp>
        <p:nvSpPr>
          <p:cNvPr id="9" name="">
            <a:extLst xmlns:a="http://schemas.openxmlformats.org/drawingml/2006/main">
              <a:ext uri="{FF2B5EF4-FFF2-40B4-BE49-F238E27FC236}">
                <a16:creationId xmlns:a16="http://schemas.microsoft.com/office/drawing/2014/main" id="{5D212B2E-B8DB-4452-813B-22B9FCEF578C}"/>
              </a:ext>
            </a:extLst>
          </p:cNvPr>
          <p:cNvSpPr>
            <a:spLocks xmlns:a="http://schemas.openxmlformats.org/drawingml/2006/main" noGrp="1"/>
          </p:cNvSpPr>
          <p:nvPr/>
        </p:nvSpPr>
        <p:spPr>
          <a:xfrm xmlns:a="http://schemas.openxmlformats.org/drawingml/2006/main">
            <a:off x="809625" y="60388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Inverter ratings are provisional. Roof allowance = 6 m²/kWp. Confirm motor surge, usable roof and supplier prices.</a:t>
            </a:r>
          </a:p>
        </p:txBody>
      </p:sp>
    </p:spTree>
    <p:extLst>
      <p:ext uri="{BB962C8B-B14F-4D97-AF65-F5344CB8AC3E}">
        <p14:creationId xmlns:p14="http://schemas.microsoft.com/office/powerpoint/2010/main" val="757198481"/>
      </p:ext>
    </p:extLst>
  </p:cSld>
</p:sld>
</file>

<file path=ppt/slides/slide5.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19D4004-7F00-44B0-AE1B-64A18321D8D7}"/>
              </a:ext>
            </a:extLst>
          </p:cNvPr>
          <p:cNvSpPr>
            <a:spLocks xmlns:a="http://schemas.openxmlformats.org/drawingml/2006/main" noGrp="1"/>
          </p:cNvSpPr>
          <p:nvPr/>
        </p:nvSpPr>
        <p:spPr>
          <a:xfrm xmlns:a="http://schemas.openxmlformats.org/drawingml/2006/main">
            <a:off x="812800" y="812800"/>
            <a:ext cx="1056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STEP 4 · NEW BILL</a:t>
            </a:r>
          </a:p>
        </p:txBody>
      </p:sp>
      <p:sp>
        <p:nvSpPr>
          <p:cNvPr id="3" name="TextBox 2">
            <a:extLst xmlns:a="http://schemas.openxmlformats.org/drawingml/2006/main">
              <a:ext uri="{FF2B5EF4-FFF2-40B4-BE49-F238E27FC236}">
                <a16:creationId xmlns:a16="http://schemas.microsoft.com/office/drawing/2014/main" id="{3F443ACB-302C-4C40-8FB4-D1566AA831CF}"/>
              </a:ext>
            </a:extLst>
          </p:cNvPr>
          <p:cNvSpPr>
            <a:spLocks xmlns:a="http://schemas.openxmlformats.org/drawingml/2006/main" noGrp="1"/>
          </p:cNvSpPr>
          <p:nvPr/>
        </p:nvSpPr>
        <p:spPr>
          <a:xfrm xmlns:a="http://schemas.openxmlformats.org/drawingml/2006/main">
            <a:off x="812800" y="1117600"/>
            <a:ext cx="10566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4171C"/>
                </a:solidFill>
                <a:latin typeface="Arial"/>
                <a:ea typeface="Arial"/>
                <a:cs typeface="Arial"/>
              </a:defRPr>
            </a:pPr>
            <a:r>
              <a:rPr sz="3150" b="1">
                <a:solidFill>
                  <a:srgbClr val="14171C"/>
                </a:solidFill>
                <a:latin typeface="Arial"/>
                <a:ea typeface="Arial"/>
                <a:cs typeface="Arial"/>
              </a:rPr>
              <a:t>Grid import and savings: 30-day example</a:t>
            </a:r>
          </a:p>
        </p:txBody>
      </p:sp>
      <p:graphicFrame>
        <p:nvGraphicFramePr>
          <p:cNvPr id="9" name="Table 3"/>
          <p:cNvGraphicFramePr/>
          <p:nvPr/>
        </p:nvGraphicFramePr>
        <p:xfrm>
          <a:off xmlns:a="http://schemas.openxmlformats.org/drawingml/2006/main" x="812800" y="1905000"/>
          <a:ext xmlns:a="http://schemas.openxmlformats.org/drawingml/2006/main" cx="10560050" cy="2578100"/>
        </p:xfrm>
        <a:graphic xmlns:a="http://schemas.openxmlformats.org/drawingml/2006/main">
          <a:graphicData uri="http://schemas.openxmlformats.org/drawingml/2006/table">
            <a:tbl>
              <a:tblPr firstRow="1">
                <a:tableStyleId>{5C22544A-7EE6-4342-B048-85BDC9FD1C3A}</a:tableStyleId>
              </a:tblPr>
              <a:tblGrid>
                <a:gridCol w="5492750"/>
                <a:gridCol w="1689100"/>
                <a:gridCol w="1689100"/>
                <a:gridCol w="1689100"/>
              </a:tblGrid>
              <a:tr h="368300">
                <a:tc>
                  <a:txBody>
                    <a:bodyPr wrap="square"/>
                    <a:lstStyle/>
                    <a:p>
                      <a:r>
                        <a:rPr sz="1300" b="1">
                          <a:solidFill>
                            <a:srgbClr val="14171C"/>
                          </a:solidFill>
                          <a:latin typeface="Arial"/>
                          <a:ea typeface="Arial"/>
                          <a:cs typeface="Arial"/>
                        </a:rPr>
                        <a:t>Equation</a:t>
                      </a:r>
                    </a:p>
                  </a:txBody>
                  <a:tcPr marL="101600" marR="101600" marT="57150" marB="57150" anchor="ctr">
                    <a:solidFill>
                      <a:srgbClr val="E6E9ED"/>
                    </a:solidFill>
                  </a:tcPr>
                </a:tc>
                <a:tc>
                  <a:txBody>
                    <a:bodyPr wrap="square"/>
                    <a:lstStyle/>
                    <a:p>
                      <a:r>
                        <a:rPr sz="1300" b="1">
                          <a:solidFill>
                            <a:srgbClr val="14171C"/>
                          </a:solidFill>
                          <a:latin typeface="Arial"/>
                          <a:ea typeface="Arial"/>
                          <a:cs typeface="Arial"/>
                        </a:rPr>
                        <a:t>A</a:t>
                      </a:r>
                    </a:p>
                  </a:txBody>
                  <a:tcPr marL="101600" marR="101600" marT="57150" marB="57150" anchor="ctr">
                    <a:solidFill>
                      <a:srgbClr val="E6E9ED"/>
                    </a:solidFill>
                  </a:tcPr>
                </a:tc>
                <a:tc>
                  <a:txBody>
                    <a:bodyPr wrap="square"/>
                    <a:lstStyle/>
                    <a:p>
                      <a:r>
                        <a:rPr sz="1300" b="1">
                          <a:solidFill>
                            <a:srgbClr val="14171C"/>
                          </a:solidFill>
                          <a:latin typeface="Arial"/>
                          <a:ea typeface="Arial"/>
                          <a:cs typeface="Arial"/>
                        </a:rPr>
                        <a:t>B</a:t>
                      </a:r>
                    </a:p>
                  </a:txBody>
                  <a:tcPr marL="101600" marR="101600" marT="57150" marB="57150" anchor="ctr">
                    <a:solidFill>
                      <a:srgbClr val="E6E9ED"/>
                    </a:solidFill>
                  </a:tcPr>
                </a:tc>
                <a:tc>
                  <a:txBody>
                    <a:bodyPr wrap="square"/>
                    <a:lstStyle/>
                    <a:p>
                      <a:r>
                        <a:rPr sz="1300" b="1">
                          <a:solidFill>
                            <a:srgbClr val="14171C"/>
                          </a:solidFill>
                          <a:latin typeface="Arial"/>
                          <a:ea typeface="Arial"/>
                          <a:cs typeface="Arial"/>
                        </a:rPr>
                        <a:t>C</a:t>
                      </a:r>
                    </a:p>
                  </a:txBody>
                  <a:tcPr marL="101600" marR="101600" marT="57150" marB="57150" anchor="ctr">
                    <a:solidFill>
                      <a:srgbClr val="E6E9ED"/>
                    </a:solidFill>
                  </a:tcPr>
                </a:tc>
              </a:tr>
              <a:tr h="368300">
                <a:tc>
                  <a:txBody>
                    <a:bodyPr wrap="square"/>
                    <a:lstStyle/>
                    <a:p>
                      <a:r>
                        <a:rPr sz="1300" b="0">
                          <a:solidFill>
                            <a:srgbClr val="14171C"/>
                          </a:solidFill>
                          <a:latin typeface="Arial"/>
                          <a:ea typeface="Arial"/>
                          <a:cs typeface="Arial"/>
                        </a:rPr>
                        <a:t>G = P × Y (kWh/day)</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42.33</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54.78</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84.66</a:t>
                      </a:r>
                    </a:p>
                  </a:txBody>
                  <a:tcPr marL="101600" marR="101600" marT="57150" marB="57150" anchor="ctr">
                    <a:solidFill>
                      <a:srgbClr val="FCFCFD"/>
                    </a:solidFill>
                  </a:tcPr>
                </a:tc>
              </a:tr>
              <a:tr h="368300">
                <a:tc>
                  <a:txBody>
                    <a:bodyPr wrap="square"/>
                    <a:lstStyle/>
                    <a:p>
                      <a:r>
                        <a:rPr sz="1300" b="0">
                          <a:solidFill>
                            <a:srgbClr val="14171C"/>
                          </a:solidFill>
                          <a:latin typeface="Arial"/>
                          <a:ea typeface="Arial"/>
                          <a:cs typeface="Arial"/>
                        </a:rPr>
                        <a:t>Direct = min(G, D) (kWh/day)</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40.35</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40.35</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40.35</a:t>
                      </a:r>
                    </a:p>
                  </a:txBody>
                  <a:tcPr marL="101600" marR="101600" marT="57150" marB="57150" anchor="ctr">
                    <a:solidFill>
                      <a:srgbClr val="F4F5F7"/>
                    </a:solidFill>
                  </a:tcPr>
                </a:tc>
              </a:tr>
              <a:tr h="368300">
                <a:tc>
                  <a:txBody>
                    <a:bodyPr wrap="square"/>
                    <a:lstStyle/>
                    <a:p>
                      <a:r>
                        <a:rPr sz="1300" b="0">
                          <a:solidFill>
                            <a:srgbClr val="14171C"/>
                          </a:solidFill>
                          <a:latin typeface="Arial"/>
                          <a:ea typeface="Arial"/>
                          <a:cs typeface="Arial"/>
                        </a:rPr>
                        <a:t>Battery = min((G − Direct) × η, U × η, N)</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0.00</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12.16</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40.35</a:t>
                      </a:r>
                    </a:p>
                  </a:txBody>
                  <a:tcPr marL="101600" marR="101600" marT="57150" marB="57150" anchor="ctr">
                    <a:solidFill>
                      <a:srgbClr val="FCFCFD"/>
                    </a:solidFill>
                  </a:tcPr>
                </a:tc>
              </a:tr>
              <a:tr h="368300">
                <a:tc>
                  <a:txBody>
                    <a:bodyPr wrap="square"/>
                    <a:lstStyle/>
                    <a:p>
                      <a:r>
                        <a:rPr sz="1300" b="0">
                          <a:solidFill>
                            <a:srgbClr val="14171C"/>
                          </a:solidFill>
                          <a:latin typeface="Arial"/>
                          <a:ea typeface="Arial"/>
                          <a:cs typeface="Arial"/>
                        </a:rPr>
                        <a:t>Grid = (E − Direct − Battery) × 30</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1,210.50 kWh</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845.70 kWh</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0.00 kWh</a:t>
                      </a:r>
                    </a:p>
                  </a:txBody>
                  <a:tcPr marL="101600" marR="101600" marT="57150" marB="57150" anchor="ctr">
                    <a:solidFill>
                      <a:srgbClr val="F4F5F7"/>
                    </a:solidFill>
                  </a:tcPr>
                </a:tc>
              </a:tr>
              <a:tr h="368300">
                <a:tc>
                  <a:txBody>
                    <a:bodyPr wrap="square"/>
                    <a:lstStyle/>
                    <a:p>
                      <a:r>
                        <a:rPr sz="1300" b="0">
                          <a:solidFill>
                            <a:srgbClr val="14171C"/>
                          </a:solidFill>
                          <a:latin typeface="Arial"/>
                          <a:ea typeface="Arial"/>
                          <a:cs typeface="Arial"/>
                        </a:rPr>
                        <a:t>New monthly bill (EGP)</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3,453.61</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2,307.59</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9.00</a:t>
                      </a:r>
                    </a:p>
                  </a:txBody>
                  <a:tcPr marL="101600" marR="101600" marT="57150" marB="57150" anchor="ctr">
                    <a:solidFill>
                      <a:srgbClr val="FCFCFD"/>
                    </a:solidFill>
                  </a:tcPr>
                </a:tc>
              </a:tr>
              <a:tr h="368300">
                <a:tc>
                  <a:txBody>
                    <a:bodyPr wrap="square"/>
                    <a:lstStyle/>
                    <a:p>
                      <a:r>
                        <a:rPr sz="1300" b="1">
                          <a:solidFill>
                            <a:srgbClr val="14171C"/>
                          </a:solidFill>
                          <a:latin typeface="Arial"/>
                          <a:ea typeface="Arial"/>
                          <a:cs typeface="Arial"/>
                        </a:rPr>
                        <a:t>Monthly saving = 6,867.22 − new bill</a:t>
                      </a:r>
                    </a:p>
                  </a:txBody>
                  <a:tcPr marL="101600" marR="101600" marT="57150" marB="57150" anchor="ctr">
                    <a:solidFill>
                      <a:srgbClr val="F4F5F7"/>
                    </a:solidFill>
                  </a:tcPr>
                </a:tc>
                <a:tc>
                  <a:txBody>
                    <a:bodyPr wrap="square"/>
                    <a:lstStyle/>
                    <a:p>
                      <a:r>
                        <a:rPr sz="1300" b="1">
                          <a:solidFill>
                            <a:srgbClr val="14171C"/>
                          </a:solidFill>
                          <a:latin typeface="Arial"/>
                          <a:ea typeface="Arial"/>
                          <a:cs typeface="Arial"/>
                        </a:rPr>
                        <a:t>3,413.61</a:t>
                      </a:r>
                    </a:p>
                  </a:txBody>
                  <a:tcPr marL="101600" marR="101600" marT="57150" marB="57150" anchor="ctr">
                    <a:solidFill>
                      <a:srgbClr val="F4F5F7"/>
                    </a:solidFill>
                  </a:tcPr>
                </a:tc>
                <a:tc>
                  <a:txBody>
                    <a:bodyPr wrap="square"/>
                    <a:lstStyle/>
                    <a:p>
                      <a:r>
                        <a:rPr sz="1300" b="1">
                          <a:solidFill>
                            <a:srgbClr val="14171C"/>
                          </a:solidFill>
                          <a:latin typeface="Arial"/>
                          <a:ea typeface="Arial"/>
                          <a:cs typeface="Arial"/>
                        </a:rPr>
                        <a:t>4,559.63</a:t>
                      </a:r>
                    </a:p>
                  </a:txBody>
                  <a:tcPr marL="101600" marR="101600" marT="57150" marB="57150" anchor="ctr">
                    <a:solidFill>
                      <a:srgbClr val="F4F5F7"/>
                    </a:solidFill>
                  </a:tcPr>
                </a:tc>
                <a:tc>
                  <a:txBody>
                    <a:bodyPr wrap="square"/>
                    <a:lstStyle/>
                    <a:p>
                      <a:r>
                        <a:rPr sz="1300" b="1">
                          <a:solidFill>
                            <a:srgbClr val="14171C"/>
                          </a:solidFill>
                          <a:latin typeface="Arial"/>
                          <a:ea typeface="Arial"/>
                          <a:cs typeface="Arial"/>
                        </a:rPr>
                        <a:t>6,858.22</a:t>
                      </a:r>
                    </a:p>
                  </a:txBody>
                  <a:tcPr marL="101600" marR="101600" marT="57150" marB="57150" anchor="ctr">
                    <a:solidFill>
                      <a:srgbClr val="F4F5F7"/>
                    </a:solidFill>
                  </a:tcPr>
                </a:tc>
              </a:tr>
            </a:tbl>
          </a:graphicData>
        </a:graphic>
      </p:graphicFrame>
      <p:sp>
        <p:nvSpPr>
          <p:cNvPr id="5" name="TextBox 4">
            <a:extLst xmlns:a="http://schemas.openxmlformats.org/drawingml/2006/main">
              <a:ext uri="{FF2B5EF4-FFF2-40B4-BE49-F238E27FC236}">
                <a16:creationId xmlns:a16="http://schemas.microsoft.com/office/drawing/2014/main" id="{1519A7D4-D2F1-4F49-8894-DDDFDE668EAB}"/>
              </a:ext>
            </a:extLst>
          </p:cNvPr>
          <p:cNvSpPr>
            <a:spLocks xmlns:a="http://schemas.openxmlformats.org/drawingml/2006/main" noGrp="1"/>
          </p:cNvSpPr>
          <p:nvPr/>
        </p:nvSpPr>
        <p:spPr>
          <a:xfrm xmlns:a="http://schemas.openxmlformats.org/drawingml/2006/main">
            <a:off x="809625" y="4752975"/>
            <a:ext cx="10572750" cy="876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350" b="0">
                <a:solidFill>
                  <a:srgbClr val="4A5260"/>
                </a:solidFill>
                <a:latin typeface="Arial"/>
                <a:ea typeface="Arial"/>
                <a:cs typeface="Arial"/>
              </a:defRPr>
            </a:pPr>
            <a:r>
              <a:rPr sz="1350" b="0">
                <a:solidFill>
                  <a:srgbClr val="4A5260"/>
                </a:solidFill>
                <a:latin typeface="Arial"/>
                <a:ea typeface="Arial"/>
                <a:cs typeface="Arial"/>
              </a:rPr>
              <a:t>Y = 4.98 for this example. Solar surplus has no export revenue. Battery charging uses solar only.</a:t>
            </a:r>
          </a:p>
          <a:p xmlns:a="http://schemas.openxmlformats.org/drawingml/2006/main">
            <a:pPr algn="l">
              <a:lnSpc>
                <a:spcPct val="135000"/>
              </a:lnSpc>
              <a:buNone/>
              <a:defRPr sz="1350" b="0">
                <a:solidFill>
                  <a:srgbClr val="4A5260"/>
                </a:solidFill>
                <a:latin typeface="Arial"/>
                <a:ea typeface="Arial"/>
                <a:cs typeface="Arial"/>
              </a:defRPr>
            </a:pPr>
            <a:r>
              <a:rPr sz="1350" b="0">
                <a:solidFill>
                  <a:srgbClr val="4A5260"/>
                </a:solidFill>
                <a:latin typeface="Arial"/>
                <a:ea typeface="Arial"/>
                <a:cs typeface="Arial"/>
              </a:rPr>
              <a:t>C has zero imports in this reference month, but winter imports remain in the monthly PVGIS scenario.</a:t>
            </a:r>
          </a:p>
          <a:p xmlns:a="http://schemas.openxmlformats.org/drawingml/2006/main">
            <a:pPr algn="l">
              <a:lnSpc>
                <a:spcPct val="135000"/>
              </a:lnSpc>
              <a:buNone/>
              <a:defRPr sz="1350" b="0">
                <a:solidFill>
                  <a:srgbClr val="4A5260"/>
                </a:solidFill>
                <a:latin typeface="Arial"/>
                <a:ea typeface="Arial"/>
                <a:cs typeface="Arial"/>
              </a:defRPr>
            </a:pPr>
            <a:r>
              <a:rPr sz="1350" b="0">
                <a:solidFill>
                  <a:srgbClr val="4A5260"/>
                </a:solidFill>
                <a:latin typeface="Arial"/>
                <a:ea typeface="Arial"/>
                <a:cs typeface="Arial"/>
              </a:rPr>
              <a:t>Annual savings below sum all 12 monthly bill reductions, using each month’s solar output and day count.</a:t>
            </a:r>
          </a:p>
        </p:txBody>
      </p:sp>
    </p:spTree>
    <p:extLst>
      <p:ext uri="{BB962C8B-B14F-4D97-AF65-F5344CB8AC3E}">
        <p14:creationId xmlns:p14="http://schemas.microsoft.com/office/powerpoint/2010/main" val="848978730"/>
      </p:ext>
    </p:extLst>
  </p:cSld>
</p:sld>
</file>

<file path=ppt/slides/slide6.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7F29F49-0F1C-423F-97DA-E0C010DE1F0E}"/>
              </a:ext>
            </a:extLst>
          </p:cNvPr>
          <p:cNvSpPr>
            <a:spLocks xmlns:a="http://schemas.openxmlformats.org/drawingml/2006/main" noGrp="1"/>
          </p:cNvSpPr>
          <p:nvPr/>
        </p:nvSpPr>
        <p:spPr>
          <a:xfrm xmlns:a="http://schemas.openxmlformats.org/drawingml/2006/main">
            <a:off x="812800" y="812800"/>
            <a:ext cx="1056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SCENARIO 1 · THE SHOP BUYS</a:t>
            </a:r>
          </a:p>
        </p:txBody>
      </p:sp>
      <p:sp>
        <p:nvSpPr>
          <p:cNvPr id="3" name="TextBox 2">
            <a:extLst xmlns:a="http://schemas.openxmlformats.org/drawingml/2006/main">
              <a:ext uri="{FF2B5EF4-FFF2-40B4-BE49-F238E27FC236}">
                <a16:creationId xmlns:a16="http://schemas.microsoft.com/office/drawing/2014/main" id="{0BCB3BEF-3E21-4F89-93DD-330D648AC5EF}"/>
              </a:ext>
            </a:extLst>
          </p:cNvPr>
          <p:cNvSpPr>
            <a:spLocks xmlns:a="http://schemas.openxmlformats.org/drawingml/2006/main" noGrp="1"/>
          </p:cNvSpPr>
          <p:nvPr/>
        </p:nvSpPr>
        <p:spPr>
          <a:xfrm xmlns:a="http://schemas.openxmlformats.org/drawingml/2006/main">
            <a:off x="812800" y="1117600"/>
            <a:ext cx="10566400" cy="508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buNone/>
            </a:pPr>
            <a:r>
              <a:rPr sz="3200" b="1">
                <a:solidFill>
                  <a:srgbClr val="14171C"/>
                </a:solidFill>
                <a:latin typeface="Arial"/>
                <a:ea typeface="Arial"/>
                <a:cs typeface="Arial"/>
              </a:rPr>
              <a:t>Payback = price ÷ annual saving</a:t>
            </a:r>
          </a:p>
        </p:txBody>
      </p:sp>
      <p:sp>
        <p:nvSpPr>
          <p:cNvPr id="4" name="Rounded Rectangle 3">
            <a:extLst xmlns:a="http://schemas.openxmlformats.org/drawingml/2006/main">
              <a:ext uri="{FF2B5EF4-FFF2-40B4-BE49-F238E27FC236}">
                <a16:creationId xmlns:a16="http://schemas.microsoft.com/office/drawing/2014/main" id="{A1259BAA-C266-41C6-8543-09283EA032FE}"/>
              </a:ext>
            </a:extLst>
          </p:cNvPr>
          <p:cNvSpPr>
            <a:spLocks xmlns:a="http://schemas.openxmlformats.org/drawingml/2006/main" noGrp="1"/>
          </p:cNvSpPr>
          <p:nvPr/>
        </p:nvSpPr>
        <p:spPr>
          <a:xfrm xmlns:a="http://schemas.openxmlformats.org/drawingml/2006/main">
            <a:off x="812800" y="1905000"/>
            <a:ext cx="10566400" cy="482600"/>
          </a:xfrm>
          <a:prstGeom xmlns:a="http://schemas.openxmlformats.org/drawingml/2006/main" prst="roundRect">
            <a:avLst>
              <a:gd name="adj" fmla="val 15789"/>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8185EC3B-327A-4460-BD27-56C3029F1319}"/>
              </a:ext>
            </a:extLst>
          </p:cNvPr>
          <p:cNvSpPr>
            <a:spLocks xmlns:a="http://schemas.openxmlformats.org/drawingml/2006/main" noGrp="1"/>
          </p:cNvSpPr>
          <p:nvPr/>
        </p:nvSpPr>
        <p:spPr>
          <a:xfrm xmlns:a="http://schemas.openxmlformats.org/drawingml/2006/main">
            <a:off x="990600" y="1905000"/>
            <a:ext cx="102108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30000"/>
              </a:lnSpc>
              <a:buNone/>
              <a:defRPr sz="1725" b="0">
                <a:solidFill>
                  <a:srgbClr val="14171C"/>
                </a:solidFill>
                <a:latin typeface="Consolas"/>
                <a:ea typeface="Consolas"/>
                <a:cs typeface="Consolas"/>
              </a:defRPr>
            </a:pPr>
            <a:r>
              <a:rPr sz="1725" b="0">
                <a:solidFill>
                  <a:srgbClr val="14171C"/>
                </a:solidFill>
                <a:latin typeface="Consolas"/>
                <a:ea typeface="Consolas"/>
                <a:cs typeface="Consolas"/>
              </a:rPr>
              <a:t>Payback (years) = System price / sum of the 12 monthly savings</a:t>
            </a:r>
          </a:p>
        </p:txBody>
      </p:sp>
      <p:sp>
        <p:nvSpPr>
          <p:cNvPr id="6" name="Rounded Rectangle 5">
            <a:extLst xmlns:a="http://schemas.openxmlformats.org/drawingml/2006/main">
              <a:ext uri="{FF2B5EF4-FFF2-40B4-BE49-F238E27FC236}">
                <a16:creationId xmlns:a16="http://schemas.microsoft.com/office/drawing/2014/main" id="{9B0B4561-6457-4B24-98C0-338AC69F1620}"/>
              </a:ext>
            </a:extLst>
          </p:cNvPr>
          <p:cNvSpPr>
            <a:spLocks xmlns:a="http://schemas.openxmlformats.org/drawingml/2006/main" noGrp="1"/>
          </p:cNvSpPr>
          <p:nvPr/>
        </p:nvSpPr>
        <p:spPr>
          <a:xfrm xmlns:a="http://schemas.openxmlformats.org/drawingml/2006/main">
            <a:off x="812800" y="2590800"/>
            <a:ext cx="3386666" cy="2540000"/>
          </a:xfrm>
          <a:prstGeom xmlns:a="http://schemas.openxmlformats.org/drawingml/2006/main" prst="roundRect">
            <a:avLst>
              <a:gd name="adj" fmla="val 4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D75626E-F1CA-42DE-9A89-79599B7CCEE3}"/>
              </a:ext>
            </a:extLst>
          </p:cNvPr>
          <p:cNvSpPr>
            <a:spLocks xmlns:a="http://schemas.openxmlformats.org/drawingml/2006/main" noGrp="1"/>
          </p:cNvSpPr>
          <p:nvPr/>
        </p:nvSpPr>
        <p:spPr>
          <a:xfrm xmlns:a="http://schemas.openxmlformats.org/drawingml/2006/main">
            <a:off x="1016000" y="2794000"/>
            <a:ext cx="2980266"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600" b="1">
                <a:solidFill>
                  <a:srgbClr val="14171C"/>
                </a:solidFill>
                <a:latin typeface="Arial"/>
                <a:ea typeface="Arial"/>
                <a:cs typeface="Arial"/>
              </a:rPr>
              <a:t>A · Solar only</a:t>
            </a:r>
          </a:p>
        </p:txBody>
      </p:sp>
      <p:sp>
        <p:nvSpPr>
          <p:cNvPr id="8" name="TextBox 7">
            <a:extLst xmlns:a="http://schemas.openxmlformats.org/drawingml/2006/main">
              <a:ext uri="{FF2B5EF4-FFF2-40B4-BE49-F238E27FC236}">
                <a16:creationId xmlns:a16="http://schemas.microsoft.com/office/drawing/2014/main" id="{638F021B-C97D-4BEE-AA05-C3A28BC31F6E}"/>
              </a:ext>
            </a:extLst>
          </p:cNvPr>
          <p:cNvSpPr>
            <a:spLocks xmlns:a="http://schemas.openxmlformats.org/drawingml/2006/main" noGrp="1"/>
          </p:cNvSpPr>
          <p:nvPr/>
        </p:nvSpPr>
        <p:spPr>
          <a:xfrm xmlns:a="http://schemas.openxmlformats.org/drawingml/2006/main">
            <a:off x="1016000" y="3175000"/>
            <a:ext cx="2980266" cy="698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200" b="1">
                <a:solidFill>
                  <a:srgbClr val="14171C"/>
                </a:solidFill>
                <a:latin typeface="Consolas"/>
                <a:ea typeface="Consolas"/>
                <a:cs typeface="Consolas"/>
              </a:defRPr>
            </a:pPr>
            <a:r>
              <a:rPr sz="4200" b="1">
                <a:solidFill>
                  <a:srgbClr val="14171C"/>
                </a:solidFill>
                <a:latin typeface="Consolas"/>
                <a:ea typeface="Consolas"/>
                <a:cs typeface="Consolas"/>
              </a:rPr>
              <a:t>3.5 yrs</a:t>
            </a:r>
          </a:p>
        </p:txBody>
      </p:sp>
      <p:sp>
        <p:nvSpPr>
          <p:cNvPr id="9" name="TextBox 8">
            <a:extLst xmlns:a="http://schemas.openxmlformats.org/drawingml/2006/main">
              <a:ext uri="{FF2B5EF4-FFF2-40B4-BE49-F238E27FC236}">
                <a16:creationId xmlns:a16="http://schemas.microsoft.com/office/drawing/2014/main" id="{76C9070D-35C2-4FCD-86E2-458A18C20457}"/>
              </a:ext>
            </a:extLst>
          </p:cNvPr>
          <p:cNvSpPr>
            <a:spLocks xmlns:a="http://schemas.openxmlformats.org/drawingml/2006/main" noGrp="1"/>
          </p:cNvSpPr>
          <p:nvPr/>
        </p:nvSpPr>
        <p:spPr>
          <a:xfrm xmlns:a="http://schemas.openxmlformats.org/drawingml/2006/main">
            <a:off x="1016000" y="3962400"/>
            <a:ext cx="2980266" cy="1016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425" b="0">
                <a:solidFill>
                  <a:srgbClr val="4A5260"/>
                </a:solidFill>
                <a:latin typeface="Arial"/>
                <a:ea typeface="Arial"/>
                <a:cs typeface="Arial"/>
              </a:defRPr>
            </a:pPr>
            <a:r>
              <a:rPr sz="1425" b="0">
                <a:solidFill>
                  <a:srgbClr val="4A5260"/>
                </a:solidFill>
                <a:latin typeface="Arial"/>
                <a:ea typeface="Arial"/>
                <a:cs typeface="Arial"/>
              </a:rPr>
              <a:t>140,800 / 40,537 per year</a:t>
            </a:r>
          </a:p>
          <a:p xmlns:a="http://schemas.openxmlformats.org/drawingml/2006/main">
            <a:pPr algn="l">
              <a:lnSpc>
                <a:spcPct val="145000"/>
              </a:lnSpc>
              <a:buNone/>
              <a:defRPr sz="1425" b="0">
                <a:solidFill>
                  <a:srgbClr val="4A5260"/>
                </a:solidFill>
                <a:latin typeface="Arial"/>
                <a:ea typeface="Arial"/>
                <a:cs typeface="Arial"/>
              </a:defRPr>
            </a:pPr>
            <a:r>
              <a:rPr sz="1425" b="0">
                <a:solidFill>
                  <a:srgbClr val="4A5260"/>
                </a:solidFill>
                <a:latin typeface="Arial"/>
                <a:ea typeface="Arial"/>
                <a:cs typeface="Arial"/>
              </a:rPr>
              <a:t>Average saving: 3,378 EGP/month</a:t>
            </a:r>
          </a:p>
        </p:txBody>
      </p:sp>
      <p:sp>
        <p:nvSpPr>
          <p:cNvPr id="10" name="Rounded Rectangle 9">
            <a:extLst xmlns:a="http://schemas.openxmlformats.org/drawingml/2006/main">
              <a:ext uri="{FF2B5EF4-FFF2-40B4-BE49-F238E27FC236}">
                <a16:creationId xmlns:a16="http://schemas.microsoft.com/office/drawing/2014/main" id="{A9CFF510-E456-4E93-AC58-47D0821EE65C}"/>
              </a:ext>
            </a:extLst>
          </p:cNvPr>
          <p:cNvSpPr>
            <a:spLocks xmlns:a="http://schemas.openxmlformats.org/drawingml/2006/main" noGrp="1"/>
          </p:cNvSpPr>
          <p:nvPr/>
        </p:nvSpPr>
        <p:spPr>
          <a:xfrm xmlns:a="http://schemas.openxmlformats.org/drawingml/2006/main">
            <a:off x="4402666" y="2590800"/>
            <a:ext cx="3386666" cy="2540000"/>
          </a:xfrm>
          <a:prstGeom xmlns:a="http://schemas.openxmlformats.org/drawingml/2006/main" prst="roundRect">
            <a:avLst>
              <a:gd name="adj" fmla="val 4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BDC330D6-BE67-40CD-8ADB-C060016B4F97}"/>
              </a:ext>
            </a:extLst>
          </p:cNvPr>
          <p:cNvSpPr>
            <a:spLocks xmlns:a="http://schemas.openxmlformats.org/drawingml/2006/main" noGrp="1"/>
          </p:cNvSpPr>
          <p:nvPr/>
        </p:nvSpPr>
        <p:spPr>
          <a:xfrm xmlns:a="http://schemas.openxmlformats.org/drawingml/2006/main">
            <a:off x="4605866" y="2794000"/>
            <a:ext cx="2980266"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600" b="1">
                <a:solidFill>
                  <a:srgbClr val="14171C"/>
                </a:solidFill>
                <a:latin typeface="Arial"/>
                <a:ea typeface="Arial"/>
                <a:cs typeface="Arial"/>
              </a:rPr>
              <a:t>B · Solar + LV_16</a:t>
            </a:r>
          </a:p>
        </p:txBody>
      </p:sp>
      <p:sp>
        <p:nvSpPr>
          <p:cNvPr id="12" name="TextBox 11">
            <a:extLst xmlns:a="http://schemas.openxmlformats.org/drawingml/2006/main">
              <a:ext uri="{FF2B5EF4-FFF2-40B4-BE49-F238E27FC236}">
                <a16:creationId xmlns:a16="http://schemas.microsoft.com/office/drawing/2014/main" id="{71984D52-4927-415A-8873-A1979E852025}"/>
              </a:ext>
            </a:extLst>
          </p:cNvPr>
          <p:cNvSpPr>
            <a:spLocks xmlns:a="http://schemas.openxmlformats.org/drawingml/2006/main" noGrp="1"/>
          </p:cNvSpPr>
          <p:nvPr/>
        </p:nvSpPr>
        <p:spPr>
          <a:xfrm xmlns:a="http://schemas.openxmlformats.org/drawingml/2006/main">
            <a:off x="4605866" y="3175000"/>
            <a:ext cx="2980266" cy="698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200" b="1">
                <a:solidFill>
                  <a:srgbClr val="14171C"/>
                </a:solidFill>
                <a:latin typeface="Consolas"/>
                <a:ea typeface="Consolas"/>
                <a:cs typeface="Consolas"/>
              </a:defRPr>
            </a:pPr>
            <a:r>
              <a:rPr sz="4200" b="1">
                <a:solidFill>
                  <a:srgbClr val="14171C"/>
                </a:solidFill>
                <a:latin typeface="Consolas"/>
                <a:ea typeface="Consolas"/>
                <a:cs typeface="Consolas"/>
              </a:rPr>
              <a:t>7.3 yrs</a:t>
            </a:r>
          </a:p>
        </p:txBody>
      </p:sp>
      <p:sp>
        <p:nvSpPr>
          <p:cNvPr id="13" name="TextBox 12">
            <a:extLst xmlns:a="http://schemas.openxmlformats.org/drawingml/2006/main">
              <a:ext uri="{FF2B5EF4-FFF2-40B4-BE49-F238E27FC236}">
                <a16:creationId xmlns:a16="http://schemas.microsoft.com/office/drawing/2014/main" id="{1D7B17DE-F84B-4952-AF87-958153ADF9A4}"/>
              </a:ext>
            </a:extLst>
          </p:cNvPr>
          <p:cNvSpPr>
            <a:spLocks xmlns:a="http://schemas.openxmlformats.org/drawingml/2006/main" noGrp="1"/>
          </p:cNvSpPr>
          <p:nvPr/>
        </p:nvSpPr>
        <p:spPr>
          <a:xfrm xmlns:a="http://schemas.openxmlformats.org/drawingml/2006/main">
            <a:off x="4605866" y="3962400"/>
            <a:ext cx="2980266" cy="1016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425" b="0">
                <a:solidFill>
                  <a:srgbClr val="4A5260"/>
                </a:solidFill>
                <a:latin typeface="Arial"/>
                <a:ea typeface="Arial"/>
                <a:cs typeface="Arial"/>
              </a:defRPr>
            </a:pPr>
            <a:r>
              <a:rPr sz="1425" b="0">
                <a:solidFill>
                  <a:srgbClr val="4A5260"/>
                </a:solidFill>
                <a:latin typeface="Arial"/>
                <a:ea typeface="Arial"/>
                <a:cs typeface="Arial"/>
              </a:rPr>
              <a:t>394,240 / 53,709 per year</a:t>
            </a:r>
          </a:p>
          <a:p xmlns:a="http://schemas.openxmlformats.org/drawingml/2006/main">
            <a:pPr algn="l">
              <a:lnSpc>
                <a:spcPct val="145000"/>
              </a:lnSpc>
              <a:buNone/>
              <a:defRPr sz="1425" b="0">
                <a:solidFill>
                  <a:srgbClr val="4A5260"/>
                </a:solidFill>
                <a:latin typeface="Arial"/>
                <a:ea typeface="Arial"/>
                <a:cs typeface="Arial"/>
              </a:defRPr>
            </a:pPr>
            <a:r>
              <a:rPr sz="1425" b="0">
                <a:solidFill>
                  <a:srgbClr val="4A5260"/>
                </a:solidFill>
                <a:latin typeface="Arial"/>
                <a:ea typeface="Arial"/>
                <a:cs typeface="Arial"/>
              </a:rPr>
              <a:t>Average saving: 4,476 EGP/month</a:t>
            </a:r>
          </a:p>
        </p:txBody>
      </p:sp>
      <p:sp>
        <p:nvSpPr>
          <p:cNvPr id="14" name="Rounded Rectangle 13">
            <a:extLst xmlns:a="http://schemas.openxmlformats.org/drawingml/2006/main">
              <a:ext uri="{FF2B5EF4-FFF2-40B4-BE49-F238E27FC236}">
                <a16:creationId xmlns:a16="http://schemas.microsoft.com/office/drawing/2014/main" id="{8FE60FA5-C998-4F7E-943C-6EC63CB66B3D}"/>
              </a:ext>
            </a:extLst>
          </p:cNvPr>
          <p:cNvSpPr>
            <a:spLocks xmlns:a="http://schemas.openxmlformats.org/drawingml/2006/main" noGrp="1"/>
          </p:cNvSpPr>
          <p:nvPr/>
        </p:nvSpPr>
        <p:spPr>
          <a:xfrm xmlns:a="http://schemas.openxmlformats.org/drawingml/2006/main">
            <a:off x="7992533" y="2590800"/>
            <a:ext cx="3386666" cy="2540000"/>
          </a:xfrm>
          <a:prstGeom xmlns:a="http://schemas.openxmlformats.org/drawingml/2006/main" prst="roundRect">
            <a:avLst>
              <a:gd name="adj" fmla="val 4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E0FE9E5A-142C-44C5-9F7A-B8919D609333}"/>
              </a:ext>
            </a:extLst>
          </p:cNvPr>
          <p:cNvSpPr>
            <a:spLocks xmlns:a="http://schemas.openxmlformats.org/drawingml/2006/main" noGrp="1"/>
          </p:cNvSpPr>
          <p:nvPr/>
        </p:nvSpPr>
        <p:spPr>
          <a:xfrm xmlns:a="http://schemas.openxmlformats.org/drawingml/2006/main">
            <a:off x="8195733" y="2794000"/>
            <a:ext cx="2980266"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600" b="1">
                <a:solidFill>
                  <a:srgbClr val="14171C"/>
                </a:solidFill>
                <a:latin typeface="Arial"/>
                <a:ea typeface="Arial"/>
                <a:cs typeface="Arial"/>
              </a:rPr>
              <a:t>C · Solar + 2 × LV_32</a:t>
            </a:r>
          </a:p>
        </p:txBody>
      </p:sp>
      <p:sp>
        <p:nvSpPr>
          <p:cNvPr id="16" name="TextBox 15">
            <a:extLst xmlns:a="http://schemas.openxmlformats.org/drawingml/2006/main">
              <a:ext uri="{FF2B5EF4-FFF2-40B4-BE49-F238E27FC236}">
                <a16:creationId xmlns:a16="http://schemas.microsoft.com/office/drawing/2014/main" id="{26BDB339-B56E-492E-A321-EAFAA68B6157}"/>
              </a:ext>
            </a:extLst>
          </p:cNvPr>
          <p:cNvSpPr>
            <a:spLocks xmlns:a="http://schemas.openxmlformats.org/drawingml/2006/main" noGrp="1"/>
          </p:cNvSpPr>
          <p:nvPr/>
        </p:nvSpPr>
        <p:spPr>
          <a:xfrm xmlns:a="http://schemas.openxmlformats.org/drawingml/2006/main">
            <a:off x="8195733" y="3175000"/>
            <a:ext cx="2980266" cy="698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200" b="1">
                <a:solidFill>
                  <a:srgbClr val="14171C"/>
                </a:solidFill>
                <a:latin typeface="Consolas"/>
                <a:ea typeface="Consolas"/>
                <a:cs typeface="Consolas"/>
              </a:defRPr>
            </a:pPr>
            <a:r>
              <a:rPr sz="4200" b="1">
                <a:solidFill>
                  <a:srgbClr val="14171C"/>
                </a:solidFill>
                <a:latin typeface="Consolas"/>
                <a:ea typeface="Consolas"/>
                <a:cs typeface="Consolas"/>
              </a:rPr>
              <a:t>14.2 yrs</a:t>
            </a:r>
          </a:p>
        </p:txBody>
      </p:sp>
      <p:sp>
        <p:nvSpPr>
          <p:cNvPr id="17" name="TextBox 16">
            <a:extLst xmlns:a="http://schemas.openxmlformats.org/drawingml/2006/main">
              <a:ext uri="{FF2B5EF4-FFF2-40B4-BE49-F238E27FC236}">
                <a16:creationId xmlns:a16="http://schemas.microsoft.com/office/drawing/2014/main" id="{C532DCB6-DF94-4BC0-B803-FD85FE146869}"/>
              </a:ext>
            </a:extLst>
          </p:cNvPr>
          <p:cNvSpPr>
            <a:spLocks xmlns:a="http://schemas.openxmlformats.org/drawingml/2006/main" noGrp="1"/>
          </p:cNvSpPr>
          <p:nvPr/>
        </p:nvSpPr>
        <p:spPr>
          <a:xfrm xmlns:a="http://schemas.openxmlformats.org/drawingml/2006/main">
            <a:off x="8195733" y="3962400"/>
            <a:ext cx="2980266" cy="1016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425" b="0">
                <a:solidFill>
                  <a:srgbClr val="4A5260"/>
                </a:solidFill>
                <a:latin typeface="Arial"/>
                <a:ea typeface="Arial"/>
                <a:cs typeface="Arial"/>
              </a:defRPr>
            </a:pPr>
            <a:r>
              <a:rPr sz="1425" b="0">
                <a:solidFill>
                  <a:srgbClr val="4A5260"/>
                </a:solidFill>
                <a:latin typeface="Arial"/>
                <a:ea typeface="Arial"/>
                <a:cs typeface="Arial"/>
              </a:rPr>
              <a:t>1,154,560 / 81,091 per year</a:t>
            </a:r>
          </a:p>
          <a:p xmlns:a="http://schemas.openxmlformats.org/drawingml/2006/main">
            <a:pPr algn="l">
              <a:lnSpc>
                <a:spcPct val="145000"/>
              </a:lnSpc>
              <a:buNone/>
              <a:defRPr sz="1425" b="0">
                <a:solidFill>
                  <a:srgbClr val="4A5260"/>
                </a:solidFill>
                <a:latin typeface="Arial"/>
                <a:ea typeface="Arial"/>
                <a:cs typeface="Arial"/>
              </a:defRPr>
            </a:pPr>
            <a:r>
              <a:rPr sz="1425" b="0">
                <a:solidFill>
                  <a:srgbClr val="4A5260"/>
                </a:solidFill>
                <a:latin typeface="Arial"/>
                <a:ea typeface="Arial"/>
                <a:cs typeface="Arial"/>
              </a:rPr>
              <a:t>Average saving: 6,758 EGP/month</a:t>
            </a:r>
          </a:p>
        </p:txBody>
      </p:sp>
      <p:sp>
        <p:nvSpPr>
          <p:cNvPr id="18" name="TextBox 17">
            <a:extLst xmlns:a="http://schemas.openxmlformats.org/drawingml/2006/main">
              <a:ext uri="{FF2B5EF4-FFF2-40B4-BE49-F238E27FC236}">
                <a16:creationId xmlns:a16="http://schemas.microsoft.com/office/drawing/2014/main" id="{33D22B3E-E8C3-4A14-9208-BE1ED01D598E}"/>
              </a:ext>
            </a:extLst>
          </p:cNvPr>
          <p:cNvSpPr>
            <a:spLocks xmlns:a="http://schemas.openxmlformats.org/drawingml/2006/main" noGrp="1"/>
          </p:cNvSpPr>
          <p:nvPr/>
        </p:nvSpPr>
        <p:spPr>
          <a:xfrm xmlns:a="http://schemas.openxmlformats.org/drawingml/2006/main">
            <a:off x="809625" y="5305425"/>
            <a:ext cx="1057275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4A5260"/>
                </a:solidFill>
                <a:latin typeface="Arial"/>
                <a:ea typeface="Arial"/>
                <a:cs typeface="Arial"/>
              </a:defRPr>
            </a:pPr>
            <a:r>
              <a:rPr sz="1275" b="0">
                <a:solidFill>
                  <a:srgbClr val="4A5260"/>
                </a:solidFill>
                <a:latin typeface="Arial"/>
                <a:ea typeface="Arial"/>
                <a:cs typeface="Arial"/>
              </a:rPr>
              <a:t>Annual scenario: constant 80.7 kWh/day, 50/50 split, monthly PVGIS output and calendar days (365/year).</a:t>
            </a:r>
          </a:p>
          <a:p xmlns:a="http://schemas.openxmlformats.org/drawingml/2006/main">
            <a:pPr algn="l">
              <a:lnSpc>
                <a:spcPct val="120000"/>
              </a:lnSpc>
              <a:buNone/>
              <a:defRPr sz="1275" b="0">
                <a:solidFill>
                  <a:srgbClr val="4A5260"/>
                </a:solidFill>
                <a:latin typeface="Arial"/>
                <a:ea typeface="Arial"/>
                <a:cs typeface="Arial"/>
              </a:defRPr>
            </a:pPr>
            <a:r>
              <a:rPr sz="1275" b="0">
                <a:solidFill>
                  <a:srgbClr val="4A5260"/>
                </a:solidFill>
                <a:latin typeface="Arial"/>
                <a:ea typeface="Arial"/>
                <a:cs typeface="Arial"/>
              </a:rPr>
              <a:t>Battery warranty: 10 years in source. 6,000 / 365 = 16.4 years is cycle-count arithmetic, not a life guarantee.</a:t>
            </a:r>
          </a:p>
        </p:txBody>
      </p:sp>
      <p:sp>
        <p:nvSpPr>
          <p:cNvPr id="19" name="">
            <a:extLst xmlns:a="http://schemas.openxmlformats.org/drawingml/2006/main">
              <a:ext uri="{FF2B5EF4-FFF2-40B4-BE49-F238E27FC236}">
                <a16:creationId xmlns:a16="http://schemas.microsoft.com/office/drawing/2014/main" id="{CCF8AB1E-5324-405C-BB87-8E037FA77377}"/>
              </a:ext>
            </a:extLst>
          </p:cNvPr>
          <p:cNvSpPr>
            <a:spLocks xmlns:a="http://schemas.openxmlformats.org/drawingml/2006/main" noGrp="1"/>
          </p:cNvSpPr>
          <p:nvPr/>
        </p:nvSpPr>
        <p:spPr>
          <a:xfrm xmlns:a="http://schemas.openxmlformats.org/drawingml/2006/main">
            <a:off x="809625" y="602932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No tariff increases, degradation, maintenance, replacement, insurance or financing included. Actual load seasonality is unknown.</a:t>
            </a:r>
          </a:p>
        </p:txBody>
      </p:sp>
    </p:spTree>
    <p:extLst>
      <p:ext uri="{BB962C8B-B14F-4D97-AF65-F5344CB8AC3E}">
        <p14:creationId xmlns:p14="http://schemas.microsoft.com/office/powerpoint/2010/main" val="1194469296"/>
      </p:ext>
    </p:extLst>
  </p:cSld>
</p:sld>
</file>

<file path=ppt/slides/slide7.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A914F98-CDA0-435A-B3F0-598AF2C0379D}"/>
              </a:ext>
            </a:extLst>
          </p:cNvPr>
          <p:cNvSpPr>
            <a:spLocks xmlns:a="http://schemas.openxmlformats.org/drawingml/2006/main" noGrp="1"/>
          </p:cNvSpPr>
          <p:nvPr/>
        </p:nvSpPr>
        <p:spPr>
          <a:xfrm xmlns:a="http://schemas.openxmlformats.org/drawingml/2006/main">
            <a:off x="812800" y="812800"/>
            <a:ext cx="1056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SCENARIO 2 · AVESTA PROVIDES IT, THE SHOP SUBSCRIBES</a:t>
            </a:r>
          </a:p>
        </p:txBody>
      </p:sp>
      <p:sp>
        <p:nvSpPr>
          <p:cNvPr id="3" name="TextBox 2">
            <a:extLst xmlns:a="http://schemas.openxmlformats.org/drawingml/2006/main">
              <a:ext uri="{FF2B5EF4-FFF2-40B4-BE49-F238E27FC236}">
                <a16:creationId xmlns:a16="http://schemas.microsoft.com/office/drawing/2014/main" id="{3E8F242E-D619-4293-8384-E78796CC500F}"/>
              </a:ext>
            </a:extLst>
          </p:cNvPr>
          <p:cNvSpPr>
            <a:spLocks xmlns:a="http://schemas.openxmlformats.org/drawingml/2006/main" noGrp="1"/>
          </p:cNvSpPr>
          <p:nvPr/>
        </p:nvSpPr>
        <p:spPr>
          <a:xfrm xmlns:a="http://schemas.openxmlformats.org/drawingml/2006/main">
            <a:off x="812800" y="1117600"/>
            <a:ext cx="10566400" cy="508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buNone/>
            </a:pPr>
            <a:r>
              <a:rPr sz="3200" b="1">
                <a:solidFill>
                  <a:srgbClr val="14171C"/>
                </a:solidFill>
                <a:latin typeface="Arial"/>
                <a:ea typeface="Arial"/>
                <a:cs typeface="Arial"/>
              </a:rPr>
              <a:t>Monthly subscription = price ÷ months</a:t>
            </a:r>
          </a:p>
        </p:txBody>
      </p:sp>
      <p:sp>
        <p:nvSpPr>
          <p:cNvPr id="4" name="Rounded Rectangle 3">
            <a:extLst xmlns:a="http://schemas.openxmlformats.org/drawingml/2006/main">
              <a:ext uri="{FF2B5EF4-FFF2-40B4-BE49-F238E27FC236}">
                <a16:creationId xmlns:a16="http://schemas.microsoft.com/office/drawing/2014/main" id="{417085FA-2EB0-4EFC-954E-9B96AD1610BE}"/>
              </a:ext>
            </a:extLst>
          </p:cNvPr>
          <p:cNvSpPr>
            <a:spLocks xmlns:a="http://schemas.openxmlformats.org/drawingml/2006/main" noGrp="1"/>
          </p:cNvSpPr>
          <p:nvPr/>
        </p:nvSpPr>
        <p:spPr>
          <a:xfrm xmlns:a="http://schemas.openxmlformats.org/drawingml/2006/main">
            <a:off x="812800" y="1905000"/>
            <a:ext cx="10566400" cy="762000"/>
          </a:xfrm>
          <a:prstGeom xmlns:a="http://schemas.openxmlformats.org/drawingml/2006/main" prst="roundRect">
            <a:avLst>
              <a:gd name="adj" fmla="val 10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F7FAA269-0985-4C6B-AF74-31766EE9643B}"/>
              </a:ext>
            </a:extLst>
          </p:cNvPr>
          <p:cNvSpPr>
            <a:spLocks xmlns:a="http://schemas.openxmlformats.org/drawingml/2006/main" noGrp="1"/>
          </p:cNvSpPr>
          <p:nvPr/>
        </p:nvSpPr>
        <p:spPr>
          <a:xfrm xmlns:a="http://schemas.openxmlformats.org/drawingml/2006/main">
            <a:off x="990600" y="1905000"/>
            <a:ext cx="102108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30000"/>
              </a:lnSpc>
              <a:buNone/>
              <a:defRPr sz="1800" b="0">
                <a:solidFill>
                  <a:srgbClr val="14171C"/>
                </a:solidFill>
                <a:latin typeface="Consolas"/>
                <a:ea typeface="Consolas"/>
                <a:cs typeface="Consolas"/>
              </a:defRPr>
            </a:pPr>
            <a:r>
              <a:rPr sz="1800" b="0">
                <a:solidFill>
                  <a:srgbClr val="14171C"/>
                </a:solidFill>
                <a:latin typeface="Consolas"/>
                <a:ea typeface="Consolas"/>
                <a:cs typeface="Consolas"/>
              </a:rPr>
              <a:t>Monthly fee = System price / (Years × 12)</a:t>
            </a:r>
          </a:p>
          <a:p xmlns:a="http://schemas.openxmlformats.org/drawingml/2006/main">
            <a:pPr algn="l">
              <a:lnSpc>
                <a:spcPct val="130000"/>
              </a:lnSpc>
              <a:buNone/>
              <a:defRPr sz="1800" b="0">
                <a:solidFill>
                  <a:srgbClr val="14171C"/>
                </a:solidFill>
                <a:latin typeface="Consolas"/>
                <a:ea typeface="Consolas"/>
                <a:cs typeface="Consolas"/>
              </a:defRPr>
            </a:pPr>
            <a:r>
              <a:rPr sz="1800" b="0">
                <a:solidFill>
                  <a:srgbClr val="14171C"/>
                </a:solidFill>
                <a:latin typeface="Consolas"/>
                <a:ea typeface="Consolas"/>
                <a:cs typeface="Consolas"/>
              </a:rPr>
              <a:t>Break-even term (years) = System price / Annual saving</a:t>
            </a:r>
          </a:p>
        </p:txBody>
      </p:sp>
      <p:graphicFrame>
        <p:nvGraphicFramePr>
          <p:cNvPr id="14" name="Table 5"/>
          <p:cNvGraphicFramePr/>
          <p:nvPr/>
        </p:nvGraphicFramePr>
        <p:xfrm>
          <a:off xmlns:a="http://schemas.openxmlformats.org/drawingml/2006/main" x="812800" y="2870200"/>
          <a:ext xmlns:a="http://schemas.openxmlformats.org/drawingml/2006/main" cx="10572750" cy="1625600"/>
        </p:xfrm>
        <a:graphic xmlns:a="http://schemas.openxmlformats.org/drawingml/2006/main">
          <a:graphicData uri="http://schemas.openxmlformats.org/drawingml/2006/table">
            <a:tbl>
              <a:tblPr firstRow="1">
                <a:tableStyleId>{5C22544A-7EE6-4342-B048-85BDC9FD1C3A}</a:tableStyleId>
              </a:tblPr>
              <a:tblGrid>
                <a:gridCol w="2533650"/>
                <a:gridCol w="2324100"/>
                <a:gridCol w="1905000"/>
                <a:gridCol w="1905000"/>
                <a:gridCol w="1905000"/>
              </a:tblGrid>
              <a:tr h="406400">
                <a:tc>
                  <a:txBody>
                    <a:bodyPr wrap="square"/>
                    <a:lstStyle/>
                    <a:p/>
                  </a:txBody>
                  <a:tcPr marL="101600" marR="101600" marT="57150" marB="57150" anchor="ctr">
                    <a:solidFill>
                      <a:srgbClr val="E6E9ED"/>
                    </a:solidFill>
                  </a:tcPr>
                </a:tc>
                <a:tc>
                  <a:txBody>
                    <a:bodyPr wrap="square"/>
                    <a:lstStyle/>
                    <a:p>
                      <a:r>
                        <a:rPr sz="1300" b="1">
                          <a:solidFill>
                            <a:srgbClr val="14171C"/>
                          </a:solidFill>
                          <a:latin typeface="Arial"/>
                          <a:ea typeface="Arial"/>
                          <a:cs typeface="Arial"/>
                        </a:rPr>
                        <a:t>Break-even term /</a:t>
                      </a:r>
                    </a:p>
                    <a:p>
                      <a:r>
                        <a:rPr sz="1300" b="1">
                          <a:solidFill>
                            <a:srgbClr val="14171C"/>
                          </a:solidFill>
                          <a:latin typeface="Arial"/>
                          <a:ea typeface="Arial"/>
                          <a:cs typeface="Arial"/>
                        </a:rPr>
                        <a:t>avg. saving</a:t>
                      </a:r>
                    </a:p>
                  </a:txBody>
                  <a:tcPr marL="101600" marR="101600" marT="57150" marB="57150" anchor="ctr">
                    <a:solidFill>
                      <a:srgbClr val="E6E9ED"/>
                    </a:solidFill>
                  </a:tcPr>
                </a:tc>
                <a:tc>
                  <a:txBody>
                    <a:bodyPr wrap="square"/>
                    <a:lstStyle/>
                    <a:p>
                      <a:r>
                        <a:rPr sz="1300" b="1">
                          <a:solidFill>
                            <a:srgbClr val="14171C"/>
                          </a:solidFill>
                          <a:latin typeface="Arial"/>
                          <a:ea typeface="Arial"/>
                          <a:cs typeface="Arial"/>
                        </a:rPr>
                        <a:t>5 years</a:t>
                      </a:r>
                    </a:p>
                  </a:txBody>
                  <a:tcPr marL="101600" marR="101600" marT="57150" marB="57150" anchor="ctr">
                    <a:solidFill>
                      <a:srgbClr val="E6E9ED"/>
                    </a:solidFill>
                  </a:tcPr>
                </a:tc>
                <a:tc>
                  <a:txBody>
                    <a:bodyPr wrap="square"/>
                    <a:lstStyle/>
                    <a:p>
                      <a:r>
                        <a:rPr sz="1300" b="1">
                          <a:solidFill>
                            <a:srgbClr val="14171C"/>
                          </a:solidFill>
                          <a:latin typeface="Arial"/>
                          <a:ea typeface="Arial"/>
                          <a:cs typeface="Arial"/>
                        </a:rPr>
                        <a:t>8 years</a:t>
                      </a:r>
                    </a:p>
                  </a:txBody>
                  <a:tcPr marL="101600" marR="101600" marT="57150" marB="57150" anchor="ctr">
                    <a:solidFill>
                      <a:srgbClr val="E6E9ED"/>
                    </a:solidFill>
                  </a:tcPr>
                </a:tc>
                <a:tc>
                  <a:txBody>
                    <a:bodyPr wrap="square"/>
                    <a:lstStyle/>
                    <a:p>
                      <a:r>
                        <a:rPr sz="1300" b="1">
                          <a:solidFill>
                            <a:srgbClr val="14171C"/>
                          </a:solidFill>
                          <a:latin typeface="Arial"/>
                          <a:ea typeface="Arial"/>
                          <a:cs typeface="Arial"/>
                        </a:rPr>
                        <a:t>10 years</a:t>
                      </a:r>
                    </a:p>
                  </a:txBody>
                  <a:tcPr marL="101600" marR="101600" marT="57150" marB="57150" anchor="ctr">
                    <a:solidFill>
                      <a:srgbClr val="E6E9ED"/>
                    </a:solidFill>
                  </a:tcPr>
                </a:tc>
              </a:tr>
              <a:tr h="406400">
                <a:tc>
                  <a:txBody>
                    <a:bodyPr wrap="square"/>
                    <a:lstStyle/>
                    <a:p>
                      <a:r>
                        <a:rPr sz="1300" b="1">
                          <a:solidFill>
                            <a:srgbClr val="14171C"/>
                          </a:solidFill>
                          <a:latin typeface="Arial"/>
                          <a:ea typeface="Arial"/>
                          <a:cs typeface="Arial"/>
                        </a:rPr>
                        <a:t>A · Solar only</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3.5 yrs / 3,378</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2,347 (+1,031)</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1,467 (+1,911)</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1,173 (+2,205)</a:t>
                      </a:r>
                    </a:p>
                  </a:txBody>
                  <a:tcPr marL="101600" marR="101600" marT="57150" marB="57150" anchor="ctr">
                    <a:solidFill>
                      <a:srgbClr val="FCFCFD"/>
                    </a:solidFill>
                  </a:tcPr>
                </a:tc>
              </a:tr>
              <a:tr h="406400">
                <a:tc>
                  <a:txBody>
                    <a:bodyPr wrap="square"/>
                    <a:lstStyle/>
                    <a:p>
                      <a:r>
                        <a:rPr sz="1300" b="1">
                          <a:solidFill>
                            <a:srgbClr val="14171C"/>
                          </a:solidFill>
                          <a:latin typeface="Arial"/>
                          <a:ea typeface="Arial"/>
                          <a:cs typeface="Arial"/>
                        </a:rPr>
                        <a:t>B · Solar + LV_16</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7.3 yrs / 4,476</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6,571 (−2,095)</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4,107 (+369)</a:t>
                      </a:r>
                    </a:p>
                  </a:txBody>
                  <a:tcPr marL="101600" marR="101600" marT="57150" marB="57150" anchor="ctr">
                    <a:solidFill>
                      <a:srgbClr val="F4F5F7"/>
                    </a:solidFill>
                  </a:tcPr>
                </a:tc>
                <a:tc>
                  <a:txBody>
                    <a:bodyPr wrap="square"/>
                    <a:lstStyle/>
                    <a:p>
                      <a:r>
                        <a:rPr sz="1300" b="0">
                          <a:solidFill>
                            <a:srgbClr val="14171C"/>
                          </a:solidFill>
                          <a:latin typeface="Arial"/>
                          <a:ea typeface="Arial"/>
                          <a:cs typeface="Arial"/>
                        </a:rPr>
                        <a:t>3,285 (+1,190)</a:t>
                      </a:r>
                    </a:p>
                  </a:txBody>
                  <a:tcPr marL="101600" marR="101600" marT="57150" marB="57150" anchor="ctr">
                    <a:solidFill>
                      <a:srgbClr val="F4F5F7"/>
                    </a:solidFill>
                  </a:tcPr>
                </a:tc>
              </a:tr>
              <a:tr h="406400">
                <a:tc>
                  <a:txBody>
                    <a:bodyPr wrap="square"/>
                    <a:lstStyle/>
                    <a:p>
                      <a:r>
                        <a:rPr sz="1300" b="1">
                          <a:solidFill>
                            <a:srgbClr val="14171C"/>
                          </a:solidFill>
                          <a:latin typeface="Arial"/>
                          <a:ea typeface="Arial"/>
                          <a:cs typeface="Arial"/>
                        </a:rPr>
                        <a:t>C · Solar + 2 × LV_32</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14.2 yrs / 6,758</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19,243 (−12,485)</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12,027 (−5,269)</a:t>
                      </a:r>
                    </a:p>
                  </a:txBody>
                  <a:tcPr marL="101600" marR="101600" marT="57150" marB="57150" anchor="ctr">
                    <a:solidFill>
                      <a:srgbClr val="FCFCFD"/>
                    </a:solidFill>
                  </a:tcPr>
                </a:tc>
                <a:tc>
                  <a:txBody>
                    <a:bodyPr wrap="square"/>
                    <a:lstStyle/>
                    <a:p>
                      <a:r>
                        <a:rPr sz="1300" b="0">
                          <a:solidFill>
                            <a:srgbClr val="14171C"/>
                          </a:solidFill>
                          <a:latin typeface="Arial"/>
                          <a:ea typeface="Arial"/>
                          <a:cs typeface="Arial"/>
                        </a:rPr>
                        <a:t>9,621 (−2,864)</a:t>
                      </a:r>
                    </a:p>
                  </a:txBody>
                  <a:tcPr marL="101600" marR="101600" marT="57150" marB="57150" anchor="ctr">
                    <a:solidFill>
                      <a:srgbClr val="FCFCFD"/>
                    </a:solidFill>
                  </a:tcPr>
                </a:tc>
              </a:tr>
            </a:tbl>
          </a:graphicData>
        </a:graphic>
      </p:graphicFrame>
      <p:sp>
        <p:nvSpPr>
          <p:cNvPr id="7" name="TextBox 6">
            <a:extLst xmlns:a="http://schemas.openxmlformats.org/drawingml/2006/main">
              <a:ext uri="{FF2B5EF4-FFF2-40B4-BE49-F238E27FC236}">
                <a16:creationId xmlns:a16="http://schemas.microsoft.com/office/drawing/2014/main" id="{8DE9A444-F95F-4815-B66F-343478160094}"/>
              </a:ext>
            </a:extLst>
          </p:cNvPr>
          <p:cNvSpPr>
            <a:spLocks xmlns:a="http://schemas.openxmlformats.org/drawingml/2006/main" noGrp="1"/>
          </p:cNvSpPr>
          <p:nvPr/>
        </p:nvSpPr>
        <p:spPr>
          <a:xfrm xmlns:a="http://schemas.openxmlformats.org/drawingml/2006/main">
            <a:off x="812800" y="4699000"/>
            <a:ext cx="105664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350" b="0">
                <a:solidFill>
                  <a:srgbClr val="4A5260"/>
                </a:solidFill>
                <a:latin typeface="Arial"/>
                <a:ea typeface="Arial"/>
                <a:cs typeface="Arial"/>
              </a:defRPr>
            </a:pPr>
            <a:r>
              <a:rPr sz="1350" b="0">
                <a:solidFill>
                  <a:srgbClr val="4A5260"/>
                </a:solidFill>
                <a:latin typeface="Arial"/>
                <a:ea typeface="Arial"/>
                <a:cs typeface="Arial"/>
              </a:rPr>
              <a:t>EGP/month. Brackets show average annual net benefit / 12 after paying the subscription.</a:t>
            </a:r>
          </a:p>
          <a:p xmlns:a="http://schemas.openxmlformats.org/drawingml/2006/main">
            <a:pPr algn="l">
              <a:lnSpc>
                <a:spcPct val="135000"/>
              </a:lnSpc>
              <a:buNone/>
              <a:defRPr sz="1350" b="0">
                <a:solidFill>
                  <a:srgbClr val="4A5260"/>
                </a:solidFill>
                <a:latin typeface="Arial"/>
                <a:ea typeface="Arial"/>
                <a:cs typeface="Arial"/>
              </a:defRPr>
            </a:pPr>
            <a:r>
              <a:rPr sz="1350" b="0">
                <a:solidFill>
                  <a:srgbClr val="4A5260"/>
                </a:solidFill>
                <a:latin typeface="Arial"/>
                <a:ea typeface="Arial"/>
                <a:cs typeface="Arial"/>
              </a:rPr>
              <a:t>Monthly results vary with solar output. A negative value means an average increase in total spending.</a:t>
            </a:r>
          </a:p>
        </p:txBody>
      </p:sp>
      <p:sp>
        <p:nvSpPr>
          <p:cNvPr id="8" name="TextBox 7">
            <a:extLst xmlns:a="http://schemas.openxmlformats.org/drawingml/2006/main">
              <a:ext uri="{FF2B5EF4-FFF2-40B4-BE49-F238E27FC236}">
                <a16:creationId xmlns:a16="http://schemas.microsoft.com/office/drawing/2014/main" id="{7DE42DEB-08F3-45D4-953C-84D796249C0E}"/>
              </a:ext>
            </a:extLst>
          </p:cNvPr>
          <p:cNvSpPr>
            <a:spLocks xmlns:a="http://schemas.openxmlformats.org/drawingml/2006/main" noGrp="1"/>
          </p:cNvSpPr>
          <p:nvPr/>
        </p:nvSpPr>
        <p:spPr>
          <a:xfrm xmlns:a="http://schemas.openxmlformats.org/drawingml/2006/main">
            <a:off x="812800" y="5397500"/>
            <a:ext cx="105664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4A5260"/>
                </a:solidFill>
                <a:latin typeface="Arial"/>
                <a:ea typeface="Arial"/>
                <a:cs typeface="Arial"/>
              </a:defRPr>
            </a:pPr>
            <a:r>
              <a:rPr sz="1350" b="0">
                <a:solidFill>
                  <a:srgbClr val="4A5260"/>
                </a:solidFill>
                <a:latin typeface="Arial"/>
                <a:ea typeface="Arial"/>
                <a:cs typeface="Arial"/>
              </a:rPr>
              <a:t>Illustrative recovery of the assumed selling price. No additional subscription margin, maintenance, insurance or financing.</a:t>
            </a:r>
          </a:p>
        </p:txBody>
      </p:sp>
    </p:spTree>
    <p:extLst>
      <p:ext uri="{BB962C8B-B14F-4D97-AF65-F5344CB8AC3E}">
        <p14:creationId xmlns:p14="http://schemas.microsoft.com/office/powerpoint/2010/main" val="478162130"/>
      </p:ext>
    </p:extLst>
  </p:cSld>
</p:sld>
</file>

<file path=ppt/slides/slide8.xml><?xml version="1.0" encoding="utf-8"?>
<p:sld xmlns:p="http://schemas.openxmlformats.org/presentationml/2006/main">
  <p:cSld>
    <p:bg>
      <p:bgPr>
        <a:solidFill xmlns:a="http://schemas.openxmlformats.org/drawingml/2006/main">
          <a:srgbClr val="F7A36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C2487F1-9CDA-4B32-829C-35AC1B4C3CC6}"/>
              </a:ext>
            </a:extLst>
          </p:cNvPr>
          <p:cNvSpPr>
            <a:spLocks xmlns:a="http://schemas.openxmlformats.org/drawingml/2006/main" noGrp="1"/>
          </p:cNvSpPr>
          <p:nvPr/>
        </p:nvSpPr>
        <p:spPr>
          <a:xfrm xmlns:a="http://schemas.openxmlformats.org/drawingml/2006/main">
            <a:off x="812800" y="952500"/>
            <a:ext cx="1056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14171C"/>
                </a:solidFill>
                <a:latin typeface="Arial"/>
                <a:ea typeface="Arial"/>
                <a:cs typeface="Arial"/>
              </a:rPr>
              <a:t>RECOMMENDATION</a:t>
            </a:r>
          </a:p>
        </p:txBody>
      </p:sp>
      <p:sp>
        <p:nvSpPr>
          <p:cNvPr id="3" name="TextBox 2">
            <a:extLst xmlns:a="http://schemas.openxmlformats.org/drawingml/2006/main">
              <a:ext uri="{FF2B5EF4-FFF2-40B4-BE49-F238E27FC236}">
                <a16:creationId xmlns:a16="http://schemas.microsoft.com/office/drawing/2014/main" id="{78EB2498-CB7C-415B-960A-882A168B5E29}"/>
              </a:ext>
            </a:extLst>
          </p:cNvPr>
          <p:cNvSpPr>
            <a:spLocks xmlns:a="http://schemas.openxmlformats.org/drawingml/2006/main" noGrp="1"/>
          </p:cNvSpPr>
          <p:nvPr/>
        </p:nvSpPr>
        <p:spPr>
          <a:xfrm xmlns:a="http://schemas.openxmlformats.org/drawingml/2006/main">
            <a:off x="812800" y="1270000"/>
            <a:ext cx="105664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buNone/>
            </a:pPr>
            <a:r>
              <a:rPr sz="3600" b="1">
                <a:solidFill>
                  <a:srgbClr val="14171C"/>
                </a:solidFill>
                <a:latin typeface="Arial"/>
                <a:ea typeface="Arial"/>
                <a:cs typeface="Arial"/>
              </a:rPr>
              <a:t>Solar pays for itself; the battery buys backup</a:t>
            </a:r>
          </a:p>
        </p:txBody>
      </p:sp>
      <p:sp>
        <p:nvSpPr>
          <p:cNvPr id="4" name="Rounded Rectangle 3">
            <a:extLst xmlns:a="http://schemas.openxmlformats.org/drawingml/2006/main">
              <a:ext uri="{FF2B5EF4-FFF2-40B4-BE49-F238E27FC236}">
                <a16:creationId xmlns:a16="http://schemas.microsoft.com/office/drawing/2014/main" id="{84E1BB65-1C5D-47ED-B7FC-266534A3B7DA}"/>
              </a:ext>
            </a:extLst>
          </p:cNvPr>
          <p:cNvSpPr>
            <a:spLocks xmlns:a="http://schemas.openxmlformats.org/drawingml/2006/main" noGrp="1"/>
          </p:cNvSpPr>
          <p:nvPr/>
        </p:nvSpPr>
        <p:spPr>
          <a:xfrm xmlns:a="http://schemas.openxmlformats.org/drawingml/2006/main">
            <a:off x="812800" y="2286000"/>
            <a:ext cx="5181600" cy="2794000"/>
          </a:xfrm>
          <a:prstGeom xmlns:a="http://schemas.openxmlformats.org/drawingml/2006/main" prst="roundRect">
            <a:avLst>
              <a:gd name="adj" fmla="val 3636"/>
            </a:avLst>
          </a:prstGeom>
          <a:solidFill xmlns:a="http://schemas.openxmlformats.org/drawingml/2006/main">
            <a:srgbClr val="FCE3D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D2310A70-54CC-4F70-BE55-DED421E4F9C4}"/>
              </a:ext>
            </a:extLst>
          </p:cNvPr>
          <p:cNvSpPr>
            <a:spLocks xmlns:a="http://schemas.openxmlformats.org/drawingml/2006/main" noGrp="1"/>
          </p:cNvSpPr>
          <p:nvPr/>
        </p:nvSpPr>
        <p:spPr>
          <a:xfrm xmlns:a="http://schemas.openxmlformats.org/drawingml/2006/main">
            <a:off x="1066800" y="2514600"/>
            <a:ext cx="467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800" b="1">
                <a:solidFill>
                  <a:srgbClr val="14171C"/>
                </a:solidFill>
                <a:latin typeface="Arial"/>
                <a:ea typeface="Arial"/>
                <a:cs typeface="Arial"/>
              </a:rPr>
              <a:t>Option A · Solar 8.5 kWp</a:t>
            </a:r>
          </a:p>
        </p:txBody>
      </p:sp>
      <p:sp>
        <p:nvSpPr>
          <p:cNvPr id="6" name="TextBox 5">
            <a:extLst xmlns:a="http://schemas.openxmlformats.org/drawingml/2006/main">
              <a:ext uri="{FF2B5EF4-FFF2-40B4-BE49-F238E27FC236}">
                <a16:creationId xmlns:a16="http://schemas.microsoft.com/office/drawing/2014/main" id="{5BB76234-6517-4261-867A-F08865BBFDE3}"/>
              </a:ext>
            </a:extLst>
          </p:cNvPr>
          <p:cNvSpPr>
            <a:spLocks xmlns:a="http://schemas.openxmlformats.org/drawingml/2006/main" noGrp="1"/>
          </p:cNvSpPr>
          <p:nvPr/>
        </p:nvSpPr>
        <p:spPr>
          <a:xfrm xmlns:a="http://schemas.openxmlformats.org/drawingml/2006/main">
            <a:off x="1066800" y="2984500"/>
            <a:ext cx="4673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025" b="1">
                <a:solidFill>
                  <a:srgbClr val="14171C"/>
                </a:solidFill>
                <a:latin typeface="Arial"/>
                <a:ea typeface="Arial"/>
                <a:cs typeface="Arial"/>
              </a:defRPr>
            </a:pPr>
            <a:r>
              <a:rPr sz="2025" b="1">
                <a:solidFill>
                  <a:srgbClr val="14171C"/>
                </a:solidFill>
                <a:latin typeface="Arial"/>
                <a:ea typeface="Arial"/>
                <a:cs typeface="Arial"/>
              </a:rPr>
              <a:t>Buy: 3.5 years</a:t>
            </a:r>
          </a:p>
        </p:txBody>
      </p:sp>
      <p:sp>
        <p:nvSpPr>
          <p:cNvPr id="7" name="TextBox 6">
            <a:extLst xmlns:a="http://schemas.openxmlformats.org/drawingml/2006/main">
              <a:ext uri="{FF2B5EF4-FFF2-40B4-BE49-F238E27FC236}">
                <a16:creationId xmlns:a16="http://schemas.microsoft.com/office/drawing/2014/main" id="{DF8D1D37-3D6E-45EC-AC66-82A3F4E7B981}"/>
              </a:ext>
            </a:extLst>
          </p:cNvPr>
          <p:cNvSpPr>
            <a:spLocks xmlns:a="http://schemas.openxmlformats.org/drawingml/2006/main" noGrp="1"/>
          </p:cNvSpPr>
          <p:nvPr/>
        </p:nvSpPr>
        <p:spPr>
          <a:xfrm xmlns:a="http://schemas.openxmlformats.org/drawingml/2006/main">
            <a:off x="1066800" y="3479800"/>
            <a:ext cx="46736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30000"/>
              </a:lnSpc>
              <a:buNone/>
            </a:pPr>
            <a:r>
              <a:rPr sz="1500" b="0">
                <a:solidFill>
                  <a:srgbClr val="14171C"/>
                </a:solidFill>
                <a:latin typeface="Consolas"/>
                <a:ea typeface="Consolas"/>
                <a:cs typeface="Consolas"/>
              </a:rPr>
              <a:t>Subscribe: 1,467 EGP/month for 8 years</a:t>
            </a:r>
          </a:p>
        </p:txBody>
      </p:sp>
      <p:sp>
        <p:nvSpPr>
          <p:cNvPr id="8" name="TextBox 7">
            <a:extLst xmlns:a="http://schemas.openxmlformats.org/drawingml/2006/main">
              <a:ext uri="{FF2B5EF4-FFF2-40B4-BE49-F238E27FC236}">
                <a16:creationId xmlns:a16="http://schemas.microsoft.com/office/drawing/2014/main" id="{D7B8EFD6-359D-43D4-965D-96E360D04682}"/>
              </a:ext>
            </a:extLst>
          </p:cNvPr>
          <p:cNvSpPr>
            <a:spLocks xmlns:a="http://schemas.openxmlformats.org/drawingml/2006/main" noGrp="1"/>
          </p:cNvSpPr>
          <p:nvPr/>
        </p:nvSpPr>
        <p:spPr>
          <a:xfrm xmlns:a="http://schemas.openxmlformats.org/drawingml/2006/main">
            <a:off x="1066800" y="4241800"/>
            <a:ext cx="46736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725" b="0">
                <a:solidFill>
                  <a:srgbClr val="14171C"/>
                </a:solidFill>
                <a:latin typeface="Arial"/>
                <a:ea typeface="Arial"/>
                <a:cs typeface="Arial"/>
              </a:defRPr>
            </a:pPr>
            <a:r>
              <a:rPr sz="1725" b="0">
                <a:solidFill>
                  <a:srgbClr val="14171C"/>
                </a:solidFill>
                <a:latin typeface="Arial"/>
                <a:ea typeface="Arial"/>
                <a:cs typeface="Arial"/>
              </a:rPr>
              <a:t>Average net saving: 1,911 EGP/month</a:t>
            </a:r>
          </a:p>
        </p:txBody>
      </p:sp>
      <p:sp>
        <p:nvSpPr>
          <p:cNvPr id="9" name="Rounded Rectangle 8">
            <a:extLst xmlns:a="http://schemas.openxmlformats.org/drawingml/2006/main">
              <a:ext uri="{FF2B5EF4-FFF2-40B4-BE49-F238E27FC236}">
                <a16:creationId xmlns:a16="http://schemas.microsoft.com/office/drawing/2014/main" id="{26557340-F413-4CDD-B5B9-B133FCB0A261}"/>
              </a:ext>
            </a:extLst>
          </p:cNvPr>
          <p:cNvSpPr>
            <a:spLocks xmlns:a="http://schemas.openxmlformats.org/drawingml/2006/main" noGrp="1"/>
          </p:cNvSpPr>
          <p:nvPr/>
        </p:nvSpPr>
        <p:spPr>
          <a:xfrm xmlns:a="http://schemas.openxmlformats.org/drawingml/2006/main">
            <a:off x="6197600" y="2286000"/>
            <a:ext cx="5181600" cy="2794000"/>
          </a:xfrm>
          <a:prstGeom xmlns:a="http://schemas.openxmlformats.org/drawingml/2006/main" prst="roundRect">
            <a:avLst>
              <a:gd name="adj" fmla="val 3636"/>
            </a:avLst>
          </a:prstGeom>
          <a:solidFill xmlns:a="http://schemas.openxmlformats.org/drawingml/2006/main">
            <a:srgbClr val="FCE3D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C58E009E-3570-40AD-A177-3DB388E01E55}"/>
              </a:ext>
            </a:extLst>
          </p:cNvPr>
          <p:cNvSpPr>
            <a:spLocks xmlns:a="http://schemas.openxmlformats.org/drawingml/2006/main" noGrp="1"/>
          </p:cNvSpPr>
          <p:nvPr/>
        </p:nvSpPr>
        <p:spPr>
          <a:xfrm xmlns:a="http://schemas.openxmlformats.org/drawingml/2006/main">
            <a:off x="6451600" y="2514600"/>
            <a:ext cx="467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800" b="1">
                <a:solidFill>
                  <a:srgbClr val="14171C"/>
                </a:solidFill>
                <a:latin typeface="Arial"/>
                <a:ea typeface="Arial"/>
                <a:cs typeface="Arial"/>
              </a:rPr>
              <a:t>Option B · Solar 11.0 kWp + LV_16</a:t>
            </a:r>
          </a:p>
        </p:txBody>
      </p:sp>
      <p:sp>
        <p:nvSpPr>
          <p:cNvPr id="11" name="TextBox 10">
            <a:extLst xmlns:a="http://schemas.openxmlformats.org/drawingml/2006/main">
              <a:ext uri="{FF2B5EF4-FFF2-40B4-BE49-F238E27FC236}">
                <a16:creationId xmlns:a16="http://schemas.microsoft.com/office/drawing/2014/main" id="{78BE0551-26AB-4B4F-8DFE-E08E4F768952}"/>
              </a:ext>
            </a:extLst>
          </p:cNvPr>
          <p:cNvSpPr>
            <a:spLocks xmlns:a="http://schemas.openxmlformats.org/drawingml/2006/main" noGrp="1"/>
          </p:cNvSpPr>
          <p:nvPr/>
        </p:nvSpPr>
        <p:spPr>
          <a:xfrm xmlns:a="http://schemas.openxmlformats.org/drawingml/2006/main">
            <a:off x="6451600" y="2984500"/>
            <a:ext cx="4673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025" b="1">
                <a:solidFill>
                  <a:srgbClr val="14171C"/>
                </a:solidFill>
                <a:latin typeface="Arial"/>
                <a:ea typeface="Arial"/>
                <a:cs typeface="Arial"/>
              </a:defRPr>
            </a:pPr>
            <a:r>
              <a:rPr sz="2025" b="1">
                <a:solidFill>
                  <a:srgbClr val="14171C"/>
                </a:solidFill>
                <a:latin typeface="Arial"/>
                <a:ea typeface="Arial"/>
                <a:cs typeface="Arial"/>
              </a:rPr>
              <a:t>Buy: 7.3 years</a:t>
            </a:r>
          </a:p>
        </p:txBody>
      </p:sp>
      <p:sp>
        <p:nvSpPr>
          <p:cNvPr id="12" name="TextBox 11">
            <a:extLst xmlns:a="http://schemas.openxmlformats.org/drawingml/2006/main">
              <a:ext uri="{FF2B5EF4-FFF2-40B4-BE49-F238E27FC236}">
                <a16:creationId xmlns:a16="http://schemas.microsoft.com/office/drawing/2014/main" id="{21F2F9BE-C660-4CEA-BF0D-89A3A6B42FA2}"/>
              </a:ext>
            </a:extLst>
          </p:cNvPr>
          <p:cNvSpPr>
            <a:spLocks xmlns:a="http://schemas.openxmlformats.org/drawingml/2006/main" noGrp="1"/>
          </p:cNvSpPr>
          <p:nvPr/>
        </p:nvSpPr>
        <p:spPr>
          <a:xfrm xmlns:a="http://schemas.openxmlformats.org/drawingml/2006/main">
            <a:off x="6451600" y="3479800"/>
            <a:ext cx="46736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30000"/>
              </a:lnSpc>
              <a:buNone/>
            </a:pPr>
            <a:r>
              <a:rPr sz="1500" b="0">
                <a:solidFill>
                  <a:srgbClr val="14171C"/>
                </a:solidFill>
                <a:latin typeface="Consolas"/>
                <a:ea typeface="Consolas"/>
                <a:cs typeface="Consolas"/>
              </a:rPr>
              <a:t>Subscribe: 3,285 EGP/month for 10 years</a:t>
            </a:r>
          </a:p>
        </p:txBody>
      </p:sp>
      <p:sp>
        <p:nvSpPr>
          <p:cNvPr id="13" name="TextBox 12">
            <a:extLst xmlns:a="http://schemas.openxmlformats.org/drawingml/2006/main">
              <a:ext uri="{FF2B5EF4-FFF2-40B4-BE49-F238E27FC236}">
                <a16:creationId xmlns:a16="http://schemas.microsoft.com/office/drawing/2014/main" id="{B85D2F43-AB32-4284-80A0-1D808A765283}"/>
              </a:ext>
            </a:extLst>
          </p:cNvPr>
          <p:cNvSpPr>
            <a:spLocks xmlns:a="http://schemas.openxmlformats.org/drawingml/2006/main" noGrp="1"/>
          </p:cNvSpPr>
          <p:nvPr/>
        </p:nvSpPr>
        <p:spPr>
          <a:xfrm xmlns:a="http://schemas.openxmlformats.org/drawingml/2006/main">
            <a:off x="6451600" y="4241800"/>
            <a:ext cx="46736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650" b="0">
                <a:solidFill>
                  <a:srgbClr val="14171C"/>
                </a:solidFill>
                <a:latin typeface="Arial"/>
                <a:ea typeface="Arial"/>
                <a:cs typeface="Arial"/>
              </a:defRPr>
            </a:pPr>
            <a:r>
              <a:rPr sz="1650" b="0">
                <a:solidFill>
                  <a:srgbClr val="14171C"/>
                </a:solidFill>
                <a:latin typeface="Arial"/>
                <a:ea typeface="Arial"/>
                <a:cs typeface="Arial"/>
              </a:rPr>
              <a:t>Average net saving: 1,190 EGP/month</a:t>
            </a:r>
          </a:p>
          <a:p xmlns:a="http://schemas.openxmlformats.org/drawingml/2006/main">
            <a:pPr algn="l">
              <a:lnSpc>
                <a:spcPct val="135000"/>
              </a:lnSpc>
              <a:buNone/>
              <a:defRPr sz="1650" b="0">
                <a:solidFill>
                  <a:srgbClr val="14171C"/>
                </a:solidFill>
                <a:latin typeface="Arial"/>
                <a:ea typeface="Arial"/>
                <a:cs typeface="Arial"/>
              </a:defRPr>
            </a:pPr>
            <a:r>
              <a:rPr sz="1650" b="0">
                <a:solidFill>
                  <a:srgbClr val="14171C"/>
                </a:solidFill>
                <a:latin typeface="Arial"/>
                <a:ea typeface="Arial"/>
                <a:cs typeface="Arial"/>
              </a:rPr>
              <a:t>~6.9 h refrigeration backup estimate*</a:t>
            </a:r>
          </a:p>
        </p:txBody>
      </p:sp>
      <p:sp>
        <p:nvSpPr>
          <p:cNvPr id="14" name="TextBox 13">
            <a:extLst xmlns:a="http://schemas.openxmlformats.org/drawingml/2006/main">
              <a:ext uri="{FF2B5EF4-FFF2-40B4-BE49-F238E27FC236}">
                <a16:creationId xmlns:a16="http://schemas.microsoft.com/office/drawing/2014/main" id="{3A94A925-F36E-4D6D-A934-4E0875F695DE}"/>
              </a:ext>
            </a:extLst>
          </p:cNvPr>
          <p:cNvSpPr>
            <a:spLocks xmlns:a="http://schemas.openxmlformats.org/drawingml/2006/main" noGrp="1"/>
          </p:cNvSpPr>
          <p:nvPr/>
        </p:nvSpPr>
        <p:spPr>
          <a:xfrm xmlns:a="http://schemas.openxmlformats.org/drawingml/2006/main">
            <a:off x="809625" y="5314950"/>
            <a:ext cx="10572750" cy="8572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14171C"/>
                </a:solidFill>
                <a:latin typeface="Arial"/>
                <a:ea typeface="Arial"/>
                <a:cs typeface="Arial"/>
              </a:defRPr>
            </a:pPr>
            <a:r>
              <a:rPr sz="1275" b="0">
                <a:solidFill>
                  <a:srgbClr val="14171C"/>
                </a:solidFill>
                <a:latin typeface="Arial"/>
                <a:ea typeface="Arial"/>
                <a:cs typeface="Arial"/>
              </a:rPr>
              <a:t>Option C: 14.2-year simple payback and about 102 m² of roof.</a:t>
            </a:r>
          </a:p>
          <a:p xmlns:a="http://schemas.openxmlformats.org/drawingml/2006/main">
            <a:pPr algn="l">
              <a:lnSpc>
                <a:spcPct val="120000"/>
              </a:lnSpc>
              <a:buNone/>
              <a:defRPr sz="1275" b="0">
                <a:solidFill>
                  <a:srgbClr val="14171C"/>
                </a:solidFill>
                <a:latin typeface="Arial"/>
                <a:ea typeface="Arial"/>
                <a:cs typeface="Arial"/>
              </a:defRPr>
            </a:pPr>
            <a:r>
              <a:rPr sz="1275" b="0">
                <a:solidFill>
                  <a:srgbClr val="14171C"/>
                </a:solidFill>
                <a:latin typeface="Arial"/>
                <a:ea typeface="Arial"/>
                <a:cs typeface="Arial"/>
              </a:rPr>
              <a:t>*Full battery: 12.16 kWh / (42.4 kWh/day / 24) = 6.88 h. Estimated refrigeration load only.</a:t>
            </a:r>
          </a:p>
          <a:p xmlns:a="http://schemas.openxmlformats.org/drawingml/2006/main">
            <a:pPr algn="l">
              <a:lnSpc>
                <a:spcPct val="120000"/>
              </a:lnSpc>
              <a:buNone/>
              <a:defRPr sz="1275" b="0">
                <a:solidFill>
                  <a:srgbClr val="14171C"/>
                </a:solidFill>
                <a:latin typeface="Arial"/>
                <a:ea typeface="Arial"/>
                <a:cs typeface="Arial"/>
              </a:defRPr>
            </a:pPr>
            <a:r>
              <a:rPr sz="1275" b="0">
                <a:solidFill>
                  <a:srgbClr val="14171C"/>
                </a:solidFill>
                <a:latin typeface="Arial"/>
                <a:ea typeface="Arial"/>
                <a:cs typeface="Arial"/>
              </a:rPr>
              <a:t>Night use reduces backup reserve. Backup requires a compatible inverter with islanding support.</a:t>
            </a:r>
          </a:p>
        </p:txBody>
      </p:sp>
    </p:spTree>
    <p:extLst>
      <p:ext uri="{BB962C8B-B14F-4D97-AF65-F5344CB8AC3E}">
        <p14:creationId xmlns:p14="http://schemas.microsoft.com/office/powerpoint/2010/main" val="1281096495"/>
      </p:ext>
    </p:extLst>
  </p:cSld>
</p:sld>
</file>

<file path=ppt/slides/slide9.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058D485-4C9A-46F6-A2D4-2A473B89D527}"/>
              </a:ext>
            </a:extLst>
          </p:cNvPr>
          <p:cNvSpPr>
            <a:spLocks xmlns:a="http://schemas.openxmlformats.org/drawingml/2006/main" noGrp="1"/>
          </p:cNvSpPr>
          <p:nvPr/>
        </p:nvSpPr>
        <p:spPr>
          <a:xfrm xmlns:a="http://schemas.openxmlformats.org/drawingml/2006/main">
            <a:off x="812800" y="812800"/>
            <a:ext cx="1056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REFERENCE</a:t>
            </a:r>
          </a:p>
        </p:txBody>
      </p:sp>
      <p:sp>
        <p:nvSpPr>
          <p:cNvPr id="3" name="TextBox 2">
            <a:extLst xmlns:a="http://schemas.openxmlformats.org/drawingml/2006/main">
              <a:ext uri="{FF2B5EF4-FFF2-40B4-BE49-F238E27FC236}">
                <a16:creationId xmlns:a16="http://schemas.microsoft.com/office/drawing/2014/main" id="{BBAE35FB-3DB2-472A-9D2C-7E747D64DA2A}"/>
              </a:ext>
            </a:extLst>
          </p:cNvPr>
          <p:cNvSpPr>
            <a:spLocks xmlns:a="http://schemas.openxmlformats.org/drawingml/2006/main" noGrp="1"/>
          </p:cNvSpPr>
          <p:nvPr/>
        </p:nvSpPr>
        <p:spPr>
          <a:xfrm xmlns:a="http://schemas.openxmlformats.org/drawingml/2006/main">
            <a:off x="812800" y="1117600"/>
            <a:ext cx="10566400" cy="508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buNone/>
            </a:pPr>
            <a:r>
              <a:rPr sz="3200" b="1">
                <a:solidFill>
                  <a:srgbClr val="14171C"/>
                </a:solidFill>
                <a:latin typeface="Arial"/>
                <a:ea typeface="Arial"/>
                <a:cs typeface="Arial"/>
              </a:rPr>
              <a:t>Assumptions and open points</a:t>
            </a:r>
          </a:p>
        </p:txBody>
      </p:sp>
      <p:graphicFrame>
        <p:nvGraphicFramePr>
          <p:cNvPr id="9" name="Table 3"/>
          <p:cNvGraphicFramePr/>
          <p:nvPr/>
        </p:nvGraphicFramePr>
        <p:xfrm>
          <a:off xmlns:a="http://schemas.openxmlformats.org/drawingml/2006/main" x="812800" y="1905000"/>
          <a:ext xmlns:a="http://schemas.openxmlformats.org/drawingml/2006/main" cx="10566400" cy="2971800"/>
        </p:xfrm>
        <a:graphic xmlns:a="http://schemas.openxmlformats.org/drawingml/2006/main">
          <a:graphicData uri="http://schemas.openxmlformats.org/drawingml/2006/table">
            <a:tbl>
              <a:tblPr firstRow="1">
                <a:tableStyleId>{5C22544A-7EE6-4342-B048-85BDC9FD1C3A}</a:tableStyleId>
              </a:tblPr>
              <a:tblGrid>
                <a:gridCol w="3168650"/>
                <a:gridCol w="2749550"/>
                <a:gridCol w="4648200"/>
              </a:tblGrid>
              <a:tr h="330200">
                <a:tc>
                  <a:txBody>
                    <a:bodyPr wrap="square"/>
                    <a:lstStyle/>
                    <a:p>
                      <a:r>
                        <a:rPr sz="1200" b="1">
                          <a:solidFill>
                            <a:srgbClr val="14171C"/>
                          </a:solidFill>
                          <a:latin typeface="Arial"/>
                          <a:ea typeface="Arial"/>
                          <a:cs typeface="Arial"/>
                        </a:rPr>
                        <a:t>Item</a:t>
                      </a:r>
                    </a:p>
                  </a:txBody>
                  <a:tcPr marL="88900" marR="88900" marT="50800" marB="50800" anchor="ctr">
                    <a:solidFill>
                      <a:srgbClr val="E6E9ED"/>
                    </a:solidFill>
                  </a:tcPr>
                </a:tc>
                <a:tc>
                  <a:txBody>
                    <a:bodyPr wrap="square"/>
                    <a:lstStyle/>
                    <a:p>
                      <a:r>
                        <a:rPr sz="1200" b="1">
                          <a:solidFill>
                            <a:srgbClr val="14171C"/>
                          </a:solidFill>
                          <a:latin typeface="Arial"/>
                          <a:ea typeface="Arial"/>
                          <a:cs typeface="Arial"/>
                        </a:rPr>
                        <a:t>Value</a:t>
                      </a:r>
                    </a:p>
                  </a:txBody>
                  <a:tcPr marL="88900" marR="88900" marT="50800" marB="50800" anchor="ctr">
                    <a:solidFill>
                      <a:srgbClr val="E6E9ED"/>
                    </a:solidFill>
                  </a:tcPr>
                </a:tc>
                <a:tc>
                  <a:txBody>
                    <a:bodyPr wrap="square"/>
                    <a:lstStyle/>
                    <a:p>
                      <a:r>
                        <a:rPr sz="1200" b="1">
                          <a:solidFill>
                            <a:srgbClr val="14171C"/>
                          </a:solidFill>
                          <a:latin typeface="Arial"/>
                          <a:ea typeface="Arial"/>
                          <a:cs typeface="Arial"/>
                        </a:rPr>
                        <a:t>Source / status</a:t>
                      </a:r>
                    </a:p>
                  </a:txBody>
                  <a:tcPr marL="88900" marR="88900" marT="50800" marB="50800" anchor="ctr">
                    <a:solidFill>
                      <a:srgbClr val="E6E9ED"/>
                    </a:solidFill>
                  </a:tcPr>
                </a:tc>
              </a:tr>
              <a:tr h="330200">
                <a:tc>
                  <a:txBody>
                    <a:bodyPr wrap="square"/>
                    <a:lstStyle/>
                    <a:p>
                      <a:r>
                        <a:rPr sz="1200" b="0">
                          <a:solidFill>
                            <a:srgbClr val="14171C"/>
                          </a:solidFill>
                          <a:latin typeface="Arial"/>
                          <a:ea typeface="Arial"/>
                          <a:cs typeface="Arial"/>
                        </a:rPr>
                        <a:t>Monthly use</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2,421 kWh</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Meter difference. 30-day period assumed</a:t>
                      </a:r>
                    </a:p>
                  </a:txBody>
                  <a:tcPr marL="88900" marR="88900" marT="50800" marB="50800" anchor="ctr">
                    <a:solidFill>
                      <a:srgbClr val="FCFCFD"/>
                    </a:solidFill>
                  </a:tcPr>
                </a:tc>
              </a:tr>
              <a:tr h="330200">
                <a:tc>
                  <a:txBody>
                    <a:bodyPr wrap="square"/>
                    <a:lstStyle/>
                    <a:p>
                      <a:r>
                        <a:rPr sz="1200" b="0">
                          <a:solidFill>
                            <a:srgbClr val="14171C"/>
                          </a:solidFill>
                          <a:latin typeface="Arial"/>
                          <a:ea typeface="Arial"/>
                          <a:cs typeface="Arial"/>
                        </a:rPr>
                        <a:t>Modeled bill</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6,867.22 EGP</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Receipt 8,279 EGP: reconcile the difference</a:t>
                      </a:r>
                    </a:p>
                  </a:txBody>
                  <a:tcPr marL="88900" marR="88900" marT="50800" marB="50800" anchor="ctr">
                    <a:solidFill>
                      <a:srgbClr val="F4F5F7"/>
                    </a:solidFill>
                  </a:tcPr>
                </a:tc>
              </a:tr>
              <a:tr h="330200">
                <a:tc>
                  <a:txBody>
                    <a:bodyPr wrap="square"/>
                    <a:lstStyle/>
                    <a:p>
                      <a:r>
                        <a:rPr sz="1200" b="0">
                          <a:solidFill>
                            <a:srgbClr val="14171C"/>
                          </a:solidFill>
                          <a:latin typeface="Arial"/>
                          <a:ea typeface="Arial"/>
                          <a:cs typeface="Arial"/>
                        </a:rPr>
                        <a:t>Day / night share</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50% / 50%</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Scenario, not a measured hourly profile</a:t>
                      </a:r>
                    </a:p>
                  </a:txBody>
                  <a:tcPr marL="88900" marR="88900" marT="50800" marB="50800" anchor="ctr">
                    <a:solidFill>
                      <a:srgbClr val="FCFCFD"/>
                    </a:solidFill>
                  </a:tcPr>
                </a:tc>
              </a:tr>
              <a:tr h="330200">
                <a:tc>
                  <a:txBody>
                    <a:bodyPr wrap="square"/>
                    <a:lstStyle/>
                    <a:p>
                      <a:r>
                        <a:rPr sz="1200" b="0">
                          <a:solidFill>
                            <a:srgbClr val="14171C"/>
                          </a:solidFill>
                          <a:latin typeface="Arial"/>
                          <a:ea typeface="Arial"/>
                          <a:cs typeface="Arial"/>
                        </a:rPr>
                        <a:t>PV output</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4.98 kWh/kWp/day</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Sizing mean. Monthly PVGIS for finances (10–11)</a:t>
                      </a:r>
                    </a:p>
                  </a:txBody>
                  <a:tcPr marL="88900" marR="88900" marT="50800" marB="50800" anchor="ctr">
                    <a:solidFill>
                      <a:srgbClr val="F4F5F7"/>
                    </a:solidFill>
                  </a:tcPr>
                </a:tc>
              </a:tr>
              <a:tr h="330200">
                <a:tc>
                  <a:txBody>
                    <a:bodyPr wrap="square"/>
                    <a:lstStyle/>
                    <a:p>
                      <a:r>
                        <a:rPr sz="1200" b="0">
                          <a:solidFill>
                            <a:srgbClr val="14171C"/>
                          </a:solidFill>
                          <a:latin typeface="Arial"/>
                          <a:ea typeface="Arial"/>
                          <a:cs typeface="Arial"/>
                        </a:rPr>
                        <a:t>DoD / efficiency</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80% / 95%</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95% lumped once on delivered storage energy</a:t>
                      </a:r>
                    </a:p>
                  </a:txBody>
                  <a:tcPr marL="88900" marR="88900" marT="50800" marB="50800" anchor="ctr">
                    <a:solidFill>
                      <a:srgbClr val="FCFCFD"/>
                    </a:solidFill>
                  </a:tcPr>
                </a:tc>
              </a:tr>
              <a:tr h="330200">
                <a:tc>
                  <a:txBody>
                    <a:bodyPr wrap="square"/>
                    <a:lstStyle/>
                    <a:p>
                      <a:r>
                        <a:rPr sz="1200" b="0">
                          <a:solidFill>
                            <a:srgbClr val="14171C"/>
                          </a:solidFill>
                          <a:latin typeface="Arial"/>
                          <a:ea typeface="Arial"/>
                          <a:cs typeface="Arial"/>
                        </a:rPr>
                        <a:t>Price inputs</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13,640 / 8,000 / 6,000</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EGP per battery kWh / PV kWp / inverter kW</a:t>
                      </a:r>
                    </a:p>
                  </a:txBody>
                  <a:tcPr marL="88900" marR="88900" marT="50800" marB="50800" anchor="ctr">
                    <a:solidFill>
                      <a:srgbClr val="F4F5F7"/>
                    </a:solidFill>
                  </a:tcPr>
                </a:tc>
              </a:tr>
              <a:tr h="330200">
                <a:tc>
                  <a:txBody>
                    <a:bodyPr wrap="square"/>
                    <a:lstStyle/>
                    <a:p>
                      <a:r>
                        <a:rPr sz="1200" b="0">
                          <a:solidFill>
                            <a:srgbClr val="14171C"/>
                          </a:solidFill>
                          <a:latin typeface="Arial"/>
                          <a:ea typeface="Arial"/>
                          <a:cs typeface="Arial"/>
                        </a:rPr>
                        <a:t>Cost exclusions</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O&amp;M / finance / degradation</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Also no replacement, insurance or escalation</a:t>
                      </a:r>
                    </a:p>
                  </a:txBody>
                  <a:tcPr marL="88900" marR="88900" marT="50800" marB="50800" anchor="ctr">
                    <a:solidFill>
                      <a:srgbClr val="FCFCFD"/>
                    </a:solidFill>
                  </a:tcPr>
                </a:tc>
              </a:tr>
              <a:tr h="330200">
                <a:tc>
                  <a:txBody>
                    <a:bodyPr wrap="square"/>
                    <a:lstStyle/>
                    <a:p>
                      <a:r>
                        <a:rPr sz="1200" b="0">
                          <a:solidFill>
                            <a:srgbClr val="14171C"/>
                          </a:solidFill>
                          <a:latin typeface="Arial"/>
                          <a:ea typeface="Arial"/>
                          <a:cs typeface="Arial"/>
                        </a:rPr>
                        <a:t>Annual load</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80.7 kWh/day all year</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Constant-load scenario. Seasonality unknown</a:t>
                      </a:r>
                    </a:p>
                  </a:txBody>
                  <a:tcPr marL="88900" marR="88900" marT="50800" marB="50800" anchor="ctr">
                    <a:solidFill>
                      <a:srgbClr val="F4F5F7"/>
                    </a:solidFill>
                  </a:tcPr>
                </a:tc>
              </a:tr>
            </a:tbl>
          </a:graphicData>
        </a:graphic>
      </p:graphicFrame>
      <p:sp>
        <p:nvSpPr>
          <p:cNvPr id="5" name="TextBox 4">
            <a:extLst xmlns:a="http://schemas.openxmlformats.org/drawingml/2006/main">
              <a:ext uri="{FF2B5EF4-FFF2-40B4-BE49-F238E27FC236}">
                <a16:creationId xmlns:a16="http://schemas.microsoft.com/office/drawing/2014/main" id="{9D620A8C-87E7-4058-9202-3686833B4D8D}"/>
              </a:ext>
            </a:extLst>
          </p:cNvPr>
          <p:cNvSpPr>
            <a:spLocks xmlns:a="http://schemas.openxmlformats.org/drawingml/2006/main" noGrp="1"/>
          </p:cNvSpPr>
          <p:nvPr/>
        </p:nvSpPr>
        <p:spPr>
          <a:xfrm xmlns:a="http://schemas.openxmlformats.org/drawingml/2006/main">
            <a:off x="812800" y="5080000"/>
            <a:ext cx="105664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350" b="0">
                <a:solidFill>
                  <a:srgbClr val="4A5260"/>
                </a:solidFill>
                <a:latin typeface="Arial"/>
                <a:ea typeface="Arial"/>
                <a:cs typeface="Arial"/>
              </a:defRPr>
            </a:pPr>
            <a:r>
              <a:rPr sz="1350" b="0">
                <a:solidFill>
                  <a:srgbClr val="4A5260"/>
                </a:solidFill>
                <a:latin typeface="Arial"/>
                <a:ea typeface="Arial"/>
                <a:cs typeface="Arial"/>
              </a:rPr>
              <a:t>Needed: detailed invoice, actual billing dates, 12 months of consumption, hourly loads, roof survey and motor starting current.</a:t>
            </a:r>
          </a:p>
          <a:p xmlns:a="http://schemas.openxmlformats.org/drawingml/2006/main">
            <a:pPr algn="l">
              <a:lnSpc>
                <a:spcPct val="135000"/>
              </a:lnSpc>
              <a:buNone/>
              <a:defRPr sz="1350" b="0">
                <a:solidFill>
                  <a:srgbClr val="4A5260"/>
                </a:solidFill>
                <a:latin typeface="Arial"/>
                <a:ea typeface="Arial"/>
                <a:cs typeface="Arial"/>
              </a:defRPr>
            </a:pPr>
            <a:r>
              <a:rPr sz="1350" b="0">
                <a:solidFill>
                  <a:srgbClr val="4A5260"/>
                </a:solidFill>
                <a:latin typeface="Arial"/>
                <a:ea typeface="Arial"/>
                <a:cs typeface="Arial"/>
              </a:rPr>
              <a:t>Energy matching assumes all daily solar up to daytime demand can be used directly. Hourly mismatch can lower savings.</a:t>
            </a:r>
          </a:p>
        </p:txBody>
      </p:sp>
    </p:spTree>
    <p:extLst>
      <p:ext uri="{BB962C8B-B14F-4D97-AF65-F5344CB8AC3E}">
        <p14:creationId xmlns:p14="http://schemas.microsoft.com/office/powerpoint/2010/main" val="1095143202"/>
      </p:ext>
    </p:extLst>
  </p:cSld>
</p:sld>
</file>

<file path=ppt/slides/slide10.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399F34-80F4-4818-B0E9-B9007E5E60F1}"/>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B84E0E"/>
                </a:solidFill>
                <a:latin typeface="Arial"/>
                <a:ea typeface="Arial"/>
                <a:cs typeface="Arial"/>
              </a:defRPr>
            </a:pPr>
            <a:r>
              <a:rPr sz="1350" b="1">
                <a:solidFill>
                  <a:srgbClr val="B84E0E"/>
                </a:solidFill>
                <a:latin typeface="Arial"/>
                <a:ea typeface="Arial"/>
                <a:cs typeface="Arial"/>
              </a:rPr>
              <a:t>REFERENCE · PVGIS CAIRO</a:t>
            </a:r>
          </a:p>
        </p:txBody>
      </p:sp>
      <p:sp>
        <p:nvSpPr>
          <p:cNvPr id="2" name="">
            <a:extLst xmlns:a="http://schemas.openxmlformats.org/drawingml/2006/main">
              <a:ext uri="{FF2B5EF4-FFF2-40B4-BE49-F238E27FC236}">
                <a16:creationId xmlns:a16="http://schemas.microsoft.com/office/drawing/2014/main" id="{A07429BA-3B42-4F08-B7DC-B48FB8A7E539}"/>
              </a:ext>
            </a:extLst>
          </p:cNvPr>
          <p:cNvSpPr>
            <a:spLocks xmlns:a="http://schemas.openxmlformats.org/drawingml/2006/main" noGrp="1"/>
          </p:cNvSpPr>
          <p:nvPr/>
        </p:nvSpPr>
        <p:spPr>
          <a:xfrm xmlns:a="http://schemas.openxmlformats.org/drawingml/2006/main">
            <a:off x="809625" y="11144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171C"/>
                </a:solidFill>
                <a:latin typeface="Arial"/>
                <a:ea typeface="Arial"/>
                <a:cs typeface="Arial"/>
              </a:defRPr>
            </a:pPr>
            <a:r>
              <a:rPr sz="3150" b="1">
                <a:solidFill>
                  <a:srgbClr val="14171C"/>
                </a:solidFill>
                <a:latin typeface="Arial"/>
                <a:ea typeface="Arial"/>
                <a:cs typeface="Arial"/>
              </a:rPr>
              <a:t>Monthly solar electricity production</a:t>
            </a:r>
          </a:p>
        </p:txBody>
      </p:sp>
      <p:sp>
        <p:nvSpPr>
          <p:cNvPr id="3" name="">
            <a:extLst xmlns:a="http://schemas.openxmlformats.org/drawingml/2006/main">
              <a:ext uri="{FF2B5EF4-FFF2-40B4-BE49-F238E27FC236}">
                <a16:creationId xmlns:a16="http://schemas.microsoft.com/office/drawing/2014/main" id="{9F6C6EB7-2F59-4F00-A742-236691F1376A}"/>
              </a:ext>
            </a:extLst>
          </p:cNvPr>
          <p:cNvSpPr>
            <a:spLocks xmlns:a="http://schemas.openxmlformats.org/drawingml/2006/main" noGrp="1"/>
          </p:cNvSpPr>
          <p:nvPr/>
        </p:nvSpPr>
        <p:spPr>
          <a:xfrm xmlns:a="http://schemas.openxmlformats.org/drawingml/2006/main">
            <a:off x="809625" y="16859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A5260"/>
                </a:solidFill>
                <a:latin typeface="Arial"/>
                <a:ea typeface="Arial"/>
                <a:cs typeface="Arial"/>
              </a:defRPr>
            </a:pPr>
            <a:r>
              <a:rPr sz="1500" b="0">
                <a:solidFill>
                  <a:srgbClr val="4A5260"/>
                </a:solidFill>
                <a:latin typeface="Arial"/>
                <a:ea typeface="Arial"/>
                <a:cs typeface="Arial"/>
              </a:rPr>
              <a:t>Reference system: 1 kWp. A 550 W panel is shown as an illustrative panel size.</a:t>
            </a:r>
          </a:p>
        </p:txBody>
      </p:sp>
      <p:graphicFrame>
        <p:nvGraphicFramePr>
          <p:cNvPr id="12" name=""/>
          <p:cNvGraphicFramePr/>
          <p:nvPr/>
        </p:nvGraphicFramePr>
        <p:xfrm>
          <a:off xmlns:a="http://schemas.openxmlformats.org/drawingml/2006/main" x="809625" y="2095500"/>
          <a:ext xmlns:a="http://schemas.openxmlformats.org/drawingml/2006/main" cx="10572750" cy="3810000"/>
        </p:xfrm>
        <a:graphic xmlns:a="http://schemas.openxmlformats.org/drawingml/2006/main">
          <a:graphicData uri="http://schemas.openxmlformats.org/drawingml/2006/table">
            <a:tbl>
              <a:tblPr/>
              <a:tblGrid>
                <a:gridCol w="2381250"/>
                <a:gridCol w="2571750"/>
                <a:gridCol w="2762250"/>
                <a:gridCol w="2857500"/>
              </a:tblGrid>
              <a:tr h="476250">
                <a:tc>
                  <a:txBody>
                    <a:bodyPr/>
                    <a:lstStyle/>
                    <a:p>
                      <a:r>
                        <a:rPr sz="1200" b="1">
                          <a:solidFill>
                            <a:srgbClr val="14171C"/>
                          </a:solidFill>
                          <a:latin typeface="Arial"/>
                          <a:ea typeface="Arial"/>
                          <a:cs typeface="Arial"/>
                        </a:rPr>
                        <a:t>Month</a:t>
                      </a:r>
                    </a:p>
                  </a:txBody>
                  <a:tcPr marL="76200" marR="76200" marT="19050" marB="19050">
                    <a:solidFill>
                      <a:srgbClr val="E8EBEF"/>
                    </a:solidFill>
                  </a:tcPr>
                </a:tc>
                <a:tc>
                  <a:txBody>
                    <a:bodyPr/>
                    <a:lstStyle/>
                    <a:p>
                      <a:r>
                        <a:rPr sz="1200" b="1">
                          <a:solidFill>
                            <a:srgbClr val="14171C"/>
                          </a:solidFill>
                          <a:latin typeface="Arial"/>
                          <a:ea typeface="Arial"/>
                          <a:cs typeface="Arial"/>
                        </a:rPr>
                        <a:t>Daily / 1 kWp</a:t>
                      </a:r>
                    </a:p>
                    <a:p>
                      <a:r>
                        <a:rPr sz="1200" b="1">
                          <a:solidFill>
                            <a:srgbClr val="14171C"/>
                          </a:solidFill>
                          <a:latin typeface="Arial"/>
                          <a:ea typeface="Arial"/>
                          <a:cs typeface="Arial"/>
                        </a:rPr>
                        <a:t>(kWh/day)</a:t>
                      </a:r>
                    </a:p>
                  </a:txBody>
                  <a:tcPr marL="76200" marR="76200" marT="19050" marB="19050">
                    <a:solidFill>
                      <a:srgbClr val="E8EBEF"/>
                    </a:solidFill>
                  </a:tcPr>
                </a:tc>
                <a:tc>
                  <a:txBody>
                    <a:bodyPr/>
                    <a:lstStyle/>
                    <a:p>
                      <a:r>
                        <a:rPr sz="1200" b="1">
                          <a:solidFill>
                            <a:srgbClr val="14171C"/>
                          </a:solidFill>
                          <a:latin typeface="Arial"/>
                          <a:ea typeface="Arial"/>
                          <a:cs typeface="Arial"/>
                        </a:rPr>
                        <a:t>Monthly / 1 kWp</a:t>
                      </a:r>
                    </a:p>
                    <a:p>
                      <a:r>
                        <a:rPr sz="1200" b="1">
                          <a:solidFill>
                            <a:srgbClr val="14171C"/>
                          </a:solidFill>
                          <a:latin typeface="Arial"/>
                          <a:ea typeface="Arial"/>
                          <a:cs typeface="Arial"/>
                        </a:rPr>
                        <a:t>(kWh/month)</a:t>
                      </a:r>
                    </a:p>
                  </a:txBody>
                  <a:tcPr marL="76200" marR="76200" marT="19050" marB="19050">
                    <a:solidFill>
                      <a:srgbClr val="E8EBEF"/>
                    </a:solidFill>
                  </a:tcPr>
                </a:tc>
                <a:tc>
                  <a:txBody>
                    <a:bodyPr/>
                    <a:lstStyle/>
                    <a:p>
                      <a:r>
                        <a:rPr sz="1200" b="1">
                          <a:solidFill>
                            <a:srgbClr val="14171C"/>
                          </a:solidFill>
                          <a:latin typeface="Arial"/>
                          <a:ea typeface="Arial"/>
                          <a:cs typeface="Arial"/>
                        </a:rPr>
                        <a:t>Daily / 550 W panel</a:t>
                      </a:r>
                    </a:p>
                    <a:p>
                      <a:r>
                        <a:rPr sz="1200" b="1">
                          <a:solidFill>
                            <a:srgbClr val="14171C"/>
                          </a:solidFill>
                          <a:latin typeface="Arial"/>
                          <a:ea typeface="Arial"/>
                          <a:cs typeface="Arial"/>
                        </a:rPr>
                        <a:t>(kWh/day)</a:t>
                      </a:r>
                    </a:p>
                  </a:txBody>
                  <a:tcPr marL="76200" marR="76200" marT="19050" marB="19050">
                    <a:solidFill>
                      <a:srgbClr val="E8EBEF"/>
                    </a:solidFill>
                  </a:tcPr>
                </a:tc>
              </a:tr>
              <a:tr h="285750">
                <a:tc>
                  <a:txBody>
                    <a:bodyPr/>
                    <a:lstStyle/>
                    <a:p>
                      <a:r>
                        <a:rPr sz="1275" b="0">
                          <a:solidFill>
                            <a:srgbClr val="14171C"/>
                          </a:solidFill>
                          <a:latin typeface="Arial"/>
                          <a:ea typeface="Arial"/>
                          <a:cs typeface="Arial"/>
                        </a:rPr>
                        <a:t>January</a:t>
                      </a:r>
                    </a:p>
                  </a:txBody>
                  <a:tcPr marL="76200" marR="76200" marT="19050" marB="19050">
                    <a:solidFill>
                      <a:srgbClr val="FCFCFD"/>
                    </a:solidFill>
                  </a:tcPr>
                </a:tc>
                <a:tc>
                  <a:txBody>
                    <a:bodyPr/>
                    <a:lstStyle/>
                    <a:p>
                      <a:r>
                        <a:rPr sz="1275" b="0">
                          <a:solidFill>
                            <a:srgbClr val="14171C"/>
                          </a:solidFill>
                          <a:latin typeface="Arial"/>
                          <a:ea typeface="Arial"/>
                          <a:cs typeface="Arial"/>
                        </a:rPr>
                        <a:t>4.24</a:t>
                      </a:r>
                    </a:p>
                  </a:txBody>
                  <a:tcPr marL="76200" marR="76200" marT="19050" marB="19050">
                    <a:solidFill>
                      <a:srgbClr val="FCFCFD"/>
                    </a:solidFill>
                  </a:tcPr>
                </a:tc>
                <a:tc>
                  <a:txBody>
                    <a:bodyPr/>
                    <a:lstStyle/>
                    <a:p>
                      <a:r>
                        <a:rPr sz="1275" b="0">
                          <a:solidFill>
                            <a:srgbClr val="14171C"/>
                          </a:solidFill>
                          <a:latin typeface="Arial"/>
                          <a:ea typeface="Arial"/>
                          <a:cs typeface="Arial"/>
                        </a:rPr>
                        <a:t>131.30</a:t>
                      </a:r>
                    </a:p>
                  </a:txBody>
                  <a:tcPr marL="76200" marR="76200" marT="19050" marB="19050">
                    <a:solidFill>
                      <a:srgbClr val="FCFCFD"/>
                    </a:solidFill>
                  </a:tcPr>
                </a:tc>
                <a:tc>
                  <a:txBody>
                    <a:bodyPr/>
                    <a:lstStyle/>
                    <a:p>
                      <a:r>
                        <a:rPr sz="1275" b="0">
                          <a:solidFill>
                            <a:srgbClr val="14171C"/>
                          </a:solidFill>
                          <a:latin typeface="Arial"/>
                          <a:ea typeface="Arial"/>
                          <a:cs typeface="Arial"/>
                        </a:rPr>
                        <a:t>2.33</a:t>
                      </a:r>
                    </a:p>
                  </a:txBody>
                  <a:tcPr marL="76200" marR="76200" marT="19050" marB="19050">
                    <a:solidFill>
                      <a:srgbClr val="FCFCFD"/>
                    </a:solidFill>
                  </a:tcPr>
                </a:tc>
              </a:tr>
              <a:tr h="285750">
                <a:tc>
                  <a:txBody>
                    <a:bodyPr/>
                    <a:lstStyle/>
                    <a:p>
                      <a:r>
                        <a:rPr sz="1275" b="0">
                          <a:solidFill>
                            <a:srgbClr val="14171C"/>
                          </a:solidFill>
                          <a:latin typeface="Arial"/>
                          <a:ea typeface="Arial"/>
                          <a:cs typeface="Arial"/>
                        </a:rPr>
                        <a:t>February</a:t>
                      </a:r>
                    </a:p>
                  </a:txBody>
                  <a:tcPr marL="76200" marR="76200" marT="19050" marB="19050">
                    <a:solidFill>
                      <a:srgbClr val="F4F5F7"/>
                    </a:solidFill>
                  </a:tcPr>
                </a:tc>
                <a:tc>
                  <a:txBody>
                    <a:bodyPr/>
                    <a:lstStyle/>
                    <a:p>
                      <a:r>
                        <a:rPr sz="1275" b="0">
                          <a:solidFill>
                            <a:srgbClr val="14171C"/>
                          </a:solidFill>
                          <a:latin typeface="Arial"/>
                          <a:ea typeface="Arial"/>
                          <a:cs typeface="Arial"/>
                        </a:rPr>
                        <a:t>4.62</a:t>
                      </a:r>
                    </a:p>
                  </a:txBody>
                  <a:tcPr marL="76200" marR="76200" marT="19050" marB="19050">
                    <a:solidFill>
                      <a:srgbClr val="F4F5F7"/>
                    </a:solidFill>
                  </a:tcPr>
                </a:tc>
                <a:tc>
                  <a:txBody>
                    <a:bodyPr/>
                    <a:lstStyle/>
                    <a:p>
                      <a:r>
                        <a:rPr sz="1275" b="0">
                          <a:solidFill>
                            <a:srgbClr val="14171C"/>
                          </a:solidFill>
                          <a:latin typeface="Arial"/>
                          <a:ea typeface="Arial"/>
                          <a:cs typeface="Arial"/>
                        </a:rPr>
                        <a:t>129.45</a:t>
                      </a:r>
                    </a:p>
                  </a:txBody>
                  <a:tcPr marL="76200" marR="76200" marT="19050" marB="19050">
                    <a:solidFill>
                      <a:srgbClr val="F4F5F7"/>
                    </a:solidFill>
                  </a:tcPr>
                </a:tc>
                <a:tc>
                  <a:txBody>
                    <a:bodyPr/>
                    <a:lstStyle/>
                    <a:p>
                      <a:r>
                        <a:rPr sz="1275" b="0">
                          <a:solidFill>
                            <a:srgbClr val="14171C"/>
                          </a:solidFill>
                          <a:latin typeface="Arial"/>
                          <a:ea typeface="Arial"/>
                          <a:cs typeface="Arial"/>
                        </a:rPr>
                        <a:t>2.54</a:t>
                      </a:r>
                    </a:p>
                  </a:txBody>
                  <a:tcPr marL="76200" marR="76200" marT="19050" marB="19050">
                    <a:solidFill>
                      <a:srgbClr val="F4F5F7"/>
                    </a:solidFill>
                  </a:tcPr>
                </a:tc>
              </a:tr>
              <a:tr h="285750">
                <a:tc>
                  <a:txBody>
                    <a:bodyPr/>
                    <a:lstStyle/>
                    <a:p>
                      <a:r>
                        <a:rPr sz="1275" b="0">
                          <a:solidFill>
                            <a:srgbClr val="14171C"/>
                          </a:solidFill>
                          <a:latin typeface="Arial"/>
                          <a:ea typeface="Arial"/>
                          <a:cs typeface="Arial"/>
                        </a:rPr>
                        <a:t>March</a:t>
                      </a:r>
                    </a:p>
                  </a:txBody>
                  <a:tcPr marL="76200" marR="76200" marT="19050" marB="19050">
                    <a:solidFill>
                      <a:srgbClr val="FCFCFD"/>
                    </a:solidFill>
                  </a:tcPr>
                </a:tc>
                <a:tc>
                  <a:txBody>
                    <a:bodyPr/>
                    <a:lstStyle/>
                    <a:p>
                      <a:r>
                        <a:rPr sz="1275" b="0">
                          <a:solidFill>
                            <a:srgbClr val="14171C"/>
                          </a:solidFill>
                          <a:latin typeface="Arial"/>
                          <a:ea typeface="Arial"/>
                          <a:cs typeface="Arial"/>
                        </a:rPr>
                        <a:t>5.20</a:t>
                      </a:r>
                    </a:p>
                  </a:txBody>
                  <a:tcPr marL="76200" marR="76200" marT="19050" marB="19050">
                    <a:solidFill>
                      <a:srgbClr val="FCFCFD"/>
                    </a:solidFill>
                  </a:tcPr>
                </a:tc>
                <a:tc>
                  <a:txBody>
                    <a:bodyPr/>
                    <a:lstStyle/>
                    <a:p>
                      <a:r>
                        <a:rPr sz="1275" b="0">
                          <a:solidFill>
                            <a:srgbClr val="14171C"/>
                          </a:solidFill>
                          <a:latin typeface="Arial"/>
                          <a:ea typeface="Arial"/>
                          <a:cs typeface="Arial"/>
                        </a:rPr>
                        <a:t>161.06</a:t>
                      </a:r>
                    </a:p>
                  </a:txBody>
                  <a:tcPr marL="76200" marR="76200" marT="19050" marB="19050">
                    <a:solidFill>
                      <a:srgbClr val="FCFCFD"/>
                    </a:solidFill>
                  </a:tcPr>
                </a:tc>
                <a:tc>
                  <a:txBody>
                    <a:bodyPr/>
                    <a:lstStyle/>
                    <a:p>
                      <a:r>
                        <a:rPr sz="1275" b="0">
                          <a:solidFill>
                            <a:srgbClr val="14171C"/>
                          </a:solidFill>
                          <a:latin typeface="Arial"/>
                          <a:ea typeface="Arial"/>
                          <a:cs typeface="Arial"/>
                        </a:rPr>
                        <a:t>2.86</a:t>
                      </a:r>
                    </a:p>
                  </a:txBody>
                  <a:tcPr marL="76200" marR="76200" marT="19050" marB="19050">
                    <a:solidFill>
                      <a:srgbClr val="FCFCFD"/>
                    </a:solidFill>
                  </a:tcPr>
                </a:tc>
              </a:tr>
              <a:tr h="285750">
                <a:tc>
                  <a:txBody>
                    <a:bodyPr/>
                    <a:lstStyle/>
                    <a:p>
                      <a:r>
                        <a:rPr sz="1275" b="0">
                          <a:solidFill>
                            <a:srgbClr val="14171C"/>
                          </a:solidFill>
                          <a:latin typeface="Arial"/>
                          <a:ea typeface="Arial"/>
                          <a:cs typeface="Arial"/>
                        </a:rPr>
                        <a:t>April</a:t>
                      </a:r>
                    </a:p>
                  </a:txBody>
                  <a:tcPr marL="76200" marR="76200" marT="19050" marB="19050">
                    <a:solidFill>
                      <a:srgbClr val="F4F5F7"/>
                    </a:solidFill>
                  </a:tcPr>
                </a:tc>
                <a:tc>
                  <a:txBody>
                    <a:bodyPr/>
                    <a:lstStyle/>
                    <a:p>
                      <a:r>
                        <a:rPr sz="1275" b="0">
                          <a:solidFill>
                            <a:srgbClr val="14171C"/>
                          </a:solidFill>
                          <a:latin typeface="Arial"/>
                          <a:ea typeface="Arial"/>
                          <a:cs typeface="Arial"/>
                        </a:rPr>
                        <a:t>5.36</a:t>
                      </a:r>
                    </a:p>
                  </a:txBody>
                  <a:tcPr marL="76200" marR="76200" marT="19050" marB="19050">
                    <a:solidFill>
                      <a:srgbClr val="F4F5F7"/>
                    </a:solidFill>
                  </a:tcPr>
                </a:tc>
                <a:tc>
                  <a:txBody>
                    <a:bodyPr/>
                    <a:lstStyle/>
                    <a:p>
                      <a:r>
                        <a:rPr sz="1275" b="0">
                          <a:solidFill>
                            <a:srgbClr val="14171C"/>
                          </a:solidFill>
                          <a:latin typeface="Arial"/>
                          <a:ea typeface="Arial"/>
                          <a:cs typeface="Arial"/>
                        </a:rPr>
                        <a:t>160.86</a:t>
                      </a:r>
                    </a:p>
                  </a:txBody>
                  <a:tcPr marL="76200" marR="76200" marT="19050" marB="19050">
                    <a:solidFill>
                      <a:srgbClr val="F4F5F7"/>
                    </a:solidFill>
                  </a:tcPr>
                </a:tc>
                <a:tc>
                  <a:txBody>
                    <a:bodyPr/>
                    <a:lstStyle/>
                    <a:p>
                      <a:r>
                        <a:rPr sz="1275" b="0">
                          <a:solidFill>
                            <a:srgbClr val="14171C"/>
                          </a:solidFill>
                          <a:latin typeface="Arial"/>
                          <a:ea typeface="Arial"/>
                          <a:cs typeface="Arial"/>
                        </a:rPr>
                        <a:t>2.95</a:t>
                      </a:r>
                    </a:p>
                  </a:txBody>
                  <a:tcPr marL="76200" marR="76200" marT="19050" marB="19050">
                    <a:solidFill>
                      <a:srgbClr val="F4F5F7"/>
                    </a:solidFill>
                  </a:tcPr>
                </a:tc>
              </a:tr>
              <a:tr h="285750">
                <a:tc>
                  <a:txBody>
                    <a:bodyPr/>
                    <a:lstStyle/>
                    <a:p>
                      <a:r>
                        <a:rPr sz="1275" b="0">
                          <a:solidFill>
                            <a:srgbClr val="14171C"/>
                          </a:solidFill>
                          <a:latin typeface="Arial"/>
                          <a:ea typeface="Arial"/>
                          <a:cs typeface="Arial"/>
                        </a:rPr>
                        <a:t>May</a:t>
                      </a:r>
                    </a:p>
                  </a:txBody>
                  <a:tcPr marL="76200" marR="76200" marT="19050" marB="19050">
                    <a:solidFill>
                      <a:srgbClr val="FCFCFD"/>
                    </a:solidFill>
                  </a:tcPr>
                </a:tc>
                <a:tc>
                  <a:txBody>
                    <a:bodyPr/>
                    <a:lstStyle/>
                    <a:p>
                      <a:r>
                        <a:rPr sz="1275" b="0">
                          <a:solidFill>
                            <a:srgbClr val="14171C"/>
                          </a:solidFill>
                          <a:latin typeface="Arial"/>
                          <a:ea typeface="Arial"/>
                          <a:cs typeface="Arial"/>
                        </a:rPr>
                        <a:t>5.25</a:t>
                      </a:r>
                    </a:p>
                  </a:txBody>
                  <a:tcPr marL="76200" marR="76200" marT="19050" marB="19050">
                    <a:solidFill>
                      <a:srgbClr val="FCFCFD"/>
                    </a:solidFill>
                  </a:tcPr>
                </a:tc>
                <a:tc>
                  <a:txBody>
                    <a:bodyPr/>
                    <a:lstStyle/>
                    <a:p>
                      <a:r>
                        <a:rPr sz="1275" b="0">
                          <a:solidFill>
                            <a:srgbClr val="14171C"/>
                          </a:solidFill>
                          <a:latin typeface="Arial"/>
                          <a:ea typeface="Arial"/>
                          <a:cs typeface="Arial"/>
                        </a:rPr>
                        <a:t>162.72</a:t>
                      </a:r>
                    </a:p>
                  </a:txBody>
                  <a:tcPr marL="76200" marR="76200" marT="19050" marB="19050">
                    <a:solidFill>
                      <a:srgbClr val="FCFCFD"/>
                    </a:solidFill>
                  </a:tcPr>
                </a:tc>
                <a:tc>
                  <a:txBody>
                    <a:bodyPr/>
                    <a:lstStyle/>
                    <a:p>
                      <a:r>
                        <a:rPr sz="1275" b="0">
                          <a:solidFill>
                            <a:srgbClr val="14171C"/>
                          </a:solidFill>
                          <a:latin typeface="Arial"/>
                          <a:ea typeface="Arial"/>
                          <a:cs typeface="Arial"/>
                        </a:rPr>
                        <a:t>2.89</a:t>
                      </a:r>
                    </a:p>
                  </a:txBody>
                  <a:tcPr marL="76200" marR="76200" marT="19050" marB="19050">
                    <a:solidFill>
                      <a:srgbClr val="FCFCFD"/>
                    </a:solidFill>
                  </a:tcPr>
                </a:tc>
              </a:tr>
              <a:tr h="285750">
                <a:tc>
                  <a:txBody>
                    <a:bodyPr/>
                    <a:lstStyle/>
                    <a:p>
                      <a:r>
                        <a:rPr sz="1275" b="0">
                          <a:solidFill>
                            <a:srgbClr val="14171C"/>
                          </a:solidFill>
                          <a:latin typeface="Arial"/>
                          <a:ea typeface="Arial"/>
                          <a:cs typeface="Arial"/>
                        </a:rPr>
                        <a:t>June</a:t>
                      </a:r>
                    </a:p>
                  </a:txBody>
                  <a:tcPr marL="76200" marR="76200" marT="19050" marB="19050">
                    <a:solidFill>
                      <a:srgbClr val="F4F5F7"/>
                    </a:solidFill>
                  </a:tcPr>
                </a:tc>
                <a:tc>
                  <a:txBody>
                    <a:bodyPr/>
                    <a:lstStyle/>
                    <a:p>
                      <a:r>
                        <a:rPr sz="1275" b="0">
                          <a:solidFill>
                            <a:srgbClr val="14171C"/>
                          </a:solidFill>
                          <a:latin typeface="Arial"/>
                          <a:ea typeface="Arial"/>
                          <a:cs typeface="Arial"/>
                        </a:rPr>
                        <a:t>5.29</a:t>
                      </a:r>
                    </a:p>
                  </a:txBody>
                  <a:tcPr marL="76200" marR="76200" marT="19050" marB="19050">
                    <a:solidFill>
                      <a:srgbClr val="F4F5F7"/>
                    </a:solidFill>
                  </a:tcPr>
                </a:tc>
                <a:tc>
                  <a:txBody>
                    <a:bodyPr/>
                    <a:lstStyle/>
                    <a:p>
                      <a:r>
                        <a:rPr sz="1275" b="0">
                          <a:solidFill>
                            <a:srgbClr val="14171C"/>
                          </a:solidFill>
                          <a:latin typeface="Arial"/>
                          <a:ea typeface="Arial"/>
                          <a:cs typeface="Arial"/>
                        </a:rPr>
                        <a:t>158.62</a:t>
                      </a:r>
                    </a:p>
                  </a:txBody>
                  <a:tcPr marL="76200" marR="76200" marT="19050" marB="19050">
                    <a:solidFill>
                      <a:srgbClr val="F4F5F7"/>
                    </a:solidFill>
                  </a:tcPr>
                </a:tc>
                <a:tc>
                  <a:txBody>
                    <a:bodyPr/>
                    <a:lstStyle/>
                    <a:p>
                      <a:r>
                        <a:rPr sz="1275" b="0">
                          <a:solidFill>
                            <a:srgbClr val="14171C"/>
                          </a:solidFill>
                          <a:latin typeface="Arial"/>
                          <a:ea typeface="Arial"/>
                          <a:cs typeface="Arial"/>
                        </a:rPr>
                        <a:t>2.91</a:t>
                      </a:r>
                    </a:p>
                  </a:txBody>
                  <a:tcPr marL="76200" marR="76200" marT="19050" marB="19050">
                    <a:solidFill>
                      <a:srgbClr val="F4F5F7"/>
                    </a:solidFill>
                  </a:tcPr>
                </a:tc>
              </a:tr>
              <a:tr h="285750">
                <a:tc>
                  <a:txBody>
                    <a:bodyPr/>
                    <a:lstStyle/>
                    <a:p>
                      <a:r>
                        <a:rPr sz="1275" b="0">
                          <a:solidFill>
                            <a:srgbClr val="14171C"/>
                          </a:solidFill>
                          <a:latin typeface="Arial"/>
                          <a:ea typeface="Arial"/>
                          <a:cs typeface="Arial"/>
                        </a:rPr>
                        <a:t>July</a:t>
                      </a:r>
                    </a:p>
                  </a:txBody>
                  <a:tcPr marL="76200" marR="76200" marT="19050" marB="19050">
                    <a:solidFill>
                      <a:srgbClr val="FCFCFD"/>
                    </a:solidFill>
                  </a:tcPr>
                </a:tc>
                <a:tc>
                  <a:txBody>
                    <a:bodyPr/>
                    <a:lstStyle/>
                    <a:p>
                      <a:r>
                        <a:rPr sz="1275" b="0">
                          <a:solidFill>
                            <a:srgbClr val="14171C"/>
                          </a:solidFill>
                          <a:latin typeface="Arial"/>
                          <a:ea typeface="Arial"/>
                          <a:cs typeface="Arial"/>
                        </a:rPr>
                        <a:t>5.31</a:t>
                      </a:r>
                    </a:p>
                  </a:txBody>
                  <a:tcPr marL="76200" marR="76200" marT="19050" marB="19050">
                    <a:solidFill>
                      <a:srgbClr val="FCFCFD"/>
                    </a:solidFill>
                  </a:tcPr>
                </a:tc>
                <a:tc>
                  <a:txBody>
                    <a:bodyPr/>
                    <a:lstStyle/>
                    <a:p>
                      <a:r>
                        <a:rPr sz="1275" b="0">
                          <a:solidFill>
                            <a:srgbClr val="14171C"/>
                          </a:solidFill>
                          <a:latin typeface="Arial"/>
                          <a:ea typeface="Arial"/>
                          <a:cs typeface="Arial"/>
                        </a:rPr>
                        <a:t>164.66</a:t>
                      </a:r>
                    </a:p>
                  </a:txBody>
                  <a:tcPr marL="76200" marR="76200" marT="19050" marB="19050">
                    <a:solidFill>
                      <a:srgbClr val="FCFCFD"/>
                    </a:solidFill>
                  </a:tcPr>
                </a:tc>
                <a:tc>
                  <a:txBody>
                    <a:bodyPr/>
                    <a:lstStyle/>
                    <a:p>
                      <a:r>
                        <a:rPr sz="1275" b="0">
                          <a:solidFill>
                            <a:srgbClr val="14171C"/>
                          </a:solidFill>
                          <a:latin typeface="Arial"/>
                          <a:ea typeface="Arial"/>
                          <a:cs typeface="Arial"/>
                        </a:rPr>
                        <a:t>2.92</a:t>
                      </a:r>
                    </a:p>
                  </a:txBody>
                  <a:tcPr marL="76200" marR="76200" marT="19050" marB="19050">
                    <a:solidFill>
                      <a:srgbClr val="FCFCFD"/>
                    </a:solidFill>
                  </a:tcPr>
                </a:tc>
              </a:tr>
              <a:tr h="285750">
                <a:tc>
                  <a:txBody>
                    <a:bodyPr/>
                    <a:lstStyle/>
                    <a:p>
                      <a:r>
                        <a:rPr sz="1275" b="0">
                          <a:solidFill>
                            <a:srgbClr val="14171C"/>
                          </a:solidFill>
                          <a:latin typeface="Arial"/>
                          <a:ea typeface="Arial"/>
                          <a:cs typeface="Arial"/>
                        </a:rPr>
                        <a:t>August</a:t>
                      </a:r>
                    </a:p>
                  </a:txBody>
                  <a:tcPr marL="76200" marR="76200" marT="19050" marB="19050">
                    <a:solidFill>
                      <a:srgbClr val="F4F5F7"/>
                    </a:solidFill>
                  </a:tcPr>
                </a:tc>
                <a:tc>
                  <a:txBody>
                    <a:bodyPr/>
                    <a:lstStyle/>
                    <a:p>
                      <a:r>
                        <a:rPr sz="1275" b="0">
                          <a:solidFill>
                            <a:srgbClr val="14171C"/>
                          </a:solidFill>
                          <a:latin typeface="Arial"/>
                          <a:ea typeface="Arial"/>
                          <a:cs typeface="Arial"/>
                        </a:rPr>
                        <a:t>5.38</a:t>
                      </a:r>
                    </a:p>
                  </a:txBody>
                  <a:tcPr marL="76200" marR="76200" marT="19050" marB="19050">
                    <a:solidFill>
                      <a:srgbClr val="F4F5F7"/>
                    </a:solidFill>
                  </a:tcPr>
                </a:tc>
                <a:tc>
                  <a:txBody>
                    <a:bodyPr/>
                    <a:lstStyle/>
                    <a:p>
                      <a:r>
                        <a:rPr sz="1275" b="0">
                          <a:solidFill>
                            <a:srgbClr val="14171C"/>
                          </a:solidFill>
                          <a:latin typeface="Arial"/>
                          <a:ea typeface="Arial"/>
                          <a:cs typeface="Arial"/>
                        </a:rPr>
                        <a:t>166.80</a:t>
                      </a:r>
                    </a:p>
                  </a:txBody>
                  <a:tcPr marL="76200" marR="76200" marT="19050" marB="19050">
                    <a:solidFill>
                      <a:srgbClr val="F4F5F7"/>
                    </a:solidFill>
                  </a:tcPr>
                </a:tc>
                <a:tc>
                  <a:txBody>
                    <a:bodyPr/>
                    <a:lstStyle/>
                    <a:p>
                      <a:r>
                        <a:rPr sz="1275" b="0">
                          <a:solidFill>
                            <a:srgbClr val="14171C"/>
                          </a:solidFill>
                          <a:latin typeface="Arial"/>
                          <a:ea typeface="Arial"/>
                          <a:cs typeface="Arial"/>
                        </a:rPr>
                        <a:t>2.96</a:t>
                      </a:r>
                    </a:p>
                  </a:txBody>
                  <a:tcPr marL="76200" marR="76200" marT="19050" marB="19050">
                    <a:solidFill>
                      <a:srgbClr val="F4F5F7"/>
                    </a:solidFill>
                  </a:tcPr>
                </a:tc>
              </a:tr>
              <a:tr h="285750">
                <a:tc>
                  <a:txBody>
                    <a:bodyPr/>
                    <a:lstStyle/>
                    <a:p>
                      <a:r>
                        <a:rPr sz="1275" b="0">
                          <a:solidFill>
                            <a:srgbClr val="14171C"/>
                          </a:solidFill>
                          <a:latin typeface="Arial"/>
                          <a:ea typeface="Arial"/>
                          <a:cs typeface="Arial"/>
                        </a:rPr>
                        <a:t>September</a:t>
                      </a:r>
                    </a:p>
                  </a:txBody>
                  <a:tcPr marL="76200" marR="76200" marT="19050" marB="19050">
                    <a:solidFill>
                      <a:srgbClr val="FCFCFD"/>
                    </a:solidFill>
                  </a:tcPr>
                </a:tc>
                <a:tc>
                  <a:txBody>
                    <a:bodyPr/>
                    <a:lstStyle/>
                    <a:p>
                      <a:r>
                        <a:rPr sz="1275" b="0">
                          <a:solidFill>
                            <a:srgbClr val="14171C"/>
                          </a:solidFill>
                          <a:latin typeface="Arial"/>
                          <a:ea typeface="Arial"/>
                          <a:cs typeface="Arial"/>
                        </a:rPr>
                        <a:t>5.37</a:t>
                      </a:r>
                    </a:p>
                  </a:txBody>
                  <a:tcPr marL="76200" marR="76200" marT="19050" marB="19050">
                    <a:solidFill>
                      <a:srgbClr val="FCFCFD"/>
                    </a:solidFill>
                  </a:tcPr>
                </a:tc>
                <a:tc>
                  <a:txBody>
                    <a:bodyPr/>
                    <a:lstStyle/>
                    <a:p>
                      <a:r>
                        <a:rPr sz="1275" b="0">
                          <a:solidFill>
                            <a:srgbClr val="14171C"/>
                          </a:solidFill>
                          <a:latin typeface="Arial"/>
                          <a:ea typeface="Arial"/>
                          <a:cs typeface="Arial"/>
                        </a:rPr>
                        <a:t>161.00</a:t>
                      </a:r>
                    </a:p>
                  </a:txBody>
                  <a:tcPr marL="76200" marR="76200" marT="19050" marB="19050">
                    <a:solidFill>
                      <a:srgbClr val="FCFCFD"/>
                    </a:solidFill>
                  </a:tcPr>
                </a:tc>
                <a:tc>
                  <a:txBody>
                    <a:bodyPr/>
                    <a:lstStyle/>
                    <a:p>
                      <a:r>
                        <a:rPr sz="1275" b="0">
                          <a:solidFill>
                            <a:srgbClr val="14171C"/>
                          </a:solidFill>
                          <a:latin typeface="Arial"/>
                          <a:ea typeface="Arial"/>
                          <a:cs typeface="Arial"/>
                        </a:rPr>
                        <a:t>2.95</a:t>
                      </a:r>
                    </a:p>
                  </a:txBody>
                  <a:tcPr marL="76200" marR="76200" marT="19050" marB="19050">
                    <a:solidFill>
                      <a:srgbClr val="FCFCFD"/>
                    </a:solidFill>
                  </a:tcPr>
                </a:tc>
              </a:tr>
              <a:tr h="285750">
                <a:tc>
                  <a:txBody>
                    <a:bodyPr/>
                    <a:lstStyle/>
                    <a:p>
                      <a:r>
                        <a:rPr sz="1275" b="0">
                          <a:solidFill>
                            <a:srgbClr val="14171C"/>
                          </a:solidFill>
                          <a:latin typeface="Arial"/>
                          <a:ea typeface="Arial"/>
                          <a:cs typeface="Arial"/>
                        </a:rPr>
                        <a:t>October</a:t>
                      </a:r>
                    </a:p>
                  </a:txBody>
                  <a:tcPr marL="76200" marR="76200" marT="19050" marB="19050">
                    <a:solidFill>
                      <a:srgbClr val="F4F5F7"/>
                    </a:solidFill>
                  </a:tcPr>
                </a:tc>
                <a:tc>
                  <a:txBody>
                    <a:bodyPr/>
                    <a:lstStyle/>
                    <a:p>
                      <a:r>
                        <a:rPr sz="1275" b="0">
                          <a:solidFill>
                            <a:srgbClr val="14171C"/>
                          </a:solidFill>
                          <a:latin typeface="Arial"/>
                          <a:ea typeface="Arial"/>
                          <a:cs typeface="Arial"/>
                        </a:rPr>
                        <a:t>4.98</a:t>
                      </a:r>
                    </a:p>
                  </a:txBody>
                  <a:tcPr marL="76200" marR="76200" marT="19050" marB="19050">
                    <a:solidFill>
                      <a:srgbClr val="F4F5F7"/>
                    </a:solidFill>
                  </a:tcPr>
                </a:tc>
                <a:tc>
                  <a:txBody>
                    <a:bodyPr/>
                    <a:lstStyle/>
                    <a:p>
                      <a:r>
                        <a:rPr sz="1275" b="0">
                          <a:solidFill>
                            <a:srgbClr val="14171C"/>
                          </a:solidFill>
                          <a:latin typeface="Arial"/>
                          <a:ea typeface="Arial"/>
                          <a:cs typeface="Arial"/>
                        </a:rPr>
                        <a:t>154.53</a:t>
                      </a:r>
                    </a:p>
                  </a:txBody>
                  <a:tcPr marL="76200" marR="76200" marT="19050" marB="19050">
                    <a:solidFill>
                      <a:srgbClr val="F4F5F7"/>
                    </a:solidFill>
                  </a:tcPr>
                </a:tc>
                <a:tc>
                  <a:txBody>
                    <a:bodyPr/>
                    <a:lstStyle/>
                    <a:p>
                      <a:r>
                        <a:rPr sz="1275" b="0">
                          <a:solidFill>
                            <a:srgbClr val="14171C"/>
                          </a:solidFill>
                          <a:latin typeface="Arial"/>
                          <a:ea typeface="Arial"/>
                          <a:cs typeface="Arial"/>
                        </a:rPr>
                        <a:t>2.74</a:t>
                      </a:r>
                    </a:p>
                  </a:txBody>
                  <a:tcPr marL="76200" marR="76200" marT="19050" marB="19050">
                    <a:solidFill>
                      <a:srgbClr val="F4F5F7"/>
                    </a:solidFill>
                  </a:tcPr>
                </a:tc>
              </a:tr>
              <a:tr h="285750">
                <a:tc>
                  <a:txBody>
                    <a:bodyPr/>
                    <a:lstStyle/>
                    <a:p>
                      <a:r>
                        <a:rPr sz="1275" b="0">
                          <a:solidFill>
                            <a:srgbClr val="14171C"/>
                          </a:solidFill>
                          <a:latin typeface="Arial"/>
                          <a:ea typeface="Arial"/>
                          <a:cs typeface="Arial"/>
                        </a:rPr>
                        <a:t>November</a:t>
                      </a:r>
                    </a:p>
                  </a:txBody>
                  <a:tcPr marL="76200" marR="76200" marT="19050" marB="19050">
                    <a:solidFill>
                      <a:srgbClr val="FCFCFD"/>
                    </a:solidFill>
                  </a:tcPr>
                </a:tc>
                <a:tc>
                  <a:txBody>
                    <a:bodyPr/>
                    <a:lstStyle/>
                    <a:p>
                      <a:r>
                        <a:rPr sz="1275" b="0">
                          <a:solidFill>
                            <a:srgbClr val="14171C"/>
                          </a:solidFill>
                          <a:latin typeface="Arial"/>
                          <a:ea typeface="Arial"/>
                          <a:cs typeface="Arial"/>
                        </a:rPr>
                        <a:t>4.57</a:t>
                      </a:r>
                    </a:p>
                  </a:txBody>
                  <a:tcPr marL="76200" marR="76200" marT="19050" marB="19050">
                    <a:solidFill>
                      <a:srgbClr val="FCFCFD"/>
                    </a:solidFill>
                  </a:tcPr>
                </a:tc>
                <a:tc>
                  <a:txBody>
                    <a:bodyPr/>
                    <a:lstStyle/>
                    <a:p>
                      <a:r>
                        <a:rPr sz="1275" b="0">
                          <a:solidFill>
                            <a:srgbClr val="14171C"/>
                          </a:solidFill>
                          <a:latin typeface="Arial"/>
                          <a:ea typeface="Arial"/>
                          <a:cs typeface="Arial"/>
                        </a:rPr>
                        <a:t>136.97</a:t>
                      </a:r>
                    </a:p>
                  </a:txBody>
                  <a:tcPr marL="76200" marR="76200" marT="19050" marB="19050">
                    <a:solidFill>
                      <a:srgbClr val="FCFCFD"/>
                    </a:solidFill>
                  </a:tcPr>
                </a:tc>
                <a:tc>
                  <a:txBody>
                    <a:bodyPr/>
                    <a:lstStyle/>
                    <a:p>
                      <a:r>
                        <a:rPr sz="1275" b="0">
                          <a:solidFill>
                            <a:srgbClr val="14171C"/>
                          </a:solidFill>
                          <a:latin typeface="Arial"/>
                          <a:ea typeface="Arial"/>
                          <a:cs typeface="Arial"/>
                        </a:rPr>
                        <a:t>2.51</a:t>
                      </a:r>
                    </a:p>
                  </a:txBody>
                  <a:tcPr marL="76200" marR="76200" marT="19050" marB="19050">
                    <a:solidFill>
                      <a:srgbClr val="FCFCFD"/>
                    </a:solidFill>
                  </a:tcPr>
                </a:tc>
              </a:tr>
              <a:tr h="285750">
                <a:tc>
                  <a:txBody>
                    <a:bodyPr/>
                    <a:lstStyle/>
                    <a:p>
                      <a:r>
                        <a:rPr sz="1275" b="0">
                          <a:solidFill>
                            <a:srgbClr val="14171C"/>
                          </a:solidFill>
                          <a:latin typeface="Arial"/>
                          <a:ea typeface="Arial"/>
                          <a:cs typeface="Arial"/>
                        </a:rPr>
                        <a:t>December</a:t>
                      </a:r>
                    </a:p>
                  </a:txBody>
                  <a:tcPr marL="76200" marR="76200" marT="19050" marB="19050">
                    <a:solidFill>
                      <a:srgbClr val="F4F5F7"/>
                    </a:solidFill>
                  </a:tcPr>
                </a:tc>
                <a:tc>
                  <a:txBody>
                    <a:bodyPr/>
                    <a:lstStyle/>
                    <a:p>
                      <a:r>
                        <a:rPr sz="1275" b="0">
                          <a:solidFill>
                            <a:srgbClr val="14171C"/>
                          </a:solidFill>
                          <a:latin typeface="Arial"/>
                          <a:ea typeface="Arial"/>
                          <a:cs typeface="Arial"/>
                        </a:rPr>
                        <a:t>4.21</a:t>
                      </a:r>
                    </a:p>
                  </a:txBody>
                  <a:tcPr marL="76200" marR="76200" marT="19050" marB="19050">
                    <a:solidFill>
                      <a:srgbClr val="F4F5F7"/>
                    </a:solidFill>
                  </a:tcPr>
                </a:tc>
                <a:tc>
                  <a:txBody>
                    <a:bodyPr/>
                    <a:lstStyle/>
                    <a:p>
                      <a:r>
                        <a:rPr sz="1275" b="0">
                          <a:solidFill>
                            <a:srgbClr val="14171C"/>
                          </a:solidFill>
                          <a:latin typeface="Arial"/>
                          <a:ea typeface="Arial"/>
                          <a:cs typeface="Arial"/>
                        </a:rPr>
                        <a:t>130.40</a:t>
                      </a:r>
                    </a:p>
                  </a:txBody>
                  <a:tcPr marL="76200" marR="76200" marT="19050" marB="19050">
                    <a:solidFill>
                      <a:srgbClr val="F4F5F7"/>
                    </a:solidFill>
                  </a:tcPr>
                </a:tc>
                <a:tc>
                  <a:txBody>
                    <a:bodyPr/>
                    <a:lstStyle/>
                    <a:p>
                      <a:r>
                        <a:rPr sz="1275" b="0">
                          <a:solidFill>
                            <a:srgbClr val="14171C"/>
                          </a:solidFill>
                          <a:latin typeface="Arial"/>
                          <a:ea typeface="Arial"/>
                          <a:cs typeface="Arial"/>
                        </a:rPr>
                        <a:t>2.32</a:t>
                      </a:r>
                    </a:p>
                  </a:txBody>
                  <a:tcPr marL="76200" marR="76200" marT="19050" marB="19050">
                    <a:solidFill>
                      <a:srgbClr val="F4F5F7"/>
                    </a:solidFill>
                  </a:tcPr>
                </a:tc>
              </a:tr>
            </a:tbl>
          </a:graphicData>
        </a:graphic>
      </p:graphicFrame>
      <p:sp>
        <p:nvSpPr>
          <p:cNvPr id="5" name="">
            <a:extLst xmlns:a="http://schemas.openxmlformats.org/drawingml/2006/main">
              <a:ext uri="{FF2B5EF4-FFF2-40B4-BE49-F238E27FC236}">
                <a16:creationId xmlns:a16="http://schemas.microsoft.com/office/drawing/2014/main" id="{6DA2C0A6-7ECD-4FF6-98CF-FA47D305FFDF}"/>
              </a:ext>
            </a:extLst>
          </p:cNvPr>
          <p:cNvSpPr>
            <a:spLocks xmlns:a="http://schemas.openxmlformats.org/drawingml/2006/main" noGrp="1"/>
          </p:cNvSpPr>
          <p:nvPr/>
        </p:nvSpPr>
        <p:spPr>
          <a:xfrm xmlns:a="http://schemas.openxmlformats.org/drawingml/2006/main">
            <a:off x="809625" y="61817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260"/>
                </a:solidFill>
                <a:latin typeface="Arial"/>
                <a:ea typeface="Arial"/>
                <a:cs typeface="Arial"/>
              </a:defRPr>
            </a:pPr>
            <a:r>
              <a:rPr sz="1200" b="0">
                <a:solidFill>
                  <a:srgbClr val="4A5260"/>
                </a:solidFill>
                <a:latin typeface="Arial"/>
                <a:ea typeface="Arial"/>
                <a:cs typeface="Arial"/>
              </a:rPr>
              <a:t>JRC PVGIS 5.3 · SARAH3 / ERA5 (2005–2023) · Cairo 30.0444 N, 31.2357 E · retrieved 30 Sep 2026</a:t>
            </a:r>
          </a:p>
        </p:txBody>
      </p:sp>
      <p:sp>
        <p:nvSpPr>
          <p:cNvPr id="6" name="">
            <a:extLst xmlns:a="http://schemas.openxmlformats.org/drawingml/2006/main">
              <a:ext uri="{FF2B5EF4-FFF2-40B4-BE49-F238E27FC236}">
                <a16:creationId xmlns:a16="http://schemas.microsoft.com/office/drawing/2014/main" id="{D5638A40-47C3-4BAD-B83E-BB4B56048D7C}"/>
              </a:ext>
            </a:extLst>
          </p:cNvPr>
          <p:cNvSpPr>
            <a:spLocks xmlns:a="http://schemas.openxmlformats.org/drawingml/2006/main" noGrp="1"/>
          </p:cNvSpPr>
          <p:nvPr/>
        </p:nvSpPr>
        <p:spPr>
          <a:xfrm xmlns:a="http://schemas.openxmlformats.org/drawingml/2006/main">
            <a:off x="809625" y="64865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260"/>
                </a:solidFill>
                <a:latin typeface="Arial"/>
                <a:ea typeface="Arial"/>
                <a:cs typeface="Arial"/>
              </a:defRPr>
            </a:pPr>
            <a:r>
              <a:rPr sz="1200" b="0">
                <a:solidFill>
                  <a:srgbClr val="4A5260"/>
                </a:solidFill>
                <a:latin typeface="Arial"/>
                <a:ea typeface="Arial"/>
                <a:cs typeface="Arial"/>
              </a:rPr>
              <a:t>South-facing, 30° tilt, crystalline silicon, free-standing, 14% entered system loss; local roof shading not surveyed.</a:t>
            </a:r>
          </a:p>
        </p:txBody>
      </p:sp>
    </p:spTree>
    <p:extLst>
      <p:ext uri="{BB962C8B-B14F-4D97-AF65-F5344CB8AC3E}">
        <p14:creationId xmlns:p14="http://schemas.microsoft.com/office/powerpoint/2010/main" val="1868688068"/>
      </p:ext>
    </p:extLst>
  </p:cSld>
</p:sld>
</file>

<file path=ppt/slides/slide11.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F62359-D476-4DAD-9134-E9A99FB573A9}"/>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B84E0E"/>
                </a:solidFill>
                <a:latin typeface="Arial"/>
                <a:ea typeface="Arial"/>
                <a:cs typeface="Arial"/>
              </a:defRPr>
            </a:pPr>
            <a:r>
              <a:rPr sz="1350" b="1">
                <a:solidFill>
                  <a:srgbClr val="B84E0E"/>
                </a:solidFill>
                <a:latin typeface="Arial"/>
                <a:ea typeface="Arial"/>
                <a:cs typeface="Arial"/>
              </a:rPr>
              <a:t>REFERENCE · AVERAGES AND SETTINGS</a:t>
            </a:r>
          </a:p>
        </p:txBody>
      </p:sp>
      <p:sp>
        <p:nvSpPr>
          <p:cNvPr id="2" name="">
            <a:extLst xmlns:a="http://schemas.openxmlformats.org/drawingml/2006/main">
              <a:ext uri="{FF2B5EF4-FFF2-40B4-BE49-F238E27FC236}">
                <a16:creationId xmlns:a16="http://schemas.microsoft.com/office/drawing/2014/main" id="{F7BBB2D9-7722-4618-B132-7556BCE53588}"/>
              </a:ext>
            </a:extLst>
          </p:cNvPr>
          <p:cNvSpPr>
            <a:spLocks xmlns:a="http://schemas.openxmlformats.org/drawingml/2006/main" noGrp="1"/>
          </p:cNvSpPr>
          <p:nvPr/>
        </p:nvSpPr>
        <p:spPr>
          <a:xfrm xmlns:a="http://schemas.openxmlformats.org/drawingml/2006/main">
            <a:off x="809625" y="11144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171C"/>
                </a:solidFill>
                <a:latin typeface="Arial"/>
                <a:ea typeface="Arial"/>
                <a:cs typeface="Arial"/>
              </a:defRPr>
            </a:pPr>
            <a:r>
              <a:rPr sz="3150" b="1">
                <a:solidFill>
                  <a:srgbClr val="14171C"/>
                </a:solidFill>
                <a:latin typeface="Arial"/>
                <a:ea typeface="Arial"/>
                <a:cs typeface="Arial"/>
              </a:rPr>
              <a:t>How the Cairo average is calculated</a:t>
            </a:r>
          </a:p>
        </p:txBody>
      </p:sp>
      <p:sp>
        <p:nvSpPr>
          <p:cNvPr id="3" name="">
            <a:extLst xmlns:a="http://schemas.openxmlformats.org/drawingml/2006/main">
              <a:ext uri="{FF2B5EF4-FFF2-40B4-BE49-F238E27FC236}">
                <a16:creationId xmlns:a16="http://schemas.microsoft.com/office/drawing/2014/main" id="{3145A6EB-6266-4EE6-861D-CC346D804520}"/>
              </a:ext>
            </a:extLst>
          </p:cNvPr>
          <p:cNvSpPr>
            <a:spLocks xmlns:a="http://schemas.openxmlformats.org/drawingml/2006/main" noGrp="1"/>
          </p:cNvSpPr>
          <p:nvPr/>
        </p:nvSpPr>
        <p:spPr>
          <a:xfrm xmlns:a="http://schemas.openxmlformats.org/drawingml/2006/main">
            <a:off x="809625" y="19812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171C"/>
                </a:solidFill>
                <a:latin typeface="Arial"/>
                <a:ea typeface="Arial"/>
                <a:cs typeface="Arial"/>
              </a:defRPr>
            </a:pPr>
            <a:r>
              <a:rPr sz="2100" b="1">
                <a:solidFill>
                  <a:srgbClr val="14171C"/>
                </a:solidFill>
                <a:latin typeface="Arial"/>
                <a:ea typeface="Arial"/>
                <a:cs typeface="Arial"/>
              </a:rPr>
              <a:t>Average of the 12 daily monthly values</a:t>
            </a:r>
          </a:p>
        </p:txBody>
      </p:sp>
      <p:sp>
        <p:nvSpPr>
          <p:cNvPr id="4" name="">
            <a:extLst xmlns:a="http://schemas.openxmlformats.org/drawingml/2006/main">
              <a:ext uri="{FF2B5EF4-FFF2-40B4-BE49-F238E27FC236}">
                <a16:creationId xmlns:a16="http://schemas.microsoft.com/office/drawing/2014/main" id="{3C28AA3F-5FEA-4051-919C-7A21E6CAE95A}"/>
              </a:ext>
            </a:extLst>
          </p:cNvPr>
          <p:cNvSpPr>
            <a:spLocks xmlns:a="http://schemas.openxmlformats.org/drawingml/2006/main" noGrp="1"/>
          </p:cNvSpPr>
          <p:nvPr/>
        </p:nvSpPr>
        <p:spPr>
          <a:xfrm xmlns:a="http://schemas.openxmlformats.org/drawingml/2006/main">
            <a:off x="809625" y="24574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84E0E"/>
                </a:solidFill>
                <a:latin typeface="Consolas"/>
                <a:ea typeface="Consolas"/>
                <a:cs typeface="Consolas"/>
              </a:defRPr>
            </a:pPr>
            <a:r>
              <a:rPr sz="1650" b="0">
                <a:solidFill>
                  <a:srgbClr val="B84E0E"/>
                </a:solidFill>
                <a:latin typeface="Consolas"/>
                <a:ea typeface="Consolas"/>
                <a:cs typeface="Consolas"/>
              </a:rPr>
              <a:t>(4.24 + 4.62 + 5.20 + 5.36 + 5.25 + 5.29 + 5.31 + 5.38 + 5.37 + 4.98 + 4.57 + 4.21) ÷ 12</a:t>
            </a:r>
          </a:p>
          <a:p xmlns:a="http://schemas.openxmlformats.org/drawingml/2006/main">
            <a:pPr>
              <a:buNone/>
              <a:defRPr sz="1650" b="0">
                <a:solidFill>
                  <a:srgbClr val="B84E0E"/>
                </a:solidFill>
                <a:latin typeface="Consolas"/>
                <a:ea typeface="Consolas"/>
                <a:cs typeface="Consolas"/>
              </a:defRPr>
            </a:pPr>
            <a:r>
              <a:rPr sz="1650" b="0">
                <a:solidFill>
                  <a:srgbClr val="B84E0E"/>
                </a:solidFill>
                <a:latin typeface="Consolas"/>
                <a:ea typeface="Consolas"/>
                <a:cs typeface="Consolas"/>
              </a:rPr>
              <a:t>= 4.9817 ≈ 4.98 kWh/kWp/day</a:t>
            </a:r>
          </a:p>
        </p:txBody>
      </p:sp>
      <p:sp>
        <p:nvSpPr>
          <p:cNvPr id="5" name="">
            <a:extLst xmlns:a="http://schemas.openxmlformats.org/drawingml/2006/main">
              <a:ext uri="{FF2B5EF4-FFF2-40B4-BE49-F238E27FC236}">
                <a16:creationId xmlns:a16="http://schemas.microsoft.com/office/drawing/2014/main" id="{E35B6E4B-1DD0-4081-8AE2-D9AEE26F4B80}"/>
              </a:ext>
            </a:extLst>
          </p:cNvPr>
          <p:cNvSpPr>
            <a:spLocks xmlns:a="http://schemas.openxmlformats.org/drawingml/2006/main" noGrp="1"/>
          </p:cNvSpPr>
          <p:nvPr/>
        </p:nvSpPr>
        <p:spPr>
          <a:xfrm xmlns:a="http://schemas.openxmlformats.org/drawingml/2006/main">
            <a:off x="809625" y="34290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171C"/>
                </a:solidFill>
                <a:latin typeface="Arial"/>
                <a:ea typeface="Arial"/>
                <a:cs typeface="Arial"/>
              </a:defRPr>
            </a:pPr>
            <a:r>
              <a:rPr sz="1650" b="0">
                <a:solidFill>
                  <a:srgbClr val="14171C"/>
                </a:solidFill>
                <a:latin typeface="Arial"/>
                <a:ea typeface="Arial"/>
                <a:cs typeface="Arial"/>
              </a:rPr>
              <a:t>Average monthly output = sum of monthly outputs ÷ 12 = 151.53 kWh/kWp/month</a:t>
            </a:r>
          </a:p>
          <a:p xmlns:a="http://schemas.openxmlformats.org/drawingml/2006/main">
            <a:pPr>
              <a:buNone/>
              <a:defRPr sz="1650" b="0">
                <a:solidFill>
                  <a:srgbClr val="14171C"/>
                </a:solidFill>
                <a:latin typeface="Arial"/>
                <a:ea typeface="Arial"/>
                <a:cs typeface="Arial"/>
              </a:defRPr>
            </a:pPr>
            <a:r>
              <a:rPr sz="1650" b="0">
                <a:solidFill>
                  <a:srgbClr val="14171C"/>
                </a:solidFill>
                <a:latin typeface="Arial"/>
                <a:ea typeface="Arial"/>
                <a:cs typeface="Arial"/>
              </a:rPr>
              <a:t>Annual output = 1,818.36 kWh/kWp/year; annual daily average = 1818.36 ÷ 365 ≈ 4.9818</a:t>
            </a:r>
          </a:p>
        </p:txBody>
      </p:sp>
      <p:sp>
        <p:nvSpPr>
          <p:cNvPr id="6" name="">
            <a:extLst xmlns:a="http://schemas.openxmlformats.org/drawingml/2006/main">
              <a:ext uri="{FF2B5EF4-FFF2-40B4-BE49-F238E27FC236}">
                <a16:creationId xmlns:a16="http://schemas.microsoft.com/office/drawing/2014/main" id="{9F7AD506-6368-455B-B73A-434F16248186}"/>
              </a:ext>
            </a:extLst>
          </p:cNvPr>
          <p:cNvSpPr>
            <a:spLocks xmlns:a="http://schemas.openxmlformats.org/drawingml/2006/main" noGrp="1"/>
          </p:cNvSpPr>
          <p:nvPr/>
        </p:nvSpPr>
        <p:spPr>
          <a:xfrm xmlns:a="http://schemas.openxmlformats.org/drawingml/2006/main">
            <a:off x="809625" y="44196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B84E0E"/>
                </a:solidFill>
                <a:latin typeface="Arial"/>
                <a:ea typeface="Arial"/>
                <a:cs typeface="Arial"/>
              </a:defRPr>
            </a:pPr>
            <a:r>
              <a:rPr sz="1800" b="1">
                <a:solidFill>
                  <a:srgbClr val="B84E0E"/>
                </a:solidFill>
                <a:latin typeface="Arial"/>
                <a:ea typeface="Arial"/>
                <a:cs typeface="Arial"/>
              </a:rPr>
              <a:t>Example: 550 W = 0.55 kWp → average daily output ≈ 0.55 × 4.98 = 2.74 kWh/day</a:t>
            </a:r>
          </a:p>
        </p:txBody>
      </p:sp>
      <p:sp>
        <p:nvSpPr>
          <p:cNvPr id="7" name="">
            <a:extLst xmlns:a="http://schemas.openxmlformats.org/drawingml/2006/main">
              <a:ext uri="{FF2B5EF4-FFF2-40B4-BE49-F238E27FC236}">
                <a16:creationId xmlns:a16="http://schemas.microsoft.com/office/drawing/2014/main" id="{CBEDA635-0C9A-4605-A2C9-35AA5D60A45C}"/>
              </a:ext>
            </a:extLst>
          </p:cNvPr>
          <p:cNvSpPr>
            <a:spLocks xmlns:a="http://schemas.openxmlformats.org/drawingml/2006/main" noGrp="1"/>
          </p:cNvSpPr>
          <p:nvPr/>
        </p:nvSpPr>
        <p:spPr>
          <a:xfrm xmlns:a="http://schemas.openxmlformats.org/drawingml/2006/main">
            <a:off x="809625" y="50482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A5260"/>
                </a:solidFill>
                <a:latin typeface="Arial"/>
                <a:ea typeface="Arial"/>
                <a:cs typeface="Arial"/>
              </a:defRPr>
            </a:pPr>
            <a:r>
              <a:rPr sz="1500" b="0">
                <a:solidFill>
                  <a:srgbClr val="4A5260"/>
                </a:solidFill>
                <a:latin typeface="Arial"/>
                <a:ea typeface="Arial"/>
                <a:cs typeface="Arial"/>
              </a:rPr>
              <a:t>The 1,750 kWh/year estimate is replaced by this sourced reference calculation.</a:t>
            </a:r>
          </a:p>
          <a:p xmlns:a="http://schemas.openxmlformats.org/drawingml/2006/main">
            <a:pPr>
              <a:buNone/>
              <a:defRPr sz="1500" b="0">
                <a:solidFill>
                  <a:srgbClr val="4A5260"/>
                </a:solidFill>
                <a:latin typeface="Arial"/>
                <a:ea typeface="Arial"/>
                <a:cs typeface="Arial"/>
              </a:defRPr>
            </a:pPr>
            <a:r>
              <a:rPr sz="1500" b="0">
                <a:solidFill>
                  <a:srgbClr val="4A5260"/>
                </a:solidFill>
                <a:latin typeface="Arial"/>
                <a:ea typeface="Arial"/>
                <a:cs typeface="Arial"/>
              </a:rPr>
              <a:t>PVGIS electricity output already includes modeled PV losses; battery losses are additional.</a:t>
            </a:r>
          </a:p>
          <a:p xmlns:a="http://schemas.openxmlformats.org/drawingml/2006/main">
            <a:pPr>
              <a:buNone/>
              <a:defRPr sz="1500" b="0">
                <a:solidFill>
                  <a:srgbClr val="4A5260"/>
                </a:solidFill>
                <a:latin typeface="Arial"/>
                <a:ea typeface="Arial"/>
                <a:cs typeface="Arial"/>
              </a:defRPr>
            </a:pPr>
            <a:r>
              <a:rPr sz="1500" b="0">
                <a:solidFill>
                  <a:srgbClr val="4A5260"/>
                </a:solidFill>
                <a:latin typeface="Arial"/>
                <a:ea typeface="Arial"/>
                <a:cs typeface="Arial"/>
              </a:rPr>
              <a:t>These are historical climate averages. Actual output varies by month, weather, shading and cleaning.</a:t>
            </a:r>
          </a:p>
        </p:txBody>
      </p:sp>
      <p:sp>
        <p:nvSpPr>
          <p:cNvPr id="8" name="">
            <a:extLst xmlns:a="http://schemas.openxmlformats.org/drawingml/2006/main">
              <a:ext uri="{FF2B5EF4-FFF2-40B4-BE49-F238E27FC236}">
                <a16:creationId xmlns:a16="http://schemas.microsoft.com/office/drawing/2014/main" id="{08F8ED2F-D107-4D25-B778-ABA956F7C0E2}"/>
              </a:ext>
            </a:extLst>
          </p:cNvPr>
          <p:cNvSpPr>
            <a:spLocks xmlns:a="http://schemas.openxmlformats.org/drawingml/2006/main" noGrp="1"/>
          </p:cNvSpPr>
          <p:nvPr/>
        </p:nvSpPr>
        <p:spPr>
          <a:xfrm xmlns:a="http://schemas.openxmlformats.org/drawingml/2006/main">
            <a:off x="809625" y="62484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260"/>
                </a:solidFill>
                <a:latin typeface="Arial"/>
                <a:ea typeface="Arial"/>
                <a:cs typeface="Arial"/>
              </a:defRPr>
            </a:pPr>
            <a:r>
              <a:rPr sz="1200" b="0">
                <a:solidFill>
                  <a:srgbClr val="4A5260"/>
                </a:solidFill>
                <a:latin typeface="Arial"/>
                <a:ea typeface="Arial"/>
                <a:cs typeface="Arial"/>
              </a:rPr>
              <a:t>Source: European Commission JRC PVGIS 5.3 · inputs and full calculation URL are in speaker notes.</a:t>
            </a:r>
          </a:p>
        </p:txBody>
      </p:sp>
    </p:spTree>
    <p:extLst>
      <p:ext uri="{BB962C8B-B14F-4D97-AF65-F5344CB8AC3E}">
        <p14:creationId xmlns:p14="http://schemas.microsoft.com/office/powerpoint/2010/main" val="20587634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2026-09-30T15:12:22.8260000Z</dcterms:created>
  <dcterms:modified xsi:type="dcterms:W3CDTF">2026-09-30T15:12:22.8260000Z</dcterms:modified>
</coreProperties>
</file>