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Equipment estimate from the site report totals 66.1 kWh/day against 80.7 kWh/day on the meter; the meter figure is used.</a:t>
            </a:r>
          </a:p>
          <a:p>
            <a:r>
              <a:t>Night share: refrigeration 42.4 x 14/24 + lights 4.5 x 8/15 + juicing 19.2 x 60% = 38.7 of 66.1 kWh = 58%.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A: (7.5 x 8,000 + 8 x 6,000) x 1.10 = 118,800 EGP.</a:t>
            </a:r>
          </a:p>
          <a:p>
            <a:r>
              <a:t>B: (10 x 8,000 + 10 x 6,000) x 1.10 + 16 x 13,640 = 154,000 + 218,240 = 372,240 EGP.</a:t>
            </a:r>
          </a:p>
          <a:p>
            <a:r>
              <a:t>C: (17.5 x 8,000 + 20 x 6,000) x 1.10 + 64 x 13,640 = 286,000 + 872,960 = 1,158,960 EGP.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A: 118,800 / 96 = 1,238 EGP per month for 8 years. B: 372,240 / 120 = 3,102 EGP per month for 10 years; over 8 years it is 3,878, leaving the shop only 73 EGP a month. C: 1,158,960 / 120 = 9,658 EGP per month, more than the 6,858 saving; it needs about 14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7780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26A1B"/>
                </a:solidFill>
                <a:latin typeface="Arial"/>
              </a:rPr>
              <a:t>AVESTA · EL MO3ALEM JUICE 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133600"/>
            <a:ext cx="10566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4F5F7"/>
                </a:solidFill>
                <a:latin typeface="Arial"/>
              </a:rPr>
              <a:t>Solar + battery: buy it or subscribe?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175000"/>
            <a:ext cx="8890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C3C8D0"/>
                </a:solidFill>
                <a:latin typeface="Arial"/>
              </a:rPr>
              <a:t>Payback if the shop buys the system, and the monthly subscription if AVESTA provides it free and recovers the cost from the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44450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9AA1AD"/>
                </a:solidFill>
                <a:latin typeface="Arial"/>
              </a:rPr>
              <a:t>Basis: August 2026 bill · commercial tariff (EgyptERA, April 2026) · no maintenance or interest included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THE SHOP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4171C"/>
                </a:solidFill>
                <a:latin typeface="Arial"/>
              </a:rPr>
              <a:t>2,421 kWh a month, refrigeration around the clock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1905000"/>
            <a:ext cx="2527300" cy="1270000"/>
          </a:xfrm>
          <a:prstGeom prst="roundRect">
            <a:avLst>
              <a:gd name="adj" fmla="val 8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82800"/>
            <a:ext cx="2120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4171C"/>
                </a:solidFill>
                <a:latin typeface="Consolas"/>
              </a:rPr>
              <a:t>2,421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679700"/>
            <a:ext cx="212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260"/>
                </a:solidFill>
                <a:latin typeface="Arial"/>
              </a:rPr>
              <a:t>kWh per month
312,070 − 309,649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92500" y="1905000"/>
            <a:ext cx="2527300" cy="1270000"/>
          </a:xfrm>
          <a:prstGeom prst="roundRect">
            <a:avLst>
              <a:gd name="adj" fmla="val 8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5700" y="2082800"/>
            <a:ext cx="2120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4171C"/>
                </a:solidFill>
                <a:latin typeface="Consolas"/>
              </a:rPr>
              <a:t>80.7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5700" y="2679700"/>
            <a:ext cx="212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260"/>
                </a:solidFill>
                <a:latin typeface="Arial"/>
              </a:rPr>
              <a:t>kWh per day
E = 2,421 ÷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05000"/>
            <a:ext cx="2527300" cy="1270000"/>
          </a:xfrm>
          <a:prstGeom prst="roundRect">
            <a:avLst>
              <a:gd name="adj" fmla="val 8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5400" y="2082800"/>
            <a:ext cx="2120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4171C"/>
                </a:solidFill>
                <a:latin typeface="Consolas"/>
              </a:rPr>
              <a:t>6,867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400" y="2679700"/>
            <a:ext cx="212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260"/>
                </a:solidFill>
                <a:latin typeface="Arial"/>
              </a:rPr>
              <a:t>EGP per month
at the official tariff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900" y="1905000"/>
            <a:ext cx="2527300" cy="1270000"/>
          </a:xfrm>
          <a:prstGeom prst="roundRect">
            <a:avLst>
              <a:gd name="adj" fmla="val 8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5100" y="2082800"/>
            <a:ext cx="2120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4171C"/>
                </a:solidFill>
                <a:latin typeface="Consolas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5100" y="2679700"/>
            <a:ext cx="212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260"/>
                </a:solidFill>
                <a:latin typeface="Arial"/>
              </a:rPr>
              <a:t>of daily energy used
after sunset (N)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2800" y="3429000"/>
          <a:ext cx="10566400" cy="1422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648200"/>
                <a:gridCol w="1479550"/>
                <a:gridCol w="1479550"/>
                <a:gridCol w="2959100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Main loads (estimated)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kWh/day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Runs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Refrigerators and ice-cream freezers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42.4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24 h, compressors cycling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Juicers, blender, ice crusher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Opening hours, busiest in the evening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LED lights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15 h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12800" y="53721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The receipt shows EGP 8,279. The official tariff explains EGP 6,867; the EGP 1,412 gap needs the detailed invoice. Savings below use the official tariff (the conservative case).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STEP 1 · BILL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4171C"/>
                </a:solidFill>
                <a:latin typeface="Arial"/>
              </a:rPr>
              <a:t>Commercial tariff and the monthly bill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2800" y="1905000"/>
          <a:ext cx="6096000" cy="2489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0100"/>
                <a:gridCol w="1587500"/>
                <a:gridCol w="2438400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Monthly kWh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EGP / kWh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Service fee (EGP)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 – 100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1.62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101 – 250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2.16 all units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251 – 600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2.64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601 – 1,000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2.64 / 2.74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Above 1,000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2.79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Zero use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213600" y="1905000"/>
            <a:ext cx="4165600" cy="1079500"/>
          </a:xfrm>
          <a:prstGeom prst="roundRect">
            <a:avLst>
              <a:gd name="adj" fmla="val 7058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91400" y="1905000"/>
            <a:ext cx="3810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Bill(M) = Energy(M)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  + Service fee(M)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  + 0.03 ×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13600" y="3162300"/>
            <a:ext cx="41656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260"/>
                </a:solidFill>
                <a:latin typeface="Arial"/>
              </a:rPr>
              <a:t>For this shop (M above 1,000 kWh):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13600" y="3479800"/>
            <a:ext cx="4165600" cy="1079500"/>
          </a:xfrm>
          <a:prstGeom prst="roundRect">
            <a:avLst>
              <a:gd name="adj" fmla="val 7058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91400" y="3479800"/>
            <a:ext cx="3810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2,421 × 2.79 = 6,754.59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+ 40 + 2,421 × 0.03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= 6,867.22 EGP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4699000"/>
            <a:ext cx="609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601–1,000 kWh: first 600 at 2.64, the rest at 2.74. Stamp duty = 3 piasters per kWh.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6248400"/>
            <a:ext cx="105664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Source: EgyptERA, Electricity Tariff Starting From April 2026 (verified 24 Sep 2026)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STEP 2 ·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4171C"/>
                </a:solidFill>
                <a:latin typeface="Arial"/>
              </a:rPr>
              <a:t>Daily split, solar size and battery 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1905000"/>
            <a:ext cx="3386666" cy="3683000"/>
          </a:xfrm>
          <a:prstGeom prst="roundRect">
            <a:avLst>
              <a:gd name="adj" fmla="val 3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08200"/>
            <a:ext cx="2980266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4171C"/>
                </a:solidFill>
                <a:latin typeface="Arial"/>
              </a:rPr>
              <a:t>Daily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5654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71C"/>
                </a:solidFill>
                <a:latin typeface="Consolas"/>
              </a:rPr>
              <a:t>E = M ÷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321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80.7 kWh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3528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71C"/>
                </a:solidFill>
                <a:latin typeface="Consolas"/>
              </a:rPr>
              <a:t>N = E × 58%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95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46.8 kWh at night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1402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71C"/>
                </a:solidFill>
                <a:latin typeface="Consolas"/>
              </a:rPr>
              <a:t>D = E −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069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33.9 kWh in daytime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2666" y="1905000"/>
            <a:ext cx="3386666" cy="3683000"/>
          </a:xfrm>
          <a:prstGeom prst="roundRect">
            <a:avLst>
              <a:gd name="adj" fmla="val 3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5866" y="2108200"/>
            <a:ext cx="2980266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4171C"/>
                </a:solidFill>
                <a:latin typeface="Arial"/>
              </a:rPr>
              <a:t>Solar PV (kWp)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866" y="25654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71C"/>
                </a:solidFill>
                <a:latin typeface="Consolas"/>
              </a:rPr>
              <a:t>P = (D + min(N, U) ÷ η) ÷ 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5866" y="28321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rounded up to 0.5 kWp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5866" y="33528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71C"/>
                </a:solidFill>
                <a:latin typeface="Consolas"/>
              </a:rPr>
              <a:t>G = P ×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866" y="36195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daily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5866" y="4140200"/>
            <a:ext cx="2980266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Y = 4.8 kWh per kWp per day, η = 95%. With no battery, U = 0 and P = D ÷ 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2533" y="1905000"/>
            <a:ext cx="3386666" cy="3683000"/>
          </a:xfrm>
          <a:prstGeom prst="roundRect">
            <a:avLst>
              <a:gd name="adj" fmla="val 3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5733" y="2108200"/>
            <a:ext cx="2980266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4171C"/>
                </a:solidFill>
                <a:latin typeface="Arial"/>
              </a:rPr>
              <a:t>Battery (kWh)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5733" y="25654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71C"/>
                </a:solidFill>
                <a:latin typeface="Consolas"/>
              </a:rPr>
              <a:t>C = N ÷ (DoD × η)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5733" y="28321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46.8 ÷ 0.76 = 61.6 kWh for the whole night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5733" y="33528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71C"/>
                </a:solidFill>
                <a:latin typeface="Consolas"/>
              </a:rPr>
              <a:t>U = C × DoD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5733" y="3619500"/>
            <a:ext cx="2980266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usable energy, DoD = 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5733" y="4140200"/>
            <a:ext cx="2980266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Option B uses one LV_16 for backup and part of the night; option C covers the night with 2 × LV_32.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STEP 3 ·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4171C"/>
                </a:solidFill>
                <a:latin typeface="Arial"/>
              </a:rPr>
              <a:t>Three systems and their price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1905000"/>
            <a:ext cx="10566400" cy="482600"/>
          </a:xfrm>
          <a:prstGeom prst="roundRect">
            <a:avLst>
              <a:gd name="adj" fmla="val 15789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1905000"/>
            <a:ext cx="102108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Price = (P × 8,000 + Inverter × 6,000) × 1.10 + C × 13,640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12800" y="2590800"/>
          <a:ext cx="10560050" cy="2209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1600"/>
                <a:gridCol w="2216150"/>
                <a:gridCol w="2216150"/>
                <a:gridCol w="2216150"/>
              </a:tblGrid>
              <a:tr h="368300">
                <a:tc>
                  <a:txBody>
                    <a:bodyPr wrap="square"/>
                    <a:lstStyle/>
                    <a:p/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A · Solar only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B · Solar + LV_16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C · Solar + 2 × LV_32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Solar PV (P)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7.5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10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17.5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Battery (C)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16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64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Inverter = standard size ≥ max(3, 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8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10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20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Roof area (≈ 6 m² per kWp)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≈ 45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≈ 60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≈ 105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System price (EGP)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118,800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372,240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1,158,960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2800" y="50800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The 10% for installation and BOS applies to PV and inverter only. Prices are AVESTA customer prices: battery 13,640 EGP/kWh, PV 8,000 EGP/kWp, inverter 6,000 EGP/kW.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STEP 4 · NEW BILL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4171C"/>
                </a:solidFill>
                <a:latin typeface="Arial"/>
              </a:rPr>
              <a:t>Grid import after solar and the monthly saving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2800" y="1905000"/>
          <a:ext cx="10560050" cy="25781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92750"/>
                <a:gridCol w="1689100"/>
                <a:gridCol w="1689100"/>
                <a:gridCol w="1689100"/>
              </a:tblGrid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Equation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Generation G = P × Y (kWh/day)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48.0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84.0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Direct use = min(G, D)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33.9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33.9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33.9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From battery = min((G − direct) × η, U, N)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12.8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46.8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Import / month = (E − direct − battery) × 30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1,404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1,020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0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New bill = Bill(import)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4,000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2,917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Monthly saving = 6,867 − new bill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2,867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3,950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6,858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2800" y="46990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Surplus solar sent to the grid earns nothing; savings count only solar energy the shop uses itself. C imports nothing, so only the EGP 9 zero-use fee remains.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SCENARIO 1 · THE SHOP BUYS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4171C"/>
                </a:solidFill>
                <a:latin typeface="Arial"/>
              </a:rPr>
              <a:t>Payback = price ÷ annual saving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1905000"/>
            <a:ext cx="10566400" cy="482600"/>
          </a:xfrm>
          <a:prstGeom prst="roundRect">
            <a:avLst>
              <a:gd name="adj" fmla="val 15789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1905000"/>
            <a:ext cx="102108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Payback (years) = System price ÷ (Monthly saving × 12)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800" y="2590800"/>
            <a:ext cx="3386666" cy="2540000"/>
          </a:xfrm>
          <a:prstGeom prst="roundRect">
            <a:avLst>
              <a:gd name="adj" fmla="val 4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794000"/>
            <a:ext cx="2980266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4171C"/>
                </a:solidFill>
                <a:latin typeface="Arial"/>
              </a:rPr>
              <a:t>A · Solar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175000"/>
            <a:ext cx="2980266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F7A4D"/>
                </a:solidFill>
                <a:latin typeface="Consolas"/>
              </a:rPr>
              <a:t>3.5 yrs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62400"/>
            <a:ext cx="2980266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260"/>
                </a:solidFill>
                <a:latin typeface="Consolas"/>
              </a:rPr>
              <a:t>118,800 ÷ 34,409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260"/>
                </a:solidFill>
                <a:latin typeface="Consolas"/>
              </a:rPr>
              <a:t>Saving 2,867 EGP a month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2666" y="2590800"/>
            <a:ext cx="3386666" cy="2540000"/>
          </a:xfrm>
          <a:prstGeom prst="roundRect">
            <a:avLst>
              <a:gd name="adj" fmla="val 4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5866" y="2794000"/>
            <a:ext cx="2980266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4171C"/>
                </a:solidFill>
                <a:latin typeface="Arial"/>
              </a:rPr>
              <a:t>B · Solar + LV_16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5866" y="3175000"/>
            <a:ext cx="2980266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4171C"/>
                </a:solidFill>
                <a:latin typeface="Consolas"/>
              </a:rPr>
              <a:t>7.9 yrs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866" y="3962400"/>
            <a:ext cx="2980266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260"/>
                </a:solidFill>
                <a:latin typeface="Consolas"/>
              </a:rPr>
              <a:t>372,240 ÷ 47,404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260"/>
                </a:solidFill>
                <a:latin typeface="Consolas"/>
              </a:rPr>
              <a:t>Saving 3,950 EGP a month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2533" y="2590800"/>
            <a:ext cx="3386666" cy="2540000"/>
          </a:xfrm>
          <a:prstGeom prst="roundRect">
            <a:avLst>
              <a:gd name="adj" fmla="val 4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5733" y="2794000"/>
            <a:ext cx="2980266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4171C"/>
                </a:solidFill>
                <a:latin typeface="Arial"/>
              </a:rPr>
              <a:t>C · Solar + 2 × LV_32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5733" y="3175000"/>
            <a:ext cx="2980266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B42318"/>
                </a:solidFill>
                <a:latin typeface="Consolas"/>
              </a:rPr>
              <a:t>14.1 yrs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5733" y="3962400"/>
            <a:ext cx="2980266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260"/>
                </a:solidFill>
                <a:latin typeface="Consolas"/>
              </a:rPr>
              <a:t>1,158,960 ÷ 82,299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260"/>
                </a:solidFill>
                <a:latin typeface="Consolas"/>
              </a:rPr>
              <a:t>Saving 6,858 EGP a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340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Battery warranty is 10 years; cycle life (6,000 cycles at 80% DoD) is about 16 years of daily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SCENARIO 2 · AVESTA PROVIDES IT, THE SHOP SUBSCRIBES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4171C"/>
                </a:solidFill>
                <a:latin typeface="Arial"/>
              </a:rPr>
              <a:t>Monthly subscription = price ÷ months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1905000"/>
            <a:ext cx="10566400" cy="76200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635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1905000"/>
            <a:ext cx="102108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4171C"/>
                </a:solidFill>
                <a:latin typeface="Consolas"/>
              </a:rPr>
              <a:t>Subscription = System price ÷ (Years × 12)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4171C"/>
                </a:solidFill>
                <a:latin typeface="Consolas"/>
              </a:rPr>
              <a:t>Shortest term = System price ÷ Monthly saving   (subscription = full saving)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12800" y="2870200"/>
          <a:ext cx="10572750" cy="1625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3650"/>
                <a:gridCol w="2324100"/>
                <a:gridCol w="1905000"/>
                <a:gridCol w="1905000"/>
                <a:gridCol w="1905000"/>
              </a:tblGrid>
              <a:tr h="406400">
                <a:tc>
                  <a:txBody>
                    <a:bodyPr wrap="square"/>
                    <a:lstStyle/>
                    <a:p/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Shortest term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5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8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10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A · Solar only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3.5 yrs · 2,867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1,980  (+887)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1,238  (+1,630)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990  (+1,877)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B · Solar + LV_16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7.9 yrs · 3,950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6,204  (−2,254)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3,878  (+73)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3,102  (+848)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</a:rPr>
                        <a:t>C · Solar + 2 × LV_32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14.1 yrs · 6,858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19,316  (−12,458)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12,072  (−5,214)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</a:rPr>
                        <a:t>9,658  (−2,800)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2800" y="4699000"/>
            <a:ext cx="105664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EGP per month. In brackets: what the shop still saves each month after paying (saving − subscription). A negative value means the shop pays more than its bill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5397500"/>
            <a:ext cx="10566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B42318"/>
                </a:solidFill>
                <a:latin typeface="Arial"/>
              </a:rPr>
              <a:t>No maintenance, insurance or interest is included, as requested.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A3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9525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4171C"/>
                </a:solidFill>
                <a:latin typeface="Arial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270000"/>
            <a:ext cx="1056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4171C"/>
                </a:solidFill>
                <a:latin typeface="Arial"/>
              </a:rPr>
              <a:t>Solar pays for itself; the battery buys backup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286000"/>
            <a:ext cx="5181600" cy="2794000"/>
          </a:xfrm>
          <a:prstGeom prst="roundRect">
            <a:avLst>
              <a:gd name="adj" fmla="val 3636"/>
            </a:avLst>
          </a:prstGeom>
          <a:solidFill>
            <a:srgbClr val="FCE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514600"/>
            <a:ext cx="4673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4171C"/>
                </a:solidFill>
                <a:latin typeface="Arial"/>
              </a:rPr>
              <a:t>Option A · Solar 7.5 kWp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2984500"/>
            <a:ext cx="4673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4171C"/>
                </a:solidFill>
                <a:latin typeface="Consolas"/>
              </a:rPr>
              <a:t>Buy: 3.5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479800"/>
            <a:ext cx="467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Subscribe: 1,238 EGP/month for 8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241800"/>
            <a:ext cx="46736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2A2F37"/>
                </a:solidFill>
                <a:latin typeface="Arial"/>
              </a:rPr>
              <a:t>Shop keeps 1,630 EGP a month from day 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7600" y="2286000"/>
            <a:ext cx="5181600" cy="2794000"/>
          </a:xfrm>
          <a:prstGeom prst="roundRect">
            <a:avLst>
              <a:gd name="adj" fmla="val 3636"/>
            </a:avLst>
          </a:prstGeom>
          <a:solidFill>
            <a:srgbClr val="FCE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1600" y="2514600"/>
            <a:ext cx="4673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4171C"/>
                </a:solidFill>
                <a:latin typeface="Arial"/>
              </a:rPr>
              <a:t>Option B · Solar 10 kWp + LV_16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2984500"/>
            <a:ext cx="4673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4171C"/>
                </a:solidFill>
                <a:latin typeface="Consolas"/>
              </a:rPr>
              <a:t>Buy: 7.9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1600" y="3479800"/>
            <a:ext cx="467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4171C"/>
                </a:solidFill>
                <a:latin typeface="Consolas"/>
              </a:rPr>
              <a:t>Subscribe: 3,102 EGP/month for 10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1600" y="4241800"/>
            <a:ext cx="46736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2A2F37"/>
                </a:solidFill>
                <a:latin typeface="Arial"/>
              </a:rPr>
              <a:t>Shop keeps 848 EGP a month and ≈ 7 h of refrigeration backup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5334000"/>
            <a:ext cx="10566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71C"/>
                </a:solidFill>
                <a:latin typeface="Arial"/>
              </a:rPr>
              <a:t>Option C is not viable: 14-year payback and about 105 m² of roof.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4E0E"/>
                </a:solidFill>
                <a:latin typeface="Arial"/>
              </a:rPr>
              <a:t>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176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4171C"/>
                </a:solidFill>
                <a:latin typeface="Arial"/>
              </a:rPr>
              <a:t>Assumptions and open points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2800" y="1905000"/>
          <a:ext cx="10566400" cy="2971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68650"/>
                <a:gridCol w="2749550"/>
                <a:gridCol w="4648200"/>
              </a:tblGrid>
              <a:tr h="330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</a:rPr>
                        <a:t>Source / status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Monthly consumption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2,421 kWh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Meter readings, August 2026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Bill basis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6,867 EGP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Official tariff; receipt shows 8,279 (gap to confirm)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Night share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Estimated from equipment; confirm opening hours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PV yield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4.8 kWh/kWp/day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Cairo ≈ 1,750 kWh/kWp per year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DoD / efficiency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80% / 95%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AVESTA LV datasheet / Home Storage deck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Prices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13,640 · 8,000 · 6,000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Battery EGP/kWh · PV EGP/kWp · inverter EGP/kW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Maintenance, interest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Not included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Excluded on request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Seasonality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August only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</a:rPr>
                        <a:t>Peak month; annual saving is likely lower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2800" y="5080000"/>
            <a:ext cx="105664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A5260"/>
                </a:solidFill>
                <a:latin typeface="Arial"/>
              </a:rPr>
              <a:t>Needed from the shop: detailed invoice, 3–6 months of bills, opening hours, roof area, outage hours, sugarcane juicer starting current.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