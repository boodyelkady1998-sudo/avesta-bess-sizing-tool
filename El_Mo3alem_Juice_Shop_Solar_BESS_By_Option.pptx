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f323cf5fd654c90" /><Relationship Type="http://schemas.openxmlformats.org/officeDocument/2006/relationships/extended-properties" Target="/docProps/app.xml" Id="R7f19baf946e0456c" /><Relationship Type="http://schemas.openxmlformats.org/officeDocument/2006/relationships/officeDocument" Target="/ppt/presentation.xml" Id="R53c91e11ed29486b" /></Relationships>
</file>

<file path=ppt/presentation.xml><?xml version="1.0" encoding="utf-8"?>
<p:presentation xmlns:p="http://schemas.openxmlformats.org/presentationml/2006/main">
  <p:sldMasterIdLst>
    <p:sldMasterId xmlns:r="http://schemas.openxmlformats.org/officeDocument/2006/relationships" id="2147483648" r:id="Re0765036fc0a4376"/>
  </p:sldMasterIdLst>
  <p:notesMasterIdLst>
    <p:notesMasterId xmlns:r="http://schemas.openxmlformats.org/officeDocument/2006/relationships" r:id="Ree054905dfcb441a"/>
  </p:notesMasterIdLst>
  <p:sldIdLst>
    <p:sldId xmlns:r="http://schemas.openxmlformats.org/officeDocument/2006/relationships" id="256" r:id="R9829fb735960433a"/>
    <p:sldId xmlns:r="http://schemas.openxmlformats.org/officeDocument/2006/relationships" id="257" r:id="R4d2a1a25c2124372"/>
    <p:sldId xmlns:r="http://schemas.openxmlformats.org/officeDocument/2006/relationships" id="258" r:id="R8a56417b336b4499"/>
    <p:sldId xmlns:r="http://schemas.openxmlformats.org/officeDocument/2006/relationships" id="259" r:id="R69d510ce2ffd49e3"/>
    <p:sldId xmlns:r="http://schemas.openxmlformats.org/officeDocument/2006/relationships" id="260" r:id="Ra4a9e0fcf53d44b7"/>
    <p:sldId xmlns:r="http://schemas.openxmlformats.org/officeDocument/2006/relationships" id="261" r:id="R66d8af5a0b524bfa"/>
    <p:sldId xmlns:r="http://schemas.openxmlformats.org/officeDocument/2006/relationships" id="262" r:id="Rb425b957e493479d"/>
    <p:sldId xmlns:r="http://schemas.openxmlformats.org/officeDocument/2006/relationships" id="263" r:id="R41248a4755934d6c"/>
    <p:sldId xmlns:r="http://schemas.openxmlformats.org/officeDocument/2006/relationships" id="264" r:id="R670fa4e9d258478a"/>
    <p:sldId xmlns:r="http://schemas.openxmlformats.org/officeDocument/2006/relationships" id="265" r:id="R5765923a4177471b"/>
    <p:sldId xmlns:r="http://schemas.openxmlformats.org/officeDocument/2006/relationships" id="266" r:id="R08ee46ee3aa9400b"/>
    <p:sldId xmlns:r="http://schemas.openxmlformats.org/officeDocument/2006/relationships" id="267" r:id="R9b8da6bbfebb4787"/>
    <p:sldId xmlns:r="http://schemas.openxmlformats.org/officeDocument/2006/relationships" id="268" r:id="R6fcb14ba09404d99"/>
    <p:sldId xmlns:r="http://schemas.openxmlformats.org/officeDocument/2006/relationships" id="269" r:id="Re0393e382fd54b67"/>
    <p:sldId xmlns:r="http://schemas.openxmlformats.org/officeDocument/2006/relationships" id="270" r:id="R7ee0cd71881043a7"/>
    <p:sldId xmlns:r="http://schemas.openxmlformats.org/officeDocument/2006/relationships" id="271" r:id="R504ec907460b469e"/>
    <p:sldId xmlns:r="http://schemas.openxmlformats.org/officeDocument/2006/relationships" id="272" r:id="R225c8b1d1de548a7"/>
    <p:sldId xmlns:r="http://schemas.openxmlformats.org/officeDocument/2006/relationships" id="273" r:id="R05b3485f2263463d"/>
    <p:sldId xmlns:r="http://schemas.openxmlformats.org/officeDocument/2006/relationships" id="274" r:id="R1f8bef96f397452b"/>
    <p:sldId xmlns:r="http://schemas.openxmlformats.org/officeDocument/2006/relationships" id="275" r:id="Rb768553c9b4e45b8"/>
    <p:sldId xmlns:r="http://schemas.openxmlformats.org/officeDocument/2006/relationships" id="276" r:id="Rae3598ed88c4426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373597bd864748e9" /><Relationship Type="http://schemas.openxmlformats.org/officeDocument/2006/relationships/slideMaster" Target="/ppt/slideMasters/slideMaster1.xml" Id="Re0765036fc0a4376" /><Relationship Type="http://schemas.openxmlformats.org/officeDocument/2006/relationships/notesMaster" Target="/ppt/notesMasters/notesMaster1.xml" Id="Ree054905dfcb441a" /><Relationship Type="http://schemas.openxmlformats.org/officeDocument/2006/relationships/presProps" Target="/ppt/presProps.xml" Id="Rd623e9d7010b4a3a" /><Relationship Type="http://schemas.openxmlformats.org/officeDocument/2006/relationships/viewProps" Target="/ppt/viewProps.xml" Id="Rb0438b49b32d48d7" /><Relationship Type="http://schemas.openxmlformats.org/officeDocument/2006/relationships/tableStyles" Target="/ppt/tableStyles.xml" Id="R5205adf517a04e81" /><Relationship Type="http://schemas.openxmlformats.org/officeDocument/2006/relationships/slide" Target="/ppt/slides/slide1.xml" Id="R9829fb735960433a" /><Relationship Type="http://schemas.openxmlformats.org/officeDocument/2006/relationships/slide" Target="/ppt/slides/slide2.xml" Id="R4d2a1a25c2124372" /><Relationship Type="http://schemas.openxmlformats.org/officeDocument/2006/relationships/slide" Target="/ppt/slides/slide3.xml" Id="R8a56417b336b4499" /><Relationship Type="http://schemas.openxmlformats.org/officeDocument/2006/relationships/slide" Target="/ppt/slides/slide4.xml" Id="R69d510ce2ffd49e3" /><Relationship Type="http://schemas.openxmlformats.org/officeDocument/2006/relationships/slide" Target="/ppt/slides/slide5.xml" Id="Ra4a9e0fcf53d44b7" /><Relationship Type="http://schemas.openxmlformats.org/officeDocument/2006/relationships/slide" Target="/ppt/slides/slide6.xml" Id="R66d8af5a0b524bfa" /><Relationship Type="http://schemas.openxmlformats.org/officeDocument/2006/relationships/slide" Target="/ppt/slides/slide7.xml" Id="Rb425b957e493479d" /><Relationship Type="http://schemas.openxmlformats.org/officeDocument/2006/relationships/slide" Target="/ppt/slides/slide8.xml" Id="R41248a4755934d6c" /><Relationship Type="http://schemas.openxmlformats.org/officeDocument/2006/relationships/slide" Target="/ppt/slides/slide9.xml" Id="R670fa4e9d258478a" /><Relationship Type="http://schemas.openxmlformats.org/officeDocument/2006/relationships/slide" Target="/ppt/slides/slide10.xml" Id="R5765923a4177471b" /><Relationship Type="http://schemas.openxmlformats.org/officeDocument/2006/relationships/slide" Target="/ppt/slides/slide11.xml" Id="R08ee46ee3aa9400b" /><Relationship Type="http://schemas.openxmlformats.org/officeDocument/2006/relationships/slide" Target="/ppt/slides/slide12.xml" Id="R9b8da6bbfebb4787" /><Relationship Type="http://schemas.openxmlformats.org/officeDocument/2006/relationships/slide" Target="/ppt/slides/slide13.xml" Id="R6fcb14ba09404d99" /><Relationship Type="http://schemas.openxmlformats.org/officeDocument/2006/relationships/slide" Target="/ppt/slides/slide14.xml" Id="Re0393e382fd54b67" /><Relationship Type="http://schemas.openxmlformats.org/officeDocument/2006/relationships/slide" Target="/ppt/slides/slide15.xml" Id="R7ee0cd71881043a7" /><Relationship Type="http://schemas.openxmlformats.org/officeDocument/2006/relationships/slide" Target="/ppt/slides/slide16.xml" Id="R504ec907460b469e" /><Relationship Type="http://schemas.openxmlformats.org/officeDocument/2006/relationships/slide" Target="/ppt/slides/slide17.xml" Id="R225c8b1d1de548a7" /><Relationship Type="http://schemas.openxmlformats.org/officeDocument/2006/relationships/slide" Target="/ppt/slides/slide18.xml" Id="R05b3485f2263463d" /><Relationship Type="http://schemas.openxmlformats.org/officeDocument/2006/relationships/slide" Target="/ppt/slides/slide19.xml" Id="R1f8bef96f397452b" /><Relationship Type="http://schemas.openxmlformats.org/officeDocument/2006/relationships/slide" Target="/ppt/slides/slide20.xml" Id="Rb768553c9b4e45b8" /><Relationship Type="http://schemas.openxmlformats.org/officeDocument/2006/relationships/slide" Target="/ppt/slides/slide21.xml" Id="Rae3598ed88c4426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d4159eccaaa4c2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77f21094d7c4531" /><Relationship Type="http://schemas.openxmlformats.org/officeDocument/2006/relationships/notesMaster" Target="/ppt/notesMasters/notesMaster1.xml" Id="R437681898658466f" /></Relationships>
</file>

<file path=ppt/notesSlides/_rels/notesSlide2.xml.rels>&#65279;<?xml version="1.0" encoding="utf-8"?><Relationships xmlns="http://schemas.openxmlformats.org/package/2006/relationships"><Relationship Type="http://schemas.openxmlformats.org/officeDocument/2006/relationships/slide" Target="/ppt/slides/slide2.xml" Id="R2097f4ad2e1b4d73" /><Relationship Type="http://schemas.openxmlformats.org/officeDocument/2006/relationships/notesMaster" Target="/ppt/notesMasters/notesMaster1.xml" Id="Rff19b04ccf6a4aff" /></Relationships>
</file>

<file path=ppt/notesSlides/_rels/notesSlide3.xml.rels>&#65279;<?xml version="1.0" encoding="utf-8"?><Relationships xmlns="http://schemas.openxmlformats.org/package/2006/relationships"><Relationship Type="http://schemas.openxmlformats.org/officeDocument/2006/relationships/slide" Target="/ppt/slides/slide3.xml" Id="R2174101ba9bb45c7" /><Relationship Type="http://schemas.openxmlformats.org/officeDocument/2006/relationships/notesMaster" Target="/ppt/notesMasters/notesMaster1.xml" Id="R7ec0299733504c21" /></Relationships>
</file>

<file path=ppt/notesSlides/_rels/notesSlide4.xml.rels>&#65279;<?xml version="1.0" encoding="utf-8"?><Relationships xmlns="http://schemas.openxmlformats.org/package/2006/relationships"><Relationship Type="http://schemas.openxmlformats.org/officeDocument/2006/relationships/slide" Target="/ppt/slides/slide4.xml" Id="Ra39a8d093d3c4d74" /><Relationship Type="http://schemas.openxmlformats.org/officeDocument/2006/relationships/notesMaster" Target="/ppt/notesMasters/notesMaster1.xml" Id="R2596973d817e4aae" /></Relationships>
</file>

<file path=ppt/notesSlides/_rels/notesSlide5.xml.rels>&#65279;<?xml version="1.0" encoding="utf-8"?><Relationships xmlns="http://schemas.openxmlformats.org/package/2006/relationships"><Relationship Type="http://schemas.openxmlformats.org/officeDocument/2006/relationships/slide" Target="/ppt/slides/slide5.xml" Id="R4097292fe3464119" /><Relationship Type="http://schemas.openxmlformats.org/officeDocument/2006/relationships/notesMaster" Target="/ppt/notesMasters/notesMaster1.xml" Id="Rd5d58d3d124443a8" /></Relationships>
</file>

<file path=ppt/notesSlides/_rels/notesSlide6.xml.rels>&#65279;<?xml version="1.0" encoding="utf-8"?><Relationships xmlns="http://schemas.openxmlformats.org/package/2006/relationships"><Relationship Type="http://schemas.openxmlformats.org/officeDocument/2006/relationships/slide" Target="/ppt/slides/slide6.xml" Id="Rbdf962603bb94b3e" /><Relationship Type="http://schemas.openxmlformats.org/officeDocument/2006/relationships/notesMaster" Target="/ppt/notesMasters/notesMaster1.xml" Id="Rf951aa9f8c274f96" /></Relationships>
</file>

<file path=ppt/notesSlides/_rels/notesSlide7.xml.rels>&#65279;<?xml version="1.0" encoding="utf-8"?><Relationships xmlns="http://schemas.openxmlformats.org/package/2006/relationships"><Relationship Type="http://schemas.openxmlformats.org/officeDocument/2006/relationships/slide" Target="/ppt/slides/slide7.xml" Id="R74b32a4a822140bf" /><Relationship Type="http://schemas.openxmlformats.org/officeDocument/2006/relationships/notesMaster" Target="/ppt/notesMasters/notesMaster1.xml" Id="Ra551dca7ede04400" /></Relationships>
</file>

<file path=ppt/notesSlides/_rels/notesSlide8.xml.rels>&#65279;<?xml version="1.0" encoding="utf-8"?><Relationships xmlns="http://schemas.openxmlformats.org/package/2006/relationships"><Relationship Type="http://schemas.openxmlformats.org/officeDocument/2006/relationships/slide" Target="/ppt/slides/slide8.xml" Id="Ra37c97493b624173" /><Relationship Type="http://schemas.openxmlformats.org/officeDocument/2006/relationships/notesMaster" Target="/ppt/notesMasters/notesMaster1.xml" Id="R711010d3417748a3" /></Relationships>
</file>

<file path=ppt/notesSlides/_rels/notesSlide9.xml.rels>&#65279;<?xml version="1.0" encoding="utf-8"?><Relationships xmlns="http://schemas.openxmlformats.org/package/2006/relationships"><Relationship Type="http://schemas.openxmlformats.org/officeDocument/2006/relationships/slide" Target="/ppt/slides/slide9.xml" Id="Rb868ff7fdeae4030" /><Relationship Type="http://schemas.openxmlformats.org/officeDocument/2006/relationships/notesMaster" Target="/ppt/notesMasters/notesMaster1.xml" Id="R5f14b3f92b1445f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a090d19b09f4329" /><Relationship Type="http://schemas.openxmlformats.org/officeDocument/2006/relationships/notesMaster" Target="/ppt/notesMasters/notesMaster1.xml" Id="R561a964bb4544ec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5a926a983a04ea7" /><Relationship Type="http://schemas.openxmlformats.org/officeDocument/2006/relationships/notesMaster" Target="/ppt/notesMasters/notesMaster1.xml" Id="Rb441bed64376403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16f3a900bf1430a" /><Relationship Type="http://schemas.openxmlformats.org/officeDocument/2006/relationships/notesMaster" Target="/ppt/notesMasters/notesMaster1.xml" Id="Rc9920d24785040c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7c6c59446f14f05" /><Relationship Type="http://schemas.openxmlformats.org/officeDocument/2006/relationships/notesMaster" Target="/ppt/notesMasters/notesMaster1.xml" Id="Red6bcccedcb54ec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a1ab82500884584" /><Relationship Type="http://schemas.openxmlformats.org/officeDocument/2006/relationships/notesMaster" Target="/ppt/notesMasters/notesMaster1.xml" Id="Rcdbb0dc1d39a4f7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ab59ed8079f42b8" /><Relationship Type="http://schemas.openxmlformats.org/officeDocument/2006/relationships/notesMaster" Target="/ppt/notesMasters/notesMaster1.xml" Id="R68a8757343f14a5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66aa2e97c484a81" /><Relationship Type="http://schemas.openxmlformats.org/officeDocument/2006/relationships/notesMaster" Target="/ppt/notesMasters/notesMaster1.xml" Id="R3d3212b29d214e2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e98de7f14f246a7" /><Relationship Type="http://schemas.openxmlformats.org/officeDocument/2006/relationships/notesMaster" Target="/ppt/notesMasters/notesMaster1.xml" Id="Re90e88491be9405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5d30cf9153a4829" /><Relationship Type="http://schemas.openxmlformats.org/officeDocument/2006/relationships/notesMaster" Target="/ppt/notesMasters/notesMaster1.xml" Id="Rf26a2a948606427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d5365cc065c4b3c" /><Relationship Type="http://schemas.openxmlformats.org/officeDocument/2006/relationships/notesMaster" Target="/ppt/notesMasters/notesMaster1.xml" Id="Rf3e7e60254004dc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53ede530ef94ac6" /><Relationship Type="http://schemas.openxmlformats.org/officeDocument/2006/relationships/notesMaster" Target="/ppt/notesMasters/notesMaster1.xml" Id="R592a1699c59945f9"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ecf5c3d28d6b4869" /><Relationship Type="http://schemas.openxmlformats.org/officeDocument/2006/relationships/notesMaster" Target="/ppt/notesMasters/notesMaster1.xml" Id="Rde8e495cc72e46e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EgyptERA commercial tariff from April 2026, https://www.egyptera.org/en/TarrifApril2026.aspx (checked 30 Sep 2026). JRC PVGIS 5.3, https://re.jrc.ec.europa.eu/api/v5_3/PVcalc?lat=30.0444&amp;lon=31.2357&amp;peakpower=1&amp;loss=14&amp;angle=30&amp;aspect=0&amp;pvtechchoice=crystSi&amp;mountingplace=free&amp;outputformat=json . SARAH3/ERA5 2005–2023, Cairo 30.0444N 31.2357E, south-facing 30 degrees, crystalline silicon, free-standing, 14% entered PV loss. Historical modeled output, local shading unmeasured. Home_Storage.pptx slide 15: battery 220 EUR/kWh at assumed 62 EGP/EUR = 13,640 EGP/kWh. Historical model assumptions treated as customer selling prices, not current quotes. Source deck slide 18 states 10-year warranty and 6,000 cycles at 80% DoD.</a:t>
            </a:r>
          </a:p>
          <a:p xmlns:a="http://schemas.openxmlformats.org/drawingml/2006/main">
            <a:r>
              <a:t>Method: E=2421/30=80.7 kWh/day (billing period assumed). D=N=40.35. U=C*0.8 before losses. eta=0.95 aggregate storage-path energy factor allocated once at output. Delivered battery=min(solar surplus*eta,U*eta,N). No grid charging, exports have zero value, no reserve held. Required whole-night nameplate=40.35/(.8*.95)=53.092105 kWh. Installed C=64 for the product comparison. PV size rounded up to 0.5 kWp. Inverter sizes preliminary.</a:t>
            </a:r>
          </a:p>
          <a:p xmlns:a="http://schemas.openxmlformats.org/drawingml/2006/main">
            <a:r>
              <a:t>Annual scenario: monthly PV daily mean=PVGIS E_m / calendar days, daily consumption held at80.7, non-leap year365days. Treat each month as repeated average days, no hourly dispatch or interday simulation. Baseline bill and newbill evaluated per month at full precision. Rounded displayed inputs may create small rounding differences. All savings exclude the equal annual3EGP stamp, which cancels in the comparison. No finance, maintenance, insurance, degradation, replacement, tariff escalation or added subscription margin.</a:t>
            </a:r>
          </a:p>
          <a:p xmlns:a="http://schemas.openxmlformats.org/drawingml/2006/main">
            <a:r>
              <a:t>PVGIS annual API total1818.36kWh vs summed rounded monthly1818.37kWh differs by0.01 due to rounding. Sizing uses requested unweighted mean of12 displayed daily yields4.9816667 rounded4.98. Annual financial calculation uses monthly E_m.</a:t>
            </a:r>
          </a:p>
          <a:p xmlns:a="http://schemas.openxmlformats.org/drawingml/2006/main">
            <a:r>
              <a:t/>
            </a:r>
          </a:p>
          <a:p xmlns:a="http://schemas.openxmlformats.org/drawingml/2006/main">
            <a:r>
              <a:t>Calculated reference and monthly scenarios (unrounded):</a:t>
            </a:r>
          </a:p>
          <a:p xmlns:a="http://schemas.openxmlformats.org/drawingml/2006/main">
            <a:r>
              <a:t>[</a:t>
            </a:r>
          </a:p>
          <a:p xmlns:a="http://schemas.openxmlformats.org/drawingml/2006/main">
            <a:r>
              <a:t>  {</a:t>
            </a:r>
          </a:p>
          <a:p xmlns:a="http://schemas.openxmlformats.org/drawingml/2006/main">
            <a:r>
              <a:t>    "option": "A",</a:t>
            </a:r>
          </a:p>
          <a:p xmlns:a="http://schemas.openxmlformats.org/drawingml/2006/main">
            <a:r>
              <a:t>    "C": 0,</a:t>
            </a:r>
          </a:p>
          <a:p xmlns:a="http://schemas.openxmlformats.org/drawingml/2006/main">
            <a:r>
              <a:t>    "P": 8.5,</a:t>
            </a:r>
          </a:p>
          <a:p xmlns:a="http://schemas.openxmlformats.org/drawingml/2006/main">
            <a:r>
              <a:t>    "inv": 10,</a:t>
            </a:r>
          </a:p>
          <a:p xmlns:a="http://schemas.openxmlformats.org/drawingml/2006/main">
            <a:r>
              <a:t>    "price": 140800,</a:t>
            </a:r>
          </a:p>
          <a:p xmlns:a="http://schemas.openxmlformats.org/drawingml/2006/main">
            <a:r>
              <a:t>    "reference": {</a:t>
            </a:r>
          </a:p>
          <a:p xmlns:a="http://schemas.openxmlformats.org/drawingml/2006/main">
            <a:r>
              <a:t>      "G": 42.330000000000005,</a:t>
            </a:r>
          </a:p>
          <a:p xmlns:a="http://schemas.openxmlformats.org/drawingml/2006/main">
            <a:r>
              <a:t>      "direct": 40.35,</a:t>
            </a:r>
          </a:p>
          <a:p xmlns:a="http://schemas.openxmlformats.org/drawingml/2006/main">
            <a:r>
              <a:t>      "surplus": 1.980000000000004,</a:t>
            </a:r>
          </a:p>
          <a:p xmlns:a="http://schemas.openxmlformats.org/drawingml/2006/main">
            <a:r>
              <a:t>      "battery": 0,</a:t>
            </a:r>
          </a:p>
          <a:p xmlns:a="http://schemas.openxmlformats.org/drawingml/2006/main">
            <a:r>
              <a:t>      "imports": 1210.5,</a:t>
            </a:r>
          </a:p>
          <a:p xmlns:a="http://schemas.openxmlformats.org/drawingml/2006/main">
            <a:r>
              <a:t>      "base": 6867.22,</a:t>
            </a:r>
          </a:p>
          <a:p xmlns:a="http://schemas.openxmlformats.org/drawingml/2006/main">
            <a:r>
              <a:t>      "newbill": 3453.61,</a:t>
            </a:r>
          </a:p>
          <a:p xmlns:a="http://schemas.openxmlformats.org/drawingml/2006/main">
            <a:r>
              <a:t>      "saving": 3413.61</a:t>
            </a:r>
          </a:p>
          <a:p xmlns:a="http://schemas.openxmlformats.org/drawingml/2006/main">
            <a:r>
              <a:t>    },</a:t>
            </a:r>
          </a:p>
          <a:p xmlns:a="http://schemas.openxmlformats.org/drawingml/2006/main">
            <a:r>
              <a:t>    "monthly": [</a:t>
            </a:r>
          </a:p>
          <a:p xmlns:a="http://schemas.openxmlformats.org/drawingml/2006/main">
            <a:r>
              <a:t>      {</a:t>
            </a:r>
          </a:p>
          <a:p xmlns:a="http://schemas.openxmlformats.org/drawingml/2006/main">
            <a:r>
              <a:t>        "month": "Jan",</a:t>
            </a:r>
          </a:p>
          <a:p xmlns:a="http://schemas.openxmlformats.org/drawingml/2006/main">
            <a:r>
              <a:t>        "days": 31,</a:t>
            </a:r>
          </a:p>
          <a:p xmlns:a="http://schemas.openxmlformats.org/drawingml/2006/main">
            <a:r>
              <a:t>        "G": 36.00161290322581,</a:t>
            </a:r>
          </a:p>
          <a:p xmlns:a="http://schemas.openxmlformats.org/drawingml/2006/main">
            <a:r>
              <a:t>        "direct": 36.00161290322581,</a:t>
            </a:r>
          </a:p>
          <a:p xmlns:a="http://schemas.openxmlformats.org/drawingml/2006/main">
            <a:r>
              <a:t>        "surplus": 0,</a:t>
            </a:r>
          </a:p>
          <a:p xmlns:a="http://schemas.openxmlformats.org/drawingml/2006/main">
            <a:r>
              <a:t>        "battery": 0,</a:t>
            </a:r>
          </a:p>
          <a:p xmlns:a="http://schemas.openxmlformats.org/drawingml/2006/main">
            <a:r>
              <a:t>        "imports": 1385.6499999999999,</a:t>
            </a:r>
          </a:p>
          <a:p xmlns:a="http://schemas.openxmlformats.org/drawingml/2006/main">
            <a:r>
              <a:t>        "base": 7094.794000000002,</a:t>
            </a:r>
          </a:p>
          <a:p xmlns:a="http://schemas.openxmlformats.org/drawingml/2006/main">
            <a:r>
              <a:t>        "newbill": 3947.533,</a:t>
            </a:r>
          </a:p>
          <a:p xmlns:a="http://schemas.openxmlformats.org/drawingml/2006/main">
            <a:r>
              <a:t>        "saving": 3147.261000000002</a:t>
            </a:r>
          </a:p>
          <a:p xmlns:a="http://schemas.openxmlformats.org/drawingml/2006/main">
            <a:r>
              <a:t>      },</a:t>
            </a:r>
          </a:p>
          <a:p xmlns:a="http://schemas.openxmlformats.org/drawingml/2006/main">
            <a:r>
              <a:t>      {</a:t>
            </a:r>
          </a:p>
          <a:p xmlns:a="http://schemas.openxmlformats.org/drawingml/2006/main">
            <a:r>
              <a:t>        "month": "Feb",</a:t>
            </a:r>
          </a:p>
          <a:p xmlns:a="http://schemas.openxmlformats.org/drawingml/2006/main">
            <a:r>
              <a:t>        "days": 28,</a:t>
            </a:r>
          </a:p>
          <a:p xmlns:a="http://schemas.openxmlformats.org/drawingml/2006/main">
            <a:r>
              <a:t>        "G": 39.29732142857142,</a:t>
            </a:r>
          </a:p>
          <a:p xmlns:a="http://schemas.openxmlformats.org/drawingml/2006/main">
            <a:r>
              <a:t>        "direct": 39.29732142857142,</a:t>
            </a:r>
          </a:p>
          <a:p xmlns:a="http://schemas.openxmlformats.org/drawingml/2006/main">
            <a:r>
              <a:t>        "surplus": 0,</a:t>
            </a:r>
          </a:p>
          <a:p xmlns:a="http://schemas.openxmlformats.org/drawingml/2006/main">
            <a:r>
              <a:t>        "battery": 0,</a:t>
            </a:r>
          </a:p>
          <a:p xmlns:a="http://schemas.openxmlformats.org/drawingml/2006/main">
            <a:r>
              <a:t>        "imports": 1159.2750000000003,</a:t>
            </a:r>
          </a:p>
          <a:p xmlns:a="http://schemas.openxmlformats.org/drawingml/2006/main">
            <a:r>
              <a:t>        "base": 6412.071999999999,</a:t>
            </a:r>
          </a:p>
          <a:p xmlns:a="http://schemas.openxmlformats.org/drawingml/2006/main">
            <a:r>
              <a:t>        "newbill": 3309.1555000000008,</a:t>
            </a:r>
          </a:p>
          <a:p xmlns:a="http://schemas.openxmlformats.org/drawingml/2006/main">
            <a:r>
              <a:t>        "saving": 3102.9164999999985</a:t>
            </a:r>
          </a:p>
          <a:p xmlns:a="http://schemas.openxmlformats.org/drawingml/2006/main">
            <a:r>
              <a:t>      },</a:t>
            </a:r>
          </a:p>
          <a:p xmlns:a="http://schemas.openxmlformats.org/drawingml/2006/main">
            <a:r>
              <a:t>      {</a:t>
            </a:r>
          </a:p>
          <a:p xmlns:a="http://schemas.openxmlformats.org/drawingml/2006/main">
            <a:r>
              <a:t>        "month": "Mar",</a:t>
            </a:r>
          </a:p>
          <a:p xmlns:a="http://schemas.openxmlformats.org/drawingml/2006/main">
            <a:r>
              <a:t>        "days": 31,</a:t>
            </a:r>
          </a:p>
          <a:p xmlns:a="http://schemas.openxmlformats.org/drawingml/2006/main">
            <a:r>
              <a:t>        "G": 44.1616129032258,</a:t>
            </a:r>
          </a:p>
          <a:p xmlns:a="http://schemas.openxmlformats.org/drawingml/2006/main">
            <a:r>
              <a:t>        "direct": 40.35,</a:t>
            </a:r>
          </a:p>
          <a:p xmlns:a="http://schemas.openxmlformats.org/drawingml/2006/main">
            <a:r>
              <a:t>        "surplus": 3.8116129032258,</a:t>
            </a:r>
          </a:p>
          <a:p xmlns:a="http://schemas.openxmlformats.org/drawingml/2006/main">
            <a:r>
              <a:t>        "battery": 0,</a:t>
            </a:r>
          </a:p>
          <a:p xmlns:a="http://schemas.openxmlformats.org/drawingml/2006/main">
            <a:r>
              <a:t>        "imports": 1250.8500000000001,</a:t>
            </a:r>
          </a:p>
          <a:p xmlns:a="http://schemas.openxmlformats.org/drawingml/2006/main">
            <a:r>
              <a:t>        "base": 7094.794000000002,</a:t>
            </a:r>
          </a:p>
          <a:p xmlns:a="http://schemas.openxmlformats.org/drawingml/2006/main">
            <a:r>
              <a:t>        "newbill": 3567.397000000001,</a:t>
            </a:r>
          </a:p>
          <a:p xmlns:a="http://schemas.openxmlformats.org/drawingml/2006/main">
            <a:r>
              <a:t>        "saving": 3527.397000000001</a:t>
            </a:r>
          </a:p>
          <a:p xmlns:a="http://schemas.openxmlformats.org/drawingml/2006/main">
            <a:r>
              <a:t>      },</a:t>
            </a:r>
          </a:p>
          <a:p xmlns:a="http://schemas.openxmlformats.org/drawingml/2006/main">
            <a:r>
              <a:t>      {</a:t>
            </a:r>
          </a:p>
          <a:p xmlns:a="http://schemas.openxmlformats.org/drawingml/2006/main">
            <a:r>
              <a:t>        "month": "Apr",</a:t>
            </a:r>
          </a:p>
          <a:p xmlns:a="http://schemas.openxmlformats.org/drawingml/2006/main">
            <a:r>
              <a:t>        "days": 30,</a:t>
            </a:r>
          </a:p>
          <a:p xmlns:a="http://schemas.openxmlformats.org/drawingml/2006/main">
            <a:r>
              <a:t>        "G": 45.577,</a:t>
            </a:r>
          </a:p>
          <a:p xmlns:a="http://schemas.openxmlformats.org/drawingml/2006/main">
            <a:r>
              <a:t>        "direct": 40.35,</a:t>
            </a:r>
          </a:p>
          <a:p xmlns:a="http://schemas.openxmlformats.org/drawingml/2006/main">
            <a:r>
              <a:t>        "surplus": 5.226999999999997,</a:t>
            </a:r>
          </a:p>
          <a:p xmlns:a="http://schemas.openxmlformats.org/drawingml/2006/main">
            <a:r>
              <a:t>        "battery": 0,</a:t>
            </a:r>
          </a:p>
          <a:p xmlns:a="http://schemas.openxmlformats.org/drawingml/2006/main">
            <a:r>
              <a:t>        "imports": 1210.5,</a:t>
            </a:r>
          </a:p>
          <a:p xmlns:a="http://schemas.openxmlformats.org/drawingml/2006/main">
            <a:r>
              <a:t>        "base": 6867.22,</a:t>
            </a:r>
          </a:p>
          <a:p xmlns:a="http://schemas.openxmlformats.org/drawingml/2006/main">
            <a:r>
              <a:t>        "newbill": 3453.61,</a:t>
            </a:r>
          </a:p>
          <a:p xmlns:a="http://schemas.openxmlformats.org/drawingml/2006/main">
            <a:r>
              <a:t>        "saving": 3413.61</a:t>
            </a:r>
          </a:p>
          <a:p xmlns:a="http://schemas.openxmlformats.org/drawingml/2006/main">
            <a:r>
              <a:t>      },</a:t>
            </a:r>
          </a:p>
          <a:p xmlns:a="http://schemas.openxmlformats.org/drawingml/2006/main">
            <a:r>
              <a:t>      {</a:t>
            </a:r>
          </a:p>
          <a:p xmlns:a="http://schemas.openxmlformats.org/drawingml/2006/main">
            <a:r>
              <a:t>        "month": "May",</a:t>
            </a:r>
          </a:p>
          <a:p xmlns:a="http://schemas.openxmlformats.org/drawingml/2006/main">
            <a:r>
              <a:t>        "days": 31,</a:t>
            </a:r>
          </a:p>
          <a:p xmlns:a="http://schemas.openxmlformats.org/drawingml/2006/main">
            <a:r>
              <a:t>        "G": 44.61677419354839,</a:t>
            </a:r>
          </a:p>
          <a:p xmlns:a="http://schemas.openxmlformats.org/drawingml/2006/main">
            <a:r>
              <a:t>        "direct": 40.35,</a:t>
            </a:r>
          </a:p>
          <a:p xmlns:a="http://schemas.openxmlformats.org/drawingml/2006/main">
            <a:r>
              <a:t>        "surplus": 4.266774193548386,</a:t>
            </a:r>
          </a:p>
          <a:p xmlns:a="http://schemas.openxmlformats.org/drawingml/2006/main">
            <a:r>
              <a:t>        "battery": 0,</a:t>
            </a:r>
          </a:p>
          <a:p xmlns:a="http://schemas.openxmlformats.org/drawingml/2006/main">
            <a:r>
              <a:t>        "imports": 1250.8500000000001,</a:t>
            </a:r>
          </a:p>
          <a:p xmlns:a="http://schemas.openxmlformats.org/drawingml/2006/main">
            <a:r>
              <a:t>        "base": 7094.794000000002,</a:t>
            </a:r>
          </a:p>
          <a:p xmlns:a="http://schemas.openxmlformats.org/drawingml/2006/main">
            <a:r>
              <a:t>        "newbill": 3567.397000000001,</a:t>
            </a:r>
          </a:p>
          <a:p xmlns:a="http://schemas.openxmlformats.org/drawingml/2006/main">
            <a:r>
              <a:t>        "saving": 3527.397000000001</a:t>
            </a:r>
          </a:p>
          <a:p xmlns:a="http://schemas.openxmlformats.org/drawingml/2006/main">
            <a:r>
              <a:t>      },</a:t>
            </a:r>
          </a:p>
          <a:p xmlns:a="http://schemas.openxmlformats.org/drawingml/2006/main">
            <a:r>
              <a:t>      {</a:t>
            </a:r>
          </a:p>
          <a:p xmlns:a="http://schemas.openxmlformats.org/drawingml/2006/main">
            <a:r>
              <a:t>        "month": "Jun",</a:t>
            </a:r>
          </a:p>
          <a:p xmlns:a="http://schemas.openxmlformats.org/drawingml/2006/main">
            <a:r>
              <a:t>        "days": 30,</a:t>
            </a:r>
          </a:p>
          <a:p xmlns:a="http://schemas.openxmlformats.org/drawingml/2006/main">
            <a:r>
              <a:t>        "G": 44.94233333333334,</a:t>
            </a:r>
          </a:p>
          <a:p xmlns:a="http://schemas.openxmlformats.org/drawingml/2006/main">
            <a:r>
              <a:t>        "direct": 40.35,</a:t>
            </a:r>
          </a:p>
          <a:p xmlns:a="http://schemas.openxmlformats.org/drawingml/2006/main">
            <a:r>
              <a:t>        "surplus": 4.592333333333336,</a:t>
            </a:r>
          </a:p>
          <a:p xmlns:a="http://schemas.openxmlformats.org/drawingml/2006/main">
            <a:r>
              <a:t>        "battery": 0,</a:t>
            </a:r>
          </a:p>
          <a:p xmlns:a="http://schemas.openxmlformats.org/drawingml/2006/main">
            <a:r>
              <a:t>        "imports": 1210.5,</a:t>
            </a:r>
          </a:p>
          <a:p xmlns:a="http://schemas.openxmlformats.org/drawingml/2006/main">
            <a:r>
              <a:t>        "base": 6867.22,</a:t>
            </a:r>
          </a:p>
          <a:p xmlns:a="http://schemas.openxmlformats.org/drawingml/2006/main">
            <a:r>
              <a:t>        "newbill": 3453.61,</a:t>
            </a:r>
          </a:p>
          <a:p xmlns:a="http://schemas.openxmlformats.org/drawingml/2006/main">
            <a:r>
              <a:t>        "saving": 3413.61</a:t>
            </a:r>
          </a:p>
          <a:p xmlns:a="http://schemas.openxmlformats.org/drawingml/2006/main">
            <a:r>
              <a:t>      },</a:t>
            </a:r>
          </a:p>
          <a:p xmlns:a="http://schemas.openxmlformats.org/drawingml/2006/main">
            <a:r>
              <a:t>      {</a:t>
            </a:r>
          </a:p>
          <a:p xmlns:a="http://schemas.openxmlformats.org/drawingml/2006/main">
            <a:r>
              <a:t>        "month": "Jul",</a:t>
            </a:r>
          </a:p>
          <a:p xmlns:a="http://schemas.openxmlformats.org/drawingml/2006/main">
            <a:r>
              <a:t>        "days": 31,</a:t>
            </a:r>
          </a:p>
          <a:p xmlns:a="http://schemas.openxmlformats.org/drawingml/2006/main">
            <a:r>
              <a:t>        "G": 45.148709677419355,</a:t>
            </a:r>
          </a:p>
          <a:p xmlns:a="http://schemas.openxmlformats.org/drawingml/2006/main">
            <a:r>
              <a:t>        "direct": 40.35,</a:t>
            </a:r>
          </a:p>
          <a:p xmlns:a="http://schemas.openxmlformats.org/drawingml/2006/main">
            <a:r>
              <a:t>        "surplus": 4.798709677419353,</a:t>
            </a:r>
          </a:p>
          <a:p xmlns:a="http://schemas.openxmlformats.org/drawingml/2006/main">
            <a:r>
              <a:t>        "battery": 0,</a:t>
            </a:r>
          </a:p>
          <a:p xmlns:a="http://schemas.openxmlformats.org/drawingml/2006/main">
            <a:r>
              <a:t>        "imports": 1250.8500000000001,</a:t>
            </a:r>
          </a:p>
          <a:p xmlns:a="http://schemas.openxmlformats.org/drawingml/2006/main">
            <a:r>
              <a:t>        "base": 7094.794000000002,</a:t>
            </a:r>
          </a:p>
          <a:p xmlns:a="http://schemas.openxmlformats.org/drawingml/2006/main">
            <a:r>
              <a:t>        "newbill": 3567.397000000001,</a:t>
            </a:r>
          </a:p>
          <a:p xmlns:a="http://schemas.openxmlformats.org/drawingml/2006/main">
            <a:r>
              <a:t>        "saving": 3527.397000000001</a:t>
            </a:r>
          </a:p>
          <a:p xmlns:a="http://schemas.openxmlformats.org/drawingml/2006/main">
            <a:r>
              <a:t>      },</a:t>
            </a:r>
          </a:p>
          <a:p xmlns:a="http://schemas.openxmlformats.org/drawingml/2006/main">
            <a:r>
              <a:t>      {</a:t>
            </a:r>
          </a:p>
          <a:p xmlns:a="http://schemas.openxmlformats.org/drawingml/2006/main">
            <a:r>
              <a:t>        "month": "Aug",</a:t>
            </a:r>
          </a:p>
          <a:p xmlns:a="http://schemas.openxmlformats.org/drawingml/2006/main">
            <a:r>
              <a:t>        "days": 31,</a:t>
            </a:r>
          </a:p>
          <a:p xmlns:a="http://schemas.openxmlformats.org/drawingml/2006/main">
            <a:r>
              <a:t>        "G": 45.73548387096774,</a:t>
            </a:r>
          </a:p>
          <a:p xmlns:a="http://schemas.openxmlformats.org/drawingml/2006/main">
            <a:r>
              <a:t>        "direct": 40.35,</a:t>
            </a:r>
          </a:p>
          <a:p xmlns:a="http://schemas.openxmlformats.org/drawingml/2006/main">
            <a:r>
              <a:t>        "surplus": 5.3854838709677395,</a:t>
            </a:r>
          </a:p>
          <a:p xmlns:a="http://schemas.openxmlformats.org/drawingml/2006/main">
            <a:r>
              <a:t>        "battery": 0,</a:t>
            </a:r>
          </a:p>
          <a:p xmlns:a="http://schemas.openxmlformats.org/drawingml/2006/main">
            <a:r>
              <a:t>        "imports": 1250.8500000000001,</a:t>
            </a:r>
          </a:p>
          <a:p xmlns:a="http://schemas.openxmlformats.org/drawingml/2006/main">
            <a:r>
              <a:t>        "base": 7094.794000000002,</a:t>
            </a:r>
          </a:p>
          <a:p xmlns:a="http://schemas.openxmlformats.org/drawingml/2006/main">
            <a:r>
              <a:t>        "newbill": 3567.397000000001,</a:t>
            </a:r>
          </a:p>
          <a:p xmlns:a="http://schemas.openxmlformats.org/drawingml/2006/main">
            <a:r>
              <a:t>        "saving": 3527.397000000001</a:t>
            </a:r>
          </a:p>
          <a:p xmlns:a="http://schemas.openxmlformats.org/drawingml/2006/main">
            <a:r>
              <a:t>      },</a:t>
            </a:r>
          </a:p>
          <a:p xmlns:a="http://schemas.openxmlformats.org/drawingml/2006/main">
            <a:r>
              <a:t>      {</a:t>
            </a:r>
          </a:p>
          <a:p xmlns:a="http://schemas.openxmlformats.org/drawingml/2006/main">
            <a:r>
              <a:t>        "month": "Sep",</a:t>
            </a:r>
          </a:p>
          <a:p xmlns:a="http://schemas.openxmlformats.org/drawingml/2006/main">
            <a:r>
              <a:t>        "days": 30,</a:t>
            </a:r>
          </a:p>
          <a:p xmlns:a="http://schemas.openxmlformats.org/drawingml/2006/main">
            <a:r>
              <a:t>        "G": 45.61666666666666,</a:t>
            </a:r>
          </a:p>
          <a:p xmlns:a="http://schemas.openxmlformats.org/drawingml/2006/main">
            <a:r>
              <a:t>        "direct": 40.35,</a:t>
            </a:r>
          </a:p>
          <a:p xmlns:a="http://schemas.openxmlformats.org/drawingml/2006/main">
            <a:r>
              <a:t>        "surplus": 5.266666666666659,</a:t>
            </a:r>
          </a:p>
          <a:p xmlns:a="http://schemas.openxmlformats.org/drawingml/2006/main">
            <a:r>
              <a:t>        "battery": 0,</a:t>
            </a:r>
          </a:p>
          <a:p xmlns:a="http://schemas.openxmlformats.org/drawingml/2006/main">
            <a:r>
              <a:t>        "imports": 1210.5,</a:t>
            </a:r>
          </a:p>
          <a:p xmlns:a="http://schemas.openxmlformats.org/drawingml/2006/main">
            <a:r>
              <a:t>        "base": 6867.22,</a:t>
            </a:r>
          </a:p>
          <a:p xmlns:a="http://schemas.openxmlformats.org/drawingml/2006/main">
            <a:r>
              <a:t>        "newbill": 3453.61,</a:t>
            </a:r>
          </a:p>
          <a:p xmlns:a="http://schemas.openxmlformats.org/drawingml/2006/main">
            <a:r>
              <a:t>        "saving": 3413.61</a:t>
            </a:r>
          </a:p>
          <a:p xmlns:a="http://schemas.openxmlformats.org/drawingml/2006/main">
            <a:r>
              <a:t>      },</a:t>
            </a:r>
          </a:p>
          <a:p xmlns:a="http://schemas.openxmlformats.org/drawingml/2006/main">
            <a:r>
              <a:t>      {</a:t>
            </a:r>
          </a:p>
          <a:p xmlns:a="http://schemas.openxmlformats.org/drawingml/2006/main">
            <a:r>
              <a:t>        "month": "Oct",</a:t>
            </a:r>
          </a:p>
          <a:p xmlns:a="http://schemas.openxmlformats.org/drawingml/2006/main">
            <a:r>
              <a:t>        "days": 31,</a:t>
            </a:r>
          </a:p>
          <a:p xmlns:a="http://schemas.openxmlformats.org/drawingml/2006/main">
            <a:r>
              <a:t>        "G": 42.37112903225807,</a:t>
            </a:r>
          </a:p>
          <a:p xmlns:a="http://schemas.openxmlformats.org/drawingml/2006/main">
            <a:r>
              <a:t>        "direct": 40.35,</a:t>
            </a:r>
          </a:p>
          <a:p xmlns:a="http://schemas.openxmlformats.org/drawingml/2006/main">
            <a:r>
              <a:t>        "surplus": 2.0211290322580666,</a:t>
            </a:r>
          </a:p>
          <a:p xmlns:a="http://schemas.openxmlformats.org/drawingml/2006/main">
            <a:r>
              <a:t>        "battery": 0,</a:t>
            </a:r>
          </a:p>
          <a:p xmlns:a="http://schemas.openxmlformats.org/drawingml/2006/main">
            <a:r>
              <a:t>        "imports": 1250.8500000000001,</a:t>
            </a:r>
          </a:p>
          <a:p xmlns:a="http://schemas.openxmlformats.org/drawingml/2006/main">
            <a:r>
              <a:t>        "base": 7094.794000000002,</a:t>
            </a:r>
          </a:p>
          <a:p xmlns:a="http://schemas.openxmlformats.org/drawingml/2006/main">
            <a:r>
              <a:t>        "newbill": 3567.397000000001,</a:t>
            </a:r>
          </a:p>
          <a:p xmlns:a="http://schemas.openxmlformats.org/drawingml/2006/main">
            <a:r>
              <a:t>        "saving": 3527.397000000001</a:t>
            </a:r>
          </a:p>
          <a:p xmlns:a="http://schemas.openxmlformats.org/drawingml/2006/main">
            <a:r>
              <a:t>      },</a:t>
            </a:r>
          </a:p>
          <a:p xmlns:a="http://schemas.openxmlformats.org/drawingml/2006/main">
            <a:r>
              <a:t>      {</a:t>
            </a:r>
          </a:p>
          <a:p xmlns:a="http://schemas.openxmlformats.org/drawingml/2006/main">
            <a:r>
              <a:t>        "month": "Nov",</a:t>
            </a:r>
          </a:p>
          <a:p xmlns:a="http://schemas.openxmlformats.org/drawingml/2006/main">
            <a:r>
              <a:t>        "days": 30,</a:t>
            </a:r>
          </a:p>
          <a:p xmlns:a="http://schemas.openxmlformats.org/drawingml/2006/main">
            <a:r>
              <a:t>        "G": 38.80816666666667,</a:t>
            </a:r>
          </a:p>
          <a:p xmlns:a="http://schemas.openxmlformats.org/drawingml/2006/main">
            <a:r>
              <a:t>        "direct": 38.80816666666667,</a:t>
            </a:r>
          </a:p>
          <a:p xmlns:a="http://schemas.openxmlformats.org/drawingml/2006/main">
            <a:r>
              <a:t>        "surplus": 0,</a:t>
            </a:r>
          </a:p>
          <a:p xmlns:a="http://schemas.openxmlformats.org/drawingml/2006/main">
            <a:r>
              <a:t>        "battery": 0,</a:t>
            </a:r>
          </a:p>
          <a:p xmlns:a="http://schemas.openxmlformats.org/drawingml/2006/main">
            <a:r>
              <a:t>        "imports": 1256.7549999999999,</a:t>
            </a:r>
          </a:p>
          <a:p xmlns:a="http://schemas.openxmlformats.org/drawingml/2006/main">
            <a:r>
              <a:t>        "base": 6867.22,</a:t>
            </a:r>
          </a:p>
          <a:p xmlns:a="http://schemas.openxmlformats.org/drawingml/2006/main">
            <a:r>
              <a:t>        "newbill": 3584.0490999999997,</a:t>
            </a:r>
          </a:p>
          <a:p xmlns:a="http://schemas.openxmlformats.org/drawingml/2006/main">
            <a:r>
              <a:t>        "saving": 3283.1709000000005</a:t>
            </a:r>
          </a:p>
          <a:p xmlns:a="http://schemas.openxmlformats.org/drawingml/2006/main">
            <a:r>
              <a:t>      },</a:t>
            </a:r>
          </a:p>
          <a:p xmlns:a="http://schemas.openxmlformats.org/drawingml/2006/main">
            <a:r>
              <a:t>      {</a:t>
            </a:r>
          </a:p>
          <a:p xmlns:a="http://schemas.openxmlformats.org/drawingml/2006/main">
            <a:r>
              <a:t>        "month": "Dec",</a:t>
            </a:r>
          </a:p>
          <a:p xmlns:a="http://schemas.openxmlformats.org/drawingml/2006/main">
            <a:r>
              <a:t>        "days": 31,</a:t>
            </a:r>
          </a:p>
          <a:p xmlns:a="http://schemas.openxmlformats.org/drawingml/2006/main">
            <a:r>
              <a:t>        "G": 35.75483870967742,</a:t>
            </a:r>
          </a:p>
          <a:p xmlns:a="http://schemas.openxmlformats.org/drawingml/2006/main">
            <a:r>
              <a:t>        "direct": 35.75483870967742,</a:t>
            </a:r>
          </a:p>
          <a:p xmlns:a="http://schemas.openxmlformats.org/drawingml/2006/main">
            <a:r>
              <a:t>        "surplus": 0,</a:t>
            </a:r>
          </a:p>
          <a:p xmlns:a="http://schemas.openxmlformats.org/drawingml/2006/main">
            <a:r>
              <a:t>        "battery": 0,</a:t>
            </a:r>
          </a:p>
          <a:p xmlns:a="http://schemas.openxmlformats.org/drawingml/2006/main">
            <a:r>
              <a:t>        "imports": 1393.3,</a:t>
            </a:r>
          </a:p>
          <a:p xmlns:a="http://schemas.openxmlformats.org/drawingml/2006/main">
            <a:r>
              <a:t>        "base": 7094.794000000002,</a:t>
            </a:r>
          </a:p>
          <a:p xmlns:a="http://schemas.openxmlformats.org/drawingml/2006/main">
            <a:r>
              <a:t>        "newbill": 3969.1059999999998,</a:t>
            </a:r>
          </a:p>
          <a:p xmlns:a="http://schemas.openxmlformats.org/drawingml/2006/main">
            <a:r>
              <a:t>        "saving": 3125.688000000002</a:t>
            </a:r>
          </a:p>
          <a:p xmlns:a="http://schemas.openxmlformats.org/drawingml/2006/main">
            <a:r>
              <a:t>      }</a:t>
            </a:r>
          </a:p>
          <a:p xmlns:a="http://schemas.openxmlformats.org/drawingml/2006/main">
            <a:r>
              <a:t>    ],</a:t>
            </a:r>
          </a:p>
          <a:p xmlns:a="http://schemas.openxmlformats.org/drawingml/2006/main">
            <a:r>
              <a:t>    "annualSaving": 40536.85140000001,</a:t>
            </a:r>
          </a:p>
          <a:p xmlns:a="http://schemas.openxmlformats.org/drawingml/2006/main">
            <a:r>
              <a:t>    "averageSaving": 3378.0709500000007,</a:t>
            </a:r>
          </a:p>
          <a:p xmlns:a="http://schemas.openxmlformats.org/drawingml/2006/main">
            <a:r>
              <a:t>    "payback": 3.4733827403279767,</a:t>
            </a:r>
          </a:p>
          <a:p xmlns:a="http://schemas.openxmlformats.org/drawingml/2006/main">
            <a:r>
              <a:t>    "annualImports": 15080.73</a:t>
            </a:r>
          </a:p>
          <a:p xmlns:a="http://schemas.openxmlformats.org/drawingml/2006/main">
            <a:r>
              <a:t>  },</a:t>
            </a:r>
          </a:p>
          <a:p xmlns:a="http://schemas.openxmlformats.org/drawingml/2006/main">
            <a:r>
              <a:t>  {</a:t>
            </a:r>
          </a:p>
          <a:p xmlns:a="http://schemas.openxmlformats.org/drawingml/2006/main">
            <a:r>
              <a:t>    "option": "B",</a:t>
            </a:r>
          </a:p>
          <a:p xmlns:a="http://schemas.openxmlformats.org/drawingml/2006/main">
            <a:r>
              <a:t>    "C": 16,</a:t>
            </a:r>
          </a:p>
          <a:p xmlns:a="http://schemas.openxmlformats.org/drawingml/2006/main">
            <a:r>
              <a:t>    "P": 11,</a:t>
            </a:r>
          </a:p>
          <a:p xmlns:a="http://schemas.openxmlformats.org/drawingml/2006/main">
            <a:r>
              <a:t>    "inv": 12,</a:t>
            </a:r>
          </a:p>
          <a:p xmlns:a="http://schemas.openxmlformats.org/drawingml/2006/main">
            <a:r>
              <a:t>    "price": 394240,</a:t>
            </a:r>
          </a:p>
          <a:p xmlns:a="http://schemas.openxmlformats.org/drawingml/2006/main">
            <a:r>
              <a:t>    "reference": {</a:t>
            </a:r>
          </a:p>
          <a:p xmlns:a="http://schemas.openxmlformats.org/drawingml/2006/main">
            <a:r>
              <a:t>      "G": 54.78,</a:t>
            </a:r>
          </a:p>
          <a:p xmlns:a="http://schemas.openxmlformats.org/drawingml/2006/main">
            <a:r>
              <a:t>      "direct": 40.35,</a:t>
            </a:r>
          </a:p>
          <a:p xmlns:a="http://schemas.openxmlformats.org/drawingml/2006/main">
            <a:r>
              <a:t>      "surplus": 14.43,</a:t>
            </a:r>
          </a:p>
          <a:p xmlns:a="http://schemas.openxmlformats.org/drawingml/2006/main">
            <a:r>
              <a:t>      "battery": 12.16,</a:t>
            </a:r>
          </a:p>
          <a:p xmlns:a="http://schemas.openxmlformats.org/drawingml/2006/main">
            <a:r>
              <a:t>      "imports": 845.7,</a:t>
            </a:r>
          </a:p>
          <a:p xmlns:a="http://schemas.openxmlformats.org/drawingml/2006/main">
            <a:r>
              <a:t>      "base": 6867.22,</a:t>
            </a:r>
          </a:p>
          <a:p xmlns:a="http://schemas.openxmlformats.org/drawingml/2006/main">
            <a:r>
              <a:t>      "newbill": 2307.5890000000004,</a:t>
            </a:r>
          </a:p>
          <a:p xmlns:a="http://schemas.openxmlformats.org/drawingml/2006/main">
            <a:r>
              <a:t>      "saving": 4559.630999999999</a:t>
            </a:r>
          </a:p>
          <a:p xmlns:a="http://schemas.openxmlformats.org/drawingml/2006/main">
            <a:r>
              <a:t>    },</a:t>
            </a:r>
          </a:p>
          <a:p xmlns:a="http://schemas.openxmlformats.org/drawingml/2006/main">
            <a:r>
              <a:t>    "monthly": [</a:t>
            </a:r>
          </a:p>
          <a:p xmlns:a="http://schemas.openxmlformats.org/drawingml/2006/main">
            <a:r>
              <a:t>      {</a:t>
            </a:r>
          </a:p>
          <a:p xmlns:a="http://schemas.openxmlformats.org/drawingml/2006/main">
            <a:r>
              <a:t>        "month": "Jan",</a:t>
            </a:r>
          </a:p>
          <a:p xmlns:a="http://schemas.openxmlformats.org/drawingml/2006/main">
            <a:r>
              <a:t>        "days": 31,</a:t>
            </a:r>
          </a:p>
          <a:p xmlns:a="http://schemas.openxmlformats.org/drawingml/2006/main">
            <a:r>
              <a:t>        "G": 46.59032258064517,</a:t>
            </a:r>
          </a:p>
          <a:p xmlns:a="http://schemas.openxmlformats.org/drawingml/2006/main">
            <a:r>
              <a:t>        "direct": 40.35,</a:t>
            </a:r>
          </a:p>
          <a:p xmlns:a="http://schemas.openxmlformats.org/drawingml/2006/main">
            <a:r>
              <a:t>        "surplus": 6.24032258064517,</a:t>
            </a:r>
          </a:p>
          <a:p xmlns:a="http://schemas.openxmlformats.org/drawingml/2006/main">
            <a:r>
              <a:t>        "battery": 5.928306451612912,</a:t>
            </a:r>
          </a:p>
          <a:p xmlns:a="http://schemas.openxmlformats.org/drawingml/2006/main">
            <a:r>
              <a:t>        "imports": 1067.0724999999998,</a:t>
            </a:r>
          </a:p>
          <a:p xmlns:a="http://schemas.openxmlformats.org/drawingml/2006/main">
            <a:r>
              <a:t>        "base": 7094.794000000002,</a:t>
            </a:r>
          </a:p>
          <a:p xmlns:a="http://schemas.openxmlformats.org/drawingml/2006/main">
            <a:r>
              <a:t>        "newbill": 3049.1444499999993,</a:t>
            </a:r>
          </a:p>
          <a:p xmlns:a="http://schemas.openxmlformats.org/drawingml/2006/main">
            <a:r>
              <a:t>        "saving": 4045.6495500000024</a:t>
            </a:r>
          </a:p>
          <a:p xmlns:a="http://schemas.openxmlformats.org/drawingml/2006/main">
            <a:r>
              <a:t>      },</a:t>
            </a:r>
          </a:p>
          <a:p xmlns:a="http://schemas.openxmlformats.org/drawingml/2006/main">
            <a:r>
              <a:t>      {</a:t>
            </a:r>
          </a:p>
          <a:p xmlns:a="http://schemas.openxmlformats.org/drawingml/2006/main">
            <a:r>
              <a:t>        "month": "Feb",</a:t>
            </a:r>
          </a:p>
          <a:p xmlns:a="http://schemas.openxmlformats.org/drawingml/2006/main">
            <a:r>
              <a:t>        "days": 28,</a:t>
            </a:r>
          </a:p>
          <a:p xmlns:a="http://schemas.openxmlformats.org/drawingml/2006/main">
            <a:r>
              <a:t>        "G": 50.85535714285714,</a:t>
            </a:r>
          </a:p>
          <a:p xmlns:a="http://schemas.openxmlformats.org/drawingml/2006/main">
            <a:r>
              <a:t>        "direct": 40.35,</a:t>
            </a:r>
          </a:p>
          <a:p xmlns:a="http://schemas.openxmlformats.org/drawingml/2006/main">
            <a:r>
              <a:t>        "surplus": 10.505357142857136,</a:t>
            </a:r>
          </a:p>
          <a:p xmlns:a="http://schemas.openxmlformats.org/drawingml/2006/main">
            <a:r>
              <a:t>        "battery": 9.980089285714278,</a:t>
            </a:r>
          </a:p>
          <a:p xmlns:a="http://schemas.openxmlformats.org/drawingml/2006/main">
            <a:r>
              <a:t>        "imports": 850.3575000000003,</a:t>
            </a:r>
          </a:p>
          <a:p xmlns:a="http://schemas.openxmlformats.org/drawingml/2006/main">
            <a:r>
              <a:t>        "base": 6412.071999999999,</a:t>
            </a:r>
          </a:p>
          <a:p xmlns:a="http://schemas.openxmlformats.org/drawingml/2006/main">
            <a:r>
              <a:t>        "newbill": 2320.490275000001,</a:t>
            </a:r>
          </a:p>
          <a:p xmlns:a="http://schemas.openxmlformats.org/drawingml/2006/main">
            <a:r>
              <a:t>        "saving": 4091.581724999998</a:t>
            </a:r>
          </a:p>
          <a:p xmlns:a="http://schemas.openxmlformats.org/drawingml/2006/main">
            <a:r>
              <a:t>      },</a:t>
            </a:r>
          </a:p>
          <a:p xmlns:a="http://schemas.openxmlformats.org/drawingml/2006/main">
            <a:r>
              <a:t>      {</a:t>
            </a:r>
          </a:p>
          <a:p xmlns:a="http://schemas.openxmlformats.org/drawingml/2006/main">
            <a:r>
              <a:t>        "month": "Mar",</a:t>
            </a:r>
          </a:p>
          <a:p xmlns:a="http://schemas.openxmlformats.org/drawingml/2006/main">
            <a:r>
              <a:t>        "days": 31,</a:t>
            </a:r>
          </a:p>
          <a:p xmlns:a="http://schemas.openxmlformats.org/drawingml/2006/main">
            <a:r>
              <a:t>        "G": 57.15032258064516,</a:t>
            </a:r>
          </a:p>
          <a:p xmlns:a="http://schemas.openxmlformats.org/drawingml/2006/main">
            <a:r>
              <a:t>        "direct": 40.35,</a:t>
            </a:r>
          </a:p>
          <a:p xmlns:a="http://schemas.openxmlformats.org/drawingml/2006/main">
            <a:r>
              <a:t>        "surplus": 16.800322580645158,</a:t>
            </a:r>
          </a:p>
          <a:p xmlns:a="http://schemas.openxmlformats.org/drawingml/2006/main">
            <a:r>
              <a:t>        "battery": 12.16,</a:t>
            </a:r>
          </a:p>
          <a:p xmlns:a="http://schemas.openxmlformats.org/drawingml/2006/main">
            <a:r>
              <a:t>        "imports": 873.89,</a:t>
            </a:r>
          </a:p>
          <a:p xmlns:a="http://schemas.openxmlformats.org/drawingml/2006/main">
            <a:r>
              <a:t>        "base": 7094.794000000002,</a:t>
            </a:r>
          </a:p>
          <a:p xmlns:a="http://schemas.openxmlformats.org/drawingml/2006/main">
            <a:r>
              <a:t>        "newbill": 2385.6753,</a:t>
            </a:r>
          </a:p>
          <a:p xmlns:a="http://schemas.openxmlformats.org/drawingml/2006/main">
            <a:r>
              <a:t>        "saving": 4709.118700000002</a:t>
            </a:r>
          </a:p>
          <a:p xmlns:a="http://schemas.openxmlformats.org/drawingml/2006/main">
            <a:r>
              <a:t>      },</a:t>
            </a:r>
          </a:p>
          <a:p xmlns:a="http://schemas.openxmlformats.org/drawingml/2006/main">
            <a:r>
              <a:t>      {</a:t>
            </a:r>
          </a:p>
          <a:p xmlns:a="http://schemas.openxmlformats.org/drawingml/2006/main">
            <a:r>
              <a:t>        "month": "Apr",</a:t>
            </a:r>
          </a:p>
          <a:p xmlns:a="http://schemas.openxmlformats.org/drawingml/2006/main">
            <a:r>
              <a:t>        "days": 30,</a:t>
            </a:r>
          </a:p>
          <a:p xmlns:a="http://schemas.openxmlformats.org/drawingml/2006/main">
            <a:r>
              <a:t>        "G": 58.982,</a:t>
            </a:r>
          </a:p>
          <a:p xmlns:a="http://schemas.openxmlformats.org/drawingml/2006/main">
            <a:r>
              <a:t>        "direct": 40.35,</a:t>
            </a:r>
          </a:p>
          <a:p xmlns:a="http://schemas.openxmlformats.org/drawingml/2006/main">
            <a:r>
              <a:t>        "surplus": 18.631999999999998,</a:t>
            </a:r>
          </a:p>
          <a:p xmlns:a="http://schemas.openxmlformats.org/drawingml/2006/main">
            <a:r>
              <a:t>        "battery": 12.16,</a:t>
            </a:r>
          </a:p>
          <a:p xmlns:a="http://schemas.openxmlformats.org/drawingml/2006/main">
            <a:r>
              <a:t>        "imports": 845.7,</a:t>
            </a:r>
          </a:p>
          <a:p xmlns:a="http://schemas.openxmlformats.org/drawingml/2006/main">
            <a:r>
              <a:t>        "base": 6867.22,</a:t>
            </a:r>
          </a:p>
          <a:p xmlns:a="http://schemas.openxmlformats.org/drawingml/2006/main">
            <a:r>
              <a:t>        "newbill": 2307.5890000000004,</a:t>
            </a:r>
          </a:p>
          <a:p xmlns:a="http://schemas.openxmlformats.org/drawingml/2006/main">
            <a:r>
              <a:t>        "saving": 4559.630999999999</a:t>
            </a:r>
          </a:p>
          <a:p xmlns:a="http://schemas.openxmlformats.org/drawingml/2006/main">
            <a:r>
              <a:t>      },</a:t>
            </a:r>
          </a:p>
          <a:p xmlns:a="http://schemas.openxmlformats.org/drawingml/2006/main">
            <a:r>
              <a:t>      {</a:t>
            </a:r>
          </a:p>
          <a:p xmlns:a="http://schemas.openxmlformats.org/drawingml/2006/main">
            <a:r>
              <a:t>        "month": "May",</a:t>
            </a:r>
          </a:p>
          <a:p xmlns:a="http://schemas.openxmlformats.org/drawingml/2006/main">
            <a:r>
              <a:t>        "days": 31,</a:t>
            </a:r>
          </a:p>
          <a:p xmlns:a="http://schemas.openxmlformats.org/drawingml/2006/main">
            <a:r>
              <a:t>        "G": 57.73935483870968,</a:t>
            </a:r>
          </a:p>
          <a:p xmlns:a="http://schemas.openxmlformats.org/drawingml/2006/main">
            <a:r>
              <a:t>        "direct": 40.35,</a:t>
            </a:r>
          </a:p>
          <a:p xmlns:a="http://schemas.openxmlformats.org/drawingml/2006/main">
            <a:r>
              <a:t>        "surplus": 17.38935483870968,</a:t>
            </a:r>
          </a:p>
          <a:p xmlns:a="http://schemas.openxmlformats.org/drawingml/2006/main">
            <a:r>
              <a:t>        "battery": 12.16,</a:t>
            </a:r>
          </a:p>
          <a:p xmlns:a="http://schemas.openxmlformats.org/drawingml/2006/main">
            <a:r>
              <a:t>        "imports": 873.89,</a:t>
            </a:r>
          </a:p>
          <a:p xmlns:a="http://schemas.openxmlformats.org/drawingml/2006/main">
            <a:r>
              <a:t>        "base": 7094.794000000002,</a:t>
            </a:r>
          </a:p>
          <a:p xmlns:a="http://schemas.openxmlformats.org/drawingml/2006/main">
            <a:r>
              <a:t>        "newbill": 2385.6753,</a:t>
            </a:r>
          </a:p>
          <a:p xmlns:a="http://schemas.openxmlformats.org/drawingml/2006/main">
            <a:r>
              <a:t>        "saving": 4709.118700000002</a:t>
            </a:r>
          </a:p>
          <a:p xmlns:a="http://schemas.openxmlformats.org/drawingml/2006/main">
            <a:r>
              <a:t>      },</a:t>
            </a:r>
          </a:p>
          <a:p xmlns:a="http://schemas.openxmlformats.org/drawingml/2006/main">
            <a:r>
              <a:t>      {</a:t>
            </a:r>
          </a:p>
          <a:p xmlns:a="http://schemas.openxmlformats.org/drawingml/2006/main">
            <a:r>
              <a:t>        "month": "Jun",</a:t>
            </a:r>
          </a:p>
          <a:p xmlns:a="http://schemas.openxmlformats.org/drawingml/2006/main">
            <a:r>
              <a:t>        "days": 30,</a:t>
            </a:r>
          </a:p>
          <a:p xmlns:a="http://schemas.openxmlformats.org/drawingml/2006/main">
            <a:r>
              <a:t>        "G": 58.16066666666667,</a:t>
            </a:r>
          </a:p>
          <a:p xmlns:a="http://schemas.openxmlformats.org/drawingml/2006/main">
            <a:r>
              <a:t>        "direct": 40.35,</a:t>
            </a:r>
          </a:p>
          <a:p xmlns:a="http://schemas.openxmlformats.org/drawingml/2006/main">
            <a:r>
              <a:t>        "surplus": 17.81066666666667,</a:t>
            </a:r>
          </a:p>
          <a:p xmlns:a="http://schemas.openxmlformats.org/drawingml/2006/main">
            <a:r>
              <a:t>        "battery": 12.16,</a:t>
            </a:r>
          </a:p>
          <a:p xmlns:a="http://schemas.openxmlformats.org/drawingml/2006/main">
            <a:r>
              <a:t>        "imports": 845.7,</a:t>
            </a:r>
          </a:p>
          <a:p xmlns:a="http://schemas.openxmlformats.org/drawingml/2006/main">
            <a:r>
              <a:t>        "base": 6867.22,</a:t>
            </a:r>
          </a:p>
          <a:p xmlns:a="http://schemas.openxmlformats.org/drawingml/2006/main">
            <a:r>
              <a:t>        "newbill": 2307.5890000000004,</a:t>
            </a:r>
          </a:p>
          <a:p xmlns:a="http://schemas.openxmlformats.org/drawingml/2006/main">
            <a:r>
              <a:t>        "saving": 4559.630999999999</a:t>
            </a:r>
          </a:p>
          <a:p xmlns:a="http://schemas.openxmlformats.org/drawingml/2006/main">
            <a:r>
              <a:t>      },</a:t>
            </a:r>
          </a:p>
          <a:p xmlns:a="http://schemas.openxmlformats.org/drawingml/2006/main">
            <a:r>
              <a:t>      {</a:t>
            </a:r>
          </a:p>
          <a:p xmlns:a="http://schemas.openxmlformats.org/drawingml/2006/main">
            <a:r>
              <a:t>        "month": "Jul",</a:t>
            </a:r>
          </a:p>
          <a:p xmlns:a="http://schemas.openxmlformats.org/drawingml/2006/main">
            <a:r>
              <a:t>        "days": 31,</a:t>
            </a:r>
          </a:p>
          <a:p xmlns:a="http://schemas.openxmlformats.org/drawingml/2006/main">
            <a:r>
              <a:t>        "G": 58.42774193548387,</a:t>
            </a:r>
          </a:p>
          <a:p xmlns:a="http://schemas.openxmlformats.org/drawingml/2006/main">
            <a:r>
              <a:t>        "direct": 40.35,</a:t>
            </a:r>
          </a:p>
          <a:p xmlns:a="http://schemas.openxmlformats.org/drawingml/2006/main">
            <a:r>
              <a:t>        "surplus": 18.07774193548387,</a:t>
            </a:r>
          </a:p>
          <a:p xmlns:a="http://schemas.openxmlformats.org/drawingml/2006/main">
            <a:r>
              <a:t>        "battery": 12.16,</a:t>
            </a:r>
          </a:p>
          <a:p xmlns:a="http://schemas.openxmlformats.org/drawingml/2006/main">
            <a:r>
              <a:t>        "imports": 873.89,</a:t>
            </a:r>
          </a:p>
          <a:p xmlns:a="http://schemas.openxmlformats.org/drawingml/2006/main">
            <a:r>
              <a:t>        "base": 7094.794000000002,</a:t>
            </a:r>
          </a:p>
          <a:p xmlns:a="http://schemas.openxmlformats.org/drawingml/2006/main">
            <a:r>
              <a:t>        "newbill": 2385.6753,</a:t>
            </a:r>
          </a:p>
          <a:p xmlns:a="http://schemas.openxmlformats.org/drawingml/2006/main">
            <a:r>
              <a:t>        "saving": 4709.118700000002</a:t>
            </a:r>
          </a:p>
          <a:p xmlns:a="http://schemas.openxmlformats.org/drawingml/2006/main">
            <a:r>
              <a:t>      },</a:t>
            </a:r>
          </a:p>
          <a:p xmlns:a="http://schemas.openxmlformats.org/drawingml/2006/main">
            <a:r>
              <a:t>      {</a:t>
            </a:r>
          </a:p>
          <a:p xmlns:a="http://schemas.openxmlformats.org/drawingml/2006/main">
            <a:r>
              <a:t>        "month": "Aug",</a:t>
            </a:r>
          </a:p>
          <a:p xmlns:a="http://schemas.openxmlformats.org/drawingml/2006/main">
            <a:r>
              <a:t>        "days": 31,</a:t>
            </a:r>
          </a:p>
          <a:p xmlns:a="http://schemas.openxmlformats.org/drawingml/2006/main">
            <a:r>
              <a:t>        "G": 59.18709677419355,</a:t>
            </a:r>
          </a:p>
          <a:p xmlns:a="http://schemas.openxmlformats.org/drawingml/2006/main">
            <a:r>
              <a:t>        "direct": 40.35,</a:t>
            </a:r>
          </a:p>
          <a:p xmlns:a="http://schemas.openxmlformats.org/drawingml/2006/main">
            <a:r>
              <a:t>        "surplus": 18.837096774193547,</a:t>
            </a:r>
          </a:p>
          <a:p xmlns:a="http://schemas.openxmlformats.org/drawingml/2006/main">
            <a:r>
              <a:t>        "battery": 12.16,</a:t>
            </a:r>
          </a:p>
          <a:p xmlns:a="http://schemas.openxmlformats.org/drawingml/2006/main">
            <a:r>
              <a:t>        "imports": 873.89,</a:t>
            </a:r>
          </a:p>
          <a:p xmlns:a="http://schemas.openxmlformats.org/drawingml/2006/main">
            <a:r>
              <a:t>        "base": 7094.794000000002,</a:t>
            </a:r>
          </a:p>
          <a:p xmlns:a="http://schemas.openxmlformats.org/drawingml/2006/main">
            <a:r>
              <a:t>        "newbill": 2385.6753,</a:t>
            </a:r>
          </a:p>
          <a:p xmlns:a="http://schemas.openxmlformats.org/drawingml/2006/main">
            <a:r>
              <a:t>        "saving": 4709.118700000002</a:t>
            </a:r>
          </a:p>
          <a:p xmlns:a="http://schemas.openxmlformats.org/drawingml/2006/main">
            <a:r>
              <a:t>      },</a:t>
            </a:r>
          </a:p>
          <a:p xmlns:a="http://schemas.openxmlformats.org/drawingml/2006/main">
            <a:r>
              <a:t>      {</a:t>
            </a:r>
          </a:p>
          <a:p xmlns:a="http://schemas.openxmlformats.org/drawingml/2006/main">
            <a:r>
              <a:t>        "month": "Sep",</a:t>
            </a:r>
          </a:p>
          <a:p xmlns:a="http://schemas.openxmlformats.org/drawingml/2006/main">
            <a:r>
              <a:t>        "days": 30,</a:t>
            </a:r>
          </a:p>
          <a:p xmlns:a="http://schemas.openxmlformats.org/drawingml/2006/main">
            <a:r>
              <a:t>        "G": 59.03333333333333,</a:t>
            </a:r>
          </a:p>
          <a:p xmlns:a="http://schemas.openxmlformats.org/drawingml/2006/main">
            <a:r>
              <a:t>        "direct": 40.35,</a:t>
            </a:r>
          </a:p>
          <a:p xmlns:a="http://schemas.openxmlformats.org/drawingml/2006/main">
            <a:r>
              <a:t>        "surplus": 18.68333333333333,</a:t>
            </a:r>
          </a:p>
          <a:p xmlns:a="http://schemas.openxmlformats.org/drawingml/2006/main">
            <a:r>
              <a:t>        "battery": 12.16,</a:t>
            </a:r>
          </a:p>
          <a:p xmlns:a="http://schemas.openxmlformats.org/drawingml/2006/main">
            <a:r>
              <a:t>        "imports": 845.7,</a:t>
            </a:r>
          </a:p>
          <a:p xmlns:a="http://schemas.openxmlformats.org/drawingml/2006/main">
            <a:r>
              <a:t>        "base": 6867.22,</a:t>
            </a:r>
          </a:p>
          <a:p xmlns:a="http://schemas.openxmlformats.org/drawingml/2006/main">
            <a:r>
              <a:t>        "newbill": 2307.5890000000004,</a:t>
            </a:r>
          </a:p>
          <a:p xmlns:a="http://schemas.openxmlformats.org/drawingml/2006/main">
            <a:r>
              <a:t>        "saving": 4559.630999999999</a:t>
            </a:r>
          </a:p>
          <a:p xmlns:a="http://schemas.openxmlformats.org/drawingml/2006/main">
            <a:r>
              <a:t>      },</a:t>
            </a:r>
          </a:p>
          <a:p xmlns:a="http://schemas.openxmlformats.org/drawingml/2006/main">
            <a:r>
              <a:t>      {</a:t>
            </a:r>
          </a:p>
          <a:p xmlns:a="http://schemas.openxmlformats.org/drawingml/2006/main">
            <a:r>
              <a:t>        "month": "Oct",</a:t>
            </a:r>
          </a:p>
          <a:p xmlns:a="http://schemas.openxmlformats.org/drawingml/2006/main">
            <a:r>
              <a:t>        "days": 31,</a:t>
            </a:r>
          </a:p>
          <a:p xmlns:a="http://schemas.openxmlformats.org/drawingml/2006/main">
            <a:r>
              <a:t>        "G": 54.833225806451615,</a:t>
            </a:r>
          </a:p>
          <a:p xmlns:a="http://schemas.openxmlformats.org/drawingml/2006/main">
            <a:r>
              <a:t>        "direct": 40.35,</a:t>
            </a:r>
          </a:p>
          <a:p xmlns:a="http://schemas.openxmlformats.org/drawingml/2006/main">
            <a:r>
              <a:t>        "surplus": 14.483225806451614,</a:t>
            </a:r>
          </a:p>
          <a:p xmlns:a="http://schemas.openxmlformats.org/drawingml/2006/main">
            <a:r>
              <a:t>        "battery": 12.16,</a:t>
            </a:r>
          </a:p>
          <a:p xmlns:a="http://schemas.openxmlformats.org/drawingml/2006/main">
            <a:r>
              <a:t>        "imports": 873.89,</a:t>
            </a:r>
          </a:p>
          <a:p xmlns:a="http://schemas.openxmlformats.org/drawingml/2006/main">
            <a:r>
              <a:t>        "base": 7094.794000000002,</a:t>
            </a:r>
          </a:p>
          <a:p xmlns:a="http://schemas.openxmlformats.org/drawingml/2006/main">
            <a:r>
              <a:t>        "newbill": 2385.6753,</a:t>
            </a:r>
          </a:p>
          <a:p xmlns:a="http://schemas.openxmlformats.org/drawingml/2006/main">
            <a:r>
              <a:t>        "saving": 4709.118700000002</a:t>
            </a:r>
          </a:p>
          <a:p xmlns:a="http://schemas.openxmlformats.org/drawingml/2006/main">
            <a:r>
              <a:t>      },</a:t>
            </a:r>
          </a:p>
          <a:p xmlns:a="http://schemas.openxmlformats.org/drawingml/2006/main">
            <a:r>
              <a:t>      {</a:t>
            </a:r>
          </a:p>
          <a:p xmlns:a="http://schemas.openxmlformats.org/drawingml/2006/main">
            <a:r>
              <a:t>        "month": "Nov",</a:t>
            </a:r>
          </a:p>
          <a:p xmlns:a="http://schemas.openxmlformats.org/drawingml/2006/main">
            <a:r>
              <a:t>        "days": 30,</a:t>
            </a:r>
          </a:p>
          <a:p xmlns:a="http://schemas.openxmlformats.org/drawingml/2006/main">
            <a:r>
              <a:t>        "G": 50.22233333333334,</a:t>
            </a:r>
          </a:p>
          <a:p xmlns:a="http://schemas.openxmlformats.org/drawingml/2006/main">
            <a:r>
              <a:t>        "direct": 40.35,</a:t>
            </a:r>
          </a:p>
          <a:p xmlns:a="http://schemas.openxmlformats.org/drawingml/2006/main">
            <a:r>
              <a:t>        "surplus": 9.872333333333337,</a:t>
            </a:r>
          </a:p>
          <a:p xmlns:a="http://schemas.openxmlformats.org/drawingml/2006/main">
            <a:r>
              <a:t>        "battery": 9.37871666666667,</a:t>
            </a:r>
          </a:p>
          <a:p xmlns:a="http://schemas.openxmlformats.org/drawingml/2006/main">
            <a:r>
              <a:t>        "imports": 929.1385,</a:t>
            </a:r>
          </a:p>
          <a:p xmlns:a="http://schemas.openxmlformats.org/drawingml/2006/main">
            <a:r>
              <a:t>        "base": 6867.22,</a:t>
            </a:r>
          </a:p>
          <a:p xmlns:a="http://schemas.openxmlformats.org/drawingml/2006/main">
            <a:r>
              <a:t>        "newbill": 2538.7136450000003,</a:t>
            </a:r>
          </a:p>
          <a:p xmlns:a="http://schemas.openxmlformats.org/drawingml/2006/main">
            <a:r>
              <a:t>        "saving": 4328.5063549999995</a:t>
            </a:r>
          </a:p>
          <a:p xmlns:a="http://schemas.openxmlformats.org/drawingml/2006/main">
            <a:r>
              <a:t>      },</a:t>
            </a:r>
          </a:p>
          <a:p xmlns:a="http://schemas.openxmlformats.org/drawingml/2006/main">
            <a:r>
              <a:t>      {</a:t>
            </a:r>
          </a:p>
          <a:p xmlns:a="http://schemas.openxmlformats.org/drawingml/2006/main">
            <a:r>
              <a:t>        "month": "Dec",</a:t>
            </a:r>
          </a:p>
          <a:p xmlns:a="http://schemas.openxmlformats.org/drawingml/2006/main">
            <a:r>
              <a:t>        "days": 31,</a:t>
            </a:r>
          </a:p>
          <a:p xmlns:a="http://schemas.openxmlformats.org/drawingml/2006/main">
            <a:r>
              <a:t>        "G": 46.27096774193549,</a:t>
            </a:r>
          </a:p>
          <a:p xmlns:a="http://schemas.openxmlformats.org/drawingml/2006/main">
            <a:r>
              <a:t>        "direct": 40.35,</a:t>
            </a:r>
          </a:p>
          <a:p xmlns:a="http://schemas.openxmlformats.org/drawingml/2006/main">
            <a:r>
              <a:t>        "surplus": 5.920967741935492,</a:t>
            </a:r>
          </a:p>
          <a:p xmlns:a="http://schemas.openxmlformats.org/drawingml/2006/main">
            <a:r>
              <a:t>        "battery": 5.624919354838717,</a:t>
            </a:r>
          </a:p>
          <a:p xmlns:a="http://schemas.openxmlformats.org/drawingml/2006/main">
            <a:r>
              <a:t>        "imports": 1076.4774999999997,</a:t>
            </a:r>
          </a:p>
          <a:p xmlns:a="http://schemas.openxmlformats.org/drawingml/2006/main">
            <a:r>
              <a:t>        "base": 7094.794000000002,</a:t>
            </a:r>
          </a:p>
          <a:p xmlns:a="http://schemas.openxmlformats.org/drawingml/2006/main">
            <a:r>
              <a:t>        "newbill": 3075.666549999999,</a:t>
            </a:r>
          </a:p>
          <a:p xmlns:a="http://schemas.openxmlformats.org/drawingml/2006/main">
            <a:r>
              <a:t>        "saving": 4019.1274500000027</a:t>
            </a:r>
          </a:p>
          <a:p xmlns:a="http://schemas.openxmlformats.org/drawingml/2006/main">
            <a:r>
              <a:t>      }</a:t>
            </a:r>
          </a:p>
          <a:p xmlns:a="http://schemas.openxmlformats.org/drawingml/2006/main">
            <a:r>
              <a:t>    ],</a:t>
            </a:r>
          </a:p>
          <a:p xmlns:a="http://schemas.openxmlformats.org/drawingml/2006/main">
            <a:r>
              <a:t>    "annualSaving": 53709.35158,</a:t>
            </a:r>
          </a:p>
          <a:p xmlns:a="http://schemas.openxmlformats.org/drawingml/2006/main">
            <a:r>
              <a:t>    "averageSaving": 4475.779298333334,</a:t>
            </a:r>
          </a:p>
          <a:p xmlns:a="http://schemas.openxmlformats.org/drawingml/2006/main">
            <a:r>
              <a:t>    "payback": 7.340248735134701,</a:t>
            </a:r>
          </a:p>
          <a:p xmlns:a="http://schemas.openxmlformats.org/drawingml/2006/main">
            <a:r>
              <a:t>    "annualImports": 10829.596</a:t>
            </a:r>
          </a:p>
          <a:p xmlns:a="http://schemas.openxmlformats.org/drawingml/2006/main">
            <a:r>
              <a:t>  },</a:t>
            </a:r>
          </a:p>
          <a:p xmlns:a="http://schemas.openxmlformats.org/drawingml/2006/main">
            <a:r>
              <a:t>  {</a:t>
            </a:r>
          </a:p>
          <a:p xmlns:a="http://schemas.openxmlformats.org/drawingml/2006/main">
            <a:r>
              <a:t>    "option": "C",</a:t>
            </a:r>
          </a:p>
          <a:p xmlns:a="http://schemas.openxmlformats.org/drawingml/2006/main">
            <a:r>
              <a:t>    "C": 64,</a:t>
            </a:r>
          </a:p>
          <a:p xmlns:a="http://schemas.openxmlformats.org/drawingml/2006/main">
            <a:r>
              <a:t>    "P": 17,</a:t>
            </a:r>
          </a:p>
          <a:p xmlns:a="http://schemas.openxmlformats.org/drawingml/2006/main">
            <a:r>
              <a:t>    "inv": 20,</a:t>
            </a:r>
          </a:p>
          <a:p xmlns:a="http://schemas.openxmlformats.org/drawingml/2006/main">
            <a:r>
              <a:t>    "price": 1154560,</a:t>
            </a:r>
          </a:p>
          <a:p xmlns:a="http://schemas.openxmlformats.org/drawingml/2006/main">
            <a:r>
              <a:t>    "reference": {</a:t>
            </a:r>
          </a:p>
          <a:p xmlns:a="http://schemas.openxmlformats.org/drawingml/2006/main">
            <a:r>
              <a:t>      "G": 84.66000000000001,</a:t>
            </a:r>
          </a:p>
          <a:p xmlns:a="http://schemas.openxmlformats.org/drawingml/2006/main">
            <a:r>
              <a:t>      "direct": 40.35,</a:t>
            </a:r>
          </a:p>
          <a:p xmlns:a="http://schemas.openxmlformats.org/drawingml/2006/main">
            <a:r>
              <a:t>      "surplus": 44.31000000000001,</a:t>
            </a:r>
          </a:p>
          <a:p xmlns:a="http://schemas.openxmlformats.org/drawingml/2006/main">
            <a:r>
              <a:t>      "battery": 40.35,</a:t>
            </a:r>
          </a:p>
          <a:p xmlns:a="http://schemas.openxmlformats.org/drawingml/2006/main">
            <a:r>
              <a:t>      "imports": 0,</a:t>
            </a:r>
          </a:p>
          <a:p xmlns:a="http://schemas.openxmlformats.org/drawingml/2006/main">
            <a:r>
              <a:t>      "base": 6867.22,</a:t>
            </a:r>
          </a:p>
          <a:p xmlns:a="http://schemas.openxmlformats.org/drawingml/2006/main">
            <a:r>
              <a:t>      "newbill": 9,</a:t>
            </a:r>
          </a:p>
          <a:p xmlns:a="http://schemas.openxmlformats.org/drawingml/2006/main">
            <a:r>
              <a:t>      "saving": 6858.22</a:t>
            </a:r>
          </a:p>
          <a:p xmlns:a="http://schemas.openxmlformats.org/drawingml/2006/main">
            <a:r>
              <a:t>    },</a:t>
            </a:r>
          </a:p>
          <a:p xmlns:a="http://schemas.openxmlformats.org/drawingml/2006/main">
            <a:r>
              <a:t>    "monthly": [</a:t>
            </a:r>
          </a:p>
          <a:p xmlns:a="http://schemas.openxmlformats.org/drawingml/2006/main">
            <a:r>
              <a:t>      {</a:t>
            </a:r>
          </a:p>
          <a:p xmlns:a="http://schemas.openxmlformats.org/drawingml/2006/main">
            <a:r>
              <a:t>        "month": "Jan",</a:t>
            </a:r>
          </a:p>
          <a:p xmlns:a="http://schemas.openxmlformats.org/drawingml/2006/main">
            <a:r>
              <a:t>        "days": 31,</a:t>
            </a:r>
          </a:p>
          <a:p xmlns:a="http://schemas.openxmlformats.org/drawingml/2006/main">
            <a:r>
              <a:t>        "G": 72.00322580645162,</a:t>
            </a:r>
          </a:p>
          <a:p xmlns:a="http://schemas.openxmlformats.org/drawingml/2006/main">
            <a:r>
              <a:t>        "direct": 40.35,</a:t>
            </a:r>
          </a:p>
          <a:p xmlns:a="http://schemas.openxmlformats.org/drawingml/2006/main">
            <a:r>
              <a:t>        "surplus": 31.653225806451623,</a:t>
            </a:r>
          </a:p>
          <a:p xmlns:a="http://schemas.openxmlformats.org/drawingml/2006/main">
            <a:r>
              <a:t>        "battery": 30.07056451612904,</a:t>
            </a:r>
          </a:p>
          <a:p xmlns:a="http://schemas.openxmlformats.org/drawingml/2006/main">
            <a:r>
              <a:t>        "imports": 318.66249999999985,</a:t>
            </a:r>
          </a:p>
          <a:p xmlns:a="http://schemas.openxmlformats.org/drawingml/2006/main">
            <a:r>
              <a:t>        "base": 7094.794000000002,</a:t>
            </a:r>
          </a:p>
          <a:p xmlns:a="http://schemas.openxmlformats.org/drawingml/2006/main">
            <a:r>
              <a:t>        "newbill": 870.8288749999997,</a:t>
            </a:r>
          </a:p>
          <a:p xmlns:a="http://schemas.openxmlformats.org/drawingml/2006/main">
            <a:r>
              <a:t>        "saving": 6223.965125000002</a:t>
            </a:r>
          </a:p>
          <a:p xmlns:a="http://schemas.openxmlformats.org/drawingml/2006/main">
            <a:r>
              <a:t>      },</a:t>
            </a:r>
          </a:p>
          <a:p xmlns:a="http://schemas.openxmlformats.org/drawingml/2006/main">
            <a:r>
              <a:t>      {</a:t>
            </a:r>
          </a:p>
          <a:p xmlns:a="http://schemas.openxmlformats.org/drawingml/2006/main">
            <a:r>
              <a:t>        "month": "Feb",</a:t>
            </a:r>
          </a:p>
          <a:p xmlns:a="http://schemas.openxmlformats.org/drawingml/2006/main">
            <a:r>
              <a:t>        "days": 28,</a:t>
            </a:r>
          </a:p>
          <a:p xmlns:a="http://schemas.openxmlformats.org/drawingml/2006/main">
            <a:r>
              <a:t>        "G": 78.59464285714284,</a:t>
            </a:r>
          </a:p>
          <a:p xmlns:a="http://schemas.openxmlformats.org/drawingml/2006/main">
            <a:r>
              <a:t>        "direct": 40.35,</a:t>
            </a:r>
          </a:p>
          <a:p xmlns:a="http://schemas.openxmlformats.org/drawingml/2006/main">
            <a:r>
              <a:t>        "surplus": 38.24464285714284,</a:t>
            </a:r>
          </a:p>
          <a:p xmlns:a="http://schemas.openxmlformats.org/drawingml/2006/main">
            <a:r>
              <a:t>        "battery": 36.3324107142857,</a:t>
            </a:r>
          </a:p>
          <a:p xmlns:a="http://schemas.openxmlformats.org/drawingml/2006/main">
            <a:r>
              <a:t>        "imports": 112.49250000000043,</a:t>
            </a:r>
          </a:p>
          <a:p xmlns:a="http://schemas.openxmlformats.org/drawingml/2006/main">
            <a:r>
              <a:t>        "base": 6412.071999999999,</a:t>
            </a:r>
          </a:p>
          <a:p xmlns:a="http://schemas.openxmlformats.org/drawingml/2006/main">
            <a:r>
              <a:t>        "newbill": 261.35857500000094,</a:t>
            </a:r>
          </a:p>
          <a:p xmlns:a="http://schemas.openxmlformats.org/drawingml/2006/main">
            <a:r>
              <a:t>        "saving": 6150.713424999998</a:t>
            </a:r>
          </a:p>
          <a:p xmlns:a="http://schemas.openxmlformats.org/drawingml/2006/main">
            <a:r>
              <a:t>      },</a:t>
            </a:r>
          </a:p>
          <a:p xmlns:a="http://schemas.openxmlformats.org/drawingml/2006/main">
            <a:r>
              <a:t>      {</a:t>
            </a:r>
          </a:p>
          <a:p xmlns:a="http://schemas.openxmlformats.org/drawingml/2006/main">
            <a:r>
              <a:t>        "month": "Mar",</a:t>
            </a:r>
          </a:p>
          <a:p xmlns:a="http://schemas.openxmlformats.org/drawingml/2006/main">
            <a:r>
              <a:t>        "days": 31,</a:t>
            </a:r>
          </a:p>
          <a:p xmlns:a="http://schemas.openxmlformats.org/drawingml/2006/main">
            <a:r>
              <a:t>        "G": 88.3232258064516,</a:t>
            </a:r>
          </a:p>
          <a:p xmlns:a="http://schemas.openxmlformats.org/drawingml/2006/main">
            <a:r>
              <a:t>        "direct": 40.35,</a:t>
            </a:r>
          </a:p>
          <a:p xmlns:a="http://schemas.openxmlformats.org/drawingml/2006/main">
            <a:r>
              <a:t>        "surplus": 47.9732258064516,</a:t>
            </a:r>
          </a:p>
          <a:p xmlns:a="http://schemas.openxmlformats.org/drawingml/2006/main">
            <a:r>
              <a:t>        "battery": 40.35,</a:t>
            </a:r>
          </a:p>
          <a:p xmlns:a="http://schemas.openxmlformats.org/drawingml/2006/main">
            <a:r>
              <a:t>        "imports": 0,</a:t>
            </a:r>
          </a:p>
          <a:p xmlns:a="http://schemas.openxmlformats.org/drawingml/2006/main">
            <a:r>
              <a:t>        "base": 7094.794000000002,</a:t>
            </a:r>
          </a:p>
          <a:p xmlns:a="http://schemas.openxmlformats.org/drawingml/2006/main">
            <a:r>
              <a:t>        "newbill": 9,</a:t>
            </a:r>
          </a:p>
          <a:p xmlns:a="http://schemas.openxmlformats.org/drawingml/2006/main">
            <a:r>
              <a:t>        "saving": 7085.794000000002</a:t>
            </a:r>
          </a:p>
          <a:p xmlns:a="http://schemas.openxmlformats.org/drawingml/2006/main">
            <a:r>
              <a:t>      },</a:t>
            </a:r>
          </a:p>
          <a:p xmlns:a="http://schemas.openxmlformats.org/drawingml/2006/main">
            <a:r>
              <a:t>      {</a:t>
            </a:r>
          </a:p>
          <a:p xmlns:a="http://schemas.openxmlformats.org/drawingml/2006/main">
            <a:r>
              <a:t>        "month": "Apr",</a:t>
            </a:r>
          </a:p>
          <a:p xmlns:a="http://schemas.openxmlformats.org/drawingml/2006/main">
            <a:r>
              <a:t>        "days": 30,</a:t>
            </a:r>
          </a:p>
          <a:p xmlns:a="http://schemas.openxmlformats.org/drawingml/2006/main">
            <a:r>
              <a:t>        "G": 91.154,</a:t>
            </a:r>
          </a:p>
          <a:p xmlns:a="http://schemas.openxmlformats.org/drawingml/2006/main">
            <a:r>
              <a:t>        "direct": 40.35,</a:t>
            </a:r>
          </a:p>
          <a:p xmlns:a="http://schemas.openxmlformats.org/drawingml/2006/main">
            <a:r>
              <a:t>        "surplus": 50.803999999999995,</a:t>
            </a:r>
          </a:p>
          <a:p xmlns:a="http://schemas.openxmlformats.org/drawingml/2006/main">
            <a:r>
              <a:t>        "battery": 40.35,</a:t>
            </a:r>
          </a:p>
          <a:p xmlns:a="http://schemas.openxmlformats.org/drawingml/2006/main">
            <a:r>
              <a:t>        "imports": 0,</a:t>
            </a:r>
          </a:p>
          <a:p xmlns:a="http://schemas.openxmlformats.org/drawingml/2006/main">
            <a:r>
              <a:t>        "base": 6867.22,</a:t>
            </a:r>
          </a:p>
          <a:p xmlns:a="http://schemas.openxmlformats.org/drawingml/2006/main">
            <a:r>
              <a:t>        "newbill": 9,</a:t>
            </a:r>
          </a:p>
          <a:p xmlns:a="http://schemas.openxmlformats.org/drawingml/2006/main">
            <a:r>
              <a:t>        "saving": 6858.22</a:t>
            </a:r>
          </a:p>
          <a:p xmlns:a="http://schemas.openxmlformats.org/drawingml/2006/main">
            <a:r>
              <a:t>      },</a:t>
            </a:r>
          </a:p>
          <a:p xmlns:a="http://schemas.openxmlformats.org/drawingml/2006/main">
            <a:r>
              <a:t>      {</a:t>
            </a:r>
          </a:p>
          <a:p xmlns:a="http://schemas.openxmlformats.org/drawingml/2006/main">
            <a:r>
              <a:t>        "month": "May",</a:t>
            </a:r>
          </a:p>
          <a:p xmlns:a="http://schemas.openxmlformats.org/drawingml/2006/main">
            <a:r>
              <a:t>        "days": 31,</a:t>
            </a:r>
          </a:p>
          <a:p xmlns:a="http://schemas.openxmlformats.org/drawingml/2006/main">
            <a:r>
              <a:t>        "G": 89.23354838709677,</a:t>
            </a:r>
          </a:p>
          <a:p xmlns:a="http://schemas.openxmlformats.org/drawingml/2006/main">
            <a:r>
              <a:t>        "direct": 40.35,</a:t>
            </a:r>
          </a:p>
          <a:p xmlns:a="http://schemas.openxmlformats.org/drawingml/2006/main">
            <a:r>
              <a:t>        "surplus": 48.88354838709677,</a:t>
            </a:r>
          </a:p>
          <a:p xmlns:a="http://schemas.openxmlformats.org/drawingml/2006/main">
            <a:r>
              <a:t>        "battery": 40.35,</a:t>
            </a:r>
          </a:p>
          <a:p xmlns:a="http://schemas.openxmlformats.org/drawingml/2006/main">
            <a:r>
              <a:t>        "imports": 0,</a:t>
            </a:r>
          </a:p>
          <a:p xmlns:a="http://schemas.openxmlformats.org/drawingml/2006/main">
            <a:r>
              <a:t>        "base": 7094.794000000002,</a:t>
            </a:r>
          </a:p>
          <a:p xmlns:a="http://schemas.openxmlformats.org/drawingml/2006/main">
            <a:r>
              <a:t>        "newbill": 9,</a:t>
            </a:r>
          </a:p>
          <a:p xmlns:a="http://schemas.openxmlformats.org/drawingml/2006/main">
            <a:r>
              <a:t>        "saving": 7085.794000000002</a:t>
            </a:r>
          </a:p>
          <a:p xmlns:a="http://schemas.openxmlformats.org/drawingml/2006/main">
            <a:r>
              <a:t>      },</a:t>
            </a:r>
          </a:p>
          <a:p xmlns:a="http://schemas.openxmlformats.org/drawingml/2006/main">
            <a:r>
              <a:t>      {</a:t>
            </a:r>
          </a:p>
          <a:p xmlns:a="http://schemas.openxmlformats.org/drawingml/2006/main">
            <a:r>
              <a:t>        "month": "Jun",</a:t>
            </a:r>
          </a:p>
          <a:p xmlns:a="http://schemas.openxmlformats.org/drawingml/2006/main">
            <a:r>
              <a:t>        "days": 30,</a:t>
            </a:r>
          </a:p>
          <a:p xmlns:a="http://schemas.openxmlformats.org/drawingml/2006/main">
            <a:r>
              <a:t>        "G": 89.88466666666667,</a:t>
            </a:r>
          </a:p>
          <a:p xmlns:a="http://schemas.openxmlformats.org/drawingml/2006/main">
            <a:r>
              <a:t>        "direct": 40.35,</a:t>
            </a:r>
          </a:p>
          <a:p xmlns:a="http://schemas.openxmlformats.org/drawingml/2006/main">
            <a:r>
              <a:t>        "surplus": 49.53466666666667,</a:t>
            </a:r>
          </a:p>
          <a:p xmlns:a="http://schemas.openxmlformats.org/drawingml/2006/main">
            <a:r>
              <a:t>        "battery": 40.35,</a:t>
            </a:r>
          </a:p>
          <a:p xmlns:a="http://schemas.openxmlformats.org/drawingml/2006/main">
            <a:r>
              <a:t>        "imports": 0,</a:t>
            </a:r>
          </a:p>
          <a:p xmlns:a="http://schemas.openxmlformats.org/drawingml/2006/main">
            <a:r>
              <a:t>        "base": 6867.22,</a:t>
            </a:r>
          </a:p>
          <a:p xmlns:a="http://schemas.openxmlformats.org/drawingml/2006/main">
            <a:r>
              <a:t>        "newbill": 9,</a:t>
            </a:r>
          </a:p>
          <a:p xmlns:a="http://schemas.openxmlformats.org/drawingml/2006/main">
            <a:r>
              <a:t>        "saving": 6858.22</a:t>
            </a:r>
          </a:p>
          <a:p xmlns:a="http://schemas.openxmlformats.org/drawingml/2006/main">
            <a:r>
              <a:t>      },</a:t>
            </a:r>
          </a:p>
          <a:p xmlns:a="http://schemas.openxmlformats.org/drawingml/2006/main">
            <a:r>
              <a:t>      {</a:t>
            </a:r>
          </a:p>
          <a:p xmlns:a="http://schemas.openxmlformats.org/drawingml/2006/main">
            <a:r>
              <a:t>        "month": "Jul",</a:t>
            </a:r>
          </a:p>
          <a:p xmlns:a="http://schemas.openxmlformats.org/drawingml/2006/main">
            <a:r>
              <a:t>        "days": 31,</a:t>
            </a:r>
          </a:p>
          <a:p xmlns:a="http://schemas.openxmlformats.org/drawingml/2006/main">
            <a:r>
              <a:t>        "G": 90.29741935483871,</a:t>
            </a:r>
          </a:p>
          <a:p xmlns:a="http://schemas.openxmlformats.org/drawingml/2006/main">
            <a:r>
              <a:t>        "direct": 40.35,</a:t>
            </a:r>
          </a:p>
          <a:p xmlns:a="http://schemas.openxmlformats.org/drawingml/2006/main">
            <a:r>
              <a:t>        "surplus": 49.94741935483871,</a:t>
            </a:r>
          </a:p>
          <a:p xmlns:a="http://schemas.openxmlformats.org/drawingml/2006/main">
            <a:r>
              <a:t>        "battery": 40.35,</a:t>
            </a:r>
          </a:p>
          <a:p xmlns:a="http://schemas.openxmlformats.org/drawingml/2006/main">
            <a:r>
              <a:t>        "imports": 0,</a:t>
            </a:r>
          </a:p>
          <a:p xmlns:a="http://schemas.openxmlformats.org/drawingml/2006/main">
            <a:r>
              <a:t>        "base": 7094.794000000002,</a:t>
            </a:r>
          </a:p>
          <a:p xmlns:a="http://schemas.openxmlformats.org/drawingml/2006/main">
            <a:r>
              <a:t>        "newbill": 9,</a:t>
            </a:r>
          </a:p>
          <a:p xmlns:a="http://schemas.openxmlformats.org/drawingml/2006/main">
            <a:r>
              <a:t>        "saving": 7085.794000000002</a:t>
            </a:r>
          </a:p>
          <a:p xmlns:a="http://schemas.openxmlformats.org/drawingml/2006/main">
            <a:r>
              <a:t>      },</a:t>
            </a:r>
          </a:p>
          <a:p xmlns:a="http://schemas.openxmlformats.org/drawingml/2006/main">
            <a:r>
              <a:t>      {</a:t>
            </a:r>
          </a:p>
          <a:p xmlns:a="http://schemas.openxmlformats.org/drawingml/2006/main">
            <a:r>
              <a:t>        "month": "Aug",</a:t>
            </a:r>
          </a:p>
          <a:p xmlns:a="http://schemas.openxmlformats.org/drawingml/2006/main">
            <a:r>
              <a:t>        "days": 31,</a:t>
            </a:r>
          </a:p>
          <a:p xmlns:a="http://schemas.openxmlformats.org/drawingml/2006/main">
            <a:r>
              <a:t>        "G": 91.47096774193548,</a:t>
            </a:r>
          </a:p>
          <a:p xmlns:a="http://schemas.openxmlformats.org/drawingml/2006/main">
            <a:r>
              <a:t>        "direct": 40.35,</a:t>
            </a:r>
          </a:p>
          <a:p xmlns:a="http://schemas.openxmlformats.org/drawingml/2006/main">
            <a:r>
              <a:t>        "surplus": 51.12096774193548,</a:t>
            </a:r>
          </a:p>
          <a:p xmlns:a="http://schemas.openxmlformats.org/drawingml/2006/main">
            <a:r>
              <a:t>        "battery": 40.35,</a:t>
            </a:r>
          </a:p>
          <a:p xmlns:a="http://schemas.openxmlformats.org/drawingml/2006/main">
            <a:r>
              <a:t>        "imports": 0,</a:t>
            </a:r>
          </a:p>
          <a:p xmlns:a="http://schemas.openxmlformats.org/drawingml/2006/main">
            <a:r>
              <a:t>        "base": 7094.794000000002,</a:t>
            </a:r>
          </a:p>
          <a:p xmlns:a="http://schemas.openxmlformats.org/drawingml/2006/main">
            <a:r>
              <a:t>        "newbill": 9,</a:t>
            </a:r>
          </a:p>
          <a:p xmlns:a="http://schemas.openxmlformats.org/drawingml/2006/main">
            <a:r>
              <a:t>        "saving": 7085.794000000002</a:t>
            </a:r>
          </a:p>
          <a:p xmlns:a="http://schemas.openxmlformats.org/drawingml/2006/main">
            <a:r>
              <a:t>      },</a:t>
            </a:r>
          </a:p>
          <a:p xmlns:a="http://schemas.openxmlformats.org/drawingml/2006/main">
            <a:r>
              <a:t>      {</a:t>
            </a:r>
          </a:p>
          <a:p xmlns:a="http://schemas.openxmlformats.org/drawingml/2006/main">
            <a:r>
              <a:t>        "month": "Sep",</a:t>
            </a:r>
          </a:p>
          <a:p xmlns:a="http://schemas.openxmlformats.org/drawingml/2006/main">
            <a:r>
              <a:t>        "days": 30,</a:t>
            </a:r>
          </a:p>
          <a:p xmlns:a="http://schemas.openxmlformats.org/drawingml/2006/main">
            <a:r>
              <a:t>        "G": 91.23333333333332,</a:t>
            </a:r>
          </a:p>
          <a:p xmlns:a="http://schemas.openxmlformats.org/drawingml/2006/main">
            <a:r>
              <a:t>        "direct": 40.35,</a:t>
            </a:r>
          </a:p>
          <a:p xmlns:a="http://schemas.openxmlformats.org/drawingml/2006/main">
            <a:r>
              <a:t>        "surplus": 50.88333333333332,</a:t>
            </a:r>
          </a:p>
          <a:p xmlns:a="http://schemas.openxmlformats.org/drawingml/2006/main">
            <a:r>
              <a:t>        "battery": 40.35,</a:t>
            </a:r>
          </a:p>
          <a:p xmlns:a="http://schemas.openxmlformats.org/drawingml/2006/main">
            <a:r>
              <a:t>        "imports": 0,</a:t>
            </a:r>
          </a:p>
          <a:p xmlns:a="http://schemas.openxmlformats.org/drawingml/2006/main">
            <a:r>
              <a:t>        "base": 6867.22,</a:t>
            </a:r>
          </a:p>
          <a:p xmlns:a="http://schemas.openxmlformats.org/drawingml/2006/main">
            <a:r>
              <a:t>        "newbill": 9,</a:t>
            </a:r>
          </a:p>
          <a:p xmlns:a="http://schemas.openxmlformats.org/drawingml/2006/main">
            <a:r>
              <a:t>        "saving": 6858.22</a:t>
            </a:r>
          </a:p>
          <a:p xmlns:a="http://schemas.openxmlformats.org/drawingml/2006/main">
            <a:r>
              <a:t>      },</a:t>
            </a:r>
          </a:p>
          <a:p xmlns:a="http://schemas.openxmlformats.org/drawingml/2006/main">
            <a:r>
              <a:t>      {</a:t>
            </a:r>
          </a:p>
          <a:p xmlns:a="http://schemas.openxmlformats.org/drawingml/2006/main">
            <a:r>
              <a:t>        "month": "Oct",</a:t>
            </a:r>
          </a:p>
          <a:p xmlns:a="http://schemas.openxmlformats.org/drawingml/2006/main">
            <a:r>
              <a:t>        "days": 31,</a:t>
            </a:r>
          </a:p>
          <a:p xmlns:a="http://schemas.openxmlformats.org/drawingml/2006/main">
            <a:r>
              <a:t>        "G": 84.74225806451614,</a:t>
            </a:r>
          </a:p>
          <a:p xmlns:a="http://schemas.openxmlformats.org/drawingml/2006/main">
            <a:r>
              <a:t>        "direct": 40.35,</a:t>
            </a:r>
          </a:p>
          <a:p xmlns:a="http://schemas.openxmlformats.org/drawingml/2006/main">
            <a:r>
              <a:t>        "surplus": 44.392258064516135,</a:t>
            </a:r>
          </a:p>
          <a:p xmlns:a="http://schemas.openxmlformats.org/drawingml/2006/main">
            <a:r>
              <a:t>        "battery": 40.35,</a:t>
            </a:r>
          </a:p>
          <a:p xmlns:a="http://schemas.openxmlformats.org/drawingml/2006/main">
            <a:r>
              <a:t>        "imports": 0,</a:t>
            </a:r>
          </a:p>
          <a:p xmlns:a="http://schemas.openxmlformats.org/drawingml/2006/main">
            <a:r>
              <a:t>        "base": 7094.794000000002,</a:t>
            </a:r>
          </a:p>
          <a:p xmlns:a="http://schemas.openxmlformats.org/drawingml/2006/main">
            <a:r>
              <a:t>        "newbill": 9,</a:t>
            </a:r>
          </a:p>
          <a:p xmlns:a="http://schemas.openxmlformats.org/drawingml/2006/main">
            <a:r>
              <a:t>        "saving": 7085.794000000002</a:t>
            </a:r>
          </a:p>
          <a:p xmlns:a="http://schemas.openxmlformats.org/drawingml/2006/main">
            <a:r>
              <a:t>      },</a:t>
            </a:r>
          </a:p>
          <a:p xmlns:a="http://schemas.openxmlformats.org/drawingml/2006/main">
            <a:r>
              <a:t>      {</a:t>
            </a:r>
          </a:p>
          <a:p xmlns:a="http://schemas.openxmlformats.org/drawingml/2006/main">
            <a:r>
              <a:t>        "month": "Nov",</a:t>
            </a:r>
          </a:p>
          <a:p xmlns:a="http://schemas.openxmlformats.org/drawingml/2006/main">
            <a:r>
              <a:t>        "days": 30,</a:t>
            </a:r>
          </a:p>
          <a:p xmlns:a="http://schemas.openxmlformats.org/drawingml/2006/main">
            <a:r>
              <a:t>        "G": 77.61633333333334,</a:t>
            </a:r>
          </a:p>
          <a:p xmlns:a="http://schemas.openxmlformats.org/drawingml/2006/main">
            <a:r>
              <a:t>        "direct": 40.35,</a:t>
            </a:r>
          </a:p>
          <a:p xmlns:a="http://schemas.openxmlformats.org/drawingml/2006/main">
            <a:r>
              <a:t>        "surplus": 37.26633333333334,</a:t>
            </a:r>
          </a:p>
          <a:p xmlns:a="http://schemas.openxmlformats.org/drawingml/2006/main">
            <a:r>
              <a:t>        "battery": 35.40301666666667,</a:t>
            </a:r>
          </a:p>
          <a:p xmlns:a="http://schemas.openxmlformats.org/drawingml/2006/main">
            <a:r>
              <a:t>        "imports": 148.40949999999987,</a:t>
            </a:r>
          </a:p>
          <a:p xmlns:a="http://schemas.openxmlformats.org/drawingml/2006/main">
            <a:r>
              <a:t>        "base": 6867.22,</a:t>
            </a:r>
          </a:p>
          <a:p xmlns:a="http://schemas.openxmlformats.org/drawingml/2006/main">
            <a:r>
              <a:t>        "newbill": 340.01680499999975,</a:t>
            </a:r>
          </a:p>
          <a:p xmlns:a="http://schemas.openxmlformats.org/drawingml/2006/main">
            <a:r>
              <a:t>        "saving": 6527.203195</a:t>
            </a:r>
          </a:p>
          <a:p xmlns:a="http://schemas.openxmlformats.org/drawingml/2006/main">
            <a:r>
              <a:t>      },</a:t>
            </a:r>
          </a:p>
          <a:p xmlns:a="http://schemas.openxmlformats.org/drawingml/2006/main">
            <a:r>
              <a:t>      {</a:t>
            </a:r>
          </a:p>
          <a:p xmlns:a="http://schemas.openxmlformats.org/drawingml/2006/main">
            <a:r>
              <a:t>        "month": "Dec",</a:t>
            </a:r>
          </a:p>
          <a:p xmlns:a="http://schemas.openxmlformats.org/drawingml/2006/main">
            <a:r>
              <a:t>        "days": 31,</a:t>
            </a:r>
          </a:p>
          <a:p xmlns:a="http://schemas.openxmlformats.org/drawingml/2006/main">
            <a:r>
              <a:t>        "G": 71.50967741935484,</a:t>
            </a:r>
          </a:p>
          <a:p xmlns:a="http://schemas.openxmlformats.org/drawingml/2006/main">
            <a:r>
              <a:t>        "direct": 40.35,</a:t>
            </a:r>
          </a:p>
          <a:p xmlns:a="http://schemas.openxmlformats.org/drawingml/2006/main">
            <a:r>
              <a:t>        "surplus": 31.159677419354843,</a:t>
            </a:r>
          </a:p>
          <a:p xmlns:a="http://schemas.openxmlformats.org/drawingml/2006/main">
            <a:r>
              <a:t>        "battery": 29.6016935483871,</a:t>
            </a:r>
          </a:p>
          <a:p xmlns:a="http://schemas.openxmlformats.org/drawingml/2006/main">
            <a:r>
              <a:t>        "imports": 333.19749999999993,</a:t>
            </a:r>
          </a:p>
          <a:p xmlns:a="http://schemas.openxmlformats.org/drawingml/2006/main">
            <a:r>
              <a:t>        "base": 7094.794000000002,</a:t>
            </a:r>
          </a:p>
          <a:p xmlns:a="http://schemas.openxmlformats.org/drawingml/2006/main">
            <a:r>
              <a:t>        "newbill": 909.6373249999998,</a:t>
            </a:r>
          </a:p>
          <a:p xmlns:a="http://schemas.openxmlformats.org/drawingml/2006/main">
            <a:r>
              <a:t>        "saving": 6185.156675000002</a:t>
            </a:r>
          </a:p>
          <a:p xmlns:a="http://schemas.openxmlformats.org/drawingml/2006/main">
            <a:r>
              <a:t>      }</a:t>
            </a:r>
          </a:p>
          <a:p xmlns:a="http://schemas.openxmlformats.org/drawingml/2006/main">
            <a:r>
              <a:t>    ],</a:t>
            </a:r>
          </a:p>
          <a:p xmlns:a="http://schemas.openxmlformats.org/drawingml/2006/main">
            <a:r>
              <a:t>    "annualSaving": 81090.66842000002,</a:t>
            </a:r>
          </a:p>
          <a:p xmlns:a="http://schemas.openxmlformats.org/drawingml/2006/main">
            <a:r>
              <a:t>    "averageSaving": 6757.555701666668,</a:t>
            </a:r>
          </a:p>
          <a:p xmlns:a="http://schemas.openxmlformats.org/drawingml/2006/main">
            <a:r>
              <a:t>    "payback": 14.237889790476089,</a:t>
            </a:r>
          </a:p>
          <a:p xmlns:a="http://schemas.openxmlformats.org/drawingml/2006/main">
            <a:r>
              <a:t>    "annualImports": 912.7620000000002</a:t>
            </a:r>
          </a:p>
          <a:p xmlns:a="http://schemas.openxmlformats.org/drawingml/2006/main">
            <a:r>
              <a:t>  }</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EgyptERA commercial tariff from April 2026, https://www.egyptera.org/en/TarrifApril2026.aspx (checked 30 Sep 2026). JRC PVGIS 5.3, https://re.jrc.ec.europa.eu/api/v5_3/PVcalc?lat=30.0444&amp;lon=31.2357&amp;peakpower=1&amp;loss=14&amp;angle=30&amp;aspect=0&amp;pvtechchoice=crystSi&amp;mountingplace=free&amp;outputformat=json . SARAH3/ERA5 2005–2023, Cairo 30.0444N 31.2357E, south-facing 30 degrees, crystalline silicon, free-standing, 14% entered PV loss. Historical modeled output, local shading unmeasured. Home_Storage.pptx slide 15: battery 220 EUR/kWh at assumed 62 EGP/EUR = 13,640 EGP/kWh. Historical model assumptions treated as customer selling prices, not current quotes. Source deck slide 18 states 10-year warranty and 6,000 cycles at 80% DoD.</a:t>
            </a:r>
          </a:p>
          <a:p xmlns:a="http://schemas.openxmlformats.org/drawingml/2006/main">
            <a:r>
              <a:t>Method: E=2421/30=80.7 kWh/day (billing period assumed). D=N=40.35. U=C*0.8 before losses. eta=0.95 aggregate storage-path energy factor allocated once at output. Delivered battery=min(solar surplus*eta,U*eta,N). No grid charging, exports have zero value, no reserve held. Required whole-night nameplate=40.35/(.8*.95)=53.092105 kWh. Installed C=64 for the product comparison. PV size rounded up to 0.5 kWp. Inverter sizes preliminary.</a:t>
            </a:r>
          </a:p>
          <a:p xmlns:a="http://schemas.openxmlformats.org/drawingml/2006/main">
            <a:r>
              <a:t>Annual scenario: monthly PV daily mean=PVGIS E_m / calendar days, daily consumption held at80.7, non-leap year365days. Treat each month as repeated average days, no hourly dispatch or interday simulation. Baseline bill and newbill evaluated per month at full precision. Rounded displayed inputs may create small rounding differences. All savings exclude the equal annual3EGP stamp, which cancels in the comparison. No finance, maintenance, insurance, degradation, replacement, tariff escalation or added subscription margin.</a:t>
            </a:r>
          </a:p>
          <a:p xmlns:a="http://schemas.openxmlformats.org/drawingml/2006/main">
            <a:r>
              <a:t>PVGIS annual API total1818.36kWh vs summed rounded monthly1818.37kWh differs by0.01 due to rounding. Sizing uses requested unweighted mean of12 displayed daily yields4.9816667 rounded4.98. Annual financial calculation uses monthly E_m.</a:t>
            </a:r>
          </a:p>
          <a:p xmlns:a="http://schemas.openxmlformats.org/drawingml/2006/main">
            <a:r>
              <a:t/>
            </a:r>
          </a:p>
          <a:p xmlns:a="http://schemas.openxmlformats.org/drawingml/2006/main">
            <a:r>
              <a:t>Calculated reference and monthly scenarios (unrounded):</a:t>
            </a:r>
          </a:p>
          <a:p xmlns:a="http://schemas.openxmlformats.org/drawingml/2006/main">
            <a:r>
              <a:t>[</a:t>
            </a:r>
          </a:p>
          <a:p xmlns:a="http://schemas.openxmlformats.org/drawingml/2006/main">
            <a:r>
              <a:t>  {</a:t>
            </a:r>
          </a:p>
          <a:p xmlns:a="http://schemas.openxmlformats.org/drawingml/2006/main">
            <a:r>
              <a:t>    "option": "A",</a:t>
            </a:r>
          </a:p>
          <a:p xmlns:a="http://schemas.openxmlformats.org/drawingml/2006/main">
            <a:r>
              <a:t>    "C": 0,</a:t>
            </a:r>
          </a:p>
          <a:p xmlns:a="http://schemas.openxmlformats.org/drawingml/2006/main">
            <a:r>
              <a:t>    "P": 8.5,</a:t>
            </a:r>
          </a:p>
          <a:p xmlns:a="http://schemas.openxmlformats.org/drawingml/2006/main">
            <a:r>
              <a:t>    "inv": 10,</a:t>
            </a:r>
          </a:p>
          <a:p xmlns:a="http://schemas.openxmlformats.org/drawingml/2006/main">
            <a:r>
              <a:t>    "price": 140800,</a:t>
            </a:r>
          </a:p>
          <a:p xmlns:a="http://schemas.openxmlformats.org/drawingml/2006/main">
            <a:r>
              <a:t>    "reference": {</a:t>
            </a:r>
          </a:p>
          <a:p xmlns:a="http://schemas.openxmlformats.org/drawingml/2006/main">
            <a:r>
              <a:t>      "G": 42.330000000000005,</a:t>
            </a:r>
          </a:p>
          <a:p xmlns:a="http://schemas.openxmlformats.org/drawingml/2006/main">
            <a:r>
              <a:t>      "direct": 40.35,</a:t>
            </a:r>
          </a:p>
          <a:p xmlns:a="http://schemas.openxmlformats.org/drawingml/2006/main">
            <a:r>
              <a:t>      "surplus": 1.980000000000004,</a:t>
            </a:r>
          </a:p>
          <a:p xmlns:a="http://schemas.openxmlformats.org/drawingml/2006/main">
            <a:r>
              <a:t>      "battery": 0,</a:t>
            </a:r>
          </a:p>
          <a:p xmlns:a="http://schemas.openxmlformats.org/drawingml/2006/main">
            <a:r>
              <a:t>      "imports": 1210.5,</a:t>
            </a:r>
          </a:p>
          <a:p xmlns:a="http://schemas.openxmlformats.org/drawingml/2006/main">
            <a:r>
              <a:t>      "base": 6867.22,</a:t>
            </a:r>
          </a:p>
          <a:p xmlns:a="http://schemas.openxmlformats.org/drawingml/2006/main">
            <a:r>
              <a:t>      "newbill": 3453.61,</a:t>
            </a:r>
          </a:p>
          <a:p xmlns:a="http://schemas.openxmlformats.org/drawingml/2006/main">
            <a:r>
              <a:t>      "saving": 3413.61</a:t>
            </a:r>
          </a:p>
          <a:p xmlns:a="http://schemas.openxmlformats.org/drawingml/2006/main">
            <a:r>
              <a:t>    },</a:t>
            </a:r>
          </a:p>
          <a:p xmlns:a="http://schemas.openxmlformats.org/drawingml/2006/main">
            <a:r>
              <a:t>    "monthly": [</a:t>
            </a:r>
          </a:p>
          <a:p xmlns:a="http://schemas.openxmlformats.org/drawingml/2006/main">
            <a:r>
              <a:t>      {</a:t>
            </a:r>
          </a:p>
          <a:p xmlns:a="http://schemas.openxmlformats.org/drawingml/2006/main">
            <a:r>
              <a:t>        "month": "Jan",</a:t>
            </a:r>
          </a:p>
          <a:p xmlns:a="http://schemas.openxmlformats.org/drawingml/2006/main">
            <a:r>
              <a:t>        "days": 31,</a:t>
            </a:r>
          </a:p>
          <a:p xmlns:a="http://schemas.openxmlformats.org/drawingml/2006/main">
            <a:r>
              <a:t>        "G": 36.00161290322581,</a:t>
            </a:r>
          </a:p>
          <a:p xmlns:a="http://schemas.openxmlformats.org/drawingml/2006/main">
            <a:r>
              <a:t>        "direct": 36.00161290322581,</a:t>
            </a:r>
          </a:p>
          <a:p xmlns:a="http://schemas.openxmlformats.org/drawingml/2006/main">
            <a:r>
              <a:t>        "surplus": 0,</a:t>
            </a:r>
          </a:p>
          <a:p xmlns:a="http://schemas.openxmlformats.org/drawingml/2006/main">
            <a:r>
              <a:t>        "battery": 0,</a:t>
            </a:r>
          </a:p>
          <a:p xmlns:a="http://schemas.openxmlformats.org/drawingml/2006/main">
            <a:r>
              <a:t>        "imports": 1385.6499999999999,</a:t>
            </a:r>
          </a:p>
          <a:p xmlns:a="http://schemas.openxmlformats.org/drawingml/2006/main">
            <a:r>
              <a:t>        "base": 7094.794000000002,</a:t>
            </a:r>
          </a:p>
          <a:p xmlns:a="http://schemas.openxmlformats.org/drawingml/2006/main">
            <a:r>
              <a:t>        "newbill": 3947.533,</a:t>
            </a:r>
          </a:p>
          <a:p xmlns:a="http://schemas.openxmlformats.org/drawingml/2006/main">
            <a:r>
              <a:t>        "saving": 3147.261000000002</a:t>
            </a:r>
          </a:p>
          <a:p xmlns:a="http://schemas.openxmlformats.org/drawingml/2006/main">
            <a:r>
              <a:t>      },</a:t>
            </a:r>
          </a:p>
          <a:p xmlns:a="http://schemas.openxmlformats.org/drawingml/2006/main">
            <a:r>
              <a:t>      {</a:t>
            </a:r>
          </a:p>
          <a:p xmlns:a="http://schemas.openxmlformats.org/drawingml/2006/main">
            <a:r>
              <a:t>        "month": "Feb",</a:t>
            </a:r>
          </a:p>
          <a:p xmlns:a="http://schemas.openxmlformats.org/drawingml/2006/main">
            <a:r>
              <a:t>        "days": 28,</a:t>
            </a:r>
          </a:p>
          <a:p xmlns:a="http://schemas.openxmlformats.org/drawingml/2006/main">
            <a:r>
              <a:t>        "G": 39.29732142857142,</a:t>
            </a:r>
          </a:p>
          <a:p xmlns:a="http://schemas.openxmlformats.org/drawingml/2006/main">
            <a:r>
              <a:t>        "direct": 39.29732142857142,</a:t>
            </a:r>
          </a:p>
          <a:p xmlns:a="http://schemas.openxmlformats.org/drawingml/2006/main">
            <a:r>
              <a:t>        "surplus": 0,</a:t>
            </a:r>
          </a:p>
          <a:p xmlns:a="http://schemas.openxmlformats.org/drawingml/2006/main">
            <a:r>
              <a:t>        "battery": 0,</a:t>
            </a:r>
          </a:p>
          <a:p xmlns:a="http://schemas.openxmlformats.org/drawingml/2006/main">
            <a:r>
              <a:t>        "imports": 1159.2750000000003,</a:t>
            </a:r>
          </a:p>
          <a:p xmlns:a="http://schemas.openxmlformats.org/drawingml/2006/main">
            <a:r>
              <a:t>        "base": 6412.071999999999,</a:t>
            </a:r>
          </a:p>
          <a:p xmlns:a="http://schemas.openxmlformats.org/drawingml/2006/main">
            <a:r>
              <a:t>        "newbill": 3309.1555000000008,</a:t>
            </a:r>
          </a:p>
          <a:p xmlns:a="http://schemas.openxmlformats.org/drawingml/2006/main">
            <a:r>
              <a:t>        "saving": 3102.9164999999985</a:t>
            </a:r>
          </a:p>
          <a:p xmlns:a="http://schemas.openxmlformats.org/drawingml/2006/main">
            <a:r>
              <a:t>      },</a:t>
            </a:r>
          </a:p>
          <a:p xmlns:a="http://schemas.openxmlformats.org/drawingml/2006/main">
            <a:r>
              <a:t>      {</a:t>
            </a:r>
          </a:p>
          <a:p xmlns:a="http://schemas.openxmlformats.org/drawingml/2006/main">
            <a:r>
              <a:t>        "month": "Mar",</a:t>
            </a:r>
          </a:p>
          <a:p xmlns:a="http://schemas.openxmlformats.org/drawingml/2006/main">
            <a:r>
              <a:t>        "days": 31,</a:t>
            </a:r>
          </a:p>
          <a:p xmlns:a="http://schemas.openxmlformats.org/drawingml/2006/main">
            <a:r>
              <a:t>        "G": 44.1616129032258,</a:t>
            </a:r>
          </a:p>
          <a:p xmlns:a="http://schemas.openxmlformats.org/drawingml/2006/main">
            <a:r>
              <a:t>        "direct": 40.35,</a:t>
            </a:r>
          </a:p>
          <a:p xmlns:a="http://schemas.openxmlformats.org/drawingml/2006/main">
            <a:r>
              <a:t>        "surplus": 3.8116129032258,</a:t>
            </a:r>
          </a:p>
          <a:p xmlns:a="http://schemas.openxmlformats.org/drawingml/2006/main">
            <a:r>
              <a:t>        "battery": 0,</a:t>
            </a:r>
          </a:p>
          <a:p xmlns:a="http://schemas.openxmlformats.org/drawingml/2006/main">
            <a:r>
              <a:t>        "imports": 1250.8500000000001,</a:t>
            </a:r>
          </a:p>
          <a:p xmlns:a="http://schemas.openxmlformats.org/drawingml/2006/main">
            <a:r>
              <a:t>        "base": 7094.794000000002,</a:t>
            </a:r>
          </a:p>
          <a:p xmlns:a="http://schemas.openxmlformats.org/drawingml/2006/main">
            <a:r>
              <a:t>        "newbill": 3567.397000000001,</a:t>
            </a:r>
          </a:p>
          <a:p xmlns:a="http://schemas.openxmlformats.org/drawingml/2006/main">
            <a:r>
              <a:t>        "saving": 3527.397000000001</a:t>
            </a:r>
          </a:p>
          <a:p xmlns:a="http://schemas.openxmlformats.org/drawingml/2006/main">
            <a:r>
              <a:t>      },</a:t>
            </a:r>
          </a:p>
          <a:p xmlns:a="http://schemas.openxmlformats.org/drawingml/2006/main">
            <a:r>
              <a:t>      {</a:t>
            </a:r>
          </a:p>
          <a:p xmlns:a="http://schemas.openxmlformats.org/drawingml/2006/main">
            <a:r>
              <a:t>        "month": "Apr",</a:t>
            </a:r>
          </a:p>
          <a:p xmlns:a="http://schemas.openxmlformats.org/drawingml/2006/main">
            <a:r>
              <a:t>        "days": 30,</a:t>
            </a:r>
          </a:p>
          <a:p xmlns:a="http://schemas.openxmlformats.org/drawingml/2006/main">
            <a:r>
              <a:t>        "G": 45.577,</a:t>
            </a:r>
          </a:p>
          <a:p xmlns:a="http://schemas.openxmlformats.org/drawingml/2006/main">
            <a:r>
              <a:t>        "direct": 40.35,</a:t>
            </a:r>
          </a:p>
          <a:p xmlns:a="http://schemas.openxmlformats.org/drawingml/2006/main">
            <a:r>
              <a:t>        "surplus": 5.226999999999997,</a:t>
            </a:r>
          </a:p>
          <a:p xmlns:a="http://schemas.openxmlformats.org/drawingml/2006/main">
            <a:r>
              <a:t>        "battery": 0,</a:t>
            </a:r>
          </a:p>
          <a:p xmlns:a="http://schemas.openxmlformats.org/drawingml/2006/main">
            <a:r>
              <a:t>        "imports": 1210.5,</a:t>
            </a:r>
          </a:p>
          <a:p xmlns:a="http://schemas.openxmlformats.org/drawingml/2006/main">
            <a:r>
              <a:t>        "base": 6867.22,</a:t>
            </a:r>
          </a:p>
          <a:p xmlns:a="http://schemas.openxmlformats.org/drawingml/2006/main">
            <a:r>
              <a:t>        "newbill": 3453.61,</a:t>
            </a:r>
          </a:p>
          <a:p xmlns:a="http://schemas.openxmlformats.org/drawingml/2006/main">
            <a:r>
              <a:t>        "saving": 3413.61</a:t>
            </a:r>
          </a:p>
          <a:p xmlns:a="http://schemas.openxmlformats.org/drawingml/2006/main">
            <a:r>
              <a:t>      },</a:t>
            </a:r>
          </a:p>
          <a:p xmlns:a="http://schemas.openxmlformats.org/drawingml/2006/main">
            <a:r>
              <a:t>      {</a:t>
            </a:r>
          </a:p>
          <a:p xmlns:a="http://schemas.openxmlformats.org/drawingml/2006/main">
            <a:r>
              <a:t>        "month": "May",</a:t>
            </a:r>
          </a:p>
          <a:p xmlns:a="http://schemas.openxmlformats.org/drawingml/2006/main">
            <a:r>
              <a:t>        "days": 31,</a:t>
            </a:r>
          </a:p>
          <a:p xmlns:a="http://schemas.openxmlformats.org/drawingml/2006/main">
            <a:r>
              <a:t>        "G": 44.61677419354839,</a:t>
            </a:r>
          </a:p>
          <a:p xmlns:a="http://schemas.openxmlformats.org/drawingml/2006/main">
            <a:r>
              <a:t>        "direct": 40.35,</a:t>
            </a:r>
          </a:p>
          <a:p xmlns:a="http://schemas.openxmlformats.org/drawingml/2006/main">
            <a:r>
              <a:t>        "surplus": 4.266774193548386,</a:t>
            </a:r>
          </a:p>
          <a:p xmlns:a="http://schemas.openxmlformats.org/drawingml/2006/main">
            <a:r>
              <a:t>        "battery": 0,</a:t>
            </a:r>
          </a:p>
          <a:p xmlns:a="http://schemas.openxmlformats.org/drawingml/2006/main">
            <a:r>
              <a:t>        "imports": 1250.8500000000001,</a:t>
            </a:r>
          </a:p>
          <a:p xmlns:a="http://schemas.openxmlformats.org/drawingml/2006/main">
            <a:r>
              <a:t>        "base": 7094.794000000002,</a:t>
            </a:r>
          </a:p>
          <a:p xmlns:a="http://schemas.openxmlformats.org/drawingml/2006/main">
            <a:r>
              <a:t>        "newbill": 3567.397000000001,</a:t>
            </a:r>
          </a:p>
          <a:p xmlns:a="http://schemas.openxmlformats.org/drawingml/2006/main">
            <a:r>
              <a:t>        "saving": 3527.397000000001</a:t>
            </a:r>
          </a:p>
          <a:p xmlns:a="http://schemas.openxmlformats.org/drawingml/2006/main">
            <a:r>
              <a:t>      },</a:t>
            </a:r>
          </a:p>
          <a:p xmlns:a="http://schemas.openxmlformats.org/drawingml/2006/main">
            <a:r>
              <a:t>      {</a:t>
            </a:r>
          </a:p>
          <a:p xmlns:a="http://schemas.openxmlformats.org/drawingml/2006/main">
            <a:r>
              <a:t>        "month": "Jun",</a:t>
            </a:r>
          </a:p>
          <a:p xmlns:a="http://schemas.openxmlformats.org/drawingml/2006/main">
            <a:r>
              <a:t>        "days": 30,</a:t>
            </a:r>
          </a:p>
          <a:p xmlns:a="http://schemas.openxmlformats.org/drawingml/2006/main">
            <a:r>
              <a:t>        "G": 44.94233333333334,</a:t>
            </a:r>
          </a:p>
          <a:p xmlns:a="http://schemas.openxmlformats.org/drawingml/2006/main">
            <a:r>
              <a:t>        "direct": 40.35,</a:t>
            </a:r>
          </a:p>
          <a:p xmlns:a="http://schemas.openxmlformats.org/drawingml/2006/main">
            <a:r>
              <a:t>        "surplus": 4.592333333333336,</a:t>
            </a:r>
          </a:p>
          <a:p xmlns:a="http://schemas.openxmlformats.org/drawingml/2006/main">
            <a:r>
              <a:t>        "battery": 0,</a:t>
            </a:r>
          </a:p>
          <a:p xmlns:a="http://schemas.openxmlformats.org/drawingml/2006/main">
            <a:r>
              <a:t>        "imports": 1210.5,</a:t>
            </a:r>
          </a:p>
          <a:p xmlns:a="http://schemas.openxmlformats.org/drawingml/2006/main">
            <a:r>
              <a:t>        "base": 6867.22,</a:t>
            </a:r>
          </a:p>
          <a:p xmlns:a="http://schemas.openxmlformats.org/drawingml/2006/main">
            <a:r>
              <a:t>        "newbill": 3453.61,</a:t>
            </a:r>
          </a:p>
          <a:p xmlns:a="http://schemas.openxmlformats.org/drawingml/2006/main">
            <a:r>
              <a:t>        "saving": 3413.61</a:t>
            </a:r>
          </a:p>
          <a:p xmlns:a="http://schemas.openxmlformats.org/drawingml/2006/main">
            <a:r>
              <a:t>      },</a:t>
            </a:r>
          </a:p>
          <a:p xmlns:a="http://schemas.openxmlformats.org/drawingml/2006/main">
            <a:r>
              <a:t>      {</a:t>
            </a:r>
          </a:p>
          <a:p xmlns:a="http://schemas.openxmlformats.org/drawingml/2006/main">
            <a:r>
              <a:t>        "month": "Jul",</a:t>
            </a:r>
          </a:p>
          <a:p xmlns:a="http://schemas.openxmlformats.org/drawingml/2006/main">
            <a:r>
              <a:t>        "days": 31,</a:t>
            </a:r>
          </a:p>
          <a:p xmlns:a="http://schemas.openxmlformats.org/drawingml/2006/main">
            <a:r>
              <a:t>        "G": 45.148709677419355,</a:t>
            </a:r>
          </a:p>
          <a:p xmlns:a="http://schemas.openxmlformats.org/drawingml/2006/main">
            <a:r>
              <a:t>        "direct": 40.35,</a:t>
            </a:r>
          </a:p>
          <a:p xmlns:a="http://schemas.openxmlformats.org/drawingml/2006/main">
            <a:r>
              <a:t>        "surplus": 4.798709677419353,</a:t>
            </a:r>
          </a:p>
          <a:p xmlns:a="http://schemas.openxmlformats.org/drawingml/2006/main">
            <a:r>
              <a:t>        "battery": 0,</a:t>
            </a:r>
          </a:p>
          <a:p xmlns:a="http://schemas.openxmlformats.org/drawingml/2006/main">
            <a:r>
              <a:t>        "imports": 1250.8500000000001,</a:t>
            </a:r>
          </a:p>
          <a:p xmlns:a="http://schemas.openxmlformats.org/drawingml/2006/main">
            <a:r>
              <a:t>        "base": 7094.794000000002,</a:t>
            </a:r>
          </a:p>
          <a:p xmlns:a="http://schemas.openxmlformats.org/drawingml/2006/main">
            <a:r>
              <a:t>        "newbill": 3567.397000000001,</a:t>
            </a:r>
          </a:p>
          <a:p xmlns:a="http://schemas.openxmlformats.org/drawingml/2006/main">
            <a:r>
              <a:t>        "saving": 3527.397000000001</a:t>
            </a:r>
          </a:p>
          <a:p xmlns:a="http://schemas.openxmlformats.org/drawingml/2006/main">
            <a:r>
              <a:t>      },</a:t>
            </a:r>
          </a:p>
          <a:p xmlns:a="http://schemas.openxmlformats.org/drawingml/2006/main">
            <a:r>
              <a:t>      {</a:t>
            </a:r>
          </a:p>
          <a:p xmlns:a="http://schemas.openxmlformats.org/drawingml/2006/main">
            <a:r>
              <a:t>        "month": "Aug",</a:t>
            </a:r>
          </a:p>
          <a:p xmlns:a="http://schemas.openxmlformats.org/drawingml/2006/main">
            <a:r>
              <a:t>        "days": 31,</a:t>
            </a:r>
          </a:p>
          <a:p xmlns:a="http://schemas.openxmlformats.org/drawingml/2006/main">
            <a:r>
              <a:t>        "G": 45.73548387096774,</a:t>
            </a:r>
          </a:p>
          <a:p xmlns:a="http://schemas.openxmlformats.org/drawingml/2006/main">
            <a:r>
              <a:t>        "direct": 40.35,</a:t>
            </a:r>
          </a:p>
          <a:p xmlns:a="http://schemas.openxmlformats.org/drawingml/2006/main">
            <a:r>
              <a:t>        "surplus": 5.3854838709677395,</a:t>
            </a:r>
          </a:p>
          <a:p xmlns:a="http://schemas.openxmlformats.org/drawingml/2006/main">
            <a:r>
              <a:t>        "battery": 0,</a:t>
            </a:r>
          </a:p>
          <a:p xmlns:a="http://schemas.openxmlformats.org/drawingml/2006/main">
            <a:r>
              <a:t>        "imports": 1250.8500000000001,</a:t>
            </a:r>
          </a:p>
          <a:p xmlns:a="http://schemas.openxmlformats.org/drawingml/2006/main">
            <a:r>
              <a:t>        "base": 7094.794000000002,</a:t>
            </a:r>
          </a:p>
          <a:p xmlns:a="http://schemas.openxmlformats.org/drawingml/2006/main">
            <a:r>
              <a:t>        "newbill": 3567.397000000001,</a:t>
            </a:r>
          </a:p>
          <a:p xmlns:a="http://schemas.openxmlformats.org/drawingml/2006/main">
            <a:r>
              <a:t>        "saving": 3527.397000000001</a:t>
            </a:r>
          </a:p>
          <a:p xmlns:a="http://schemas.openxmlformats.org/drawingml/2006/main">
            <a:r>
              <a:t>      },</a:t>
            </a:r>
          </a:p>
          <a:p xmlns:a="http://schemas.openxmlformats.org/drawingml/2006/main">
            <a:r>
              <a:t>      {</a:t>
            </a:r>
          </a:p>
          <a:p xmlns:a="http://schemas.openxmlformats.org/drawingml/2006/main">
            <a:r>
              <a:t>        "month": "Sep",</a:t>
            </a:r>
          </a:p>
          <a:p xmlns:a="http://schemas.openxmlformats.org/drawingml/2006/main">
            <a:r>
              <a:t>        "days": 30,</a:t>
            </a:r>
          </a:p>
          <a:p xmlns:a="http://schemas.openxmlformats.org/drawingml/2006/main">
            <a:r>
              <a:t>        "G": 45.61666666666666,</a:t>
            </a:r>
          </a:p>
          <a:p xmlns:a="http://schemas.openxmlformats.org/drawingml/2006/main">
            <a:r>
              <a:t>        "direct": 40.35,</a:t>
            </a:r>
          </a:p>
          <a:p xmlns:a="http://schemas.openxmlformats.org/drawingml/2006/main">
            <a:r>
              <a:t>        "surplus": 5.266666666666659,</a:t>
            </a:r>
          </a:p>
          <a:p xmlns:a="http://schemas.openxmlformats.org/drawingml/2006/main">
            <a:r>
              <a:t>        "battery": 0,</a:t>
            </a:r>
          </a:p>
          <a:p xmlns:a="http://schemas.openxmlformats.org/drawingml/2006/main">
            <a:r>
              <a:t>        "imports": 1210.5,</a:t>
            </a:r>
          </a:p>
          <a:p xmlns:a="http://schemas.openxmlformats.org/drawingml/2006/main">
            <a:r>
              <a:t>        "base": 6867.22,</a:t>
            </a:r>
          </a:p>
          <a:p xmlns:a="http://schemas.openxmlformats.org/drawingml/2006/main">
            <a:r>
              <a:t>        "newbill": 3453.61,</a:t>
            </a:r>
          </a:p>
          <a:p xmlns:a="http://schemas.openxmlformats.org/drawingml/2006/main">
            <a:r>
              <a:t>        "saving": 3413.61</a:t>
            </a:r>
          </a:p>
          <a:p xmlns:a="http://schemas.openxmlformats.org/drawingml/2006/main">
            <a:r>
              <a:t>      },</a:t>
            </a:r>
          </a:p>
          <a:p xmlns:a="http://schemas.openxmlformats.org/drawingml/2006/main">
            <a:r>
              <a:t>      {</a:t>
            </a:r>
          </a:p>
          <a:p xmlns:a="http://schemas.openxmlformats.org/drawingml/2006/main">
            <a:r>
              <a:t>        "month": "Oct",</a:t>
            </a:r>
          </a:p>
          <a:p xmlns:a="http://schemas.openxmlformats.org/drawingml/2006/main">
            <a:r>
              <a:t>        "days": 31,</a:t>
            </a:r>
          </a:p>
          <a:p xmlns:a="http://schemas.openxmlformats.org/drawingml/2006/main">
            <a:r>
              <a:t>        "G": 42.37112903225807,</a:t>
            </a:r>
          </a:p>
          <a:p xmlns:a="http://schemas.openxmlformats.org/drawingml/2006/main">
            <a:r>
              <a:t>        "direct": 40.35,</a:t>
            </a:r>
          </a:p>
          <a:p xmlns:a="http://schemas.openxmlformats.org/drawingml/2006/main">
            <a:r>
              <a:t>        "surplus": 2.0211290322580666,</a:t>
            </a:r>
          </a:p>
          <a:p xmlns:a="http://schemas.openxmlformats.org/drawingml/2006/main">
            <a:r>
              <a:t>        "battery": 0,</a:t>
            </a:r>
          </a:p>
          <a:p xmlns:a="http://schemas.openxmlformats.org/drawingml/2006/main">
            <a:r>
              <a:t>        "imports": 1250.8500000000001,</a:t>
            </a:r>
          </a:p>
          <a:p xmlns:a="http://schemas.openxmlformats.org/drawingml/2006/main">
            <a:r>
              <a:t>        "base": 7094.794000000002,</a:t>
            </a:r>
          </a:p>
          <a:p xmlns:a="http://schemas.openxmlformats.org/drawingml/2006/main">
            <a:r>
              <a:t>        "newbill": 3567.397000000001,</a:t>
            </a:r>
          </a:p>
          <a:p xmlns:a="http://schemas.openxmlformats.org/drawingml/2006/main">
            <a:r>
              <a:t>        "saving": 3527.397000000001</a:t>
            </a:r>
          </a:p>
          <a:p xmlns:a="http://schemas.openxmlformats.org/drawingml/2006/main">
            <a:r>
              <a:t>      },</a:t>
            </a:r>
          </a:p>
          <a:p xmlns:a="http://schemas.openxmlformats.org/drawingml/2006/main">
            <a:r>
              <a:t>      {</a:t>
            </a:r>
          </a:p>
          <a:p xmlns:a="http://schemas.openxmlformats.org/drawingml/2006/main">
            <a:r>
              <a:t>        "month": "Nov",</a:t>
            </a:r>
          </a:p>
          <a:p xmlns:a="http://schemas.openxmlformats.org/drawingml/2006/main">
            <a:r>
              <a:t>        "days": 30,</a:t>
            </a:r>
          </a:p>
          <a:p xmlns:a="http://schemas.openxmlformats.org/drawingml/2006/main">
            <a:r>
              <a:t>        "G": 38.80816666666667,</a:t>
            </a:r>
          </a:p>
          <a:p xmlns:a="http://schemas.openxmlformats.org/drawingml/2006/main">
            <a:r>
              <a:t>        "direct": 38.80816666666667,</a:t>
            </a:r>
          </a:p>
          <a:p xmlns:a="http://schemas.openxmlformats.org/drawingml/2006/main">
            <a:r>
              <a:t>        "surplus": 0,</a:t>
            </a:r>
          </a:p>
          <a:p xmlns:a="http://schemas.openxmlformats.org/drawingml/2006/main">
            <a:r>
              <a:t>        "battery": 0,</a:t>
            </a:r>
          </a:p>
          <a:p xmlns:a="http://schemas.openxmlformats.org/drawingml/2006/main">
            <a:r>
              <a:t>        "imports": 1256.7549999999999,</a:t>
            </a:r>
          </a:p>
          <a:p xmlns:a="http://schemas.openxmlformats.org/drawingml/2006/main">
            <a:r>
              <a:t>        "base": 6867.22,</a:t>
            </a:r>
          </a:p>
          <a:p xmlns:a="http://schemas.openxmlformats.org/drawingml/2006/main">
            <a:r>
              <a:t>        "newbill": 3584.0490999999997,</a:t>
            </a:r>
          </a:p>
          <a:p xmlns:a="http://schemas.openxmlformats.org/drawingml/2006/main">
            <a:r>
              <a:t>        "saving": 3283.1709000000005</a:t>
            </a:r>
          </a:p>
          <a:p xmlns:a="http://schemas.openxmlformats.org/drawingml/2006/main">
            <a:r>
              <a:t>      },</a:t>
            </a:r>
          </a:p>
          <a:p xmlns:a="http://schemas.openxmlformats.org/drawingml/2006/main">
            <a:r>
              <a:t>      {</a:t>
            </a:r>
          </a:p>
          <a:p xmlns:a="http://schemas.openxmlformats.org/drawingml/2006/main">
            <a:r>
              <a:t>        "month": "Dec",</a:t>
            </a:r>
          </a:p>
          <a:p xmlns:a="http://schemas.openxmlformats.org/drawingml/2006/main">
            <a:r>
              <a:t>        "days": 31,</a:t>
            </a:r>
          </a:p>
          <a:p xmlns:a="http://schemas.openxmlformats.org/drawingml/2006/main">
            <a:r>
              <a:t>        "G": 35.75483870967742,</a:t>
            </a:r>
          </a:p>
          <a:p xmlns:a="http://schemas.openxmlformats.org/drawingml/2006/main">
            <a:r>
              <a:t>        "direct": 35.75483870967742,</a:t>
            </a:r>
          </a:p>
          <a:p xmlns:a="http://schemas.openxmlformats.org/drawingml/2006/main">
            <a:r>
              <a:t>        "surplus": 0,</a:t>
            </a:r>
          </a:p>
          <a:p xmlns:a="http://schemas.openxmlformats.org/drawingml/2006/main">
            <a:r>
              <a:t>        "battery": 0,</a:t>
            </a:r>
          </a:p>
          <a:p xmlns:a="http://schemas.openxmlformats.org/drawingml/2006/main">
            <a:r>
              <a:t>        "imports": 1393.3,</a:t>
            </a:r>
          </a:p>
          <a:p xmlns:a="http://schemas.openxmlformats.org/drawingml/2006/main">
            <a:r>
              <a:t>        "base": 7094.794000000002,</a:t>
            </a:r>
          </a:p>
          <a:p xmlns:a="http://schemas.openxmlformats.org/drawingml/2006/main">
            <a:r>
              <a:t>        "newbill": 3969.1059999999998,</a:t>
            </a:r>
          </a:p>
          <a:p xmlns:a="http://schemas.openxmlformats.org/drawingml/2006/main">
            <a:r>
              <a:t>        "saving": 3125.688000000002</a:t>
            </a:r>
          </a:p>
          <a:p xmlns:a="http://schemas.openxmlformats.org/drawingml/2006/main">
            <a:r>
              <a:t>      }</a:t>
            </a:r>
          </a:p>
          <a:p xmlns:a="http://schemas.openxmlformats.org/drawingml/2006/main">
            <a:r>
              <a:t>    ],</a:t>
            </a:r>
          </a:p>
          <a:p xmlns:a="http://schemas.openxmlformats.org/drawingml/2006/main">
            <a:r>
              <a:t>    "annualSaving": 40536.85140000001,</a:t>
            </a:r>
          </a:p>
          <a:p xmlns:a="http://schemas.openxmlformats.org/drawingml/2006/main">
            <a:r>
              <a:t>    "averageSaving": 3378.0709500000007,</a:t>
            </a:r>
          </a:p>
          <a:p xmlns:a="http://schemas.openxmlformats.org/drawingml/2006/main">
            <a:r>
              <a:t>    "payback": 3.4733827403279767,</a:t>
            </a:r>
          </a:p>
          <a:p xmlns:a="http://schemas.openxmlformats.org/drawingml/2006/main">
            <a:r>
              <a:t>    "annualImports": 15080.73</a:t>
            </a:r>
          </a:p>
          <a:p xmlns:a="http://schemas.openxmlformats.org/drawingml/2006/main">
            <a:r>
              <a:t>  },</a:t>
            </a:r>
          </a:p>
          <a:p xmlns:a="http://schemas.openxmlformats.org/drawingml/2006/main">
            <a:r>
              <a:t>  {</a:t>
            </a:r>
          </a:p>
          <a:p xmlns:a="http://schemas.openxmlformats.org/drawingml/2006/main">
            <a:r>
              <a:t>    "option": "B",</a:t>
            </a:r>
          </a:p>
          <a:p xmlns:a="http://schemas.openxmlformats.org/drawingml/2006/main">
            <a:r>
              <a:t>    "C": 16,</a:t>
            </a:r>
          </a:p>
          <a:p xmlns:a="http://schemas.openxmlformats.org/drawingml/2006/main">
            <a:r>
              <a:t>    "P": 11,</a:t>
            </a:r>
          </a:p>
          <a:p xmlns:a="http://schemas.openxmlformats.org/drawingml/2006/main">
            <a:r>
              <a:t>    "inv": 12,</a:t>
            </a:r>
          </a:p>
          <a:p xmlns:a="http://schemas.openxmlformats.org/drawingml/2006/main">
            <a:r>
              <a:t>    "price": 394240,</a:t>
            </a:r>
          </a:p>
          <a:p xmlns:a="http://schemas.openxmlformats.org/drawingml/2006/main">
            <a:r>
              <a:t>    "reference": {</a:t>
            </a:r>
          </a:p>
          <a:p xmlns:a="http://schemas.openxmlformats.org/drawingml/2006/main">
            <a:r>
              <a:t>      "G": 54.78,</a:t>
            </a:r>
          </a:p>
          <a:p xmlns:a="http://schemas.openxmlformats.org/drawingml/2006/main">
            <a:r>
              <a:t>      "direct": 40.35,</a:t>
            </a:r>
          </a:p>
          <a:p xmlns:a="http://schemas.openxmlformats.org/drawingml/2006/main">
            <a:r>
              <a:t>      "surplus": 14.43,</a:t>
            </a:r>
          </a:p>
          <a:p xmlns:a="http://schemas.openxmlformats.org/drawingml/2006/main">
            <a:r>
              <a:t>      "battery": 12.16,</a:t>
            </a:r>
          </a:p>
          <a:p xmlns:a="http://schemas.openxmlformats.org/drawingml/2006/main">
            <a:r>
              <a:t>      "imports": 845.7,</a:t>
            </a:r>
          </a:p>
          <a:p xmlns:a="http://schemas.openxmlformats.org/drawingml/2006/main">
            <a:r>
              <a:t>      "base": 6867.22,</a:t>
            </a:r>
          </a:p>
          <a:p xmlns:a="http://schemas.openxmlformats.org/drawingml/2006/main">
            <a:r>
              <a:t>      "newbill": 2307.5890000000004,</a:t>
            </a:r>
          </a:p>
          <a:p xmlns:a="http://schemas.openxmlformats.org/drawingml/2006/main">
            <a:r>
              <a:t>      "saving": 4559.630999999999</a:t>
            </a:r>
          </a:p>
          <a:p xmlns:a="http://schemas.openxmlformats.org/drawingml/2006/main">
            <a:r>
              <a:t>    },</a:t>
            </a:r>
          </a:p>
          <a:p xmlns:a="http://schemas.openxmlformats.org/drawingml/2006/main">
            <a:r>
              <a:t>    "monthly": [</a:t>
            </a:r>
          </a:p>
          <a:p xmlns:a="http://schemas.openxmlformats.org/drawingml/2006/main">
            <a:r>
              <a:t>      {</a:t>
            </a:r>
          </a:p>
          <a:p xmlns:a="http://schemas.openxmlformats.org/drawingml/2006/main">
            <a:r>
              <a:t>        "month": "Jan",</a:t>
            </a:r>
          </a:p>
          <a:p xmlns:a="http://schemas.openxmlformats.org/drawingml/2006/main">
            <a:r>
              <a:t>        "days": 31,</a:t>
            </a:r>
          </a:p>
          <a:p xmlns:a="http://schemas.openxmlformats.org/drawingml/2006/main">
            <a:r>
              <a:t>        "G": 46.59032258064517,</a:t>
            </a:r>
          </a:p>
          <a:p xmlns:a="http://schemas.openxmlformats.org/drawingml/2006/main">
            <a:r>
              <a:t>        "direct": 40.35,</a:t>
            </a:r>
          </a:p>
          <a:p xmlns:a="http://schemas.openxmlformats.org/drawingml/2006/main">
            <a:r>
              <a:t>        "surplus": 6.24032258064517,</a:t>
            </a:r>
          </a:p>
          <a:p xmlns:a="http://schemas.openxmlformats.org/drawingml/2006/main">
            <a:r>
              <a:t>        "battery": 5.928306451612912,</a:t>
            </a:r>
          </a:p>
          <a:p xmlns:a="http://schemas.openxmlformats.org/drawingml/2006/main">
            <a:r>
              <a:t>        "imports": 1067.0724999999998,</a:t>
            </a:r>
          </a:p>
          <a:p xmlns:a="http://schemas.openxmlformats.org/drawingml/2006/main">
            <a:r>
              <a:t>        "base": 7094.794000000002,</a:t>
            </a:r>
          </a:p>
          <a:p xmlns:a="http://schemas.openxmlformats.org/drawingml/2006/main">
            <a:r>
              <a:t>        "newbill": 3049.1444499999993,</a:t>
            </a:r>
          </a:p>
          <a:p xmlns:a="http://schemas.openxmlformats.org/drawingml/2006/main">
            <a:r>
              <a:t>        "saving": 4045.6495500000024</a:t>
            </a:r>
          </a:p>
          <a:p xmlns:a="http://schemas.openxmlformats.org/drawingml/2006/main">
            <a:r>
              <a:t>      },</a:t>
            </a:r>
          </a:p>
          <a:p xmlns:a="http://schemas.openxmlformats.org/drawingml/2006/main">
            <a:r>
              <a:t>      {</a:t>
            </a:r>
          </a:p>
          <a:p xmlns:a="http://schemas.openxmlformats.org/drawingml/2006/main">
            <a:r>
              <a:t>        "month": "Feb",</a:t>
            </a:r>
          </a:p>
          <a:p xmlns:a="http://schemas.openxmlformats.org/drawingml/2006/main">
            <a:r>
              <a:t>        "days": 28,</a:t>
            </a:r>
          </a:p>
          <a:p xmlns:a="http://schemas.openxmlformats.org/drawingml/2006/main">
            <a:r>
              <a:t>        "G": 50.85535714285714,</a:t>
            </a:r>
          </a:p>
          <a:p xmlns:a="http://schemas.openxmlformats.org/drawingml/2006/main">
            <a:r>
              <a:t>        "direct": 40.35,</a:t>
            </a:r>
          </a:p>
          <a:p xmlns:a="http://schemas.openxmlformats.org/drawingml/2006/main">
            <a:r>
              <a:t>        "surplus": 10.505357142857136,</a:t>
            </a:r>
          </a:p>
          <a:p xmlns:a="http://schemas.openxmlformats.org/drawingml/2006/main">
            <a:r>
              <a:t>        "battery": 9.980089285714278,</a:t>
            </a:r>
          </a:p>
          <a:p xmlns:a="http://schemas.openxmlformats.org/drawingml/2006/main">
            <a:r>
              <a:t>        "imports": 850.3575000000003,</a:t>
            </a:r>
          </a:p>
          <a:p xmlns:a="http://schemas.openxmlformats.org/drawingml/2006/main">
            <a:r>
              <a:t>        "base": 6412.071999999999,</a:t>
            </a:r>
          </a:p>
          <a:p xmlns:a="http://schemas.openxmlformats.org/drawingml/2006/main">
            <a:r>
              <a:t>        "newbill": 2320.490275000001,</a:t>
            </a:r>
          </a:p>
          <a:p xmlns:a="http://schemas.openxmlformats.org/drawingml/2006/main">
            <a:r>
              <a:t>        "saving": 4091.581724999998</a:t>
            </a:r>
          </a:p>
          <a:p xmlns:a="http://schemas.openxmlformats.org/drawingml/2006/main">
            <a:r>
              <a:t>      },</a:t>
            </a:r>
          </a:p>
          <a:p xmlns:a="http://schemas.openxmlformats.org/drawingml/2006/main">
            <a:r>
              <a:t>      {</a:t>
            </a:r>
          </a:p>
          <a:p xmlns:a="http://schemas.openxmlformats.org/drawingml/2006/main">
            <a:r>
              <a:t>        "month": "Mar",</a:t>
            </a:r>
          </a:p>
          <a:p xmlns:a="http://schemas.openxmlformats.org/drawingml/2006/main">
            <a:r>
              <a:t>        "days": 31,</a:t>
            </a:r>
          </a:p>
          <a:p xmlns:a="http://schemas.openxmlformats.org/drawingml/2006/main">
            <a:r>
              <a:t>        "G": 57.15032258064516,</a:t>
            </a:r>
          </a:p>
          <a:p xmlns:a="http://schemas.openxmlformats.org/drawingml/2006/main">
            <a:r>
              <a:t>        "direct": 40.35,</a:t>
            </a:r>
          </a:p>
          <a:p xmlns:a="http://schemas.openxmlformats.org/drawingml/2006/main">
            <a:r>
              <a:t>        "surplus": 16.800322580645158,</a:t>
            </a:r>
          </a:p>
          <a:p xmlns:a="http://schemas.openxmlformats.org/drawingml/2006/main">
            <a:r>
              <a:t>        "battery": 12.16,</a:t>
            </a:r>
          </a:p>
          <a:p xmlns:a="http://schemas.openxmlformats.org/drawingml/2006/main">
            <a:r>
              <a:t>        "imports": 873.89,</a:t>
            </a:r>
          </a:p>
          <a:p xmlns:a="http://schemas.openxmlformats.org/drawingml/2006/main">
            <a:r>
              <a:t>        "base": 7094.794000000002,</a:t>
            </a:r>
          </a:p>
          <a:p xmlns:a="http://schemas.openxmlformats.org/drawingml/2006/main">
            <a:r>
              <a:t>        "newbill": 2385.6753,</a:t>
            </a:r>
          </a:p>
          <a:p xmlns:a="http://schemas.openxmlformats.org/drawingml/2006/main">
            <a:r>
              <a:t>        "saving": 4709.118700000002</a:t>
            </a:r>
          </a:p>
          <a:p xmlns:a="http://schemas.openxmlformats.org/drawingml/2006/main">
            <a:r>
              <a:t>      },</a:t>
            </a:r>
          </a:p>
          <a:p xmlns:a="http://schemas.openxmlformats.org/drawingml/2006/main">
            <a:r>
              <a:t>      {</a:t>
            </a:r>
          </a:p>
          <a:p xmlns:a="http://schemas.openxmlformats.org/drawingml/2006/main">
            <a:r>
              <a:t>        "month": "Apr",</a:t>
            </a:r>
          </a:p>
          <a:p xmlns:a="http://schemas.openxmlformats.org/drawingml/2006/main">
            <a:r>
              <a:t>        "days": 30,</a:t>
            </a:r>
          </a:p>
          <a:p xmlns:a="http://schemas.openxmlformats.org/drawingml/2006/main">
            <a:r>
              <a:t>        "G": 58.982,</a:t>
            </a:r>
          </a:p>
          <a:p xmlns:a="http://schemas.openxmlformats.org/drawingml/2006/main">
            <a:r>
              <a:t>        "direct": 40.35,</a:t>
            </a:r>
          </a:p>
          <a:p xmlns:a="http://schemas.openxmlformats.org/drawingml/2006/main">
            <a:r>
              <a:t>        "surplus": 18.631999999999998,</a:t>
            </a:r>
          </a:p>
          <a:p xmlns:a="http://schemas.openxmlformats.org/drawingml/2006/main">
            <a:r>
              <a:t>        "battery": 12.16,</a:t>
            </a:r>
          </a:p>
          <a:p xmlns:a="http://schemas.openxmlformats.org/drawingml/2006/main">
            <a:r>
              <a:t>        "imports": 845.7,</a:t>
            </a:r>
          </a:p>
          <a:p xmlns:a="http://schemas.openxmlformats.org/drawingml/2006/main">
            <a:r>
              <a:t>        "base": 6867.22,</a:t>
            </a:r>
          </a:p>
          <a:p xmlns:a="http://schemas.openxmlformats.org/drawingml/2006/main">
            <a:r>
              <a:t>        "newbill": 2307.5890000000004,</a:t>
            </a:r>
          </a:p>
          <a:p xmlns:a="http://schemas.openxmlformats.org/drawingml/2006/main">
            <a:r>
              <a:t>        "saving": 4559.630999999999</a:t>
            </a:r>
          </a:p>
          <a:p xmlns:a="http://schemas.openxmlformats.org/drawingml/2006/main">
            <a:r>
              <a:t>      },</a:t>
            </a:r>
          </a:p>
          <a:p xmlns:a="http://schemas.openxmlformats.org/drawingml/2006/main">
            <a:r>
              <a:t>      {</a:t>
            </a:r>
          </a:p>
          <a:p xmlns:a="http://schemas.openxmlformats.org/drawingml/2006/main">
            <a:r>
              <a:t>        "month": "May",</a:t>
            </a:r>
          </a:p>
          <a:p xmlns:a="http://schemas.openxmlformats.org/drawingml/2006/main">
            <a:r>
              <a:t>        "days": 31,</a:t>
            </a:r>
          </a:p>
          <a:p xmlns:a="http://schemas.openxmlformats.org/drawingml/2006/main">
            <a:r>
              <a:t>        "G": 57.73935483870968,</a:t>
            </a:r>
          </a:p>
          <a:p xmlns:a="http://schemas.openxmlformats.org/drawingml/2006/main">
            <a:r>
              <a:t>        "direct": 40.35,</a:t>
            </a:r>
          </a:p>
          <a:p xmlns:a="http://schemas.openxmlformats.org/drawingml/2006/main">
            <a:r>
              <a:t>        "surplus": 17.38935483870968,</a:t>
            </a:r>
          </a:p>
          <a:p xmlns:a="http://schemas.openxmlformats.org/drawingml/2006/main">
            <a:r>
              <a:t>        "battery": 12.16,</a:t>
            </a:r>
          </a:p>
          <a:p xmlns:a="http://schemas.openxmlformats.org/drawingml/2006/main">
            <a:r>
              <a:t>        "imports": 873.89,</a:t>
            </a:r>
          </a:p>
          <a:p xmlns:a="http://schemas.openxmlformats.org/drawingml/2006/main">
            <a:r>
              <a:t>        "base": 7094.794000000002,</a:t>
            </a:r>
          </a:p>
          <a:p xmlns:a="http://schemas.openxmlformats.org/drawingml/2006/main">
            <a:r>
              <a:t>        "newbill": 2385.6753,</a:t>
            </a:r>
          </a:p>
          <a:p xmlns:a="http://schemas.openxmlformats.org/drawingml/2006/main">
            <a:r>
              <a:t>        "saving": 4709.118700000002</a:t>
            </a:r>
          </a:p>
          <a:p xmlns:a="http://schemas.openxmlformats.org/drawingml/2006/main">
            <a:r>
              <a:t>      },</a:t>
            </a:r>
          </a:p>
          <a:p xmlns:a="http://schemas.openxmlformats.org/drawingml/2006/main">
            <a:r>
              <a:t>      {</a:t>
            </a:r>
          </a:p>
          <a:p xmlns:a="http://schemas.openxmlformats.org/drawingml/2006/main">
            <a:r>
              <a:t>        "month": "Jun",</a:t>
            </a:r>
          </a:p>
          <a:p xmlns:a="http://schemas.openxmlformats.org/drawingml/2006/main">
            <a:r>
              <a:t>        "days": 30,</a:t>
            </a:r>
          </a:p>
          <a:p xmlns:a="http://schemas.openxmlformats.org/drawingml/2006/main">
            <a:r>
              <a:t>        "G": 58.16066666666667,</a:t>
            </a:r>
          </a:p>
          <a:p xmlns:a="http://schemas.openxmlformats.org/drawingml/2006/main">
            <a:r>
              <a:t>        "direct": 40.35,</a:t>
            </a:r>
          </a:p>
          <a:p xmlns:a="http://schemas.openxmlformats.org/drawingml/2006/main">
            <a:r>
              <a:t>        "surplus": 17.81066666666667,</a:t>
            </a:r>
          </a:p>
          <a:p xmlns:a="http://schemas.openxmlformats.org/drawingml/2006/main">
            <a:r>
              <a:t>        "battery": 12.16,</a:t>
            </a:r>
          </a:p>
          <a:p xmlns:a="http://schemas.openxmlformats.org/drawingml/2006/main">
            <a:r>
              <a:t>        "imports": 845.7,</a:t>
            </a:r>
          </a:p>
          <a:p xmlns:a="http://schemas.openxmlformats.org/drawingml/2006/main">
            <a:r>
              <a:t>        "base": 6867.22,</a:t>
            </a:r>
          </a:p>
          <a:p xmlns:a="http://schemas.openxmlformats.org/drawingml/2006/main">
            <a:r>
              <a:t>        "newbill": 2307.5890000000004,</a:t>
            </a:r>
          </a:p>
          <a:p xmlns:a="http://schemas.openxmlformats.org/drawingml/2006/main">
            <a:r>
              <a:t>        "saving": 4559.630999999999</a:t>
            </a:r>
          </a:p>
          <a:p xmlns:a="http://schemas.openxmlformats.org/drawingml/2006/main">
            <a:r>
              <a:t>      },</a:t>
            </a:r>
          </a:p>
          <a:p xmlns:a="http://schemas.openxmlformats.org/drawingml/2006/main">
            <a:r>
              <a:t>      {</a:t>
            </a:r>
          </a:p>
          <a:p xmlns:a="http://schemas.openxmlformats.org/drawingml/2006/main">
            <a:r>
              <a:t>        "month": "Jul",</a:t>
            </a:r>
          </a:p>
          <a:p xmlns:a="http://schemas.openxmlformats.org/drawingml/2006/main">
            <a:r>
              <a:t>        "days": 31,</a:t>
            </a:r>
          </a:p>
          <a:p xmlns:a="http://schemas.openxmlformats.org/drawingml/2006/main">
            <a:r>
              <a:t>        "G": 58.42774193548387,</a:t>
            </a:r>
          </a:p>
          <a:p xmlns:a="http://schemas.openxmlformats.org/drawingml/2006/main">
            <a:r>
              <a:t>        "direct": 40.35,</a:t>
            </a:r>
          </a:p>
          <a:p xmlns:a="http://schemas.openxmlformats.org/drawingml/2006/main">
            <a:r>
              <a:t>        "surplus": 18.07774193548387,</a:t>
            </a:r>
          </a:p>
          <a:p xmlns:a="http://schemas.openxmlformats.org/drawingml/2006/main">
            <a:r>
              <a:t>        "battery": 12.16,</a:t>
            </a:r>
          </a:p>
          <a:p xmlns:a="http://schemas.openxmlformats.org/drawingml/2006/main">
            <a:r>
              <a:t>        "imports": 873.89,</a:t>
            </a:r>
          </a:p>
          <a:p xmlns:a="http://schemas.openxmlformats.org/drawingml/2006/main">
            <a:r>
              <a:t>        "base": 7094.794000000002,</a:t>
            </a:r>
          </a:p>
          <a:p xmlns:a="http://schemas.openxmlformats.org/drawingml/2006/main">
            <a:r>
              <a:t>        "newbill": 2385.6753,</a:t>
            </a:r>
          </a:p>
          <a:p xmlns:a="http://schemas.openxmlformats.org/drawingml/2006/main">
            <a:r>
              <a:t>        "saving": 4709.118700000002</a:t>
            </a:r>
          </a:p>
          <a:p xmlns:a="http://schemas.openxmlformats.org/drawingml/2006/main">
            <a:r>
              <a:t>      },</a:t>
            </a:r>
          </a:p>
          <a:p xmlns:a="http://schemas.openxmlformats.org/drawingml/2006/main">
            <a:r>
              <a:t>      {</a:t>
            </a:r>
          </a:p>
          <a:p xmlns:a="http://schemas.openxmlformats.org/drawingml/2006/main">
            <a:r>
              <a:t>        "month": "Aug",</a:t>
            </a:r>
          </a:p>
          <a:p xmlns:a="http://schemas.openxmlformats.org/drawingml/2006/main">
            <a:r>
              <a:t>        "days": 31,</a:t>
            </a:r>
          </a:p>
          <a:p xmlns:a="http://schemas.openxmlformats.org/drawingml/2006/main">
            <a:r>
              <a:t>        "G": 59.18709677419355,</a:t>
            </a:r>
          </a:p>
          <a:p xmlns:a="http://schemas.openxmlformats.org/drawingml/2006/main">
            <a:r>
              <a:t>        "direct": 40.35,</a:t>
            </a:r>
          </a:p>
          <a:p xmlns:a="http://schemas.openxmlformats.org/drawingml/2006/main">
            <a:r>
              <a:t>        "surplus": 18.837096774193547,</a:t>
            </a:r>
          </a:p>
          <a:p xmlns:a="http://schemas.openxmlformats.org/drawingml/2006/main">
            <a:r>
              <a:t>        "battery": 12.16,</a:t>
            </a:r>
          </a:p>
          <a:p xmlns:a="http://schemas.openxmlformats.org/drawingml/2006/main">
            <a:r>
              <a:t>        "imports": 873.89,</a:t>
            </a:r>
          </a:p>
          <a:p xmlns:a="http://schemas.openxmlformats.org/drawingml/2006/main">
            <a:r>
              <a:t>        "base": 7094.794000000002,</a:t>
            </a:r>
          </a:p>
          <a:p xmlns:a="http://schemas.openxmlformats.org/drawingml/2006/main">
            <a:r>
              <a:t>        "newbill": 2385.6753,</a:t>
            </a:r>
          </a:p>
          <a:p xmlns:a="http://schemas.openxmlformats.org/drawingml/2006/main">
            <a:r>
              <a:t>        "saving": 4709.118700000002</a:t>
            </a:r>
          </a:p>
          <a:p xmlns:a="http://schemas.openxmlformats.org/drawingml/2006/main">
            <a:r>
              <a:t>      },</a:t>
            </a:r>
          </a:p>
          <a:p xmlns:a="http://schemas.openxmlformats.org/drawingml/2006/main">
            <a:r>
              <a:t>      {</a:t>
            </a:r>
          </a:p>
          <a:p xmlns:a="http://schemas.openxmlformats.org/drawingml/2006/main">
            <a:r>
              <a:t>        "month": "Sep",</a:t>
            </a:r>
          </a:p>
          <a:p xmlns:a="http://schemas.openxmlformats.org/drawingml/2006/main">
            <a:r>
              <a:t>        "days": 30,</a:t>
            </a:r>
          </a:p>
          <a:p xmlns:a="http://schemas.openxmlformats.org/drawingml/2006/main">
            <a:r>
              <a:t>        "G": 59.03333333333333,</a:t>
            </a:r>
          </a:p>
          <a:p xmlns:a="http://schemas.openxmlformats.org/drawingml/2006/main">
            <a:r>
              <a:t>        "direct": 40.35,</a:t>
            </a:r>
          </a:p>
          <a:p xmlns:a="http://schemas.openxmlformats.org/drawingml/2006/main">
            <a:r>
              <a:t>        "surplus": 18.68333333333333,</a:t>
            </a:r>
          </a:p>
          <a:p xmlns:a="http://schemas.openxmlformats.org/drawingml/2006/main">
            <a:r>
              <a:t>        "battery": 12.16,</a:t>
            </a:r>
          </a:p>
          <a:p xmlns:a="http://schemas.openxmlformats.org/drawingml/2006/main">
            <a:r>
              <a:t>        "imports": 845.7,</a:t>
            </a:r>
          </a:p>
          <a:p xmlns:a="http://schemas.openxmlformats.org/drawingml/2006/main">
            <a:r>
              <a:t>        "base": 6867.22,</a:t>
            </a:r>
          </a:p>
          <a:p xmlns:a="http://schemas.openxmlformats.org/drawingml/2006/main">
            <a:r>
              <a:t>        "newbill": 2307.5890000000004,</a:t>
            </a:r>
          </a:p>
          <a:p xmlns:a="http://schemas.openxmlformats.org/drawingml/2006/main">
            <a:r>
              <a:t>        "saving": 4559.630999999999</a:t>
            </a:r>
          </a:p>
          <a:p xmlns:a="http://schemas.openxmlformats.org/drawingml/2006/main">
            <a:r>
              <a:t>      },</a:t>
            </a:r>
          </a:p>
          <a:p xmlns:a="http://schemas.openxmlformats.org/drawingml/2006/main">
            <a:r>
              <a:t>      {</a:t>
            </a:r>
          </a:p>
          <a:p xmlns:a="http://schemas.openxmlformats.org/drawingml/2006/main">
            <a:r>
              <a:t>        "month": "Oct",</a:t>
            </a:r>
          </a:p>
          <a:p xmlns:a="http://schemas.openxmlformats.org/drawingml/2006/main">
            <a:r>
              <a:t>        "days": 31,</a:t>
            </a:r>
          </a:p>
          <a:p xmlns:a="http://schemas.openxmlformats.org/drawingml/2006/main">
            <a:r>
              <a:t>        "G": 54.833225806451615,</a:t>
            </a:r>
          </a:p>
          <a:p xmlns:a="http://schemas.openxmlformats.org/drawingml/2006/main">
            <a:r>
              <a:t>        "direct": 40.35,</a:t>
            </a:r>
          </a:p>
          <a:p xmlns:a="http://schemas.openxmlformats.org/drawingml/2006/main">
            <a:r>
              <a:t>        "surplus": 14.483225806451614,</a:t>
            </a:r>
          </a:p>
          <a:p xmlns:a="http://schemas.openxmlformats.org/drawingml/2006/main">
            <a:r>
              <a:t>        "battery": 12.16,</a:t>
            </a:r>
          </a:p>
          <a:p xmlns:a="http://schemas.openxmlformats.org/drawingml/2006/main">
            <a:r>
              <a:t>        "imports": 873.89,</a:t>
            </a:r>
          </a:p>
          <a:p xmlns:a="http://schemas.openxmlformats.org/drawingml/2006/main">
            <a:r>
              <a:t>        "base": 7094.794000000002,</a:t>
            </a:r>
          </a:p>
          <a:p xmlns:a="http://schemas.openxmlformats.org/drawingml/2006/main">
            <a:r>
              <a:t>        "newbill": 2385.6753,</a:t>
            </a:r>
          </a:p>
          <a:p xmlns:a="http://schemas.openxmlformats.org/drawingml/2006/main">
            <a:r>
              <a:t>        "saving": 4709.118700000002</a:t>
            </a:r>
          </a:p>
          <a:p xmlns:a="http://schemas.openxmlformats.org/drawingml/2006/main">
            <a:r>
              <a:t>      },</a:t>
            </a:r>
          </a:p>
          <a:p xmlns:a="http://schemas.openxmlformats.org/drawingml/2006/main">
            <a:r>
              <a:t>      {</a:t>
            </a:r>
          </a:p>
          <a:p xmlns:a="http://schemas.openxmlformats.org/drawingml/2006/main">
            <a:r>
              <a:t>        "month": "Nov",</a:t>
            </a:r>
          </a:p>
          <a:p xmlns:a="http://schemas.openxmlformats.org/drawingml/2006/main">
            <a:r>
              <a:t>        "days": 30,</a:t>
            </a:r>
          </a:p>
          <a:p xmlns:a="http://schemas.openxmlformats.org/drawingml/2006/main">
            <a:r>
              <a:t>        "G": 50.22233333333334,</a:t>
            </a:r>
          </a:p>
          <a:p xmlns:a="http://schemas.openxmlformats.org/drawingml/2006/main">
            <a:r>
              <a:t>        "direct": 40.35,</a:t>
            </a:r>
          </a:p>
          <a:p xmlns:a="http://schemas.openxmlformats.org/drawingml/2006/main">
            <a:r>
              <a:t>        "surplus": 9.872333333333337,</a:t>
            </a:r>
          </a:p>
          <a:p xmlns:a="http://schemas.openxmlformats.org/drawingml/2006/main">
            <a:r>
              <a:t>        "battery": 9.37871666666667,</a:t>
            </a:r>
          </a:p>
          <a:p xmlns:a="http://schemas.openxmlformats.org/drawingml/2006/main">
            <a:r>
              <a:t>        "imports": 929.1385,</a:t>
            </a:r>
          </a:p>
          <a:p xmlns:a="http://schemas.openxmlformats.org/drawingml/2006/main">
            <a:r>
              <a:t>        "base": 6867.22,</a:t>
            </a:r>
          </a:p>
          <a:p xmlns:a="http://schemas.openxmlformats.org/drawingml/2006/main">
            <a:r>
              <a:t>        "newbill": 2538.7136450000003,</a:t>
            </a:r>
          </a:p>
          <a:p xmlns:a="http://schemas.openxmlformats.org/drawingml/2006/main">
            <a:r>
              <a:t>        "saving": 4328.5063549999995</a:t>
            </a:r>
          </a:p>
          <a:p xmlns:a="http://schemas.openxmlformats.org/drawingml/2006/main">
            <a:r>
              <a:t>      },</a:t>
            </a:r>
          </a:p>
          <a:p xmlns:a="http://schemas.openxmlformats.org/drawingml/2006/main">
            <a:r>
              <a:t>      {</a:t>
            </a:r>
          </a:p>
          <a:p xmlns:a="http://schemas.openxmlformats.org/drawingml/2006/main">
            <a:r>
              <a:t>        "month": "Dec",</a:t>
            </a:r>
          </a:p>
          <a:p xmlns:a="http://schemas.openxmlformats.org/drawingml/2006/main">
            <a:r>
              <a:t>        "days": 31,</a:t>
            </a:r>
          </a:p>
          <a:p xmlns:a="http://schemas.openxmlformats.org/drawingml/2006/main">
            <a:r>
              <a:t>        "G": 46.27096774193549,</a:t>
            </a:r>
          </a:p>
          <a:p xmlns:a="http://schemas.openxmlformats.org/drawingml/2006/main">
            <a:r>
              <a:t>        "direct": 40.35,</a:t>
            </a:r>
          </a:p>
          <a:p xmlns:a="http://schemas.openxmlformats.org/drawingml/2006/main">
            <a:r>
              <a:t>        "surplus": 5.920967741935492,</a:t>
            </a:r>
          </a:p>
          <a:p xmlns:a="http://schemas.openxmlformats.org/drawingml/2006/main">
            <a:r>
              <a:t>        "battery": 5.624919354838717,</a:t>
            </a:r>
          </a:p>
          <a:p xmlns:a="http://schemas.openxmlformats.org/drawingml/2006/main">
            <a:r>
              <a:t>        "imports": 1076.4774999999997,</a:t>
            </a:r>
          </a:p>
          <a:p xmlns:a="http://schemas.openxmlformats.org/drawingml/2006/main">
            <a:r>
              <a:t>        "base": 7094.794000000002,</a:t>
            </a:r>
          </a:p>
          <a:p xmlns:a="http://schemas.openxmlformats.org/drawingml/2006/main">
            <a:r>
              <a:t>        "newbill": 3075.666549999999,</a:t>
            </a:r>
          </a:p>
          <a:p xmlns:a="http://schemas.openxmlformats.org/drawingml/2006/main">
            <a:r>
              <a:t>        "saving": 4019.1274500000027</a:t>
            </a:r>
          </a:p>
          <a:p xmlns:a="http://schemas.openxmlformats.org/drawingml/2006/main">
            <a:r>
              <a:t>      }</a:t>
            </a:r>
          </a:p>
          <a:p xmlns:a="http://schemas.openxmlformats.org/drawingml/2006/main">
            <a:r>
              <a:t>    ],</a:t>
            </a:r>
          </a:p>
          <a:p xmlns:a="http://schemas.openxmlformats.org/drawingml/2006/main">
            <a:r>
              <a:t>    "annualSaving": 53709.35158,</a:t>
            </a:r>
          </a:p>
          <a:p xmlns:a="http://schemas.openxmlformats.org/drawingml/2006/main">
            <a:r>
              <a:t>    "averageSaving": 4475.779298333334,</a:t>
            </a:r>
          </a:p>
          <a:p xmlns:a="http://schemas.openxmlformats.org/drawingml/2006/main">
            <a:r>
              <a:t>    "payback": 7.340248735134701,</a:t>
            </a:r>
          </a:p>
          <a:p xmlns:a="http://schemas.openxmlformats.org/drawingml/2006/main">
            <a:r>
              <a:t>    "annualImports": 10829.596</a:t>
            </a:r>
          </a:p>
          <a:p xmlns:a="http://schemas.openxmlformats.org/drawingml/2006/main">
            <a:r>
              <a:t>  },</a:t>
            </a:r>
          </a:p>
          <a:p xmlns:a="http://schemas.openxmlformats.org/drawingml/2006/main">
            <a:r>
              <a:t>  {</a:t>
            </a:r>
          </a:p>
          <a:p xmlns:a="http://schemas.openxmlformats.org/drawingml/2006/main">
            <a:r>
              <a:t>    "option": "C",</a:t>
            </a:r>
          </a:p>
          <a:p xmlns:a="http://schemas.openxmlformats.org/drawingml/2006/main">
            <a:r>
              <a:t>    "C": 64,</a:t>
            </a:r>
          </a:p>
          <a:p xmlns:a="http://schemas.openxmlformats.org/drawingml/2006/main">
            <a:r>
              <a:t>    "P": 17,</a:t>
            </a:r>
          </a:p>
          <a:p xmlns:a="http://schemas.openxmlformats.org/drawingml/2006/main">
            <a:r>
              <a:t>    "inv": 20,</a:t>
            </a:r>
          </a:p>
          <a:p xmlns:a="http://schemas.openxmlformats.org/drawingml/2006/main">
            <a:r>
              <a:t>    "price": 1154560,</a:t>
            </a:r>
          </a:p>
          <a:p xmlns:a="http://schemas.openxmlformats.org/drawingml/2006/main">
            <a:r>
              <a:t>    "reference": {</a:t>
            </a:r>
          </a:p>
          <a:p xmlns:a="http://schemas.openxmlformats.org/drawingml/2006/main">
            <a:r>
              <a:t>      "G": 84.66000000000001,</a:t>
            </a:r>
          </a:p>
          <a:p xmlns:a="http://schemas.openxmlformats.org/drawingml/2006/main">
            <a:r>
              <a:t>      "direct": 40.35,</a:t>
            </a:r>
          </a:p>
          <a:p xmlns:a="http://schemas.openxmlformats.org/drawingml/2006/main">
            <a:r>
              <a:t>      "surplus": 44.31000000000001,</a:t>
            </a:r>
          </a:p>
          <a:p xmlns:a="http://schemas.openxmlformats.org/drawingml/2006/main">
            <a:r>
              <a:t>      "battery": 40.35,</a:t>
            </a:r>
          </a:p>
          <a:p xmlns:a="http://schemas.openxmlformats.org/drawingml/2006/main">
            <a:r>
              <a:t>      "imports": 0,</a:t>
            </a:r>
          </a:p>
          <a:p xmlns:a="http://schemas.openxmlformats.org/drawingml/2006/main">
            <a:r>
              <a:t>      "base": 6867.22,</a:t>
            </a:r>
          </a:p>
          <a:p xmlns:a="http://schemas.openxmlformats.org/drawingml/2006/main">
            <a:r>
              <a:t>      "newbill": 9,</a:t>
            </a:r>
          </a:p>
          <a:p xmlns:a="http://schemas.openxmlformats.org/drawingml/2006/main">
            <a:r>
              <a:t>      "saving": 6858.22</a:t>
            </a:r>
          </a:p>
          <a:p xmlns:a="http://schemas.openxmlformats.org/drawingml/2006/main">
            <a:r>
              <a:t>    },</a:t>
            </a:r>
          </a:p>
          <a:p xmlns:a="http://schemas.openxmlformats.org/drawingml/2006/main">
            <a:r>
              <a:t>    "monthly": [</a:t>
            </a:r>
          </a:p>
          <a:p xmlns:a="http://schemas.openxmlformats.org/drawingml/2006/main">
            <a:r>
              <a:t>      {</a:t>
            </a:r>
          </a:p>
          <a:p xmlns:a="http://schemas.openxmlformats.org/drawingml/2006/main">
            <a:r>
              <a:t>        "month": "Jan",</a:t>
            </a:r>
          </a:p>
          <a:p xmlns:a="http://schemas.openxmlformats.org/drawingml/2006/main">
            <a:r>
              <a:t>        "days": 31,</a:t>
            </a:r>
          </a:p>
          <a:p xmlns:a="http://schemas.openxmlformats.org/drawingml/2006/main">
            <a:r>
              <a:t>        "G": 72.00322580645162,</a:t>
            </a:r>
          </a:p>
          <a:p xmlns:a="http://schemas.openxmlformats.org/drawingml/2006/main">
            <a:r>
              <a:t>        "direct": 40.35,</a:t>
            </a:r>
          </a:p>
          <a:p xmlns:a="http://schemas.openxmlformats.org/drawingml/2006/main">
            <a:r>
              <a:t>        "surplus": 31.653225806451623,</a:t>
            </a:r>
          </a:p>
          <a:p xmlns:a="http://schemas.openxmlformats.org/drawingml/2006/main">
            <a:r>
              <a:t>        "battery": 30.07056451612904,</a:t>
            </a:r>
          </a:p>
          <a:p xmlns:a="http://schemas.openxmlformats.org/drawingml/2006/main">
            <a:r>
              <a:t>        "imports": 318.66249999999985,</a:t>
            </a:r>
          </a:p>
          <a:p xmlns:a="http://schemas.openxmlformats.org/drawingml/2006/main">
            <a:r>
              <a:t>        "base": 7094.794000000002,</a:t>
            </a:r>
          </a:p>
          <a:p xmlns:a="http://schemas.openxmlformats.org/drawingml/2006/main">
            <a:r>
              <a:t>        "newbill": 870.8288749999997,</a:t>
            </a:r>
          </a:p>
          <a:p xmlns:a="http://schemas.openxmlformats.org/drawingml/2006/main">
            <a:r>
              <a:t>        "saving": 6223.965125000002</a:t>
            </a:r>
          </a:p>
          <a:p xmlns:a="http://schemas.openxmlformats.org/drawingml/2006/main">
            <a:r>
              <a:t>      },</a:t>
            </a:r>
          </a:p>
          <a:p xmlns:a="http://schemas.openxmlformats.org/drawingml/2006/main">
            <a:r>
              <a:t>      {</a:t>
            </a:r>
          </a:p>
          <a:p xmlns:a="http://schemas.openxmlformats.org/drawingml/2006/main">
            <a:r>
              <a:t>        "month": "Feb",</a:t>
            </a:r>
          </a:p>
          <a:p xmlns:a="http://schemas.openxmlformats.org/drawingml/2006/main">
            <a:r>
              <a:t>        "days": 28,</a:t>
            </a:r>
          </a:p>
          <a:p xmlns:a="http://schemas.openxmlformats.org/drawingml/2006/main">
            <a:r>
              <a:t>        "G": 78.59464285714284,</a:t>
            </a:r>
          </a:p>
          <a:p xmlns:a="http://schemas.openxmlformats.org/drawingml/2006/main">
            <a:r>
              <a:t>        "direct": 40.35,</a:t>
            </a:r>
          </a:p>
          <a:p xmlns:a="http://schemas.openxmlformats.org/drawingml/2006/main">
            <a:r>
              <a:t>        "surplus": 38.24464285714284,</a:t>
            </a:r>
          </a:p>
          <a:p xmlns:a="http://schemas.openxmlformats.org/drawingml/2006/main">
            <a:r>
              <a:t>        "battery": 36.3324107142857,</a:t>
            </a:r>
          </a:p>
          <a:p xmlns:a="http://schemas.openxmlformats.org/drawingml/2006/main">
            <a:r>
              <a:t>        "imports": 112.49250000000043,</a:t>
            </a:r>
          </a:p>
          <a:p xmlns:a="http://schemas.openxmlformats.org/drawingml/2006/main">
            <a:r>
              <a:t>        "base": 6412.071999999999,</a:t>
            </a:r>
          </a:p>
          <a:p xmlns:a="http://schemas.openxmlformats.org/drawingml/2006/main">
            <a:r>
              <a:t>        "newbill": 261.35857500000094,</a:t>
            </a:r>
          </a:p>
          <a:p xmlns:a="http://schemas.openxmlformats.org/drawingml/2006/main">
            <a:r>
              <a:t>        "saving": 6150.713424999998</a:t>
            </a:r>
          </a:p>
          <a:p xmlns:a="http://schemas.openxmlformats.org/drawingml/2006/main">
            <a:r>
              <a:t>      },</a:t>
            </a:r>
          </a:p>
          <a:p xmlns:a="http://schemas.openxmlformats.org/drawingml/2006/main">
            <a:r>
              <a:t>      {</a:t>
            </a:r>
          </a:p>
          <a:p xmlns:a="http://schemas.openxmlformats.org/drawingml/2006/main">
            <a:r>
              <a:t>        "month": "Mar",</a:t>
            </a:r>
          </a:p>
          <a:p xmlns:a="http://schemas.openxmlformats.org/drawingml/2006/main">
            <a:r>
              <a:t>        "days": 31,</a:t>
            </a:r>
          </a:p>
          <a:p xmlns:a="http://schemas.openxmlformats.org/drawingml/2006/main">
            <a:r>
              <a:t>        "G": 88.3232258064516,</a:t>
            </a:r>
          </a:p>
          <a:p xmlns:a="http://schemas.openxmlformats.org/drawingml/2006/main">
            <a:r>
              <a:t>        "direct": 40.35,</a:t>
            </a:r>
          </a:p>
          <a:p xmlns:a="http://schemas.openxmlformats.org/drawingml/2006/main">
            <a:r>
              <a:t>        "surplus": 47.9732258064516,</a:t>
            </a:r>
          </a:p>
          <a:p xmlns:a="http://schemas.openxmlformats.org/drawingml/2006/main">
            <a:r>
              <a:t>        "battery": 40.35,</a:t>
            </a:r>
          </a:p>
          <a:p xmlns:a="http://schemas.openxmlformats.org/drawingml/2006/main">
            <a:r>
              <a:t>        "imports": 0,</a:t>
            </a:r>
          </a:p>
          <a:p xmlns:a="http://schemas.openxmlformats.org/drawingml/2006/main">
            <a:r>
              <a:t>        "base": 7094.794000000002,</a:t>
            </a:r>
          </a:p>
          <a:p xmlns:a="http://schemas.openxmlformats.org/drawingml/2006/main">
            <a:r>
              <a:t>        "newbill": 9,</a:t>
            </a:r>
          </a:p>
          <a:p xmlns:a="http://schemas.openxmlformats.org/drawingml/2006/main">
            <a:r>
              <a:t>        "saving": 7085.794000000002</a:t>
            </a:r>
          </a:p>
          <a:p xmlns:a="http://schemas.openxmlformats.org/drawingml/2006/main">
            <a:r>
              <a:t>      },</a:t>
            </a:r>
          </a:p>
          <a:p xmlns:a="http://schemas.openxmlformats.org/drawingml/2006/main">
            <a:r>
              <a:t>      {</a:t>
            </a:r>
          </a:p>
          <a:p xmlns:a="http://schemas.openxmlformats.org/drawingml/2006/main">
            <a:r>
              <a:t>        "month": "Apr",</a:t>
            </a:r>
          </a:p>
          <a:p xmlns:a="http://schemas.openxmlformats.org/drawingml/2006/main">
            <a:r>
              <a:t>        "days": 30,</a:t>
            </a:r>
          </a:p>
          <a:p xmlns:a="http://schemas.openxmlformats.org/drawingml/2006/main">
            <a:r>
              <a:t>        "G": 91.154,</a:t>
            </a:r>
          </a:p>
          <a:p xmlns:a="http://schemas.openxmlformats.org/drawingml/2006/main">
            <a:r>
              <a:t>        "direct": 40.35,</a:t>
            </a:r>
          </a:p>
          <a:p xmlns:a="http://schemas.openxmlformats.org/drawingml/2006/main">
            <a:r>
              <a:t>        "surplus": 50.803999999999995,</a:t>
            </a:r>
          </a:p>
          <a:p xmlns:a="http://schemas.openxmlformats.org/drawingml/2006/main">
            <a:r>
              <a:t>        "battery": 40.35,</a:t>
            </a:r>
          </a:p>
          <a:p xmlns:a="http://schemas.openxmlformats.org/drawingml/2006/main">
            <a:r>
              <a:t>        "imports": 0,</a:t>
            </a:r>
          </a:p>
          <a:p xmlns:a="http://schemas.openxmlformats.org/drawingml/2006/main">
            <a:r>
              <a:t>        "base": 6867.22,</a:t>
            </a:r>
          </a:p>
          <a:p xmlns:a="http://schemas.openxmlformats.org/drawingml/2006/main">
            <a:r>
              <a:t>        "newbill": 9,</a:t>
            </a:r>
          </a:p>
          <a:p xmlns:a="http://schemas.openxmlformats.org/drawingml/2006/main">
            <a:r>
              <a:t>        "saving": 6858.22</a:t>
            </a:r>
          </a:p>
          <a:p xmlns:a="http://schemas.openxmlformats.org/drawingml/2006/main">
            <a:r>
              <a:t>      },</a:t>
            </a:r>
          </a:p>
          <a:p xmlns:a="http://schemas.openxmlformats.org/drawingml/2006/main">
            <a:r>
              <a:t>      {</a:t>
            </a:r>
          </a:p>
          <a:p xmlns:a="http://schemas.openxmlformats.org/drawingml/2006/main">
            <a:r>
              <a:t>        "month": "May",</a:t>
            </a:r>
          </a:p>
          <a:p xmlns:a="http://schemas.openxmlformats.org/drawingml/2006/main">
            <a:r>
              <a:t>        "days": 31,</a:t>
            </a:r>
          </a:p>
          <a:p xmlns:a="http://schemas.openxmlformats.org/drawingml/2006/main">
            <a:r>
              <a:t>        "G": 89.23354838709677,</a:t>
            </a:r>
          </a:p>
          <a:p xmlns:a="http://schemas.openxmlformats.org/drawingml/2006/main">
            <a:r>
              <a:t>        "direct": 40.35,</a:t>
            </a:r>
          </a:p>
          <a:p xmlns:a="http://schemas.openxmlformats.org/drawingml/2006/main">
            <a:r>
              <a:t>        "surplus": 48.88354838709677,</a:t>
            </a:r>
          </a:p>
          <a:p xmlns:a="http://schemas.openxmlformats.org/drawingml/2006/main">
            <a:r>
              <a:t>        "battery": 40.35,</a:t>
            </a:r>
          </a:p>
          <a:p xmlns:a="http://schemas.openxmlformats.org/drawingml/2006/main">
            <a:r>
              <a:t>        "imports": 0,</a:t>
            </a:r>
          </a:p>
          <a:p xmlns:a="http://schemas.openxmlformats.org/drawingml/2006/main">
            <a:r>
              <a:t>        "base": 7094.794000000002,</a:t>
            </a:r>
          </a:p>
          <a:p xmlns:a="http://schemas.openxmlformats.org/drawingml/2006/main">
            <a:r>
              <a:t>        "newbill": 9,</a:t>
            </a:r>
          </a:p>
          <a:p xmlns:a="http://schemas.openxmlformats.org/drawingml/2006/main">
            <a:r>
              <a:t>        "saving": 7085.794000000002</a:t>
            </a:r>
          </a:p>
          <a:p xmlns:a="http://schemas.openxmlformats.org/drawingml/2006/main">
            <a:r>
              <a:t>      },</a:t>
            </a:r>
          </a:p>
          <a:p xmlns:a="http://schemas.openxmlformats.org/drawingml/2006/main">
            <a:r>
              <a:t>      {</a:t>
            </a:r>
          </a:p>
          <a:p xmlns:a="http://schemas.openxmlformats.org/drawingml/2006/main">
            <a:r>
              <a:t>        "month": "Jun",</a:t>
            </a:r>
          </a:p>
          <a:p xmlns:a="http://schemas.openxmlformats.org/drawingml/2006/main">
            <a:r>
              <a:t>        "days": 30,</a:t>
            </a:r>
          </a:p>
          <a:p xmlns:a="http://schemas.openxmlformats.org/drawingml/2006/main">
            <a:r>
              <a:t>        "G": 89.88466666666667,</a:t>
            </a:r>
          </a:p>
          <a:p xmlns:a="http://schemas.openxmlformats.org/drawingml/2006/main">
            <a:r>
              <a:t>        "direct": 40.35,</a:t>
            </a:r>
          </a:p>
          <a:p xmlns:a="http://schemas.openxmlformats.org/drawingml/2006/main">
            <a:r>
              <a:t>        "surplus": 49.53466666666667,</a:t>
            </a:r>
          </a:p>
          <a:p xmlns:a="http://schemas.openxmlformats.org/drawingml/2006/main">
            <a:r>
              <a:t>        "battery": 40.35,</a:t>
            </a:r>
          </a:p>
          <a:p xmlns:a="http://schemas.openxmlformats.org/drawingml/2006/main">
            <a:r>
              <a:t>        "imports": 0,</a:t>
            </a:r>
          </a:p>
          <a:p xmlns:a="http://schemas.openxmlformats.org/drawingml/2006/main">
            <a:r>
              <a:t>        "base": 6867.22,</a:t>
            </a:r>
          </a:p>
          <a:p xmlns:a="http://schemas.openxmlformats.org/drawingml/2006/main">
            <a:r>
              <a:t>        "newbill": 9,</a:t>
            </a:r>
          </a:p>
          <a:p xmlns:a="http://schemas.openxmlformats.org/drawingml/2006/main">
            <a:r>
              <a:t>        "saving": 6858.22</a:t>
            </a:r>
          </a:p>
          <a:p xmlns:a="http://schemas.openxmlformats.org/drawingml/2006/main">
            <a:r>
              <a:t>      },</a:t>
            </a:r>
          </a:p>
          <a:p xmlns:a="http://schemas.openxmlformats.org/drawingml/2006/main">
            <a:r>
              <a:t>      {</a:t>
            </a:r>
          </a:p>
          <a:p xmlns:a="http://schemas.openxmlformats.org/drawingml/2006/main">
            <a:r>
              <a:t>        "month": "Jul",</a:t>
            </a:r>
          </a:p>
          <a:p xmlns:a="http://schemas.openxmlformats.org/drawingml/2006/main">
            <a:r>
              <a:t>        "days": 31,</a:t>
            </a:r>
          </a:p>
          <a:p xmlns:a="http://schemas.openxmlformats.org/drawingml/2006/main">
            <a:r>
              <a:t>        "G": 90.29741935483871,</a:t>
            </a:r>
          </a:p>
          <a:p xmlns:a="http://schemas.openxmlformats.org/drawingml/2006/main">
            <a:r>
              <a:t>        "direct": 40.35,</a:t>
            </a:r>
          </a:p>
          <a:p xmlns:a="http://schemas.openxmlformats.org/drawingml/2006/main">
            <a:r>
              <a:t>        "surplus": 49.94741935483871,</a:t>
            </a:r>
          </a:p>
          <a:p xmlns:a="http://schemas.openxmlformats.org/drawingml/2006/main">
            <a:r>
              <a:t>        "battery": 40.35,</a:t>
            </a:r>
          </a:p>
          <a:p xmlns:a="http://schemas.openxmlformats.org/drawingml/2006/main">
            <a:r>
              <a:t>        "imports": 0,</a:t>
            </a:r>
          </a:p>
          <a:p xmlns:a="http://schemas.openxmlformats.org/drawingml/2006/main">
            <a:r>
              <a:t>        "base": 7094.794000000002,</a:t>
            </a:r>
          </a:p>
          <a:p xmlns:a="http://schemas.openxmlformats.org/drawingml/2006/main">
            <a:r>
              <a:t>        "newbill": 9,</a:t>
            </a:r>
          </a:p>
          <a:p xmlns:a="http://schemas.openxmlformats.org/drawingml/2006/main">
            <a:r>
              <a:t>        "saving": 7085.794000000002</a:t>
            </a:r>
          </a:p>
          <a:p xmlns:a="http://schemas.openxmlformats.org/drawingml/2006/main">
            <a:r>
              <a:t>      },</a:t>
            </a:r>
          </a:p>
          <a:p xmlns:a="http://schemas.openxmlformats.org/drawingml/2006/main">
            <a:r>
              <a:t>      {</a:t>
            </a:r>
          </a:p>
          <a:p xmlns:a="http://schemas.openxmlformats.org/drawingml/2006/main">
            <a:r>
              <a:t>        "month": "Aug",</a:t>
            </a:r>
          </a:p>
          <a:p xmlns:a="http://schemas.openxmlformats.org/drawingml/2006/main">
            <a:r>
              <a:t>        "days": 31,</a:t>
            </a:r>
          </a:p>
          <a:p xmlns:a="http://schemas.openxmlformats.org/drawingml/2006/main">
            <a:r>
              <a:t>        "G": 91.47096774193548,</a:t>
            </a:r>
          </a:p>
          <a:p xmlns:a="http://schemas.openxmlformats.org/drawingml/2006/main">
            <a:r>
              <a:t>        "direct": 40.35,</a:t>
            </a:r>
          </a:p>
          <a:p xmlns:a="http://schemas.openxmlformats.org/drawingml/2006/main">
            <a:r>
              <a:t>        "surplus": 51.12096774193548,</a:t>
            </a:r>
          </a:p>
          <a:p xmlns:a="http://schemas.openxmlformats.org/drawingml/2006/main">
            <a:r>
              <a:t>        "battery": 40.35,</a:t>
            </a:r>
          </a:p>
          <a:p xmlns:a="http://schemas.openxmlformats.org/drawingml/2006/main">
            <a:r>
              <a:t>        "imports": 0,</a:t>
            </a:r>
          </a:p>
          <a:p xmlns:a="http://schemas.openxmlformats.org/drawingml/2006/main">
            <a:r>
              <a:t>        "base": 7094.794000000002,</a:t>
            </a:r>
          </a:p>
          <a:p xmlns:a="http://schemas.openxmlformats.org/drawingml/2006/main">
            <a:r>
              <a:t>        "newbill": 9,</a:t>
            </a:r>
          </a:p>
          <a:p xmlns:a="http://schemas.openxmlformats.org/drawingml/2006/main">
            <a:r>
              <a:t>        "saving": 7085.794000000002</a:t>
            </a:r>
          </a:p>
          <a:p xmlns:a="http://schemas.openxmlformats.org/drawingml/2006/main">
            <a:r>
              <a:t>      },</a:t>
            </a:r>
          </a:p>
          <a:p xmlns:a="http://schemas.openxmlformats.org/drawingml/2006/main">
            <a:r>
              <a:t>      {</a:t>
            </a:r>
          </a:p>
          <a:p xmlns:a="http://schemas.openxmlformats.org/drawingml/2006/main">
            <a:r>
              <a:t>        "month": "Sep",</a:t>
            </a:r>
          </a:p>
          <a:p xmlns:a="http://schemas.openxmlformats.org/drawingml/2006/main">
            <a:r>
              <a:t>        "days": 30,</a:t>
            </a:r>
          </a:p>
          <a:p xmlns:a="http://schemas.openxmlformats.org/drawingml/2006/main">
            <a:r>
              <a:t>        "G": 91.23333333333332,</a:t>
            </a:r>
          </a:p>
          <a:p xmlns:a="http://schemas.openxmlformats.org/drawingml/2006/main">
            <a:r>
              <a:t>        "direct": 40.35,</a:t>
            </a:r>
          </a:p>
          <a:p xmlns:a="http://schemas.openxmlformats.org/drawingml/2006/main">
            <a:r>
              <a:t>        "surplus": 50.88333333333332,</a:t>
            </a:r>
          </a:p>
          <a:p xmlns:a="http://schemas.openxmlformats.org/drawingml/2006/main">
            <a:r>
              <a:t>        "battery": 40.35,</a:t>
            </a:r>
          </a:p>
          <a:p xmlns:a="http://schemas.openxmlformats.org/drawingml/2006/main">
            <a:r>
              <a:t>        "imports": 0,</a:t>
            </a:r>
          </a:p>
          <a:p xmlns:a="http://schemas.openxmlformats.org/drawingml/2006/main">
            <a:r>
              <a:t>        "base": 6867.22,</a:t>
            </a:r>
          </a:p>
          <a:p xmlns:a="http://schemas.openxmlformats.org/drawingml/2006/main">
            <a:r>
              <a:t>        "newbill": 9,</a:t>
            </a:r>
          </a:p>
          <a:p xmlns:a="http://schemas.openxmlformats.org/drawingml/2006/main">
            <a:r>
              <a:t>        "saving": 6858.22</a:t>
            </a:r>
          </a:p>
          <a:p xmlns:a="http://schemas.openxmlformats.org/drawingml/2006/main">
            <a:r>
              <a:t>      },</a:t>
            </a:r>
          </a:p>
          <a:p xmlns:a="http://schemas.openxmlformats.org/drawingml/2006/main">
            <a:r>
              <a:t>      {</a:t>
            </a:r>
          </a:p>
          <a:p xmlns:a="http://schemas.openxmlformats.org/drawingml/2006/main">
            <a:r>
              <a:t>        "month": "Oct",</a:t>
            </a:r>
          </a:p>
          <a:p xmlns:a="http://schemas.openxmlformats.org/drawingml/2006/main">
            <a:r>
              <a:t>        "days": 31,</a:t>
            </a:r>
          </a:p>
          <a:p xmlns:a="http://schemas.openxmlformats.org/drawingml/2006/main">
            <a:r>
              <a:t>        "G": 84.74225806451614,</a:t>
            </a:r>
          </a:p>
          <a:p xmlns:a="http://schemas.openxmlformats.org/drawingml/2006/main">
            <a:r>
              <a:t>        "direct": 40.35,</a:t>
            </a:r>
          </a:p>
          <a:p xmlns:a="http://schemas.openxmlformats.org/drawingml/2006/main">
            <a:r>
              <a:t>        "surplus": 44.392258064516135,</a:t>
            </a:r>
          </a:p>
          <a:p xmlns:a="http://schemas.openxmlformats.org/drawingml/2006/main">
            <a:r>
              <a:t>        "battery": 40.35,</a:t>
            </a:r>
          </a:p>
          <a:p xmlns:a="http://schemas.openxmlformats.org/drawingml/2006/main">
            <a:r>
              <a:t>        "imports": 0,</a:t>
            </a:r>
          </a:p>
          <a:p xmlns:a="http://schemas.openxmlformats.org/drawingml/2006/main">
            <a:r>
              <a:t>        "base": 7094.794000000002,</a:t>
            </a:r>
          </a:p>
          <a:p xmlns:a="http://schemas.openxmlformats.org/drawingml/2006/main">
            <a:r>
              <a:t>        "newbill": 9,</a:t>
            </a:r>
          </a:p>
          <a:p xmlns:a="http://schemas.openxmlformats.org/drawingml/2006/main">
            <a:r>
              <a:t>        "saving": 7085.794000000002</a:t>
            </a:r>
          </a:p>
          <a:p xmlns:a="http://schemas.openxmlformats.org/drawingml/2006/main">
            <a:r>
              <a:t>      },</a:t>
            </a:r>
          </a:p>
          <a:p xmlns:a="http://schemas.openxmlformats.org/drawingml/2006/main">
            <a:r>
              <a:t>      {</a:t>
            </a:r>
          </a:p>
          <a:p xmlns:a="http://schemas.openxmlformats.org/drawingml/2006/main">
            <a:r>
              <a:t>        "month": "Nov",</a:t>
            </a:r>
          </a:p>
          <a:p xmlns:a="http://schemas.openxmlformats.org/drawingml/2006/main">
            <a:r>
              <a:t>        "days": 30,</a:t>
            </a:r>
          </a:p>
          <a:p xmlns:a="http://schemas.openxmlformats.org/drawingml/2006/main">
            <a:r>
              <a:t>        "G": 77.61633333333334,</a:t>
            </a:r>
          </a:p>
          <a:p xmlns:a="http://schemas.openxmlformats.org/drawingml/2006/main">
            <a:r>
              <a:t>        "direct": 40.35,</a:t>
            </a:r>
          </a:p>
          <a:p xmlns:a="http://schemas.openxmlformats.org/drawingml/2006/main">
            <a:r>
              <a:t>        "surplus": 37.26633333333334,</a:t>
            </a:r>
          </a:p>
          <a:p xmlns:a="http://schemas.openxmlformats.org/drawingml/2006/main">
            <a:r>
              <a:t>        "battery": 35.40301666666667,</a:t>
            </a:r>
          </a:p>
          <a:p xmlns:a="http://schemas.openxmlformats.org/drawingml/2006/main">
            <a:r>
              <a:t>        "imports": 148.40949999999987,</a:t>
            </a:r>
          </a:p>
          <a:p xmlns:a="http://schemas.openxmlformats.org/drawingml/2006/main">
            <a:r>
              <a:t>        "base": 6867.22,</a:t>
            </a:r>
          </a:p>
          <a:p xmlns:a="http://schemas.openxmlformats.org/drawingml/2006/main">
            <a:r>
              <a:t>        "newbill": 340.01680499999975,</a:t>
            </a:r>
          </a:p>
          <a:p xmlns:a="http://schemas.openxmlformats.org/drawingml/2006/main">
            <a:r>
              <a:t>        "saving": 6527.203195</a:t>
            </a:r>
          </a:p>
          <a:p xmlns:a="http://schemas.openxmlformats.org/drawingml/2006/main">
            <a:r>
              <a:t>      },</a:t>
            </a:r>
          </a:p>
          <a:p xmlns:a="http://schemas.openxmlformats.org/drawingml/2006/main">
            <a:r>
              <a:t>      {</a:t>
            </a:r>
          </a:p>
          <a:p xmlns:a="http://schemas.openxmlformats.org/drawingml/2006/main">
            <a:r>
              <a:t>        "month": "Dec",</a:t>
            </a:r>
          </a:p>
          <a:p xmlns:a="http://schemas.openxmlformats.org/drawingml/2006/main">
            <a:r>
              <a:t>        "days": 31,</a:t>
            </a:r>
          </a:p>
          <a:p xmlns:a="http://schemas.openxmlformats.org/drawingml/2006/main">
            <a:r>
              <a:t>        "G": 71.50967741935484,</a:t>
            </a:r>
          </a:p>
          <a:p xmlns:a="http://schemas.openxmlformats.org/drawingml/2006/main">
            <a:r>
              <a:t>        "direct": 40.35,</a:t>
            </a:r>
          </a:p>
          <a:p xmlns:a="http://schemas.openxmlformats.org/drawingml/2006/main">
            <a:r>
              <a:t>        "surplus": 31.159677419354843,</a:t>
            </a:r>
          </a:p>
          <a:p xmlns:a="http://schemas.openxmlformats.org/drawingml/2006/main">
            <a:r>
              <a:t>        "battery": 29.6016935483871,</a:t>
            </a:r>
          </a:p>
          <a:p xmlns:a="http://schemas.openxmlformats.org/drawingml/2006/main">
            <a:r>
              <a:t>        "imports": 333.19749999999993,</a:t>
            </a:r>
          </a:p>
          <a:p xmlns:a="http://schemas.openxmlformats.org/drawingml/2006/main">
            <a:r>
              <a:t>        "base": 7094.794000000002,</a:t>
            </a:r>
          </a:p>
          <a:p xmlns:a="http://schemas.openxmlformats.org/drawingml/2006/main">
            <a:r>
              <a:t>        "newbill": 909.6373249999998,</a:t>
            </a:r>
          </a:p>
          <a:p xmlns:a="http://schemas.openxmlformats.org/drawingml/2006/main">
            <a:r>
              <a:t>        "saving": 6185.156675000002</a:t>
            </a:r>
          </a:p>
          <a:p xmlns:a="http://schemas.openxmlformats.org/drawingml/2006/main">
            <a:r>
              <a:t>      }</a:t>
            </a:r>
          </a:p>
          <a:p xmlns:a="http://schemas.openxmlformats.org/drawingml/2006/main">
            <a:r>
              <a:t>    ],</a:t>
            </a:r>
          </a:p>
          <a:p xmlns:a="http://schemas.openxmlformats.org/drawingml/2006/main">
            <a:r>
              <a:t>    "annualSaving": 81090.66842000002,</a:t>
            </a:r>
          </a:p>
          <a:p xmlns:a="http://schemas.openxmlformats.org/drawingml/2006/main">
            <a:r>
              <a:t>    "averageSaving": 6757.555701666668,</a:t>
            </a:r>
          </a:p>
          <a:p xmlns:a="http://schemas.openxmlformats.org/drawingml/2006/main">
            <a:r>
              <a:t>    "payback": 14.237889790476089,</a:t>
            </a:r>
          </a:p>
          <a:p xmlns:a="http://schemas.openxmlformats.org/drawingml/2006/main">
            <a:r>
              <a:t>    "annualImports": 912.7620000000002</a:t>
            </a:r>
          </a:p>
          <a:p xmlns:a="http://schemas.openxmlformats.org/drawingml/2006/main">
            <a:r>
              <a:t>  }</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EgyptERA commercial tariff from April 2026, https://www.egyptera.org/en/TarrifApril2026.aspx (checked 30 Sep 2026). JRC PVGIS 5.3, https://re.jrc.ec.europa.eu/api/v5_3/PVcalc?lat=30.0444&amp;lon=31.2357&amp;peakpower=1&amp;loss=14&amp;angle=30&amp;aspect=0&amp;pvtechchoice=crystSi&amp;mountingplace=free&amp;outputformat=json . SARAH3/ERA5 2005–2023, Cairo 30.0444N 31.2357E, south-facing 30 degrees, crystalline silicon, free-standing, 14% entered PV loss. Historical modeled output, local shading unmeasured. Home_Storage.pptx slide 15: battery 220 EUR/kWh at assumed 62 EGP/EUR = 13,640 EGP/kWh. Historical model assumptions treated as customer selling prices, not current quotes. Source deck slide 18 states 10-year warranty and 6,000 cycles at 80% DoD.</a:t>
            </a:r>
          </a:p>
          <a:p xmlns:a="http://schemas.openxmlformats.org/drawingml/2006/main">
            <a:r>
              <a:t>Method: E=2421/30=80.7 kWh/day (billing period assumed). D=N=40.35. U=C*0.8 before losses. eta=0.95 aggregate storage-path energy factor allocated once at output. Delivered battery=min(solar surplus*eta,U*eta,N). No grid charging, exports have zero value, no reserve held. Required whole-night nameplate=40.35/(.8*.95)=53.092105 kWh. Installed C=64 for the product comparison. PV size rounded up to 0.5 kWp. Inverter sizes preliminary.</a:t>
            </a:r>
          </a:p>
          <a:p xmlns:a="http://schemas.openxmlformats.org/drawingml/2006/main">
            <a:r>
              <a:t>Annual scenario: monthly PV daily mean=PVGIS E_m / calendar days, daily consumption held at80.7, non-leap year365days. Treat each month as repeated average days, no hourly dispatch or interday simulation. Baseline bill and newbill evaluated per month at full precision. Rounded displayed inputs may create small rounding differences. All savings exclude the equal annual3EGP stamp, which cancels in the comparison. No finance, maintenance, insurance, degradation, replacement, tariff escalation or added subscription margin.</a:t>
            </a:r>
          </a:p>
          <a:p xmlns:a="http://schemas.openxmlformats.org/drawingml/2006/main">
            <a:r>
              <a:t>PVGIS annual API total1818.36kWh vs summed rounded monthly1818.37kWh differs by0.01 due to rounding. Sizing uses requested unweighted mean of12 displayed daily yields4.9816667 rounded4.98. Annual financial calculation uses monthly E_m.</a:t>
            </a:r>
          </a:p>
          <a:p xmlns:a="http://schemas.openxmlformats.org/drawingml/2006/main">
            <a:r>
              <a:t/>
            </a:r>
          </a:p>
          <a:p xmlns:a="http://schemas.openxmlformats.org/drawingml/2006/main">
            <a:r>
              <a:t>Calculated reference and monthly scenarios (unrounded):</a:t>
            </a:r>
          </a:p>
          <a:p xmlns:a="http://schemas.openxmlformats.org/drawingml/2006/main">
            <a:r>
              <a:t>[</a:t>
            </a:r>
          </a:p>
          <a:p xmlns:a="http://schemas.openxmlformats.org/drawingml/2006/main">
            <a:r>
              <a:t>  {</a:t>
            </a:r>
          </a:p>
          <a:p xmlns:a="http://schemas.openxmlformats.org/drawingml/2006/main">
            <a:r>
              <a:t>    "option": "A",</a:t>
            </a:r>
          </a:p>
          <a:p xmlns:a="http://schemas.openxmlformats.org/drawingml/2006/main">
            <a:r>
              <a:t>    "C": 0,</a:t>
            </a:r>
          </a:p>
          <a:p xmlns:a="http://schemas.openxmlformats.org/drawingml/2006/main">
            <a:r>
              <a:t>    "P": 8.5,</a:t>
            </a:r>
          </a:p>
          <a:p xmlns:a="http://schemas.openxmlformats.org/drawingml/2006/main">
            <a:r>
              <a:t>    "inv": 10,</a:t>
            </a:r>
          </a:p>
          <a:p xmlns:a="http://schemas.openxmlformats.org/drawingml/2006/main">
            <a:r>
              <a:t>    "price": 140800,</a:t>
            </a:r>
          </a:p>
          <a:p xmlns:a="http://schemas.openxmlformats.org/drawingml/2006/main">
            <a:r>
              <a:t>    "reference": {</a:t>
            </a:r>
          </a:p>
          <a:p xmlns:a="http://schemas.openxmlformats.org/drawingml/2006/main">
            <a:r>
              <a:t>      "G": 42.330000000000005,</a:t>
            </a:r>
          </a:p>
          <a:p xmlns:a="http://schemas.openxmlformats.org/drawingml/2006/main">
            <a:r>
              <a:t>      "direct": 40.35,</a:t>
            </a:r>
          </a:p>
          <a:p xmlns:a="http://schemas.openxmlformats.org/drawingml/2006/main">
            <a:r>
              <a:t>      "surplus": 1.980000000000004,</a:t>
            </a:r>
          </a:p>
          <a:p xmlns:a="http://schemas.openxmlformats.org/drawingml/2006/main">
            <a:r>
              <a:t>      "battery": 0,</a:t>
            </a:r>
          </a:p>
          <a:p xmlns:a="http://schemas.openxmlformats.org/drawingml/2006/main">
            <a:r>
              <a:t>      "imports": 1210.5,</a:t>
            </a:r>
          </a:p>
          <a:p xmlns:a="http://schemas.openxmlformats.org/drawingml/2006/main">
            <a:r>
              <a:t>      "base": 6867.22,</a:t>
            </a:r>
          </a:p>
          <a:p xmlns:a="http://schemas.openxmlformats.org/drawingml/2006/main">
            <a:r>
              <a:t>      "newbill": 3453.61,</a:t>
            </a:r>
          </a:p>
          <a:p xmlns:a="http://schemas.openxmlformats.org/drawingml/2006/main">
            <a:r>
              <a:t>      "saving": 3413.61</a:t>
            </a:r>
          </a:p>
          <a:p xmlns:a="http://schemas.openxmlformats.org/drawingml/2006/main">
            <a:r>
              <a:t>    },</a:t>
            </a:r>
          </a:p>
          <a:p xmlns:a="http://schemas.openxmlformats.org/drawingml/2006/main">
            <a:r>
              <a:t>    "monthly": [</a:t>
            </a:r>
          </a:p>
          <a:p xmlns:a="http://schemas.openxmlformats.org/drawingml/2006/main">
            <a:r>
              <a:t>      {</a:t>
            </a:r>
          </a:p>
          <a:p xmlns:a="http://schemas.openxmlformats.org/drawingml/2006/main">
            <a:r>
              <a:t>        "month": "Jan",</a:t>
            </a:r>
          </a:p>
          <a:p xmlns:a="http://schemas.openxmlformats.org/drawingml/2006/main">
            <a:r>
              <a:t>        "days": 31,</a:t>
            </a:r>
          </a:p>
          <a:p xmlns:a="http://schemas.openxmlformats.org/drawingml/2006/main">
            <a:r>
              <a:t>        "G": 36.00161290322581,</a:t>
            </a:r>
          </a:p>
          <a:p xmlns:a="http://schemas.openxmlformats.org/drawingml/2006/main">
            <a:r>
              <a:t>        "direct": 36.00161290322581,</a:t>
            </a:r>
          </a:p>
          <a:p xmlns:a="http://schemas.openxmlformats.org/drawingml/2006/main">
            <a:r>
              <a:t>        "surplus": 0,</a:t>
            </a:r>
          </a:p>
          <a:p xmlns:a="http://schemas.openxmlformats.org/drawingml/2006/main">
            <a:r>
              <a:t>        "battery": 0,</a:t>
            </a:r>
          </a:p>
          <a:p xmlns:a="http://schemas.openxmlformats.org/drawingml/2006/main">
            <a:r>
              <a:t>        "imports": 1385.6499999999999,</a:t>
            </a:r>
          </a:p>
          <a:p xmlns:a="http://schemas.openxmlformats.org/drawingml/2006/main">
            <a:r>
              <a:t>        "base": 7094.794000000002,</a:t>
            </a:r>
          </a:p>
          <a:p xmlns:a="http://schemas.openxmlformats.org/drawingml/2006/main">
            <a:r>
              <a:t>        "newbill": 3947.533,</a:t>
            </a:r>
          </a:p>
          <a:p xmlns:a="http://schemas.openxmlformats.org/drawingml/2006/main">
            <a:r>
              <a:t>        "saving": 3147.261000000002</a:t>
            </a:r>
          </a:p>
          <a:p xmlns:a="http://schemas.openxmlformats.org/drawingml/2006/main">
            <a:r>
              <a:t>      },</a:t>
            </a:r>
          </a:p>
          <a:p xmlns:a="http://schemas.openxmlformats.org/drawingml/2006/main">
            <a:r>
              <a:t>      {</a:t>
            </a:r>
          </a:p>
          <a:p xmlns:a="http://schemas.openxmlformats.org/drawingml/2006/main">
            <a:r>
              <a:t>        "month": "Feb",</a:t>
            </a:r>
          </a:p>
          <a:p xmlns:a="http://schemas.openxmlformats.org/drawingml/2006/main">
            <a:r>
              <a:t>        "days": 28,</a:t>
            </a:r>
          </a:p>
          <a:p xmlns:a="http://schemas.openxmlformats.org/drawingml/2006/main">
            <a:r>
              <a:t>        "G": 39.29732142857142,</a:t>
            </a:r>
          </a:p>
          <a:p xmlns:a="http://schemas.openxmlformats.org/drawingml/2006/main">
            <a:r>
              <a:t>        "direct": 39.29732142857142,</a:t>
            </a:r>
          </a:p>
          <a:p xmlns:a="http://schemas.openxmlformats.org/drawingml/2006/main">
            <a:r>
              <a:t>        "surplus": 0,</a:t>
            </a:r>
          </a:p>
          <a:p xmlns:a="http://schemas.openxmlformats.org/drawingml/2006/main">
            <a:r>
              <a:t>        "battery": 0,</a:t>
            </a:r>
          </a:p>
          <a:p xmlns:a="http://schemas.openxmlformats.org/drawingml/2006/main">
            <a:r>
              <a:t>        "imports": 1159.2750000000003,</a:t>
            </a:r>
          </a:p>
          <a:p xmlns:a="http://schemas.openxmlformats.org/drawingml/2006/main">
            <a:r>
              <a:t>        "base": 6412.071999999999,</a:t>
            </a:r>
          </a:p>
          <a:p xmlns:a="http://schemas.openxmlformats.org/drawingml/2006/main">
            <a:r>
              <a:t>        "newbill": 3309.1555000000008,</a:t>
            </a:r>
          </a:p>
          <a:p xmlns:a="http://schemas.openxmlformats.org/drawingml/2006/main">
            <a:r>
              <a:t>        "saving": 3102.9164999999985</a:t>
            </a:r>
          </a:p>
          <a:p xmlns:a="http://schemas.openxmlformats.org/drawingml/2006/main">
            <a:r>
              <a:t>      },</a:t>
            </a:r>
          </a:p>
          <a:p xmlns:a="http://schemas.openxmlformats.org/drawingml/2006/main">
            <a:r>
              <a:t>      {</a:t>
            </a:r>
          </a:p>
          <a:p xmlns:a="http://schemas.openxmlformats.org/drawingml/2006/main">
            <a:r>
              <a:t>        "month": "Mar",</a:t>
            </a:r>
          </a:p>
          <a:p xmlns:a="http://schemas.openxmlformats.org/drawingml/2006/main">
            <a:r>
              <a:t>        "days": 31,</a:t>
            </a:r>
          </a:p>
          <a:p xmlns:a="http://schemas.openxmlformats.org/drawingml/2006/main">
            <a:r>
              <a:t>        "G": 44.1616129032258,</a:t>
            </a:r>
          </a:p>
          <a:p xmlns:a="http://schemas.openxmlformats.org/drawingml/2006/main">
            <a:r>
              <a:t>        "direct": 40.35,</a:t>
            </a:r>
          </a:p>
          <a:p xmlns:a="http://schemas.openxmlformats.org/drawingml/2006/main">
            <a:r>
              <a:t>        "surplus": 3.8116129032258,</a:t>
            </a:r>
          </a:p>
          <a:p xmlns:a="http://schemas.openxmlformats.org/drawingml/2006/main">
            <a:r>
              <a:t>        "battery": 0,</a:t>
            </a:r>
          </a:p>
          <a:p xmlns:a="http://schemas.openxmlformats.org/drawingml/2006/main">
            <a:r>
              <a:t>        "imports": 1250.8500000000001,</a:t>
            </a:r>
          </a:p>
          <a:p xmlns:a="http://schemas.openxmlformats.org/drawingml/2006/main">
            <a:r>
              <a:t>        "base": 7094.794000000002,</a:t>
            </a:r>
          </a:p>
          <a:p xmlns:a="http://schemas.openxmlformats.org/drawingml/2006/main">
            <a:r>
              <a:t>        "newbill": 3567.397000000001,</a:t>
            </a:r>
          </a:p>
          <a:p xmlns:a="http://schemas.openxmlformats.org/drawingml/2006/main">
            <a:r>
              <a:t>        "saving": 3527.397000000001</a:t>
            </a:r>
          </a:p>
          <a:p xmlns:a="http://schemas.openxmlformats.org/drawingml/2006/main">
            <a:r>
              <a:t>      },</a:t>
            </a:r>
          </a:p>
          <a:p xmlns:a="http://schemas.openxmlformats.org/drawingml/2006/main">
            <a:r>
              <a:t>      {</a:t>
            </a:r>
          </a:p>
          <a:p xmlns:a="http://schemas.openxmlformats.org/drawingml/2006/main">
            <a:r>
              <a:t>        "month": "Apr",</a:t>
            </a:r>
          </a:p>
          <a:p xmlns:a="http://schemas.openxmlformats.org/drawingml/2006/main">
            <a:r>
              <a:t>        "days": 30,</a:t>
            </a:r>
          </a:p>
          <a:p xmlns:a="http://schemas.openxmlformats.org/drawingml/2006/main">
            <a:r>
              <a:t>        "G": 45.577,</a:t>
            </a:r>
          </a:p>
          <a:p xmlns:a="http://schemas.openxmlformats.org/drawingml/2006/main">
            <a:r>
              <a:t>        "direct": 40.35,</a:t>
            </a:r>
          </a:p>
          <a:p xmlns:a="http://schemas.openxmlformats.org/drawingml/2006/main">
            <a:r>
              <a:t>        "surplus": 5.226999999999997,</a:t>
            </a:r>
          </a:p>
          <a:p xmlns:a="http://schemas.openxmlformats.org/drawingml/2006/main">
            <a:r>
              <a:t>        "battery": 0,</a:t>
            </a:r>
          </a:p>
          <a:p xmlns:a="http://schemas.openxmlformats.org/drawingml/2006/main">
            <a:r>
              <a:t>        "imports": 1210.5,</a:t>
            </a:r>
          </a:p>
          <a:p xmlns:a="http://schemas.openxmlformats.org/drawingml/2006/main">
            <a:r>
              <a:t>        "base": 6867.22,</a:t>
            </a:r>
          </a:p>
          <a:p xmlns:a="http://schemas.openxmlformats.org/drawingml/2006/main">
            <a:r>
              <a:t>        "newbill": 3453.61,</a:t>
            </a:r>
          </a:p>
          <a:p xmlns:a="http://schemas.openxmlformats.org/drawingml/2006/main">
            <a:r>
              <a:t>        "saving": 3413.61</a:t>
            </a:r>
          </a:p>
          <a:p xmlns:a="http://schemas.openxmlformats.org/drawingml/2006/main">
            <a:r>
              <a:t>      },</a:t>
            </a:r>
          </a:p>
          <a:p xmlns:a="http://schemas.openxmlformats.org/drawingml/2006/main">
            <a:r>
              <a:t>      {</a:t>
            </a:r>
          </a:p>
          <a:p xmlns:a="http://schemas.openxmlformats.org/drawingml/2006/main">
            <a:r>
              <a:t>        "month": "May",</a:t>
            </a:r>
          </a:p>
          <a:p xmlns:a="http://schemas.openxmlformats.org/drawingml/2006/main">
            <a:r>
              <a:t>        "days": 31,</a:t>
            </a:r>
          </a:p>
          <a:p xmlns:a="http://schemas.openxmlformats.org/drawingml/2006/main">
            <a:r>
              <a:t>        "G": 44.61677419354839,</a:t>
            </a:r>
          </a:p>
          <a:p xmlns:a="http://schemas.openxmlformats.org/drawingml/2006/main">
            <a:r>
              <a:t>        "direct": 40.35,</a:t>
            </a:r>
          </a:p>
          <a:p xmlns:a="http://schemas.openxmlformats.org/drawingml/2006/main">
            <a:r>
              <a:t>        "surplus": 4.266774193548386,</a:t>
            </a:r>
          </a:p>
          <a:p xmlns:a="http://schemas.openxmlformats.org/drawingml/2006/main">
            <a:r>
              <a:t>        "battery": 0,</a:t>
            </a:r>
          </a:p>
          <a:p xmlns:a="http://schemas.openxmlformats.org/drawingml/2006/main">
            <a:r>
              <a:t>        "imports": 1250.8500000000001,</a:t>
            </a:r>
          </a:p>
          <a:p xmlns:a="http://schemas.openxmlformats.org/drawingml/2006/main">
            <a:r>
              <a:t>        "base": 7094.794000000002,</a:t>
            </a:r>
          </a:p>
          <a:p xmlns:a="http://schemas.openxmlformats.org/drawingml/2006/main">
            <a:r>
              <a:t>        "newbill": 3567.397000000001,</a:t>
            </a:r>
          </a:p>
          <a:p xmlns:a="http://schemas.openxmlformats.org/drawingml/2006/main">
            <a:r>
              <a:t>        "saving": 3527.397000000001</a:t>
            </a:r>
          </a:p>
          <a:p xmlns:a="http://schemas.openxmlformats.org/drawingml/2006/main">
            <a:r>
              <a:t>      },</a:t>
            </a:r>
          </a:p>
          <a:p xmlns:a="http://schemas.openxmlformats.org/drawingml/2006/main">
            <a:r>
              <a:t>      {</a:t>
            </a:r>
          </a:p>
          <a:p xmlns:a="http://schemas.openxmlformats.org/drawingml/2006/main">
            <a:r>
              <a:t>        "month": "Jun",</a:t>
            </a:r>
          </a:p>
          <a:p xmlns:a="http://schemas.openxmlformats.org/drawingml/2006/main">
            <a:r>
              <a:t>        "days": 30,</a:t>
            </a:r>
          </a:p>
          <a:p xmlns:a="http://schemas.openxmlformats.org/drawingml/2006/main">
            <a:r>
              <a:t>        "G": 44.94233333333334,</a:t>
            </a:r>
          </a:p>
          <a:p xmlns:a="http://schemas.openxmlformats.org/drawingml/2006/main">
            <a:r>
              <a:t>        "direct": 40.35,</a:t>
            </a:r>
          </a:p>
          <a:p xmlns:a="http://schemas.openxmlformats.org/drawingml/2006/main">
            <a:r>
              <a:t>        "surplus": 4.592333333333336,</a:t>
            </a:r>
          </a:p>
          <a:p xmlns:a="http://schemas.openxmlformats.org/drawingml/2006/main">
            <a:r>
              <a:t>        "battery": 0,</a:t>
            </a:r>
          </a:p>
          <a:p xmlns:a="http://schemas.openxmlformats.org/drawingml/2006/main">
            <a:r>
              <a:t>        "imports": 1210.5,</a:t>
            </a:r>
          </a:p>
          <a:p xmlns:a="http://schemas.openxmlformats.org/drawingml/2006/main">
            <a:r>
              <a:t>        "base": 6867.22,</a:t>
            </a:r>
          </a:p>
          <a:p xmlns:a="http://schemas.openxmlformats.org/drawingml/2006/main">
            <a:r>
              <a:t>        "newbill": 3453.61,</a:t>
            </a:r>
          </a:p>
          <a:p xmlns:a="http://schemas.openxmlformats.org/drawingml/2006/main">
            <a:r>
              <a:t>        "saving": 3413.61</a:t>
            </a:r>
          </a:p>
          <a:p xmlns:a="http://schemas.openxmlformats.org/drawingml/2006/main">
            <a:r>
              <a:t>      },</a:t>
            </a:r>
          </a:p>
          <a:p xmlns:a="http://schemas.openxmlformats.org/drawingml/2006/main">
            <a:r>
              <a:t>      {</a:t>
            </a:r>
          </a:p>
          <a:p xmlns:a="http://schemas.openxmlformats.org/drawingml/2006/main">
            <a:r>
              <a:t>        "month": "Jul",</a:t>
            </a:r>
          </a:p>
          <a:p xmlns:a="http://schemas.openxmlformats.org/drawingml/2006/main">
            <a:r>
              <a:t>        "days": 31,</a:t>
            </a:r>
          </a:p>
          <a:p xmlns:a="http://schemas.openxmlformats.org/drawingml/2006/main">
            <a:r>
              <a:t>        "G": 45.148709677419355,</a:t>
            </a:r>
          </a:p>
          <a:p xmlns:a="http://schemas.openxmlformats.org/drawingml/2006/main">
            <a:r>
              <a:t>        "direct": 40.35,</a:t>
            </a:r>
          </a:p>
          <a:p xmlns:a="http://schemas.openxmlformats.org/drawingml/2006/main">
            <a:r>
              <a:t>        "surplus": 4.798709677419353,</a:t>
            </a:r>
          </a:p>
          <a:p xmlns:a="http://schemas.openxmlformats.org/drawingml/2006/main">
            <a:r>
              <a:t>        "battery": 0,</a:t>
            </a:r>
          </a:p>
          <a:p xmlns:a="http://schemas.openxmlformats.org/drawingml/2006/main">
            <a:r>
              <a:t>        "imports": 1250.8500000000001,</a:t>
            </a:r>
          </a:p>
          <a:p xmlns:a="http://schemas.openxmlformats.org/drawingml/2006/main">
            <a:r>
              <a:t>        "base": 7094.794000000002,</a:t>
            </a:r>
          </a:p>
          <a:p xmlns:a="http://schemas.openxmlformats.org/drawingml/2006/main">
            <a:r>
              <a:t>        "newbill": 3567.397000000001,</a:t>
            </a:r>
          </a:p>
          <a:p xmlns:a="http://schemas.openxmlformats.org/drawingml/2006/main">
            <a:r>
              <a:t>        "saving": 3527.397000000001</a:t>
            </a:r>
          </a:p>
          <a:p xmlns:a="http://schemas.openxmlformats.org/drawingml/2006/main">
            <a:r>
              <a:t>      },</a:t>
            </a:r>
          </a:p>
          <a:p xmlns:a="http://schemas.openxmlformats.org/drawingml/2006/main">
            <a:r>
              <a:t>      {</a:t>
            </a:r>
          </a:p>
          <a:p xmlns:a="http://schemas.openxmlformats.org/drawingml/2006/main">
            <a:r>
              <a:t>        "month": "Aug",</a:t>
            </a:r>
          </a:p>
          <a:p xmlns:a="http://schemas.openxmlformats.org/drawingml/2006/main">
            <a:r>
              <a:t>        "days": 31,</a:t>
            </a:r>
          </a:p>
          <a:p xmlns:a="http://schemas.openxmlformats.org/drawingml/2006/main">
            <a:r>
              <a:t>        "G": 45.73548387096774,</a:t>
            </a:r>
          </a:p>
          <a:p xmlns:a="http://schemas.openxmlformats.org/drawingml/2006/main">
            <a:r>
              <a:t>        "direct": 40.35,</a:t>
            </a:r>
          </a:p>
          <a:p xmlns:a="http://schemas.openxmlformats.org/drawingml/2006/main">
            <a:r>
              <a:t>        "surplus": 5.3854838709677395,</a:t>
            </a:r>
          </a:p>
          <a:p xmlns:a="http://schemas.openxmlformats.org/drawingml/2006/main">
            <a:r>
              <a:t>        "battery": 0,</a:t>
            </a:r>
          </a:p>
          <a:p xmlns:a="http://schemas.openxmlformats.org/drawingml/2006/main">
            <a:r>
              <a:t>        "imports": 1250.8500000000001,</a:t>
            </a:r>
          </a:p>
          <a:p xmlns:a="http://schemas.openxmlformats.org/drawingml/2006/main">
            <a:r>
              <a:t>        "base": 7094.794000000002,</a:t>
            </a:r>
          </a:p>
          <a:p xmlns:a="http://schemas.openxmlformats.org/drawingml/2006/main">
            <a:r>
              <a:t>        "newbill": 3567.397000000001,</a:t>
            </a:r>
          </a:p>
          <a:p xmlns:a="http://schemas.openxmlformats.org/drawingml/2006/main">
            <a:r>
              <a:t>        "saving": 3527.397000000001</a:t>
            </a:r>
          </a:p>
          <a:p xmlns:a="http://schemas.openxmlformats.org/drawingml/2006/main">
            <a:r>
              <a:t>      },</a:t>
            </a:r>
          </a:p>
          <a:p xmlns:a="http://schemas.openxmlformats.org/drawingml/2006/main">
            <a:r>
              <a:t>      {</a:t>
            </a:r>
          </a:p>
          <a:p xmlns:a="http://schemas.openxmlformats.org/drawingml/2006/main">
            <a:r>
              <a:t>        "month": "Sep",</a:t>
            </a:r>
          </a:p>
          <a:p xmlns:a="http://schemas.openxmlformats.org/drawingml/2006/main">
            <a:r>
              <a:t>        "days": 30,</a:t>
            </a:r>
          </a:p>
          <a:p xmlns:a="http://schemas.openxmlformats.org/drawingml/2006/main">
            <a:r>
              <a:t>        "G": 45.61666666666666,</a:t>
            </a:r>
          </a:p>
          <a:p xmlns:a="http://schemas.openxmlformats.org/drawingml/2006/main">
            <a:r>
              <a:t>        "direct": 40.35,</a:t>
            </a:r>
          </a:p>
          <a:p xmlns:a="http://schemas.openxmlformats.org/drawingml/2006/main">
            <a:r>
              <a:t>        "surplus": 5.266666666666659,</a:t>
            </a:r>
          </a:p>
          <a:p xmlns:a="http://schemas.openxmlformats.org/drawingml/2006/main">
            <a:r>
              <a:t>        "battery": 0,</a:t>
            </a:r>
          </a:p>
          <a:p xmlns:a="http://schemas.openxmlformats.org/drawingml/2006/main">
            <a:r>
              <a:t>        "imports": 1210.5,</a:t>
            </a:r>
          </a:p>
          <a:p xmlns:a="http://schemas.openxmlformats.org/drawingml/2006/main">
            <a:r>
              <a:t>        "base": 6867.22,</a:t>
            </a:r>
          </a:p>
          <a:p xmlns:a="http://schemas.openxmlformats.org/drawingml/2006/main">
            <a:r>
              <a:t>        "newbill": 3453.61,</a:t>
            </a:r>
          </a:p>
          <a:p xmlns:a="http://schemas.openxmlformats.org/drawingml/2006/main">
            <a:r>
              <a:t>        "saving": 3413.61</a:t>
            </a:r>
          </a:p>
          <a:p xmlns:a="http://schemas.openxmlformats.org/drawingml/2006/main">
            <a:r>
              <a:t>      },</a:t>
            </a:r>
          </a:p>
          <a:p xmlns:a="http://schemas.openxmlformats.org/drawingml/2006/main">
            <a:r>
              <a:t>      {</a:t>
            </a:r>
          </a:p>
          <a:p xmlns:a="http://schemas.openxmlformats.org/drawingml/2006/main">
            <a:r>
              <a:t>        "month": "Oct",</a:t>
            </a:r>
          </a:p>
          <a:p xmlns:a="http://schemas.openxmlformats.org/drawingml/2006/main">
            <a:r>
              <a:t>        "days": 31,</a:t>
            </a:r>
          </a:p>
          <a:p xmlns:a="http://schemas.openxmlformats.org/drawingml/2006/main">
            <a:r>
              <a:t>        "G": 42.37112903225807,</a:t>
            </a:r>
          </a:p>
          <a:p xmlns:a="http://schemas.openxmlformats.org/drawingml/2006/main">
            <a:r>
              <a:t>        "direct": 40.35,</a:t>
            </a:r>
          </a:p>
          <a:p xmlns:a="http://schemas.openxmlformats.org/drawingml/2006/main">
            <a:r>
              <a:t>        "surplus": 2.0211290322580666,</a:t>
            </a:r>
          </a:p>
          <a:p xmlns:a="http://schemas.openxmlformats.org/drawingml/2006/main">
            <a:r>
              <a:t>        "battery": 0,</a:t>
            </a:r>
          </a:p>
          <a:p xmlns:a="http://schemas.openxmlformats.org/drawingml/2006/main">
            <a:r>
              <a:t>        "imports": 1250.8500000000001,</a:t>
            </a:r>
          </a:p>
          <a:p xmlns:a="http://schemas.openxmlformats.org/drawingml/2006/main">
            <a:r>
              <a:t>        "base": 7094.794000000002,</a:t>
            </a:r>
          </a:p>
          <a:p xmlns:a="http://schemas.openxmlformats.org/drawingml/2006/main">
            <a:r>
              <a:t>        "newbill": 3567.397000000001,</a:t>
            </a:r>
          </a:p>
          <a:p xmlns:a="http://schemas.openxmlformats.org/drawingml/2006/main">
            <a:r>
              <a:t>        "saving": 3527.397000000001</a:t>
            </a:r>
          </a:p>
          <a:p xmlns:a="http://schemas.openxmlformats.org/drawingml/2006/main">
            <a:r>
              <a:t>      },</a:t>
            </a:r>
          </a:p>
          <a:p xmlns:a="http://schemas.openxmlformats.org/drawingml/2006/main">
            <a:r>
              <a:t>      {</a:t>
            </a:r>
          </a:p>
          <a:p xmlns:a="http://schemas.openxmlformats.org/drawingml/2006/main">
            <a:r>
              <a:t>        "month": "Nov",</a:t>
            </a:r>
          </a:p>
          <a:p xmlns:a="http://schemas.openxmlformats.org/drawingml/2006/main">
            <a:r>
              <a:t>        "days": 30,</a:t>
            </a:r>
          </a:p>
          <a:p xmlns:a="http://schemas.openxmlformats.org/drawingml/2006/main">
            <a:r>
              <a:t>        "G": 38.80816666666667,</a:t>
            </a:r>
          </a:p>
          <a:p xmlns:a="http://schemas.openxmlformats.org/drawingml/2006/main">
            <a:r>
              <a:t>        "direct": 38.80816666666667,</a:t>
            </a:r>
          </a:p>
          <a:p xmlns:a="http://schemas.openxmlformats.org/drawingml/2006/main">
            <a:r>
              <a:t>        "surplus": 0,</a:t>
            </a:r>
          </a:p>
          <a:p xmlns:a="http://schemas.openxmlformats.org/drawingml/2006/main">
            <a:r>
              <a:t>        "battery": 0,</a:t>
            </a:r>
          </a:p>
          <a:p xmlns:a="http://schemas.openxmlformats.org/drawingml/2006/main">
            <a:r>
              <a:t>        "imports": 1256.7549999999999,</a:t>
            </a:r>
          </a:p>
          <a:p xmlns:a="http://schemas.openxmlformats.org/drawingml/2006/main">
            <a:r>
              <a:t>        "base": 6867.22,</a:t>
            </a:r>
          </a:p>
          <a:p xmlns:a="http://schemas.openxmlformats.org/drawingml/2006/main">
            <a:r>
              <a:t>        "newbill": 3584.0490999999997,</a:t>
            </a:r>
          </a:p>
          <a:p xmlns:a="http://schemas.openxmlformats.org/drawingml/2006/main">
            <a:r>
              <a:t>        "saving": 3283.1709000000005</a:t>
            </a:r>
          </a:p>
          <a:p xmlns:a="http://schemas.openxmlformats.org/drawingml/2006/main">
            <a:r>
              <a:t>      },</a:t>
            </a:r>
          </a:p>
          <a:p xmlns:a="http://schemas.openxmlformats.org/drawingml/2006/main">
            <a:r>
              <a:t>      {</a:t>
            </a:r>
          </a:p>
          <a:p xmlns:a="http://schemas.openxmlformats.org/drawingml/2006/main">
            <a:r>
              <a:t>        "month": "Dec",</a:t>
            </a:r>
          </a:p>
          <a:p xmlns:a="http://schemas.openxmlformats.org/drawingml/2006/main">
            <a:r>
              <a:t>        "days": 31,</a:t>
            </a:r>
          </a:p>
          <a:p xmlns:a="http://schemas.openxmlformats.org/drawingml/2006/main">
            <a:r>
              <a:t>        "G": 35.75483870967742,</a:t>
            </a:r>
          </a:p>
          <a:p xmlns:a="http://schemas.openxmlformats.org/drawingml/2006/main">
            <a:r>
              <a:t>        "direct": 35.75483870967742,</a:t>
            </a:r>
          </a:p>
          <a:p xmlns:a="http://schemas.openxmlformats.org/drawingml/2006/main">
            <a:r>
              <a:t>        "surplus": 0,</a:t>
            </a:r>
          </a:p>
          <a:p xmlns:a="http://schemas.openxmlformats.org/drawingml/2006/main">
            <a:r>
              <a:t>        "battery": 0,</a:t>
            </a:r>
          </a:p>
          <a:p xmlns:a="http://schemas.openxmlformats.org/drawingml/2006/main">
            <a:r>
              <a:t>        "imports": 1393.3,</a:t>
            </a:r>
          </a:p>
          <a:p xmlns:a="http://schemas.openxmlformats.org/drawingml/2006/main">
            <a:r>
              <a:t>        "base": 7094.794000000002,</a:t>
            </a:r>
          </a:p>
          <a:p xmlns:a="http://schemas.openxmlformats.org/drawingml/2006/main">
            <a:r>
              <a:t>        "newbill": 3969.1059999999998,</a:t>
            </a:r>
          </a:p>
          <a:p xmlns:a="http://schemas.openxmlformats.org/drawingml/2006/main">
            <a:r>
              <a:t>        "saving": 3125.688000000002</a:t>
            </a:r>
          </a:p>
          <a:p xmlns:a="http://schemas.openxmlformats.org/drawingml/2006/main">
            <a:r>
              <a:t>      }</a:t>
            </a:r>
          </a:p>
          <a:p xmlns:a="http://schemas.openxmlformats.org/drawingml/2006/main">
            <a:r>
              <a:t>    ],</a:t>
            </a:r>
          </a:p>
          <a:p xmlns:a="http://schemas.openxmlformats.org/drawingml/2006/main">
            <a:r>
              <a:t>    "annualSaving": 40536.85140000001,</a:t>
            </a:r>
          </a:p>
          <a:p xmlns:a="http://schemas.openxmlformats.org/drawingml/2006/main">
            <a:r>
              <a:t>    "averageSaving": 3378.0709500000007,</a:t>
            </a:r>
          </a:p>
          <a:p xmlns:a="http://schemas.openxmlformats.org/drawingml/2006/main">
            <a:r>
              <a:t>    "payback": 3.4733827403279767,</a:t>
            </a:r>
          </a:p>
          <a:p xmlns:a="http://schemas.openxmlformats.org/drawingml/2006/main">
            <a:r>
              <a:t>    "annualImports": 15080.73</a:t>
            </a:r>
          </a:p>
          <a:p xmlns:a="http://schemas.openxmlformats.org/drawingml/2006/main">
            <a:r>
              <a:t>  },</a:t>
            </a:r>
          </a:p>
          <a:p xmlns:a="http://schemas.openxmlformats.org/drawingml/2006/main">
            <a:r>
              <a:t>  {</a:t>
            </a:r>
          </a:p>
          <a:p xmlns:a="http://schemas.openxmlformats.org/drawingml/2006/main">
            <a:r>
              <a:t>    "option": "B",</a:t>
            </a:r>
          </a:p>
          <a:p xmlns:a="http://schemas.openxmlformats.org/drawingml/2006/main">
            <a:r>
              <a:t>    "C": 16,</a:t>
            </a:r>
          </a:p>
          <a:p xmlns:a="http://schemas.openxmlformats.org/drawingml/2006/main">
            <a:r>
              <a:t>    "P": 11,</a:t>
            </a:r>
          </a:p>
          <a:p xmlns:a="http://schemas.openxmlformats.org/drawingml/2006/main">
            <a:r>
              <a:t>    "inv": 12,</a:t>
            </a:r>
          </a:p>
          <a:p xmlns:a="http://schemas.openxmlformats.org/drawingml/2006/main">
            <a:r>
              <a:t>    "price": 394240,</a:t>
            </a:r>
          </a:p>
          <a:p xmlns:a="http://schemas.openxmlformats.org/drawingml/2006/main">
            <a:r>
              <a:t>    "reference": {</a:t>
            </a:r>
          </a:p>
          <a:p xmlns:a="http://schemas.openxmlformats.org/drawingml/2006/main">
            <a:r>
              <a:t>      "G": 54.78,</a:t>
            </a:r>
          </a:p>
          <a:p xmlns:a="http://schemas.openxmlformats.org/drawingml/2006/main">
            <a:r>
              <a:t>      "direct": 40.35,</a:t>
            </a:r>
          </a:p>
          <a:p xmlns:a="http://schemas.openxmlformats.org/drawingml/2006/main">
            <a:r>
              <a:t>      "surplus": 14.43,</a:t>
            </a:r>
          </a:p>
          <a:p xmlns:a="http://schemas.openxmlformats.org/drawingml/2006/main">
            <a:r>
              <a:t>      "battery": 12.16,</a:t>
            </a:r>
          </a:p>
          <a:p xmlns:a="http://schemas.openxmlformats.org/drawingml/2006/main">
            <a:r>
              <a:t>      "imports": 845.7,</a:t>
            </a:r>
          </a:p>
          <a:p xmlns:a="http://schemas.openxmlformats.org/drawingml/2006/main">
            <a:r>
              <a:t>      "base": 6867.22,</a:t>
            </a:r>
          </a:p>
          <a:p xmlns:a="http://schemas.openxmlformats.org/drawingml/2006/main">
            <a:r>
              <a:t>      "newbill": 2307.5890000000004,</a:t>
            </a:r>
          </a:p>
          <a:p xmlns:a="http://schemas.openxmlformats.org/drawingml/2006/main">
            <a:r>
              <a:t>      "saving": 4559.630999999999</a:t>
            </a:r>
          </a:p>
          <a:p xmlns:a="http://schemas.openxmlformats.org/drawingml/2006/main">
            <a:r>
              <a:t>    },</a:t>
            </a:r>
          </a:p>
          <a:p xmlns:a="http://schemas.openxmlformats.org/drawingml/2006/main">
            <a:r>
              <a:t>    "monthly": [</a:t>
            </a:r>
          </a:p>
          <a:p xmlns:a="http://schemas.openxmlformats.org/drawingml/2006/main">
            <a:r>
              <a:t>      {</a:t>
            </a:r>
          </a:p>
          <a:p xmlns:a="http://schemas.openxmlformats.org/drawingml/2006/main">
            <a:r>
              <a:t>        "month": "Jan",</a:t>
            </a:r>
          </a:p>
          <a:p xmlns:a="http://schemas.openxmlformats.org/drawingml/2006/main">
            <a:r>
              <a:t>        "days": 31,</a:t>
            </a:r>
          </a:p>
          <a:p xmlns:a="http://schemas.openxmlformats.org/drawingml/2006/main">
            <a:r>
              <a:t>        "G": 46.59032258064517,</a:t>
            </a:r>
          </a:p>
          <a:p xmlns:a="http://schemas.openxmlformats.org/drawingml/2006/main">
            <a:r>
              <a:t>        "direct": 40.35,</a:t>
            </a:r>
          </a:p>
          <a:p xmlns:a="http://schemas.openxmlformats.org/drawingml/2006/main">
            <a:r>
              <a:t>        "surplus": 6.24032258064517,</a:t>
            </a:r>
          </a:p>
          <a:p xmlns:a="http://schemas.openxmlformats.org/drawingml/2006/main">
            <a:r>
              <a:t>        "battery": 5.928306451612912,</a:t>
            </a:r>
          </a:p>
          <a:p xmlns:a="http://schemas.openxmlformats.org/drawingml/2006/main">
            <a:r>
              <a:t>        "imports": 1067.0724999999998,</a:t>
            </a:r>
          </a:p>
          <a:p xmlns:a="http://schemas.openxmlformats.org/drawingml/2006/main">
            <a:r>
              <a:t>        "base": 7094.794000000002,</a:t>
            </a:r>
          </a:p>
          <a:p xmlns:a="http://schemas.openxmlformats.org/drawingml/2006/main">
            <a:r>
              <a:t>        "newbill": 3049.1444499999993,</a:t>
            </a:r>
          </a:p>
          <a:p xmlns:a="http://schemas.openxmlformats.org/drawingml/2006/main">
            <a:r>
              <a:t>        "saving": 4045.6495500000024</a:t>
            </a:r>
          </a:p>
          <a:p xmlns:a="http://schemas.openxmlformats.org/drawingml/2006/main">
            <a:r>
              <a:t>      },</a:t>
            </a:r>
          </a:p>
          <a:p xmlns:a="http://schemas.openxmlformats.org/drawingml/2006/main">
            <a:r>
              <a:t>      {</a:t>
            </a:r>
          </a:p>
          <a:p xmlns:a="http://schemas.openxmlformats.org/drawingml/2006/main">
            <a:r>
              <a:t>        "month": "Feb",</a:t>
            </a:r>
          </a:p>
          <a:p xmlns:a="http://schemas.openxmlformats.org/drawingml/2006/main">
            <a:r>
              <a:t>        "days": 28,</a:t>
            </a:r>
          </a:p>
          <a:p xmlns:a="http://schemas.openxmlformats.org/drawingml/2006/main">
            <a:r>
              <a:t>        "G": 50.85535714285714,</a:t>
            </a:r>
          </a:p>
          <a:p xmlns:a="http://schemas.openxmlformats.org/drawingml/2006/main">
            <a:r>
              <a:t>        "direct": 40.35,</a:t>
            </a:r>
          </a:p>
          <a:p xmlns:a="http://schemas.openxmlformats.org/drawingml/2006/main">
            <a:r>
              <a:t>        "surplus": 10.505357142857136,</a:t>
            </a:r>
          </a:p>
          <a:p xmlns:a="http://schemas.openxmlformats.org/drawingml/2006/main">
            <a:r>
              <a:t>        "battery": 9.980089285714278,</a:t>
            </a:r>
          </a:p>
          <a:p xmlns:a="http://schemas.openxmlformats.org/drawingml/2006/main">
            <a:r>
              <a:t>        "imports": 850.3575000000003,</a:t>
            </a:r>
          </a:p>
          <a:p xmlns:a="http://schemas.openxmlformats.org/drawingml/2006/main">
            <a:r>
              <a:t>        "base": 6412.071999999999,</a:t>
            </a:r>
          </a:p>
          <a:p xmlns:a="http://schemas.openxmlformats.org/drawingml/2006/main">
            <a:r>
              <a:t>        "newbill": 2320.490275000001,</a:t>
            </a:r>
          </a:p>
          <a:p xmlns:a="http://schemas.openxmlformats.org/drawingml/2006/main">
            <a:r>
              <a:t>        "saving": 4091.581724999998</a:t>
            </a:r>
          </a:p>
          <a:p xmlns:a="http://schemas.openxmlformats.org/drawingml/2006/main">
            <a:r>
              <a:t>      },</a:t>
            </a:r>
          </a:p>
          <a:p xmlns:a="http://schemas.openxmlformats.org/drawingml/2006/main">
            <a:r>
              <a:t>      {</a:t>
            </a:r>
          </a:p>
          <a:p xmlns:a="http://schemas.openxmlformats.org/drawingml/2006/main">
            <a:r>
              <a:t>        "month": "Mar",</a:t>
            </a:r>
          </a:p>
          <a:p xmlns:a="http://schemas.openxmlformats.org/drawingml/2006/main">
            <a:r>
              <a:t>        "days": 31,</a:t>
            </a:r>
          </a:p>
          <a:p xmlns:a="http://schemas.openxmlformats.org/drawingml/2006/main">
            <a:r>
              <a:t>        "G": 57.15032258064516,</a:t>
            </a:r>
          </a:p>
          <a:p xmlns:a="http://schemas.openxmlformats.org/drawingml/2006/main">
            <a:r>
              <a:t>        "direct": 40.35,</a:t>
            </a:r>
          </a:p>
          <a:p xmlns:a="http://schemas.openxmlformats.org/drawingml/2006/main">
            <a:r>
              <a:t>        "surplus": 16.800322580645158,</a:t>
            </a:r>
          </a:p>
          <a:p xmlns:a="http://schemas.openxmlformats.org/drawingml/2006/main">
            <a:r>
              <a:t>        "battery": 12.16,</a:t>
            </a:r>
          </a:p>
          <a:p xmlns:a="http://schemas.openxmlformats.org/drawingml/2006/main">
            <a:r>
              <a:t>        "imports": 873.89,</a:t>
            </a:r>
          </a:p>
          <a:p xmlns:a="http://schemas.openxmlformats.org/drawingml/2006/main">
            <a:r>
              <a:t>        "base": 7094.794000000002,</a:t>
            </a:r>
          </a:p>
          <a:p xmlns:a="http://schemas.openxmlformats.org/drawingml/2006/main">
            <a:r>
              <a:t>        "newbill": 2385.6753,</a:t>
            </a:r>
          </a:p>
          <a:p xmlns:a="http://schemas.openxmlformats.org/drawingml/2006/main">
            <a:r>
              <a:t>        "saving": 4709.118700000002</a:t>
            </a:r>
          </a:p>
          <a:p xmlns:a="http://schemas.openxmlformats.org/drawingml/2006/main">
            <a:r>
              <a:t>      },</a:t>
            </a:r>
          </a:p>
          <a:p xmlns:a="http://schemas.openxmlformats.org/drawingml/2006/main">
            <a:r>
              <a:t>      {</a:t>
            </a:r>
          </a:p>
          <a:p xmlns:a="http://schemas.openxmlformats.org/drawingml/2006/main">
            <a:r>
              <a:t>        "month": "Apr",</a:t>
            </a:r>
          </a:p>
          <a:p xmlns:a="http://schemas.openxmlformats.org/drawingml/2006/main">
            <a:r>
              <a:t>        "days": 30,</a:t>
            </a:r>
          </a:p>
          <a:p xmlns:a="http://schemas.openxmlformats.org/drawingml/2006/main">
            <a:r>
              <a:t>        "G": 58.982,</a:t>
            </a:r>
          </a:p>
          <a:p xmlns:a="http://schemas.openxmlformats.org/drawingml/2006/main">
            <a:r>
              <a:t>        "direct": 40.35,</a:t>
            </a:r>
          </a:p>
          <a:p xmlns:a="http://schemas.openxmlformats.org/drawingml/2006/main">
            <a:r>
              <a:t>        "surplus": 18.631999999999998,</a:t>
            </a:r>
          </a:p>
          <a:p xmlns:a="http://schemas.openxmlformats.org/drawingml/2006/main">
            <a:r>
              <a:t>        "battery": 12.16,</a:t>
            </a:r>
          </a:p>
          <a:p xmlns:a="http://schemas.openxmlformats.org/drawingml/2006/main">
            <a:r>
              <a:t>        "imports": 845.7,</a:t>
            </a:r>
          </a:p>
          <a:p xmlns:a="http://schemas.openxmlformats.org/drawingml/2006/main">
            <a:r>
              <a:t>        "base": 6867.22,</a:t>
            </a:r>
          </a:p>
          <a:p xmlns:a="http://schemas.openxmlformats.org/drawingml/2006/main">
            <a:r>
              <a:t>        "newbill": 2307.5890000000004,</a:t>
            </a:r>
          </a:p>
          <a:p xmlns:a="http://schemas.openxmlformats.org/drawingml/2006/main">
            <a:r>
              <a:t>        "saving": 4559.630999999999</a:t>
            </a:r>
          </a:p>
          <a:p xmlns:a="http://schemas.openxmlformats.org/drawingml/2006/main">
            <a:r>
              <a:t>      },</a:t>
            </a:r>
          </a:p>
          <a:p xmlns:a="http://schemas.openxmlformats.org/drawingml/2006/main">
            <a:r>
              <a:t>      {</a:t>
            </a:r>
          </a:p>
          <a:p xmlns:a="http://schemas.openxmlformats.org/drawingml/2006/main">
            <a:r>
              <a:t>        "month": "May",</a:t>
            </a:r>
          </a:p>
          <a:p xmlns:a="http://schemas.openxmlformats.org/drawingml/2006/main">
            <a:r>
              <a:t>        "days": 31,</a:t>
            </a:r>
          </a:p>
          <a:p xmlns:a="http://schemas.openxmlformats.org/drawingml/2006/main">
            <a:r>
              <a:t>        "G": 57.73935483870968,</a:t>
            </a:r>
          </a:p>
          <a:p xmlns:a="http://schemas.openxmlformats.org/drawingml/2006/main">
            <a:r>
              <a:t>        "direct": 40.35,</a:t>
            </a:r>
          </a:p>
          <a:p xmlns:a="http://schemas.openxmlformats.org/drawingml/2006/main">
            <a:r>
              <a:t>        "surplus": 17.38935483870968,</a:t>
            </a:r>
          </a:p>
          <a:p xmlns:a="http://schemas.openxmlformats.org/drawingml/2006/main">
            <a:r>
              <a:t>        "battery": 12.16,</a:t>
            </a:r>
          </a:p>
          <a:p xmlns:a="http://schemas.openxmlformats.org/drawingml/2006/main">
            <a:r>
              <a:t>        "imports": 873.89,</a:t>
            </a:r>
          </a:p>
          <a:p xmlns:a="http://schemas.openxmlformats.org/drawingml/2006/main">
            <a:r>
              <a:t>        "base": 7094.794000000002,</a:t>
            </a:r>
          </a:p>
          <a:p xmlns:a="http://schemas.openxmlformats.org/drawingml/2006/main">
            <a:r>
              <a:t>        "newbill": 2385.6753,</a:t>
            </a:r>
          </a:p>
          <a:p xmlns:a="http://schemas.openxmlformats.org/drawingml/2006/main">
            <a:r>
              <a:t>        "saving": 4709.118700000002</a:t>
            </a:r>
          </a:p>
          <a:p xmlns:a="http://schemas.openxmlformats.org/drawingml/2006/main">
            <a:r>
              <a:t>      },</a:t>
            </a:r>
          </a:p>
          <a:p xmlns:a="http://schemas.openxmlformats.org/drawingml/2006/main">
            <a:r>
              <a:t>      {</a:t>
            </a:r>
          </a:p>
          <a:p xmlns:a="http://schemas.openxmlformats.org/drawingml/2006/main">
            <a:r>
              <a:t>        "month": "Jun",</a:t>
            </a:r>
          </a:p>
          <a:p xmlns:a="http://schemas.openxmlformats.org/drawingml/2006/main">
            <a:r>
              <a:t>        "days": 30,</a:t>
            </a:r>
          </a:p>
          <a:p xmlns:a="http://schemas.openxmlformats.org/drawingml/2006/main">
            <a:r>
              <a:t>        "G": 58.16066666666667,</a:t>
            </a:r>
          </a:p>
          <a:p xmlns:a="http://schemas.openxmlformats.org/drawingml/2006/main">
            <a:r>
              <a:t>        "direct": 40.35,</a:t>
            </a:r>
          </a:p>
          <a:p xmlns:a="http://schemas.openxmlformats.org/drawingml/2006/main">
            <a:r>
              <a:t>        "surplus": 17.81066666666667,</a:t>
            </a:r>
          </a:p>
          <a:p xmlns:a="http://schemas.openxmlformats.org/drawingml/2006/main">
            <a:r>
              <a:t>        "battery": 12.16,</a:t>
            </a:r>
          </a:p>
          <a:p xmlns:a="http://schemas.openxmlformats.org/drawingml/2006/main">
            <a:r>
              <a:t>        "imports": 845.7,</a:t>
            </a:r>
          </a:p>
          <a:p xmlns:a="http://schemas.openxmlformats.org/drawingml/2006/main">
            <a:r>
              <a:t>        "base": 6867.22,</a:t>
            </a:r>
          </a:p>
          <a:p xmlns:a="http://schemas.openxmlformats.org/drawingml/2006/main">
            <a:r>
              <a:t>        "newbill": 2307.5890000000004,</a:t>
            </a:r>
          </a:p>
          <a:p xmlns:a="http://schemas.openxmlformats.org/drawingml/2006/main">
            <a:r>
              <a:t>        "saving": 4559.630999999999</a:t>
            </a:r>
          </a:p>
          <a:p xmlns:a="http://schemas.openxmlformats.org/drawingml/2006/main">
            <a:r>
              <a:t>      },</a:t>
            </a:r>
          </a:p>
          <a:p xmlns:a="http://schemas.openxmlformats.org/drawingml/2006/main">
            <a:r>
              <a:t>      {</a:t>
            </a:r>
          </a:p>
          <a:p xmlns:a="http://schemas.openxmlformats.org/drawingml/2006/main">
            <a:r>
              <a:t>        "month": "Jul",</a:t>
            </a:r>
          </a:p>
          <a:p xmlns:a="http://schemas.openxmlformats.org/drawingml/2006/main">
            <a:r>
              <a:t>        "days": 31,</a:t>
            </a:r>
          </a:p>
          <a:p xmlns:a="http://schemas.openxmlformats.org/drawingml/2006/main">
            <a:r>
              <a:t>        "G": 58.42774193548387,</a:t>
            </a:r>
          </a:p>
          <a:p xmlns:a="http://schemas.openxmlformats.org/drawingml/2006/main">
            <a:r>
              <a:t>        "direct": 40.35,</a:t>
            </a:r>
          </a:p>
          <a:p xmlns:a="http://schemas.openxmlformats.org/drawingml/2006/main">
            <a:r>
              <a:t>        "surplus": 18.07774193548387,</a:t>
            </a:r>
          </a:p>
          <a:p xmlns:a="http://schemas.openxmlformats.org/drawingml/2006/main">
            <a:r>
              <a:t>        "battery": 12.16,</a:t>
            </a:r>
          </a:p>
          <a:p xmlns:a="http://schemas.openxmlformats.org/drawingml/2006/main">
            <a:r>
              <a:t>        "imports": 873.89,</a:t>
            </a:r>
          </a:p>
          <a:p xmlns:a="http://schemas.openxmlformats.org/drawingml/2006/main">
            <a:r>
              <a:t>        "base": 7094.794000000002,</a:t>
            </a:r>
          </a:p>
          <a:p xmlns:a="http://schemas.openxmlformats.org/drawingml/2006/main">
            <a:r>
              <a:t>        "newbill": 2385.6753,</a:t>
            </a:r>
          </a:p>
          <a:p xmlns:a="http://schemas.openxmlformats.org/drawingml/2006/main">
            <a:r>
              <a:t>        "saving": 4709.118700000002</a:t>
            </a:r>
          </a:p>
          <a:p xmlns:a="http://schemas.openxmlformats.org/drawingml/2006/main">
            <a:r>
              <a:t>      },</a:t>
            </a:r>
          </a:p>
          <a:p xmlns:a="http://schemas.openxmlformats.org/drawingml/2006/main">
            <a:r>
              <a:t>      {</a:t>
            </a:r>
          </a:p>
          <a:p xmlns:a="http://schemas.openxmlformats.org/drawingml/2006/main">
            <a:r>
              <a:t>        "month": "Aug",</a:t>
            </a:r>
          </a:p>
          <a:p xmlns:a="http://schemas.openxmlformats.org/drawingml/2006/main">
            <a:r>
              <a:t>        "days": 31,</a:t>
            </a:r>
          </a:p>
          <a:p xmlns:a="http://schemas.openxmlformats.org/drawingml/2006/main">
            <a:r>
              <a:t>        "G": 59.18709677419355,</a:t>
            </a:r>
          </a:p>
          <a:p xmlns:a="http://schemas.openxmlformats.org/drawingml/2006/main">
            <a:r>
              <a:t>        "direct": 40.35,</a:t>
            </a:r>
          </a:p>
          <a:p xmlns:a="http://schemas.openxmlformats.org/drawingml/2006/main">
            <a:r>
              <a:t>        "surplus": 18.837096774193547,</a:t>
            </a:r>
          </a:p>
          <a:p xmlns:a="http://schemas.openxmlformats.org/drawingml/2006/main">
            <a:r>
              <a:t>        "battery": 12.16,</a:t>
            </a:r>
          </a:p>
          <a:p xmlns:a="http://schemas.openxmlformats.org/drawingml/2006/main">
            <a:r>
              <a:t>        "imports": 873.89,</a:t>
            </a:r>
          </a:p>
          <a:p xmlns:a="http://schemas.openxmlformats.org/drawingml/2006/main">
            <a:r>
              <a:t>        "base": 7094.794000000002,</a:t>
            </a:r>
          </a:p>
          <a:p xmlns:a="http://schemas.openxmlformats.org/drawingml/2006/main">
            <a:r>
              <a:t>        "newbill": 2385.6753,</a:t>
            </a:r>
          </a:p>
          <a:p xmlns:a="http://schemas.openxmlformats.org/drawingml/2006/main">
            <a:r>
              <a:t>        "saving": 4709.118700000002</a:t>
            </a:r>
          </a:p>
          <a:p xmlns:a="http://schemas.openxmlformats.org/drawingml/2006/main">
            <a:r>
              <a:t>      },</a:t>
            </a:r>
          </a:p>
          <a:p xmlns:a="http://schemas.openxmlformats.org/drawingml/2006/main">
            <a:r>
              <a:t>      {</a:t>
            </a:r>
          </a:p>
          <a:p xmlns:a="http://schemas.openxmlformats.org/drawingml/2006/main">
            <a:r>
              <a:t>        "month": "Sep",</a:t>
            </a:r>
          </a:p>
          <a:p xmlns:a="http://schemas.openxmlformats.org/drawingml/2006/main">
            <a:r>
              <a:t>        "days": 30,</a:t>
            </a:r>
          </a:p>
          <a:p xmlns:a="http://schemas.openxmlformats.org/drawingml/2006/main">
            <a:r>
              <a:t>        "G": 59.03333333333333,</a:t>
            </a:r>
          </a:p>
          <a:p xmlns:a="http://schemas.openxmlformats.org/drawingml/2006/main">
            <a:r>
              <a:t>        "direct": 40.35,</a:t>
            </a:r>
          </a:p>
          <a:p xmlns:a="http://schemas.openxmlformats.org/drawingml/2006/main">
            <a:r>
              <a:t>        "surplus": 18.68333333333333,</a:t>
            </a:r>
          </a:p>
          <a:p xmlns:a="http://schemas.openxmlformats.org/drawingml/2006/main">
            <a:r>
              <a:t>        "battery": 12.16,</a:t>
            </a:r>
          </a:p>
          <a:p xmlns:a="http://schemas.openxmlformats.org/drawingml/2006/main">
            <a:r>
              <a:t>        "imports": 845.7,</a:t>
            </a:r>
          </a:p>
          <a:p xmlns:a="http://schemas.openxmlformats.org/drawingml/2006/main">
            <a:r>
              <a:t>        "base": 6867.22,</a:t>
            </a:r>
          </a:p>
          <a:p xmlns:a="http://schemas.openxmlformats.org/drawingml/2006/main">
            <a:r>
              <a:t>        "newbill": 2307.5890000000004,</a:t>
            </a:r>
          </a:p>
          <a:p xmlns:a="http://schemas.openxmlformats.org/drawingml/2006/main">
            <a:r>
              <a:t>        "saving": 4559.630999999999</a:t>
            </a:r>
          </a:p>
          <a:p xmlns:a="http://schemas.openxmlformats.org/drawingml/2006/main">
            <a:r>
              <a:t>      },</a:t>
            </a:r>
          </a:p>
          <a:p xmlns:a="http://schemas.openxmlformats.org/drawingml/2006/main">
            <a:r>
              <a:t>      {</a:t>
            </a:r>
          </a:p>
          <a:p xmlns:a="http://schemas.openxmlformats.org/drawingml/2006/main">
            <a:r>
              <a:t>        "month": "Oct",</a:t>
            </a:r>
          </a:p>
          <a:p xmlns:a="http://schemas.openxmlformats.org/drawingml/2006/main">
            <a:r>
              <a:t>        "days": 31,</a:t>
            </a:r>
          </a:p>
          <a:p xmlns:a="http://schemas.openxmlformats.org/drawingml/2006/main">
            <a:r>
              <a:t>        "G": 54.833225806451615,</a:t>
            </a:r>
          </a:p>
          <a:p xmlns:a="http://schemas.openxmlformats.org/drawingml/2006/main">
            <a:r>
              <a:t>        "direct": 40.35,</a:t>
            </a:r>
          </a:p>
          <a:p xmlns:a="http://schemas.openxmlformats.org/drawingml/2006/main">
            <a:r>
              <a:t>        "surplus": 14.483225806451614,</a:t>
            </a:r>
          </a:p>
          <a:p xmlns:a="http://schemas.openxmlformats.org/drawingml/2006/main">
            <a:r>
              <a:t>        "battery": 12.16,</a:t>
            </a:r>
          </a:p>
          <a:p xmlns:a="http://schemas.openxmlformats.org/drawingml/2006/main">
            <a:r>
              <a:t>        "imports": 873.89,</a:t>
            </a:r>
          </a:p>
          <a:p xmlns:a="http://schemas.openxmlformats.org/drawingml/2006/main">
            <a:r>
              <a:t>        "base": 7094.794000000002,</a:t>
            </a:r>
          </a:p>
          <a:p xmlns:a="http://schemas.openxmlformats.org/drawingml/2006/main">
            <a:r>
              <a:t>        "newbill": 2385.6753,</a:t>
            </a:r>
          </a:p>
          <a:p xmlns:a="http://schemas.openxmlformats.org/drawingml/2006/main">
            <a:r>
              <a:t>        "saving": 4709.118700000002</a:t>
            </a:r>
          </a:p>
          <a:p xmlns:a="http://schemas.openxmlformats.org/drawingml/2006/main">
            <a:r>
              <a:t>      },</a:t>
            </a:r>
          </a:p>
          <a:p xmlns:a="http://schemas.openxmlformats.org/drawingml/2006/main">
            <a:r>
              <a:t>      {</a:t>
            </a:r>
          </a:p>
          <a:p xmlns:a="http://schemas.openxmlformats.org/drawingml/2006/main">
            <a:r>
              <a:t>        "month": "Nov",</a:t>
            </a:r>
          </a:p>
          <a:p xmlns:a="http://schemas.openxmlformats.org/drawingml/2006/main">
            <a:r>
              <a:t>        "days": 30,</a:t>
            </a:r>
          </a:p>
          <a:p xmlns:a="http://schemas.openxmlformats.org/drawingml/2006/main">
            <a:r>
              <a:t>        "G": 50.22233333333334,</a:t>
            </a:r>
          </a:p>
          <a:p xmlns:a="http://schemas.openxmlformats.org/drawingml/2006/main">
            <a:r>
              <a:t>        "direct": 40.35,</a:t>
            </a:r>
          </a:p>
          <a:p xmlns:a="http://schemas.openxmlformats.org/drawingml/2006/main">
            <a:r>
              <a:t>        "surplus": 9.872333333333337,</a:t>
            </a:r>
          </a:p>
          <a:p xmlns:a="http://schemas.openxmlformats.org/drawingml/2006/main">
            <a:r>
              <a:t>        "battery": 9.37871666666667,</a:t>
            </a:r>
          </a:p>
          <a:p xmlns:a="http://schemas.openxmlformats.org/drawingml/2006/main">
            <a:r>
              <a:t>        "imports": 929.1385,</a:t>
            </a:r>
          </a:p>
          <a:p xmlns:a="http://schemas.openxmlformats.org/drawingml/2006/main">
            <a:r>
              <a:t>        "base": 6867.22,</a:t>
            </a:r>
          </a:p>
          <a:p xmlns:a="http://schemas.openxmlformats.org/drawingml/2006/main">
            <a:r>
              <a:t>        "newbill": 2538.7136450000003,</a:t>
            </a:r>
          </a:p>
          <a:p xmlns:a="http://schemas.openxmlformats.org/drawingml/2006/main">
            <a:r>
              <a:t>        "saving": 4328.5063549999995</a:t>
            </a:r>
          </a:p>
          <a:p xmlns:a="http://schemas.openxmlformats.org/drawingml/2006/main">
            <a:r>
              <a:t>      },</a:t>
            </a:r>
          </a:p>
          <a:p xmlns:a="http://schemas.openxmlformats.org/drawingml/2006/main">
            <a:r>
              <a:t>      {</a:t>
            </a:r>
          </a:p>
          <a:p xmlns:a="http://schemas.openxmlformats.org/drawingml/2006/main">
            <a:r>
              <a:t>        "month": "Dec",</a:t>
            </a:r>
          </a:p>
          <a:p xmlns:a="http://schemas.openxmlformats.org/drawingml/2006/main">
            <a:r>
              <a:t>        "days": 31,</a:t>
            </a:r>
          </a:p>
          <a:p xmlns:a="http://schemas.openxmlformats.org/drawingml/2006/main">
            <a:r>
              <a:t>        "G": 46.27096774193549,</a:t>
            </a:r>
          </a:p>
          <a:p xmlns:a="http://schemas.openxmlformats.org/drawingml/2006/main">
            <a:r>
              <a:t>        "direct": 40.35,</a:t>
            </a:r>
          </a:p>
          <a:p xmlns:a="http://schemas.openxmlformats.org/drawingml/2006/main">
            <a:r>
              <a:t>        "surplus": 5.920967741935492,</a:t>
            </a:r>
          </a:p>
          <a:p xmlns:a="http://schemas.openxmlformats.org/drawingml/2006/main">
            <a:r>
              <a:t>        "battery": 5.624919354838717,</a:t>
            </a:r>
          </a:p>
          <a:p xmlns:a="http://schemas.openxmlformats.org/drawingml/2006/main">
            <a:r>
              <a:t>        "imports": 1076.4774999999997,</a:t>
            </a:r>
          </a:p>
          <a:p xmlns:a="http://schemas.openxmlformats.org/drawingml/2006/main">
            <a:r>
              <a:t>        "base": 7094.794000000002,</a:t>
            </a:r>
          </a:p>
          <a:p xmlns:a="http://schemas.openxmlformats.org/drawingml/2006/main">
            <a:r>
              <a:t>        "newbill": 3075.666549999999,</a:t>
            </a:r>
          </a:p>
          <a:p xmlns:a="http://schemas.openxmlformats.org/drawingml/2006/main">
            <a:r>
              <a:t>        "saving": 4019.1274500000027</a:t>
            </a:r>
          </a:p>
          <a:p xmlns:a="http://schemas.openxmlformats.org/drawingml/2006/main">
            <a:r>
              <a:t>      }</a:t>
            </a:r>
          </a:p>
          <a:p xmlns:a="http://schemas.openxmlformats.org/drawingml/2006/main">
            <a:r>
              <a:t>    ],</a:t>
            </a:r>
          </a:p>
          <a:p xmlns:a="http://schemas.openxmlformats.org/drawingml/2006/main">
            <a:r>
              <a:t>    "annualSaving": 53709.35158,</a:t>
            </a:r>
          </a:p>
          <a:p xmlns:a="http://schemas.openxmlformats.org/drawingml/2006/main">
            <a:r>
              <a:t>    "averageSaving": 4475.779298333334,</a:t>
            </a:r>
          </a:p>
          <a:p xmlns:a="http://schemas.openxmlformats.org/drawingml/2006/main">
            <a:r>
              <a:t>    "payback": 7.340248735134701,</a:t>
            </a:r>
          </a:p>
          <a:p xmlns:a="http://schemas.openxmlformats.org/drawingml/2006/main">
            <a:r>
              <a:t>    "annualImports": 10829.596</a:t>
            </a:r>
          </a:p>
          <a:p xmlns:a="http://schemas.openxmlformats.org/drawingml/2006/main">
            <a:r>
              <a:t>  },</a:t>
            </a:r>
          </a:p>
          <a:p xmlns:a="http://schemas.openxmlformats.org/drawingml/2006/main">
            <a:r>
              <a:t>  {</a:t>
            </a:r>
          </a:p>
          <a:p xmlns:a="http://schemas.openxmlformats.org/drawingml/2006/main">
            <a:r>
              <a:t>    "option": "C",</a:t>
            </a:r>
          </a:p>
          <a:p xmlns:a="http://schemas.openxmlformats.org/drawingml/2006/main">
            <a:r>
              <a:t>    "C": 64,</a:t>
            </a:r>
          </a:p>
          <a:p xmlns:a="http://schemas.openxmlformats.org/drawingml/2006/main">
            <a:r>
              <a:t>    "P": 17,</a:t>
            </a:r>
          </a:p>
          <a:p xmlns:a="http://schemas.openxmlformats.org/drawingml/2006/main">
            <a:r>
              <a:t>    "inv": 20,</a:t>
            </a:r>
          </a:p>
          <a:p xmlns:a="http://schemas.openxmlformats.org/drawingml/2006/main">
            <a:r>
              <a:t>    "price": 1154560,</a:t>
            </a:r>
          </a:p>
          <a:p xmlns:a="http://schemas.openxmlformats.org/drawingml/2006/main">
            <a:r>
              <a:t>    "reference": {</a:t>
            </a:r>
          </a:p>
          <a:p xmlns:a="http://schemas.openxmlformats.org/drawingml/2006/main">
            <a:r>
              <a:t>      "G": 84.66000000000001,</a:t>
            </a:r>
          </a:p>
          <a:p xmlns:a="http://schemas.openxmlformats.org/drawingml/2006/main">
            <a:r>
              <a:t>      "direct": 40.35,</a:t>
            </a:r>
          </a:p>
          <a:p xmlns:a="http://schemas.openxmlformats.org/drawingml/2006/main">
            <a:r>
              <a:t>      "surplus": 44.31000000000001,</a:t>
            </a:r>
          </a:p>
          <a:p xmlns:a="http://schemas.openxmlformats.org/drawingml/2006/main">
            <a:r>
              <a:t>      "battery": 40.35,</a:t>
            </a:r>
          </a:p>
          <a:p xmlns:a="http://schemas.openxmlformats.org/drawingml/2006/main">
            <a:r>
              <a:t>      "imports": 0,</a:t>
            </a:r>
          </a:p>
          <a:p xmlns:a="http://schemas.openxmlformats.org/drawingml/2006/main">
            <a:r>
              <a:t>      "base": 6867.22,</a:t>
            </a:r>
          </a:p>
          <a:p xmlns:a="http://schemas.openxmlformats.org/drawingml/2006/main">
            <a:r>
              <a:t>      "newbill": 9,</a:t>
            </a:r>
          </a:p>
          <a:p xmlns:a="http://schemas.openxmlformats.org/drawingml/2006/main">
            <a:r>
              <a:t>      "saving": 6858.22</a:t>
            </a:r>
          </a:p>
          <a:p xmlns:a="http://schemas.openxmlformats.org/drawingml/2006/main">
            <a:r>
              <a:t>    },</a:t>
            </a:r>
          </a:p>
          <a:p xmlns:a="http://schemas.openxmlformats.org/drawingml/2006/main">
            <a:r>
              <a:t>    "monthly": [</a:t>
            </a:r>
          </a:p>
          <a:p xmlns:a="http://schemas.openxmlformats.org/drawingml/2006/main">
            <a:r>
              <a:t>      {</a:t>
            </a:r>
          </a:p>
          <a:p xmlns:a="http://schemas.openxmlformats.org/drawingml/2006/main">
            <a:r>
              <a:t>        "month": "Jan",</a:t>
            </a:r>
          </a:p>
          <a:p xmlns:a="http://schemas.openxmlformats.org/drawingml/2006/main">
            <a:r>
              <a:t>        "days": 31,</a:t>
            </a:r>
          </a:p>
          <a:p xmlns:a="http://schemas.openxmlformats.org/drawingml/2006/main">
            <a:r>
              <a:t>        "G": 72.00322580645162,</a:t>
            </a:r>
          </a:p>
          <a:p xmlns:a="http://schemas.openxmlformats.org/drawingml/2006/main">
            <a:r>
              <a:t>        "direct": 40.35,</a:t>
            </a:r>
          </a:p>
          <a:p xmlns:a="http://schemas.openxmlformats.org/drawingml/2006/main">
            <a:r>
              <a:t>        "surplus": 31.653225806451623,</a:t>
            </a:r>
          </a:p>
          <a:p xmlns:a="http://schemas.openxmlformats.org/drawingml/2006/main">
            <a:r>
              <a:t>        "battery": 30.07056451612904,</a:t>
            </a:r>
          </a:p>
          <a:p xmlns:a="http://schemas.openxmlformats.org/drawingml/2006/main">
            <a:r>
              <a:t>        "imports": 318.66249999999985,</a:t>
            </a:r>
          </a:p>
          <a:p xmlns:a="http://schemas.openxmlformats.org/drawingml/2006/main">
            <a:r>
              <a:t>        "base": 7094.794000000002,</a:t>
            </a:r>
          </a:p>
          <a:p xmlns:a="http://schemas.openxmlformats.org/drawingml/2006/main">
            <a:r>
              <a:t>        "newbill": 870.8288749999997,</a:t>
            </a:r>
          </a:p>
          <a:p xmlns:a="http://schemas.openxmlformats.org/drawingml/2006/main">
            <a:r>
              <a:t>        "saving": 6223.965125000002</a:t>
            </a:r>
          </a:p>
          <a:p xmlns:a="http://schemas.openxmlformats.org/drawingml/2006/main">
            <a:r>
              <a:t>      },</a:t>
            </a:r>
          </a:p>
          <a:p xmlns:a="http://schemas.openxmlformats.org/drawingml/2006/main">
            <a:r>
              <a:t>      {</a:t>
            </a:r>
          </a:p>
          <a:p xmlns:a="http://schemas.openxmlformats.org/drawingml/2006/main">
            <a:r>
              <a:t>        "month": "Feb",</a:t>
            </a:r>
          </a:p>
          <a:p xmlns:a="http://schemas.openxmlformats.org/drawingml/2006/main">
            <a:r>
              <a:t>        "days": 28,</a:t>
            </a:r>
          </a:p>
          <a:p xmlns:a="http://schemas.openxmlformats.org/drawingml/2006/main">
            <a:r>
              <a:t>        "G": 78.59464285714284,</a:t>
            </a:r>
          </a:p>
          <a:p xmlns:a="http://schemas.openxmlformats.org/drawingml/2006/main">
            <a:r>
              <a:t>        "direct": 40.35,</a:t>
            </a:r>
          </a:p>
          <a:p xmlns:a="http://schemas.openxmlformats.org/drawingml/2006/main">
            <a:r>
              <a:t>        "surplus": 38.24464285714284,</a:t>
            </a:r>
          </a:p>
          <a:p xmlns:a="http://schemas.openxmlformats.org/drawingml/2006/main">
            <a:r>
              <a:t>        "battery": 36.3324107142857,</a:t>
            </a:r>
          </a:p>
          <a:p xmlns:a="http://schemas.openxmlformats.org/drawingml/2006/main">
            <a:r>
              <a:t>        "imports": 112.49250000000043,</a:t>
            </a:r>
          </a:p>
          <a:p xmlns:a="http://schemas.openxmlformats.org/drawingml/2006/main">
            <a:r>
              <a:t>        "base": 6412.071999999999,</a:t>
            </a:r>
          </a:p>
          <a:p xmlns:a="http://schemas.openxmlformats.org/drawingml/2006/main">
            <a:r>
              <a:t>        "newbill": 261.35857500000094,</a:t>
            </a:r>
          </a:p>
          <a:p xmlns:a="http://schemas.openxmlformats.org/drawingml/2006/main">
            <a:r>
              <a:t>        "saving": 6150.713424999998</a:t>
            </a:r>
          </a:p>
          <a:p xmlns:a="http://schemas.openxmlformats.org/drawingml/2006/main">
            <a:r>
              <a:t>      },</a:t>
            </a:r>
          </a:p>
          <a:p xmlns:a="http://schemas.openxmlformats.org/drawingml/2006/main">
            <a:r>
              <a:t>      {</a:t>
            </a:r>
          </a:p>
          <a:p xmlns:a="http://schemas.openxmlformats.org/drawingml/2006/main">
            <a:r>
              <a:t>        "month": "Mar",</a:t>
            </a:r>
          </a:p>
          <a:p xmlns:a="http://schemas.openxmlformats.org/drawingml/2006/main">
            <a:r>
              <a:t>        "days": 31,</a:t>
            </a:r>
          </a:p>
          <a:p xmlns:a="http://schemas.openxmlformats.org/drawingml/2006/main">
            <a:r>
              <a:t>        "G": 88.3232258064516,</a:t>
            </a:r>
          </a:p>
          <a:p xmlns:a="http://schemas.openxmlformats.org/drawingml/2006/main">
            <a:r>
              <a:t>        "direct": 40.35,</a:t>
            </a:r>
          </a:p>
          <a:p xmlns:a="http://schemas.openxmlformats.org/drawingml/2006/main">
            <a:r>
              <a:t>        "surplus": 47.9732258064516,</a:t>
            </a:r>
          </a:p>
          <a:p xmlns:a="http://schemas.openxmlformats.org/drawingml/2006/main">
            <a:r>
              <a:t>        "battery": 40.35,</a:t>
            </a:r>
          </a:p>
          <a:p xmlns:a="http://schemas.openxmlformats.org/drawingml/2006/main">
            <a:r>
              <a:t>        "imports": 0,</a:t>
            </a:r>
          </a:p>
          <a:p xmlns:a="http://schemas.openxmlformats.org/drawingml/2006/main">
            <a:r>
              <a:t>        "base": 7094.794000000002,</a:t>
            </a:r>
          </a:p>
          <a:p xmlns:a="http://schemas.openxmlformats.org/drawingml/2006/main">
            <a:r>
              <a:t>        "newbill": 9,</a:t>
            </a:r>
          </a:p>
          <a:p xmlns:a="http://schemas.openxmlformats.org/drawingml/2006/main">
            <a:r>
              <a:t>        "saving": 7085.794000000002</a:t>
            </a:r>
          </a:p>
          <a:p xmlns:a="http://schemas.openxmlformats.org/drawingml/2006/main">
            <a:r>
              <a:t>      },</a:t>
            </a:r>
          </a:p>
          <a:p xmlns:a="http://schemas.openxmlformats.org/drawingml/2006/main">
            <a:r>
              <a:t>      {</a:t>
            </a:r>
          </a:p>
          <a:p xmlns:a="http://schemas.openxmlformats.org/drawingml/2006/main">
            <a:r>
              <a:t>        "month": "Apr",</a:t>
            </a:r>
          </a:p>
          <a:p xmlns:a="http://schemas.openxmlformats.org/drawingml/2006/main">
            <a:r>
              <a:t>        "days": 30,</a:t>
            </a:r>
          </a:p>
          <a:p xmlns:a="http://schemas.openxmlformats.org/drawingml/2006/main">
            <a:r>
              <a:t>        "G": 91.154,</a:t>
            </a:r>
          </a:p>
          <a:p xmlns:a="http://schemas.openxmlformats.org/drawingml/2006/main">
            <a:r>
              <a:t>        "direct": 40.35,</a:t>
            </a:r>
          </a:p>
          <a:p xmlns:a="http://schemas.openxmlformats.org/drawingml/2006/main">
            <a:r>
              <a:t>        "surplus": 50.803999999999995,</a:t>
            </a:r>
          </a:p>
          <a:p xmlns:a="http://schemas.openxmlformats.org/drawingml/2006/main">
            <a:r>
              <a:t>        "battery": 40.35,</a:t>
            </a:r>
          </a:p>
          <a:p xmlns:a="http://schemas.openxmlformats.org/drawingml/2006/main">
            <a:r>
              <a:t>        "imports": 0,</a:t>
            </a:r>
          </a:p>
          <a:p xmlns:a="http://schemas.openxmlformats.org/drawingml/2006/main">
            <a:r>
              <a:t>        "base": 6867.22,</a:t>
            </a:r>
          </a:p>
          <a:p xmlns:a="http://schemas.openxmlformats.org/drawingml/2006/main">
            <a:r>
              <a:t>        "newbill": 9,</a:t>
            </a:r>
          </a:p>
          <a:p xmlns:a="http://schemas.openxmlformats.org/drawingml/2006/main">
            <a:r>
              <a:t>        "saving": 6858.22</a:t>
            </a:r>
          </a:p>
          <a:p xmlns:a="http://schemas.openxmlformats.org/drawingml/2006/main">
            <a:r>
              <a:t>      },</a:t>
            </a:r>
          </a:p>
          <a:p xmlns:a="http://schemas.openxmlformats.org/drawingml/2006/main">
            <a:r>
              <a:t>      {</a:t>
            </a:r>
          </a:p>
          <a:p xmlns:a="http://schemas.openxmlformats.org/drawingml/2006/main">
            <a:r>
              <a:t>        "month": "May",</a:t>
            </a:r>
          </a:p>
          <a:p xmlns:a="http://schemas.openxmlformats.org/drawingml/2006/main">
            <a:r>
              <a:t>        "days": 31,</a:t>
            </a:r>
          </a:p>
          <a:p xmlns:a="http://schemas.openxmlformats.org/drawingml/2006/main">
            <a:r>
              <a:t>        "G": 89.23354838709677,</a:t>
            </a:r>
          </a:p>
          <a:p xmlns:a="http://schemas.openxmlformats.org/drawingml/2006/main">
            <a:r>
              <a:t>        "direct": 40.35,</a:t>
            </a:r>
          </a:p>
          <a:p xmlns:a="http://schemas.openxmlformats.org/drawingml/2006/main">
            <a:r>
              <a:t>        "surplus": 48.88354838709677,</a:t>
            </a:r>
          </a:p>
          <a:p xmlns:a="http://schemas.openxmlformats.org/drawingml/2006/main">
            <a:r>
              <a:t>        "battery": 40.35,</a:t>
            </a:r>
          </a:p>
          <a:p xmlns:a="http://schemas.openxmlformats.org/drawingml/2006/main">
            <a:r>
              <a:t>        "imports": 0,</a:t>
            </a:r>
          </a:p>
          <a:p xmlns:a="http://schemas.openxmlformats.org/drawingml/2006/main">
            <a:r>
              <a:t>        "base": 7094.794000000002,</a:t>
            </a:r>
          </a:p>
          <a:p xmlns:a="http://schemas.openxmlformats.org/drawingml/2006/main">
            <a:r>
              <a:t>        "newbill": 9,</a:t>
            </a:r>
          </a:p>
          <a:p xmlns:a="http://schemas.openxmlformats.org/drawingml/2006/main">
            <a:r>
              <a:t>        "saving": 7085.794000000002</a:t>
            </a:r>
          </a:p>
          <a:p xmlns:a="http://schemas.openxmlformats.org/drawingml/2006/main">
            <a:r>
              <a:t>      },</a:t>
            </a:r>
          </a:p>
          <a:p xmlns:a="http://schemas.openxmlformats.org/drawingml/2006/main">
            <a:r>
              <a:t>      {</a:t>
            </a:r>
          </a:p>
          <a:p xmlns:a="http://schemas.openxmlformats.org/drawingml/2006/main">
            <a:r>
              <a:t>        "month": "Jun",</a:t>
            </a:r>
          </a:p>
          <a:p xmlns:a="http://schemas.openxmlformats.org/drawingml/2006/main">
            <a:r>
              <a:t>        "days": 30,</a:t>
            </a:r>
          </a:p>
          <a:p xmlns:a="http://schemas.openxmlformats.org/drawingml/2006/main">
            <a:r>
              <a:t>        "G": 89.88466666666667,</a:t>
            </a:r>
          </a:p>
          <a:p xmlns:a="http://schemas.openxmlformats.org/drawingml/2006/main">
            <a:r>
              <a:t>        "direct": 40.35,</a:t>
            </a:r>
          </a:p>
          <a:p xmlns:a="http://schemas.openxmlformats.org/drawingml/2006/main">
            <a:r>
              <a:t>        "surplus": 49.53466666666667,</a:t>
            </a:r>
          </a:p>
          <a:p xmlns:a="http://schemas.openxmlformats.org/drawingml/2006/main">
            <a:r>
              <a:t>        "battery": 40.35,</a:t>
            </a:r>
          </a:p>
          <a:p xmlns:a="http://schemas.openxmlformats.org/drawingml/2006/main">
            <a:r>
              <a:t>        "imports": 0,</a:t>
            </a:r>
          </a:p>
          <a:p xmlns:a="http://schemas.openxmlformats.org/drawingml/2006/main">
            <a:r>
              <a:t>        "base": 6867.22,</a:t>
            </a:r>
          </a:p>
          <a:p xmlns:a="http://schemas.openxmlformats.org/drawingml/2006/main">
            <a:r>
              <a:t>        "newbill": 9,</a:t>
            </a:r>
          </a:p>
          <a:p xmlns:a="http://schemas.openxmlformats.org/drawingml/2006/main">
            <a:r>
              <a:t>        "saving": 6858.22</a:t>
            </a:r>
          </a:p>
          <a:p xmlns:a="http://schemas.openxmlformats.org/drawingml/2006/main">
            <a:r>
              <a:t>      },</a:t>
            </a:r>
          </a:p>
          <a:p xmlns:a="http://schemas.openxmlformats.org/drawingml/2006/main">
            <a:r>
              <a:t>      {</a:t>
            </a:r>
          </a:p>
          <a:p xmlns:a="http://schemas.openxmlformats.org/drawingml/2006/main">
            <a:r>
              <a:t>        "month": "Jul",</a:t>
            </a:r>
          </a:p>
          <a:p xmlns:a="http://schemas.openxmlformats.org/drawingml/2006/main">
            <a:r>
              <a:t>        "days": 31,</a:t>
            </a:r>
          </a:p>
          <a:p xmlns:a="http://schemas.openxmlformats.org/drawingml/2006/main">
            <a:r>
              <a:t>        "G": 90.29741935483871,</a:t>
            </a:r>
          </a:p>
          <a:p xmlns:a="http://schemas.openxmlformats.org/drawingml/2006/main">
            <a:r>
              <a:t>        "direct": 40.35,</a:t>
            </a:r>
          </a:p>
          <a:p xmlns:a="http://schemas.openxmlformats.org/drawingml/2006/main">
            <a:r>
              <a:t>        "surplus": 49.94741935483871,</a:t>
            </a:r>
          </a:p>
          <a:p xmlns:a="http://schemas.openxmlformats.org/drawingml/2006/main">
            <a:r>
              <a:t>        "battery": 40.35,</a:t>
            </a:r>
          </a:p>
          <a:p xmlns:a="http://schemas.openxmlformats.org/drawingml/2006/main">
            <a:r>
              <a:t>        "imports": 0,</a:t>
            </a:r>
          </a:p>
          <a:p xmlns:a="http://schemas.openxmlformats.org/drawingml/2006/main">
            <a:r>
              <a:t>        "base": 7094.794000000002,</a:t>
            </a:r>
          </a:p>
          <a:p xmlns:a="http://schemas.openxmlformats.org/drawingml/2006/main">
            <a:r>
              <a:t>        "newbill": 9,</a:t>
            </a:r>
          </a:p>
          <a:p xmlns:a="http://schemas.openxmlformats.org/drawingml/2006/main">
            <a:r>
              <a:t>        "saving": 7085.794000000002</a:t>
            </a:r>
          </a:p>
          <a:p xmlns:a="http://schemas.openxmlformats.org/drawingml/2006/main">
            <a:r>
              <a:t>      },</a:t>
            </a:r>
          </a:p>
          <a:p xmlns:a="http://schemas.openxmlformats.org/drawingml/2006/main">
            <a:r>
              <a:t>      {</a:t>
            </a:r>
          </a:p>
          <a:p xmlns:a="http://schemas.openxmlformats.org/drawingml/2006/main">
            <a:r>
              <a:t>        "month": "Aug",</a:t>
            </a:r>
          </a:p>
          <a:p xmlns:a="http://schemas.openxmlformats.org/drawingml/2006/main">
            <a:r>
              <a:t>        "days": 31,</a:t>
            </a:r>
          </a:p>
          <a:p xmlns:a="http://schemas.openxmlformats.org/drawingml/2006/main">
            <a:r>
              <a:t>        "G": 91.47096774193548,</a:t>
            </a:r>
          </a:p>
          <a:p xmlns:a="http://schemas.openxmlformats.org/drawingml/2006/main">
            <a:r>
              <a:t>        "direct": 40.35,</a:t>
            </a:r>
          </a:p>
          <a:p xmlns:a="http://schemas.openxmlformats.org/drawingml/2006/main">
            <a:r>
              <a:t>        "surplus": 51.12096774193548,</a:t>
            </a:r>
          </a:p>
          <a:p xmlns:a="http://schemas.openxmlformats.org/drawingml/2006/main">
            <a:r>
              <a:t>        "battery": 40.35,</a:t>
            </a:r>
          </a:p>
          <a:p xmlns:a="http://schemas.openxmlformats.org/drawingml/2006/main">
            <a:r>
              <a:t>        "imports": 0,</a:t>
            </a:r>
          </a:p>
          <a:p xmlns:a="http://schemas.openxmlformats.org/drawingml/2006/main">
            <a:r>
              <a:t>        "base": 7094.794000000002,</a:t>
            </a:r>
          </a:p>
          <a:p xmlns:a="http://schemas.openxmlformats.org/drawingml/2006/main">
            <a:r>
              <a:t>        "newbill": 9,</a:t>
            </a:r>
          </a:p>
          <a:p xmlns:a="http://schemas.openxmlformats.org/drawingml/2006/main">
            <a:r>
              <a:t>        "saving": 7085.794000000002</a:t>
            </a:r>
          </a:p>
          <a:p xmlns:a="http://schemas.openxmlformats.org/drawingml/2006/main">
            <a:r>
              <a:t>      },</a:t>
            </a:r>
          </a:p>
          <a:p xmlns:a="http://schemas.openxmlformats.org/drawingml/2006/main">
            <a:r>
              <a:t>      {</a:t>
            </a:r>
          </a:p>
          <a:p xmlns:a="http://schemas.openxmlformats.org/drawingml/2006/main">
            <a:r>
              <a:t>        "month": "Sep",</a:t>
            </a:r>
          </a:p>
          <a:p xmlns:a="http://schemas.openxmlformats.org/drawingml/2006/main">
            <a:r>
              <a:t>        "days": 30,</a:t>
            </a:r>
          </a:p>
          <a:p xmlns:a="http://schemas.openxmlformats.org/drawingml/2006/main">
            <a:r>
              <a:t>        "G": 91.23333333333332,</a:t>
            </a:r>
          </a:p>
          <a:p xmlns:a="http://schemas.openxmlformats.org/drawingml/2006/main">
            <a:r>
              <a:t>        "direct": 40.35,</a:t>
            </a:r>
          </a:p>
          <a:p xmlns:a="http://schemas.openxmlformats.org/drawingml/2006/main">
            <a:r>
              <a:t>        "surplus": 50.88333333333332,</a:t>
            </a:r>
          </a:p>
          <a:p xmlns:a="http://schemas.openxmlformats.org/drawingml/2006/main">
            <a:r>
              <a:t>        "battery": 40.35,</a:t>
            </a:r>
          </a:p>
          <a:p xmlns:a="http://schemas.openxmlformats.org/drawingml/2006/main">
            <a:r>
              <a:t>        "imports": 0,</a:t>
            </a:r>
          </a:p>
          <a:p xmlns:a="http://schemas.openxmlformats.org/drawingml/2006/main">
            <a:r>
              <a:t>        "base": 6867.22,</a:t>
            </a:r>
          </a:p>
          <a:p xmlns:a="http://schemas.openxmlformats.org/drawingml/2006/main">
            <a:r>
              <a:t>        "newbill": 9,</a:t>
            </a:r>
          </a:p>
          <a:p xmlns:a="http://schemas.openxmlformats.org/drawingml/2006/main">
            <a:r>
              <a:t>        "saving": 6858.22</a:t>
            </a:r>
          </a:p>
          <a:p xmlns:a="http://schemas.openxmlformats.org/drawingml/2006/main">
            <a:r>
              <a:t>      },</a:t>
            </a:r>
          </a:p>
          <a:p xmlns:a="http://schemas.openxmlformats.org/drawingml/2006/main">
            <a:r>
              <a:t>      {</a:t>
            </a:r>
          </a:p>
          <a:p xmlns:a="http://schemas.openxmlformats.org/drawingml/2006/main">
            <a:r>
              <a:t>        "month": "Oct",</a:t>
            </a:r>
          </a:p>
          <a:p xmlns:a="http://schemas.openxmlformats.org/drawingml/2006/main">
            <a:r>
              <a:t>        "days": 31,</a:t>
            </a:r>
          </a:p>
          <a:p xmlns:a="http://schemas.openxmlformats.org/drawingml/2006/main">
            <a:r>
              <a:t>        "G": 84.74225806451614,</a:t>
            </a:r>
          </a:p>
          <a:p xmlns:a="http://schemas.openxmlformats.org/drawingml/2006/main">
            <a:r>
              <a:t>        "direct": 40.35,</a:t>
            </a:r>
          </a:p>
          <a:p xmlns:a="http://schemas.openxmlformats.org/drawingml/2006/main">
            <a:r>
              <a:t>        "surplus": 44.392258064516135,</a:t>
            </a:r>
          </a:p>
          <a:p xmlns:a="http://schemas.openxmlformats.org/drawingml/2006/main">
            <a:r>
              <a:t>        "battery": 40.35,</a:t>
            </a:r>
          </a:p>
          <a:p xmlns:a="http://schemas.openxmlformats.org/drawingml/2006/main">
            <a:r>
              <a:t>        "imports": 0,</a:t>
            </a:r>
          </a:p>
          <a:p xmlns:a="http://schemas.openxmlformats.org/drawingml/2006/main">
            <a:r>
              <a:t>        "base": 7094.794000000002,</a:t>
            </a:r>
          </a:p>
          <a:p xmlns:a="http://schemas.openxmlformats.org/drawingml/2006/main">
            <a:r>
              <a:t>        "newbill": 9,</a:t>
            </a:r>
          </a:p>
          <a:p xmlns:a="http://schemas.openxmlformats.org/drawingml/2006/main">
            <a:r>
              <a:t>        "saving": 7085.794000000002</a:t>
            </a:r>
          </a:p>
          <a:p xmlns:a="http://schemas.openxmlformats.org/drawingml/2006/main">
            <a:r>
              <a:t>      },</a:t>
            </a:r>
          </a:p>
          <a:p xmlns:a="http://schemas.openxmlformats.org/drawingml/2006/main">
            <a:r>
              <a:t>      {</a:t>
            </a:r>
          </a:p>
          <a:p xmlns:a="http://schemas.openxmlformats.org/drawingml/2006/main">
            <a:r>
              <a:t>        "month": "Nov",</a:t>
            </a:r>
          </a:p>
          <a:p xmlns:a="http://schemas.openxmlformats.org/drawingml/2006/main">
            <a:r>
              <a:t>        "days": 30,</a:t>
            </a:r>
          </a:p>
          <a:p xmlns:a="http://schemas.openxmlformats.org/drawingml/2006/main">
            <a:r>
              <a:t>        "G": 77.61633333333334,</a:t>
            </a:r>
          </a:p>
          <a:p xmlns:a="http://schemas.openxmlformats.org/drawingml/2006/main">
            <a:r>
              <a:t>        "direct": 40.35,</a:t>
            </a:r>
          </a:p>
          <a:p xmlns:a="http://schemas.openxmlformats.org/drawingml/2006/main">
            <a:r>
              <a:t>        "surplus": 37.26633333333334,</a:t>
            </a:r>
          </a:p>
          <a:p xmlns:a="http://schemas.openxmlformats.org/drawingml/2006/main">
            <a:r>
              <a:t>        "battery": 35.40301666666667,</a:t>
            </a:r>
          </a:p>
          <a:p xmlns:a="http://schemas.openxmlformats.org/drawingml/2006/main">
            <a:r>
              <a:t>        "imports": 148.40949999999987,</a:t>
            </a:r>
          </a:p>
          <a:p xmlns:a="http://schemas.openxmlformats.org/drawingml/2006/main">
            <a:r>
              <a:t>        "base": 6867.22,</a:t>
            </a:r>
          </a:p>
          <a:p xmlns:a="http://schemas.openxmlformats.org/drawingml/2006/main">
            <a:r>
              <a:t>        "newbill": 340.01680499999975,</a:t>
            </a:r>
          </a:p>
          <a:p xmlns:a="http://schemas.openxmlformats.org/drawingml/2006/main">
            <a:r>
              <a:t>        "saving": 6527.203195</a:t>
            </a:r>
          </a:p>
          <a:p xmlns:a="http://schemas.openxmlformats.org/drawingml/2006/main">
            <a:r>
              <a:t>      },</a:t>
            </a:r>
          </a:p>
          <a:p xmlns:a="http://schemas.openxmlformats.org/drawingml/2006/main">
            <a:r>
              <a:t>      {</a:t>
            </a:r>
          </a:p>
          <a:p xmlns:a="http://schemas.openxmlformats.org/drawingml/2006/main">
            <a:r>
              <a:t>        "month": "Dec",</a:t>
            </a:r>
          </a:p>
          <a:p xmlns:a="http://schemas.openxmlformats.org/drawingml/2006/main">
            <a:r>
              <a:t>        "days": 31,</a:t>
            </a:r>
          </a:p>
          <a:p xmlns:a="http://schemas.openxmlformats.org/drawingml/2006/main">
            <a:r>
              <a:t>        "G": 71.50967741935484,</a:t>
            </a:r>
          </a:p>
          <a:p xmlns:a="http://schemas.openxmlformats.org/drawingml/2006/main">
            <a:r>
              <a:t>        "direct": 40.35,</a:t>
            </a:r>
          </a:p>
          <a:p xmlns:a="http://schemas.openxmlformats.org/drawingml/2006/main">
            <a:r>
              <a:t>        "surplus": 31.159677419354843,</a:t>
            </a:r>
          </a:p>
          <a:p xmlns:a="http://schemas.openxmlformats.org/drawingml/2006/main">
            <a:r>
              <a:t>        "battery": 29.6016935483871,</a:t>
            </a:r>
          </a:p>
          <a:p xmlns:a="http://schemas.openxmlformats.org/drawingml/2006/main">
            <a:r>
              <a:t>        "imports": 333.19749999999993,</a:t>
            </a:r>
          </a:p>
          <a:p xmlns:a="http://schemas.openxmlformats.org/drawingml/2006/main">
            <a:r>
              <a:t>        "base": 7094.794000000002,</a:t>
            </a:r>
          </a:p>
          <a:p xmlns:a="http://schemas.openxmlformats.org/drawingml/2006/main">
            <a:r>
              <a:t>        "newbill": 909.6373249999998,</a:t>
            </a:r>
          </a:p>
          <a:p xmlns:a="http://schemas.openxmlformats.org/drawingml/2006/main">
            <a:r>
              <a:t>        "saving": 6185.156675000002</a:t>
            </a:r>
          </a:p>
          <a:p xmlns:a="http://schemas.openxmlformats.org/drawingml/2006/main">
            <a:r>
              <a:t>      }</a:t>
            </a:r>
          </a:p>
          <a:p xmlns:a="http://schemas.openxmlformats.org/drawingml/2006/main">
            <a:r>
              <a:t>    ],</a:t>
            </a:r>
          </a:p>
          <a:p xmlns:a="http://schemas.openxmlformats.org/drawingml/2006/main">
            <a:r>
              <a:t>    "annualSaving": 81090.66842000002,</a:t>
            </a:r>
          </a:p>
          <a:p xmlns:a="http://schemas.openxmlformats.org/drawingml/2006/main">
            <a:r>
              <a:t>    "averageSaving": 6757.555701666668,</a:t>
            </a:r>
          </a:p>
          <a:p xmlns:a="http://schemas.openxmlformats.org/drawingml/2006/main">
            <a:r>
              <a:t>    "payback": 14.237889790476089,</a:t>
            </a:r>
          </a:p>
          <a:p xmlns:a="http://schemas.openxmlformats.org/drawingml/2006/main">
            <a:r>
              <a:t>    "annualImports": 912.7620000000002</a:t>
            </a:r>
          </a:p>
          <a:p xmlns:a="http://schemas.openxmlformats.org/drawingml/2006/main">
            <a:r>
              <a:t>  }</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EgyptERA commercial tariff from April 2026, https://www.egyptera.org/en/TarrifApril2026.aspx (checked 30 Sep 2026). JRC PVGIS 5.3, https://re.jrc.ec.europa.eu/api/v5_3/PVcalc?lat=30.0444&amp;lon=31.2357&amp;peakpower=1&amp;loss=14&amp;angle=30&amp;aspect=0&amp;pvtechchoice=crystSi&amp;mountingplace=free&amp;outputformat=json . SARAH3/ERA5 2005–2023, Cairo 30.0444N 31.2357E, south-facing 30 degrees, crystalline silicon, free-standing, 14% entered PV loss. Historical modeled output, local shading unmeasured. Home_Storage.pptx slide 15: battery 220 EUR/kWh at assumed 62 EGP/EUR = 13,640 EGP/kWh. Historical model assumptions treated as customer selling prices, not current quotes. Source deck slide 18 states 10-year warranty and 6,000 cycles at 80% DoD.</a:t>
            </a:r>
          </a:p>
          <a:p xmlns:a="http://schemas.openxmlformats.org/drawingml/2006/main">
            <a:r>
              <a:t>Method: E=2421/30=80.7 kWh/day (billing period assumed). D=N=40.35. U=C*0.8 before losses. eta=0.95 aggregate storage-path energy factor allocated once at output. Delivered battery=min(solar surplus*eta,U*eta,N). No grid charging, exports have zero value, no reserve held. Required whole-night nameplate=40.35/(.8*.95)=53.092105 kWh. Installed C=64 for the product comparison. PV size rounded up to 0.5 kWp. Inverter sizes preliminary.</a:t>
            </a:r>
          </a:p>
          <a:p xmlns:a="http://schemas.openxmlformats.org/drawingml/2006/main">
            <a:r>
              <a:t>Annual scenario: monthly PV daily mean=PVGIS E_m / calendar days, daily consumption held at80.7, non-leap year365days. Treat each month as repeated average days, no hourly dispatch or interday simulation. Baseline bill and newbill evaluated per month at full precision. Rounded displayed inputs may create small rounding differences. All savings exclude the equal annual3EGP stamp, which cancels in the comparison. No finance, maintenance, insurance, degradation, replacement, tariff escalation or added subscription margin.</a:t>
            </a:r>
          </a:p>
          <a:p xmlns:a="http://schemas.openxmlformats.org/drawingml/2006/main">
            <a:r>
              <a:t>PVGIS annual API total1818.36kWh vs summed rounded monthly1818.37kWh differs by0.01 due to rounding. Sizing uses requested unweighted mean of12 displayed daily yields4.9816667 rounded4.98. Annual financial calculation uses monthly E_m.</a:t>
            </a:r>
          </a:p>
          <a:p xmlns:a="http://schemas.openxmlformats.org/drawingml/2006/main">
            <a:r>
              <a:t/>
            </a:r>
          </a:p>
          <a:p xmlns:a="http://schemas.openxmlformats.org/drawingml/2006/main">
            <a:r>
              <a:t>Calculated reference and monthly scenarios (unrounded):</a:t>
            </a:r>
          </a:p>
          <a:p xmlns:a="http://schemas.openxmlformats.org/drawingml/2006/main">
            <a:r>
              <a:t>[</a:t>
            </a:r>
          </a:p>
          <a:p xmlns:a="http://schemas.openxmlformats.org/drawingml/2006/main">
            <a:r>
              <a:t>  {</a:t>
            </a:r>
          </a:p>
          <a:p xmlns:a="http://schemas.openxmlformats.org/drawingml/2006/main">
            <a:r>
              <a:t>    "option": "A",</a:t>
            </a:r>
          </a:p>
          <a:p xmlns:a="http://schemas.openxmlformats.org/drawingml/2006/main">
            <a:r>
              <a:t>    "C": 0,</a:t>
            </a:r>
          </a:p>
          <a:p xmlns:a="http://schemas.openxmlformats.org/drawingml/2006/main">
            <a:r>
              <a:t>    "P": 8.5,</a:t>
            </a:r>
          </a:p>
          <a:p xmlns:a="http://schemas.openxmlformats.org/drawingml/2006/main">
            <a:r>
              <a:t>    "inv": 10,</a:t>
            </a:r>
          </a:p>
          <a:p xmlns:a="http://schemas.openxmlformats.org/drawingml/2006/main">
            <a:r>
              <a:t>    "price": 140800,</a:t>
            </a:r>
          </a:p>
          <a:p xmlns:a="http://schemas.openxmlformats.org/drawingml/2006/main">
            <a:r>
              <a:t>    "reference": {</a:t>
            </a:r>
          </a:p>
          <a:p xmlns:a="http://schemas.openxmlformats.org/drawingml/2006/main">
            <a:r>
              <a:t>      "G": 42.330000000000005,</a:t>
            </a:r>
          </a:p>
          <a:p xmlns:a="http://schemas.openxmlformats.org/drawingml/2006/main">
            <a:r>
              <a:t>      "direct": 40.35,</a:t>
            </a:r>
          </a:p>
          <a:p xmlns:a="http://schemas.openxmlformats.org/drawingml/2006/main">
            <a:r>
              <a:t>      "surplus": 1.980000000000004,</a:t>
            </a:r>
          </a:p>
          <a:p xmlns:a="http://schemas.openxmlformats.org/drawingml/2006/main">
            <a:r>
              <a:t>      "battery": 0,</a:t>
            </a:r>
          </a:p>
          <a:p xmlns:a="http://schemas.openxmlformats.org/drawingml/2006/main">
            <a:r>
              <a:t>      "imports": 1210.5,</a:t>
            </a:r>
          </a:p>
          <a:p xmlns:a="http://schemas.openxmlformats.org/drawingml/2006/main">
            <a:r>
              <a:t>      "base": 6867.22,</a:t>
            </a:r>
          </a:p>
          <a:p xmlns:a="http://schemas.openxmlformats.org/drawingml/2006/main">
            <a:r>
              <a:t>      "newbill": 3453.61,</a:t>
            </a:r>
          </a:p>
          <a:p xmlns:a="http://schemas.openxmlformats.org/drawingml/2006/main">
            <a:r>
              <a:t>      "saving": 3413.61</a:t>
            </a:r>
          </a:p>
          <a:p xmlns:a="http://schemas.openxmlformats.org/drawingml/2006/main">
            <a:r>
              <a:t>    },</a:t>
            </a:r>
          </a:p>
          <a:p xmlns:a="http://schemas.openxmlformats.org/drawingml/2006/main">
            <a:r>
              <a:t>    "monthly": [</a:t>
            </a:r>
          </a:p>
          <a:p xmlns:a="http://schemas.openxmlformats.org/drawingml/2006/main">
            <a:r>
              <a:t>      {</a:t>
            </a:r>
          </a:p>
          <a:p xmlns:a="http://schemas.openxmlformats.org/drawingml/2006/main">
            <a:r>
              <a:t>        "month": "Jan",</a:t>
            </a:r>
          </a:p>
          <a:p xmlns:a="http://schemas.openxmlformats.org/drawingml/2006/main">
            <a:r>
              <a:t>        "days": 31,</a:t>
            </a:r>
          </a:p>
          <a:p xmlns:a="http://schemas.openxmlformats.org/drawingml/2006/main">
            <a:r>
              <a:t>        "G": 36.00161290322581,</a:t>
            </a:r>
          </a:p>
          <a:p xmlns:a="http://schemas.openxmlformats.org/drawingml/2006/main">
            <a:r>
              <a:t>        "direct": 36.00161290322581,</a:t>
            </a:r>
          </a:p>
          <a:p xmlns:a="http://schemas.openxmlformats.org/drawingml/2006/main">
            <a:r>
              <a:t>        "surplus": 0,</a:t>
            </a:r>
          </a:p>
          <a:p xmlns:a="http://schemas.openxmlformats.org/drawingml/2006/main">
            <a:r>
              <a:t>        "battery": 0,</a:t>
            </a:r>
          </a:p>
          <a:p xmlns:a="http://schemas.openxmlformats.org/drawingml/2006/main">
            <a:r>
              <a:t>        "imports": 1385.6499999999999,</a:t>
            </a:r>
          </a:p>
          <a:p xmlns:a="http://schemas.openxmlformats.org/drawingml/2006/main">
            <a:r>
              <a:t>        "base": 7094.794000000002,</a:t>
            </a:r>
          </a:p>
          <a:p xmlns:a="http://schemas.openxmlformats.org/drawingml/2006/main">
            <a:r>
              <a:t>        "newbill": 3947.533,</a:t>
            </a:r>
          </a:p>
          <a:p xmlns:a="http://schemas.openxmlformats.org/drawingml/2006/main">
            <a:r>
              <a:t>        "saving": 3147.261000000002</a:t>
            </a:r>
          </a:p>
          <a:p xmlns:a="http://schemas.openxmlformats.org/drawingml/2006/main">
            <a:r>
              <a:t>      },</a:t>
            </a:r>
          </a:p>
          <a:p xmlns:a="http://schemas.openxmlformats.org/drawingml/2006/main">
            <a:r>
              <a:t>      {</a:t>
            </a:r>
          </a:p>
          <a:p xmlns:a="http://schemas.openxmlformats.org/drawingml/2006/main">
            <a:r>
              <a:t>        "month": "Feb",</a:t>
            </a:r>
          </a:p>
          <a:p xmlns:a="http://schemas.openxmlformats.org/drawingml/2006/main">
            <a:r>
              <a:t>        "days": 28,</a:t>
            </a:r>
          </a:p>
          <a:p xmlns:a="http://schemas.openxmlformats.org/drawingml/2006/main">
            <a:r>
              <a:t>        "G": 39.29732142857142,</a:t>
            </a:r>
          </a:p>
          <a:p xmlns:a="http://schemas.openxmlformats.org/drawingml/2006/main">
            <a:r>
              <a:t>        "direct": 39.29732142857142,</a:t>
            </a:r>
          </a:p>
          <a:p xmlns:a="http://schemas.openxmlformats.org/drawingml/2006/main">
            <a:r>
              <a:t>        "surplus": 0,</a:t>
            </a:r>
          </a:p>
          <a:p xmlns:a="http://schemas.openxmlformats.org/drawingml/2006/main">
            <a:r>
              <a:t>        "battery": 0,</a:t>
            </a:r>
          </a:p>
          <a:p xmlns:a="http://schemas.openxmlformats.org/drawingml/2006/main">
            <a:r>
              <a:t>        "imports": 1159.2750000000003,</a:t>
            </a:r>
          </a:p>
          <a:p xmlns:a="http://schemas.openxmlformats.org/drawingml/2006/main">
            <a:r>
              <a:t>        "base": 6412.071999999999,</a:t>
            </a:r>
          </a:p>
          <a:p xmlns:a="http://schemas.openxmlformats.org/drawingml/2006/main">
            <a:r>
              <a:t>        "newbill": 3309.1555000000008,</a:t>
            </a:r>
          </a:p>
          <a:p xmlns:a="http://schemas.openxmlformats.org/drawingml/2006/main">
            <a:r>
              <a:t>        "saving": 3102.9164999999985</a:t>
            </a:r>
          </a:p>
          <a:p xmlns:a="http://schemas.openxmlformats.org/drawingml/2006/main">
            <a:r>
              <a:t>      },</a:t>
            </a:r>
          </a:p>
          <a:p xmlns:a="http://schemas.openxmlformats.org/drawingml/2006/main">
            <a:r>
              <a:t>      {</a:t>
            </a:r>
          </a:p>
          <a:p xmlns:a="http://schemas.openxmlformats.org/drawingml/2006/main">
            <a:r>
              <a:t>        "month": "Mar",</a:t>
            </a:r>
          </a:p>
          <a:p xmlns:a="http://schemas.openxmlformats.org/drawingml/2006/main">
            <a:r>
              <a:t>        "days": 31,</a:t>
            </a:r>
          </a:p>
          <a:p xmlns:a="http://schemas.openxmlformats.org/drawingml/2006/main">
            <a:r>
              <a:t>        "G": 44.1616129032258,</a:t>
            </a:r>
          </a:p>
          <a:p xmlns:a="http://schemas.openxmlformats.org/drawingml/2006/main">
            <a:r>
              <a:t>        "direct": 40.35,</a:t>
            </a:r>
          </a:p>
          <a:p xmlns:a="http://schemas.openxmlformats.org/drawingml/2006/main">
            <a:r>
              <a:t>        "surplus": 3.8116129032258,</a:t>
            </a:r>
          </a:p>
          <a:p xmlns:a="http://schemas.openxmlformats.org/drawingml/2006/main">
            <a:r>
              <a:t>        "battery": 0,</a:t>
            </a:r>
          </a:p>
          <a:p xmlns:a="http://schemas.openxmlformats.org/drawingml/2006/main">
            <a:r>
              <a:t>        "imports": 1250.8500000000001,</a:t>
            </a:r>
          </a:p>
          <a:p xmlns:a="http://schemas.openxmlformats.org/drawingml/2006/main">
            <a:r>
              <a:t>        "base": 7094.794000000002,</a:t>
            </a:r>
          </a:p>
          <a:p xmlns:a="http://schemas.openxmlformats.org/drawingml/2006/main">
            <a:r>
              <a:t>        "newbill": 3567.397000000001,</a:t>
            </a:r>
          </a:p>
          <a:p xmlns:a="http://schemas.openxmlformats.org/drawingml/2006/main">
            <a:r>
              <a:t>        "saving": 3527.397000000001</a:t>
            </a:r>
          </a:p>
          <a:p xmlns:a="http://schemas.openxmlformats.org/drawingml/2006/main">
            <a:r>
              <a:t>      },</a:t>
            </a:r>
          </a:p>
          <a:p xmlns:a="http://schemas.openxmlformats.org/drawingml/2006/main">
            <a:r>
              <a:t>      {</a:t>
            </a:r>
          </a:p>
          <a:p xmlns:a="http://schemas.openxmlformats.org/drawingml/2006/main">
            <a:r>
              <a:t>        "month": "Apr",</a:t>
            </a:r>
          </a:p>
          <a:p xmlns:a="http://schemas.openxmlformats.org/drawingml/2006/main">
            <a:r>
              <a:t>        "days": 30,</a:t>
            </a:r>
          </a:p>
          <a:p xmlns:a="http://schemas.openxmlformats.org/drawingml/2006/main">
            <a:r>
              <a:t>        "G": 45.577,</a:t>
            </a:r>
          </a:p>
          <a:p xmlns:a="http://schemas.openxmlformats.org/drawingml/2006/main">
            <a:r>
              <a:t>        "direct": 40.35,</a:t>
            </a:r>
          </a:p>
          <a:p xmlns:a="http://schemas.openxmlformats.org/drawingml/2006/main">
            <a:r>
              <a:t>        "surplus": 5.226999999999997,</a:t>
            </a:r>
          </a:p>
          <a:p xmlns:a="http://schemas.openxmlformats.org/drawingml/2006/main">
            <a:r>
              <a:t>        "battery": 0,</a:t>
            </a:r>
          </a:p>
          <a:p xmlns:a="http://schemas.openxmlformats.org/drawingml/2006/main">
            <a:r>
              <a:t>        "imports": 1210.5,</a:t>
            </a:r>
          </a:p>
          <a:p xmlns:a="http://schemas.openxmlformats.org/drawingml/2006/main">
            <a:r>
              <a:t>        "base": 6867.22,</a:t>
            </a:r>
          </a:p>
          <a:p xmlns:a="http://schemas.openxmlformats.org/drawingml/2006/main">
            <a:r>
              <a:t>        "newbill": 3453.61,</a:t>
            </a:r>
          </a:p>
          <a:p xmlns:a="http://schemas.openxmlformats.org/drawingml/2006/main">
            <a:r>
              <a:t>        "saving": 3413.61</a:t>
            </a:r>
          </a:p>
          <a:p xmlns:a="http://schemas.openxmlformats.org/drawingml/2006/main">
            <a:r>
              <a:t>      },</a:t>
            </a:r>
          </a:p>
          <a:p xmlns:a="http://schemas.openxmlformats.org/drawingml/2006/main">
            <a:r>
              <a:t>      {</a:t>
            </a:r>
          </a:p>
          <a:p xmlns:a="http://schemas.openxmlformats.org/drawingml/2006/main">
            <a:r>
              <a:t>        "month": "May",</a:t>
            </a:r>
          </a:p>
          <a:p xmlns:a="http://schemas.openxmlformats.org/drawingml/2006/main">
            <a:r>
              <a:t>        "days": 31,</a:t>
            </a:r>
          </a:p>
          <a:p xmlns:a="http://schemas.openxmlformats.org/drawingml/2006/main">
            <a:r>
              <a:t>        "G": 44.61677419354839,</a:t>
            </a:r>
          </a:p>
          <a:p xmlns:a="http://schemas.openxmlformats.org/drawingml/2006/main">
            <a:r>
              <a:t>        "direct": 40.35,</a:t>
            </a:r>
          </a:p>
          <a:p xmlns:a="http://schemas.openxmlformats.org/drawingml/2006/main">
            <a:r>
              <a:t>        "surplus": 4.266774193548386,</a:t>
            </a:r>
          </a:p>
          <a:p xmlns:a="http://schemas.openxmlformats.org/drawingml/2006/main">
            <a:r>
              <a:t>        "battery": 0,</a:t>
            </a:r>
          </a:p>
          <a:p xmlns:a="http://schemas.openxmlformats.org/drawingml/2006/main">
            <a:r>
              <a:t>        "imports": 1250.8500000000001,</a:t>
            </a:r>
          </a:p>
          <a:p xmlns:a="http://schemas.openxmlformats.org/drawingml/2006/main">
            <a:r>
              <a:t>        "base": 7094.794000000002,</a:t>
            </a:r>
          </a:p>
          <a:p xmlns:a="http://schemas.openxmlformats.org/drawingml/2006/main">
            <a:r>
              <a:t>        "newbill": 3567.397000000001,</a:t>
            </a:r>
          </a:p>
          <a:p xmlns:a="http://schemas.openxmlformats.org/drawingml/2006/main">
            <a:r>
              <a:t>        "saving": 3527.397000000001</a:t>
            </a:r>
          </a:p>
          <a:p xmlns:a="http://schemas.openxmlformats.org/drawingml/2006/main">
            <a:r>
              <a:t>      },</a:t>
            </a:r>
          </a:p>
          <a:p xmlns:a="http://schemas.openxmlformats.org/drawingml/2006/main">
            <a:r>
              <a:t>      {</a:t>
            </a:r>
          </a:p>
          <a:p xmlns:a="http://schemas.openxmlformats.org/drawingml/2006/main">
            <a:r>
              <a:t>        "month": "Jun",</a:t>
            </a:r>
          </a:p>
          <a:p xmlns:a="http://schemas.openxmlformats.org/drawingml/2006/main">
            <a:r>
              <a:t>        "days": 30,</a:t>
            </a:r>
          </a:p>
          <a:p xmlns:a="http://schemas.openxmlformats.org/drawingml/2006/main">
            <a:r>
              <a:t>        "G": 44.94233333333334,</a:t>
            </a:r>
          </a:p>
          <a:p xmlns:a="http://schemas.openxmlformats.org/drawingml/2006/main">
            <a:r>
              <a:t>        "direct": 40.35,</a:t>
            </a:r>
          </a:p>
          <a:p xmlns:a="http://schemas.openxmlformats.org/drawingml/2006/main">
            <a:r>
              <a:t>        "surplus": 4.592333333333336,</a:t>
            </a:r>
          </a:p>
          <a:p xmlns:a="http://schemas.openxmlformats.org/drawingml/2006/main">
            <a:r>
              <a:t>        "battery": 0,</a:t>
            </a:r>
          </a:p>
          <a:p xmlns:a="http://schemas.openxmlformats.org/drawingml/2006/main">
            <a:r>
              <a:t>        "imports": 1210.5,</a:t>
            </a:r>
          </a:p>
          <a:p xmlns:a="http://schemas.openxmlformats.org/drawingml/2006/main">
            <a:r>
              <a:t>        "base": 6867.22,</a:t>
            </a:r>
          </a:p>
          <a:p xmlns:a="http://schemas.openxmlformats.org/drawingml/2006/main">
            <a:r>
              <a:t>        "newbill": 3453.61,</a:t>
            </a:r>
          </a:p>
          <a:p xmlns:a="http://schemas.openxmlformats.org/drawingml/2006/main">
            <a:r>
              <a:t>        "saving": 3413.61</a:t>
            </a:r>
          </a:p>
          <a:p xmlns:a="http://schemas.openxmlformats.org/drawingml/2006/main">
            <a:r>
              <a:t>      },</a:t>
            </a:r>
          </a:p>
          <a:p xmlns:a="http://schemas.openxmlformats.org/drawingml/2006/main">
            <a:r>
              <a:t>      {</a:t>
            </a:r>
          </a:p>
          <a:p xmlns:a="http://schemas.openxmlformats.org/drawingml/2006/main">
            <a:r>
              <a:t>        "month": "Jul",</a:t>
            </a:r>
          </a:p>
          <a:p xmlns:a="http://schemas.openxmlformats.org/drawingml/2006/main">
            <a:r>
              <a:t>        "days": 31,</a:t>
            </a:r>
          </a:p>
          <a:p xmlns:a="http://schemas.openxmlformats.org/drawingml/2006/main">
            <a:r>
              <a:t>        "G": 45.148709677419355,</a:t>
            </a:r>
          </a:p>
          <a:p xmlns:a="http://schemas.openxmlformats.org/drawingml/2006/main">
            <a:r>
              <a:t>        "direct": 40.35,</a:t>
            </a:r>
          </a:p>
          <a:p xmlns:a="http://schemas.openxmlformats.org/drawingml/2006/main">
            <a:r>
              <a:t>        "surplus": 4.798709677419353,</a:t>
            </a:r>
          </a:p>
          <a:p xmlns:a="http://schemas.openxmlformats.org/drawingml/2006/main">
            <a:r>
              <a:t>        "battery": 0,</a:t>
            </a:r>
          </a:p>
          <a:p xmlns:a="http://schemas.openxmlformats.org/drawingml/2006/main">
            <a:r>
              <a:t>        "imports": 1250.8500000000001,</a:t>
            </a:r>
          </a:p>
          <a:p xmlns:a="http://schemas.openxmlformats.org/drawingml/2006/main">
            <a:r>
              <a:t>        "base": 7094.794000000002,</a:t>
            </a:r>
          </a:p>
          <a:p xmlns:a="http://schemas.openxmlformats.org/drawingml/2006/main">
            <a:r>
              <a:t>        "newbill": 3567.397000000001,</a:t>
            </a:r>
          </a:p>
          <a:p xmlns:a="http://schemas.openxmlformats.org/drawingml/2006/main">
            <a:r>
              <a:t>        "saving": 3527.397000000001</a:t>
            </a:r>
          </a:p>
          <a:p xmlns:a="http://schemas.openxmlformats.org/drawingml/2006/main">
            <a:r>
              <a:t>      },</a:t>
            </a:r>
          </a:p>
          <a:p xmlns:a="http://schemas.openxmlformats.org/drawingml/2006/main">
            <a:r>
              <a:t>      {</a:t>
            </a:r>
          </a:p>
          <a:p xmlns:a="http://schemas.openxmlformats.org/drawingml/2006/main">
            <a:r>
              <a:t>        "month": "Aug",</a:t>
            </a:r>
          </a:p>
          <a:p xmlns:a="http://schemas.openxmlformats.org/drawingml/2006/main">
            <a:r>
              <a:t>        "days": 31,</a:t>
            </a:r>
          </a:p>
          <a:p xmlns:a="http://schemas.openxmlformats.org/drawingml/2006/main">
            <a:r>
              <a:t>        "G": 45.73548387096774,</a:t>
            </a:r>
          </a:p>
          <a:p xmlns:a="http://schemas.openxmlformats.org/drawingml/2006/main">
            <a:r>
              <a:t>        "direct": 40.35,</a:t>
            </a:r>
          </a:p>
          <a:p xmlns:a="http://schemas.openxmlformats.org/drawingml/2006/main">
            <a:r>
              <a:t>        "surplus": 5.3854838709677395,</a:t>
            </a:r>
          </a:p>
          <a:p xmlns:a="http://schemas.openxmlformats.org/drawingml/2006/main">
            <a:r>
              <a:t>        "battery": 0,</a:t>
            </a:r>
          </a:p>
          <a:p xmlns:a="http://schemas.openxmlformats.org/drawingml/2006/main">
            <a:r>
              <a:t>        "imports": 1250.8500000000001,</a:t>
            </a:r>
          </a:p>
          <a:p xmlns:a="http://schemas.openxmlformats.org/drawingml/2006/main">
            <a:r>
              <a:t>        "base": 7094.794000000002,</a:t>
            </a:r>
          </a:p>
          <a:p xmlns:a="http://schemas.openxmlformats.org/drawingml/2006/main">
            <a:r>
              <a:t>        "newbill": 3567.397000000001,</a:t>
            </a:r>
          </a:p>
          <a:p xmlns:a="http://schemas.openxmlformats.org/drawingml/2006/main">
            <a:r>
              <a:t>        "saving": 3527.397000000001</a:t>
            </a:r>
          </a:p>
          <a:p xmlns:a="http://schemas.openxmlformats.org/drawingml/2006/main">
            <a:r>
              <a:t>      },</a:t>
            </a:r>
          </a:p>
          <a:p xmlns:a="http://schemas.openxmlformats.org/drawingml/2006/main">
            <a:r>
              <a:t>      {</a:t>
            </a:r>
          </a:p>
          <a:p xmlns:a="http://schemas.openxmlformats.org/drawingml/2006/main">
            <a:r>
              <a:t>        "month": "Sep",</a:t>
            </a:r>
          </a:p>
          <a:p xmlns:a="http://schemas.openxmlformats.org/drawingml/2006/main">
            <a:r>
              <a:t>        "days": 30,</a:t>
            </a:r>
          </a:p>
          <a:p xmlns:a="http://schemas.openxmlformats.org/drawingml/2006/main">
            <a:r>
              <a:t>        "G": 45.61666666666666,</a:t>
            </a:r>
          </a:p>
          <a:p xmlns:a="http://schemas.openxmlformats.org/drawingml/2006/main">
            <a:r>
              <a:t>        "direct": 40.35,</a:t>
            </a:r>
          </a:p>
          <a:p xmlns:a="http://schemas.openxmlformats.org/drawingml/2006/main">
            <a:r>
              <a:t>        "surplus": 5.266666666666659,</a:t>
            </a:r>
          </a:p>
          <a:p xmlns:a="http://schemas.openxmlformats.org/drawingml/2006/main">
            <a:r>
              <a:t>        "battery": 0,</a:t>
            </a:r>
          </a:p>
          <a:p xmlns:a="http://schemas.openxmlformats.org/drawingml/2006/main">
            <a:r>
              <a:t>        "imports": 1210.5,</a:t>
            </a:r>
          </a:p>
          <a:p xmlns:a="http://schemas.openxmlformats.org/drawingml/2006/main">
            <a:r>
              <a:t>        "base": 6867.22,</a:t>
            </a:r>
          </a:p>
          <a:p xmlns:a="http://schemas.openxmlformats.org/drawingml/2006/main">
            <a:r>
              <a:t>        "newbill": 3453.61,</a:t>
            </a:r>
          </a:p>
          <a:p xmlns:a="http://schemas.openxmlformats.org/drawingml/2006/main">
            <a:r>
              <a:t>        "saving": 3413.61</a:t>
            </a:r>
          </a:p>
          <a:p xmlns:a="http://schemas.openxmlformats.org/drawingml/2006/main">
            <a:r>
              <a:t>      },</a:t>
            </a:r>
          </a:p>
          <a:p xmlns:a="http://schemas.openxmlformats.org/drawingml/2006/main">
            <a:r>
              <a:t>      {</a:t>
            </a:r>
          </a:p>
          <a:p xmlns:a="http://schemas.openxmlformats.org/drawingml/2006/main">
            <a:r>
              <a:t>        "month": "Oct",</a:t>
            </a:r>
          </a:p>
          <a:p xmlns:a="http://schemas.openxmlformats.org/drawingml/2006/main">
            <a:r>
              <a:t>        "days": 31,</a:t>
            </a:r>
          </a:p>
          <a:p xmlns:a="http://schemas.openxmlformats.org/drawingml/2006/main">
            <a:r>
              <a:t>        "G": 42.37112903225807,</a:t>
            </a:r>
          </a:p>
          <a:p xmlns:a="http://schemas.openxmlformats.org/drawingml/2006/main">
            <a:r>
              <a:t>        "direct": 40.35,</a:t>
            </a:r>
          </a:p>
          <a:p xmlns:a="http://schemas.openxmlformats.org/drawingml/2006/main">
            <a:r>
              <a:t>        "surplus": 2.0211290322580666,</a:t>
            </a:r>
          </a:p>
          <a:p xmlns:a="http://schemas.openxmlformats.org/drawingml/2006/main">
            <a:r>
              <a:t>        "battery": 0,</a:t>
            </a:r>
          </a:p>
          <a:p xmlns:a="http://schemas.openxmlformats.org/drawingml/2006/main">
            <a:r>
              <a:t>        "imports": 1250.8500000000001,</a:t>
            </a:r>
          </a:p>
          <a:p xmlns:a="http://schemas.openxmlformats.org/drawingml/2006/main">
            <a:r>
              <a:t>        "base": 7094.794000000002,</a:t>
            </a:r>
          </a:p>
          <a:p xmlns:a="http://schemas.openxmlformats.org/drawingml/2006/main">
            <a:r>
              <a:t>        "newbill": 3567.397000000001,</a:t>
            </a:r>
          </a:p>
          <a:p xmlns:a="http://schemas.openxmlformats.org/drawingml/2006/main">
            <a:r>
              <a:t>        "saving": 3527.397000000001</a:t>
            </a:r>
          </a:p>
          <a:p xmlns:a="http://schemas.openxmlformats.org/drawingml/2006/main">
            <a:r>
              <a:t>      },</a:t>
            </a:r>
          </a:p>
          <a:p xmlns:a="http://schemas.openxmlformats.org/drawingml/2006/main">
            <a:r>
              <a:t>      {</a:t>
            </a:r>
          </a:p>
          <a:p xmlns:a="http://schemas.openxmlformats.org/drawingml/2006/main">
            <a:r>
              <a:t>        "month": "Nov",</a:t>
            </a:r>
          </a:p>
          <a:p xmlns:a="http://schemas.openxmlformats.org/drawingml/2006/main">
            <a:r>
              <a:t>        "days": 30,</a:t>
            </a:r>
          </a:p>
          <a:p xmlns:a="http://schemas.openxmlformats.org/drawingml/2006/main">
            <a:r>
              <a:t>        "G": 38.80816666666667,</a:t>
            </a:r>
          </a:p>
          <a:p xmlns:a="http://schemas.openxmlformats.org/drawingml/2006/main">
            <a:r>
              <a:t>        "direct": 38.80816666666667,</a:t>
            </a:r>
          </a:p>
          <a:p xmlns:a="http://schemas.openxmlformats.org/drawingml/2006/main">
            <a:r>
              <a:t>        "surplus": 0,</a:t>
            </a:r>
          </a:p>
          <a:p xmlns:a="http://schemas.openxmlformats.org/drawingml/2006/main">
            <a:r>
              <a:t>        "battery": 0,</a:t>
            </a:r>
          </a:p>
          <a:p xmlns:a="http://schemas.openxmlformats.org/drawingml/2006/main">
            <a:r>
              <a:t>        "imports": 1256.7549999999999,</a:t>
            </a:r>
          </a:p>
          <a:p xmlns:a="http://schemas.openxmlformats.org/drawingml/2006/main">
            <a:r>
              <a:t>        "base": 6867.22,</a:t>
            </a:r>
          </a:p>
          <a:p xmlns:a="http://schemas.openxmlformats.org/drawingml/2006/main">
            <a:r>
              <a:t>        "newbill": 3584.0490999999997,</a:t>
            </a:r>
          </a:p>
          <a:p xmlns:a="http://schemas.openxmlformats.org/drawingml/2006/main">
            <a:r>
              <a:t>        "saving": 3283.1709000000005</a:t>
            </a:r>
          </a:p>
          <a:p xmlns:a="http://schemas.openxmlformats.org/drawingml/2006/main">
            <a:r>
              <a:t>      },</a:t>
            </a:r>
          </a:p>
          <a:p xmlns:a="http://schemas.openxmlformats.org/drawingml/2006/main">
            <a:r>
              <a:t>      {</a:t>
            </a:r>
          </a:p>
          <a:p xmlns:a="http://schemas.openxmlformats.org/drawingml/2006/main">
            <a:r>
              <a:t>        "month": "Dec",</a:t>
            </a:r>
          </a:p>
          <a:p xmlns:a="http://schemas.openxmlformats.org/drawingml/2006/main">
            <a:r>
              <a:t>        "days": 31,</a:t>
            </a:r>
          </a:p>
          <a:p xmlns:a="http://schemas.openxmlformats.org/drawingml/2006/main">
            <a:r>
              <a:t>        "G": 35.75483870967742,</a:t>
            </a:r>
          </a:p>
          <a:p xmlns:a="http://schemas.openxmlformats.org/drawingml/2006/main">
            <a:r>
              <a:t>        "direct": 35.75483870967742,</a:t>
            </a:r>
          </a:p>
          <a:p xmlns:a="http://schemas.openxmlformats.org/drawingml/2006/main">
            <a:r>
              <a:t>        "surplus": 0,</a:t>
            </a:r>
          </a:p>
          <a:p xmlns:a="http://schemas.openxmlformats.org/drawingml/2006/main">
            <a:r>
              <a:t>        "battery": 0,</a:t>
            </a:r>
          </a:p>
          <a:p xmlns:a="http://schemas.openxmlformats.org/drawingml/2006/main">
            <a:r>
              <a:t>        "imports": 1393.3,</a:t>
            </a:r>
          </a:p>
          <a:p xmlns:a="http://schemas.openxmlformats.org/drawingml/2006/main">
            <a:r>
              <a:t>        "base": 7094.794000000002,</a:t>
            </a:r>
          </a:p>
          <a:p xmlns:a="http://schemas.openxmlformats.org/drawingml/2006/main">
            <a:r>
              <a:t>        "newbill": 3969.1059999999998,</a:t>
            </a:r>
          </a:p>
          <a:p xmlns:a="http://schemas.openxmlformats.org/drawingml/2006/main">
            <a:r>
              <a:t>        "saving": 3125.688000000002</a:t>
            </a:r>
          </a:p>
          <a:p xmlns:a="http://schemas.openxmlformats.org/drawingml/2006/main">
            <a:r>
              <a:t>      }</a:t>
            </a:r>
          </a:p>
          <a:p xmlns:a="http://schemas.openxmlformats.org/drawingml/2006/main">
            <a:r>
              <a:t>    ],</a:t>
            </a:r>
          </a:p>
          <a:p xmlns:a="http://schemas.openxmlformats.org/drawingml/2006/main">
            <a:r>
              <a:t>    "annualSaving": 40536.85140000001,</a:t>
            </a:r>
          </a:p>
          <a:p xmlns:a="http://schemas.openxmlformats.org/drawingml/2006/main">
            <a:r>
              <a:t>    "averageSaving": 3378.0709500000007,</a:t>
            </a:r>
          </a:p>
          <a:p xmlns:a="http://schemas.openxmlformats.org/drawingml/2006/main">
            <a:r>
              <a:t>    "payback": 3.4733827403279767,</a:t>
            </a:r>
          </a:p>
          <a:p xmlns:a="http://schemas.openxmlformats.org/drawingml/2006/main">
            <a:r>
              <a:t>    "annualImports": 15080.73</a:t>
            </a:r>
          </a:p>
          <a:p xmlns:a="http://schemas.openxmlformats.org/drawingml/2006/main">
            <a:r>
              <a:t>  },</a:t>
            </a:r>
          </a:p>
          <a:p xmlns:a="http://schemas.openxmlformats.org/drawingml/2006/main">
            <a:r>
              <a:t>  {</a:t>
            </a:r>
          </a:p>
          <a:p xmlns:a="http://schemas.openxmlformats.org/drawingml/2006/main">
            <a:r>
              <a:t>    "option": "B",</a:t>
            </a:r>
          </a:p>
          <a:p xmlns:a="http://schemas.openxmlformats.org/drawingml/2006/main">
            <a:r>
              <a:t>    "C": 16,</a:t>
            </a:r>
          </a:p>
          <a:p xmlns:a="http://schemas.openxmlformats.org/drawingml/2006/main">
            <a:r>
              <a:t>    "P": 11,</a:t>
            </a:r>
          </a:p>
          <a:p xmlns:a="http://schemas.openxmlformats.org/drawingml/2006/main">
            <a:r>
              <a:t>    "inv": 12,</a:t>
            </a:r>
          </a:p>
          <a:p xmlns:a="http://schemas.openxmlformats.org/drawingml/2006/main">
            <a:r>
              <a:t>    "price": 394240,</a:t>
            </a:r>
          </a:p>
          <a:p xmlns:a="http://schemas.openxmlformats.org/drawingml/2006/main">
            <a:r>
              <a:t>    "reference": {</a:t>
            </a:r>
          </a:p>
          <a:p xmlns:a="http://schemas.openxmlformats.org/drawingml/2006/main">
            <a:r>
              <a:t>      "G": 54.78,</a:t>
            </a:r>
          </a:p>
          <a:p xmlns:a="http://schemas.openxmlformats.org/drawingml/2006/main">
            <a:r>
              <a:t>      "direct": 40.35,</a:t>
            </a:r>
          </a:p>
          <a:p xmlns:a="http://schemas.openxmlformats.org/drawingml/2006/main">
            <a:r>
              <a:t>      "surplus": 14.43,</a:t>
            </a:r>
          </a:p>
          <a:p xmlns:a="http://schemas.openxmlformats.org/drawingml/2006/main">
            <a:r>
              <a:t>      "battery": 12.16,</a:t>
            </a:r>
          </a:p>
          <a:p xmlns:a="http://schemas.openxmlformats.org/drawingml/2006/main">
            <a:r>
              <a:t>      "imports": 845.7,</a:t>
            </a:r>
          </a:p>
          <a:p xmlns:a="http://schemas.openxmlformats.org/drawingml/2006/main">
            <a:r>
              <a:t>      "base": 6867.22,</a:t>
            </a:r>
          </a:p>
          <a:p xmlns:a="http://schemas.openxmlformats.org/drawingml/2006/main">
            <a:r>
              <a:t>      "newbill": 2307.5890000000004,</a:t>
            </a:r>
          </a:p>
          <a:p xmlns:a="http://schemas.openxmlformats.org/drawingml/2006/main">
            <a:r>
              <a:t>      "saving": 4559.630999999999</a:t>
            </a:r>
          </a:p>
          <a:p xmlns:a="http://schemas.openxmlformats.org/drawingml/2006/main">
            <a:r>
              <a:t>    },</a:t>
            </a:r>
          </a:p>
          <a:p xmlns:a="http://schemas.openxmlformats.org/drawingml/2006/main">
            <a:r>
              <a:t>    "monthly": [</a:t>
            </a:r>
          </a:p>
          <a:p xmlns:a="http://schemas.openxmlformats.org/drawingml/2006/main">
            <a:r>
              <a:t>      {</a:t>
            </a:r>
          </a:p>
          <a:p xmlns:a="http://schemas.openxmlformats.org/drawingml/2006/main">
            <a:r>
              <a:t>        "month": "Jan",</a:t>
            </a:r>
          </a:p>
          <a:p xmlns:a="http://schemas.openxmlformats.org/drawingml/2006/main">
            <a:r>
              <a:t>        "days": 31,</a:t>
            </a:r>
          </a:p>
          <a:p xmlns:a="http://schemas.openxmlformats.org/drawingml/2006/main">
            <a:r>
              <a:t>        "G": 46.59032258064517,</a:t>
            </a:r>
          </a:p>
          <a:p xmlns:a="http://schemas.openxmlformats.org/drawingml/2006/main">
            <a:r>
              <a:t>        "direct": 40.35,</a:t>
            </a:r>
          </a:p>
          <a:p xmlns:a="http://schemas.openxmlformats.org/drawingml/2006/main">
            <a:r>
              <a:t>        "surplus": 6.24032258064517,</a:t>
            </a:r>
          </a:p>
          <a:p xmlns:a="http://schemas.openxmlformats.org/drawingml/2006/main">
            <a:r>
              <a:t>        "battery": 5.928306451612912,</a:t>
            </a:r>
          </a:p>
          <a:p xmlns:a="http://schemas.openxmlformats.org/drawingml/2006/main">
            <a:r>
              <a:t>        "imports": 1067.0724999999998,</a:t>
            </a:r>
          </a:p>
          <a:p xmlns:a="http://schemas.openxmlformats.org/drawingml/2006/main">
            <a:r>
              <a:t>        "base": 7094.794000000002,</a:t>
            </a:r>
          </a:p>
          <a:p xmlns:a="http://schemas.openxmlformats.org/drawingml/2006/main">
            <a:r>
              <a:t>        "newbill": 3049.1444499999993,</a:t>
            </a:r>
          </a:p>
          <a:p xmlns:a="http://schemas.openxmlformats.org/drawingml/2006/main">
            <a:r>
              <a:t>        "saving": 4045.6495500000024</a:t>
            </a:r>
          </a:p>
          <a:p xmlns:a="http://schemas.openxmlformats.org/drawingml/2006/main">
            <a:r>
              <a:t>      },</a:t>
            </a:r>
          </a:p>
          <a:p xmlns:a="http://schemas.openxmlformats.org/drawingml/2006/main">
            <a:r>
              <a:t>      {</a:t>
            </a:r>
          </a:p>
          <a:p xmlns:a="http://schemas.openxmlformats.org/drawingml/2006/main">
            <a:r>
              <a:t>        "month": "Feb",</a:t>
            </a:r>
          </a:p>
          <a:p xmlns:a="http://schemas.openxmlformats.org/drawingml/2006/main">
            <a:r>
              <a:t>        "days": 28,</a:t>
            </a:r>
          </a:p>
          <a:p xmlns:a="http://schemas.openxmlformats.org/drawingml/2006/main">
            <a:r>
              <a:t>        "G": 50.85535714285714,</a:t>
            </a:r>
          </a:p>
          <a:p xmlns:a="http://schemas.openxmlformats.org/drawingml/2006/main">
            <a:r>
              <a:t>        "direct": 40.35,</a:t>
            </a:r>
          </a:p>
          <a:p xmlns:a="http://schemas.openxmlformats.org/drawingml/2006/main">
            <a:r>
              <a:t>        "surplus": 10.505357142857136,</a:t>
            </a:r>
          </a:p>
          <a:p xmlns:a="http://schemas.openxmlformats.org/drawingml/2006/main">
            <a:r>
              <a:t>        "battery": 9.980089285714278,</a:t>
            </a:r>
          </a:p>
          <a:p xmlns:a="http://schemas.openxmlformats.org/drawingml/2006/main">
            <a:r>
              <a:t>        "imports": 850.3575000000003,</a:t>
            </a:r>
          </a:p>
          <a:p xmlns:a="http://schemas.openxmlformats.org/drawingml/2006/main">
            <a:r>
              <a:t>        "base": 6412.071999999999,</a:t>
            </a:r>
          </a:p>
          <a:p xmlns:a="http://schemas.openxmlformats.org/drawingml/2006/main">
            <a:r>
              <a:t>        "newbill": 2320.490275000001,</a:t>
            </a:r>
          </a:p>
          <a:p xmlns:a="http://schemas.openxmlformats.org/drawingml/2006/main">
            <a:r>
              <a:t>        "saving": 4091.581724999998</a:t>
            </a:r>
          </a:p>
          <a:p xmlns:a="http://schemas.openxmlformats.org/drawingml/2006/main">
            <a:r>
              <a:t>      },</a:t>
            </a:r>
          </a:p>
          <a:p xmlns:a="http://schemas.openxmlformats.org/drawingml/2006/main">
            <a:r>
              <a:t>      {</a:t>
            </a:r>
          </a:p>
          <a:p xmlns:a="http://schemas.openxmlformats.org/drawingml/2006/main">
            <a:r>
              <a:t>        "month": "Mar",</a:t>
            </a:r>
          </a:p>
          <a:p xmlns:a="http://schemas.openxmlformats.org/drawingml/2006/main">
            <a:r>
              <a:t>        "days": 31,</a:t>
            </a:r>
          </a:p>
          <a:p xmlns:a="http://schemas.openxmlformats.org/drawingml/2006/main">
            <a:r>
              <a:t>        "G": 57.15032258064516,</a:t>
            </a:r>
          </a:p>
          <a:p xmlns:a="http://schemas.openxmlformats.org/drawingml/2006/main">
            <a:r>
              <a:t>        "direct": 40.35,</a:t>
            </a:r>
          </a:p>
          <a:p xmlns:a="http://schemas.openxmlformats.org/drawingml/2006/main">
            <a:r>
              <a:t>        "surplus": 16.800322580645158,</a:t>
            </a:r>
          </a:p>
          <a:p xmlns:a="http://schemas.openxmlformats.org/drawingml/2006/main">
            <a:r>
              <a:t>        "battery": 12.16,</a:t>
            </a:r>
          </a:p>
          <a:p xmlns:a="http://schemas.openxmlformats.org/drawingml/2006/main">
            <a:r>
              <a:t>        "imports": 873.89,</a:t>
            </a:r>
          </a:p>
          <a:p xmlns:a="http://schemas.openxmlformats.org/drawingml/2006/main">
            <a:r>
              <a:t>        "base": 7094.794000000002,</a:t>
            </a:r>
          </a:p>
          <a:p xmlns:a="http://schemas.openxmlformats.org/drawingml/2006/main">
            <a:r>
              <a:t>        "newbill": 2385.6753,</a:t>
            </a:r>
          </a:p>
          <a:p xmlns:a="http://schemas.openxmlformats.org/drawingml/2006/main">
            <a:r>
              <a:t>        "saving": 4709.118700000002</a:t>
            </a:r>
          </a:p>
          <a:p xmlns:a="http://schemas.openxmlformats.org/drawingml/2006/main">
            <a:r>
              <a:t>      },</a:t>
            </a:r>
          </a:p>
          <a:p xmlns:a="http://schemas.openxmlformats.org/drawingml/2006/main">
            <a:r>
              <a:t>      {</a:t>
            </a:r>
          </a:p>
          <a:p xmlns:a="http://schemas.openxmlformats.org/drawingml/2006/main">
            <a:r>
              <a:t>        "month": "Apr",</a:t>
            </a:r>
          </a:p>
          <a:p xmlns:a="http://schemas.openxmlformats.org/drawingml/2006/main">
            <a:r>
              <a:t>        "days": 30,</a:t>
            </a:r>
          </a:p>
          <a:p xmlns:a="http://schemas.openxmlformats.org/drawingml/2006/main">
            <a:r>
              <a:t>        "G": 58.982,</a:t>
            </a:r>
          </a:p>
          <a:p xmlns:a="http://schemas.openxmlformats.org/drawingml/2006/main">
            <a:r>
              <a:t>        "direct": 40.35,</a:t>
            </a:r>
          </a:p>
          <a:p xmlns:a="http://schemas.openxmlformats.org/drawingml/2006/main">
            <a:r>
              <a:t>        "surplus": 18.631999999999998,</a:t>
            </a:r>
          </a:p>
          <a:p xmlns:a="http://schemas.openxmlformats.org/drawingml/2006/main">
            <a:r>
              <a:t>        "battery": 12.16,</a:t>
            </a:r>
          </a:p>
          <a:p xmlns:a="http://schemas.openxmlformats.org/drawingml/2006/main">
            <a:r>
              <a:t>        "imports": 845.7,</a:t>
            </a:r>
          </a:p>
          <a:p xmlns:a="http://schemas.openxmlformats.org/drawingml/2006/main">
            <a:r>
              <a:t>        "base": 6867.22,</a:t>
            </a:r>
          </a:p>
          <a:p xmlns:a="http://schemas.openxmlformats.org/drawingml/2006/main">
            <a:r>
              <a:t>        "newbill": 2307.5890000000004,</a:t>
            </a:r>
          </a:p>
          <a:p xmlns:a="http://schemas.openxmlformats.org/drawingml/2006/main">
            <a:r>
              <a:t>        "saving": 4559.630999999999</a:t>
            </a:r>
          </a:p>
          <a:p xmlns:a="http://schemas.openxmlformats.org/drawingml/2006/main">
            <a:r>
              <a:t>      },</a:t>
            </a:r>
          </a:p>
          <a:p xmlns:a="http://schemas.openxmlformats.org/drawingml/2006/main">
            <a:r>
              <a:t>      {</a:t>
            </a:r>
          </a:p>
          <a:p xmlns:a="http://schemas.openxmlformats.org/drawingml/2006/main">
            <a:r>
              <a:t>        "month": "May",</a:t>
            </a:r>
          </a:p>
          <a:p xmlns:a="http://schemas.openxmlformats.org/drawingml/2006/main">
            <a:r>
              <a:t>        "days": 31,</a:t>
            </a:r>
          </a:p>
          <a:p xmlns:a="http://schemas.openxmlformats.org/drawingml/2006/main">
            <a:r>
              <a:t>        "G": 57.73935483870968,</a:t>
            </a:r>
          </a:p>
          <a:p xmlns:a="http://schemas.openxmlformats.org/drawingml/2006/main">
            <a:r>
              <a:t>        "direct": 40.35,</a:t>
            </a:r>
          </a:p>
          <a:p xmlns:a="http://schemas.openxmlformats.org/drawingml/2006/main">
            <a:r>
              <a:t>        "surplus": 17.38935483870968,</a:t>
            </a:r>
          </a:p>
          <a:p xmlns:a="http://schemas.openxmlformats.org/drawingml/2006/main">
            <a:r>
              <a:t>        "battery": 12.16,</a:t>
            </a:r>
          </a:p>
          <a:p xmlns:a="http://schemas.openxmlformats.org/drawingml/2006/main">
            <a:r>
              <a:t>        "imports": 873.89,</a:t>
            </a:r>
          </a:p>
          <a:p xmlns:a="http://schemas.openxmlformats.org/drawingml/2006/main">
            <a:r>
              <a:t>        "base": 7094.794000000002,</a:t>
            </a:r>
          </a:p>
          <a:p xmlns:a="http://schemas.openxmlformats.org/drawingml/2006/main">
            <a:r>
              <a:t>        "newbill": 2385.6753,</a:t>
            </a:r>
          </a:p>
          <a:p xmlns:a="http://schemas.openxmlformats.org/drawingml/2006/main">
            <a:r>
              <a:t>        "saving": 4709.118700000002</a:t>
            </a:r>
          </a:p>
          <a:p xmlns:a="http://schemas.openxmlformats.org/drawingml/2006/main">
            <a:r>
              <a:t>      },</a:t>
            </a:r>
          </a:p>
          <a:p xmlns:a="http://schemas.openxmlformats.org/drawingml/2006/main">
            <a:r>
              <a:t>      {</a:t>
            </a:r>
          </a:p>
          <a:p xmlns:a="http://schemas.openxmlformats.org/drawingml/2006/main">
            <a:r>
              <a:t>        "month": "Jun",</a:t>
            </a:r>
          </a:p>
          <a:p xmlns:a="http://schemas.openxmlformats.org/drawingml/2006/main">
            <a:r>
              <a:t>        "days": 30,</a:t>
            </a:r>
          </a:p>
          <a:p xmlns:a="http://schemas.openxmlformats.org/drawingml/2006/main">
            <a:r>
              <a:t>        "G": 58.16066666666667,</a:t>
            </a:r>
          </a:p>
          <a:p xmlns:a="http://schemas.openxmlformats.org/drawingml/2006/main">
            <a:r>
              <a:t>        "direct": 40.35,</a:t>
            </a:r>
          </a:p>
          <a:p xmlns:a="http://schemas.openxmlformats.org/drawingml/2006/main">
            <a:r>
              <a:t>        "surplus": 17.81066666666667,</a:t>
            </a:r>
          </a:p>
          <a:p xmlns:a="http://schemas.openxmlformats.org/drawingml/2006/main">
            <a:r>
              <a:t>        "battery": 12.16,</a:t>
            </a:r>
          </a:p>
          <a:p xmlns:a="http://schemas.openxmlformats.org/drawingml/2006/main">
            <a:r>
              <a:t>        "imports": 845.7,</a:t>
            </a:r>
          </a:p>
          <a:p xmlns:a="http://schemas.openxmlformats.org/drawingml/2006/main">
            <a:r>
              <a:t>        "base": 6867.22,</a:t>
            </a:r>
          </a:p>
          <a:p xmlns:a="http://schemas.openxmlformats.org/drawingml/2006/main">
            <a:r>
              <a:t>        "newbill": 2307.5890000000004,</a:t>
            </a:r>
          </a:p>
          <a:p xmlns:a="http://schemas.openxmlformats.org/drawingml/2006/main">
            <a:r>
              <a:t>        "saving": 4559.630999999999</a:t>
            </a:r>
          </a:p>
          <a:p xmlns:a="http://schemas.openxmlformats.org/drawingml/2006/main">
            <a:r>
              <a:t>      },</a:t>
            </a:r>
          </a:p>
          <a:p xmlns:a="http://schemas.openxmlformats.org/drawingml/2006/main">
            <a:r>
              <a:t>      {</a:t>
            </a:r>
          </a:p>
          <a:p xmlns:a="http://schemas.openxmlformats.org/drawingml/2006/main">
            <a:r>
              <a:t>        "month": "Jul",</a:t>
            </a:r>
          </a:p>
          <a:p xmlns:a="http://schemas.openxmlformats.org/drawingml/2006/main">
            <a:r>
              <a:t>        "days": 31,</a:t>
            </a:r>
          </a:p>
          <a:p xmlns:a="http://schemas.openxmlformats.org/drawingml/2006/main">
            <a:r>
              <a:t>        "G": 58.42774193548387,</a:t>
            </a:r>
          </a:p>
          <a:p xmlns:a="http://schemas.openxmlformats.org/drawingml/2006/main">
            <a:r>
              <a:t>        "direct": 40.35,</a:t>
            </a:r>
          </a:p>
          <a:p xmlns:a="http://schemas.openxmlformats.org/drawingml/2006/main">
            <a:r>
              <a:t>        "surplus": 18.07774193548387,</a:t>
            </a:r>
          </a:p>
          <a:p xmlns:a="http://schemas.openxmlformats.org/drawingml/2006/main">
            <a:r>
              <a:t>        "battery": 12.16,</a:t>
            </a:r>
          </a:p>
          <a:p xmlns:a="http://schemas.openxmlformats.org/drawingml/2006/main">
            <a:r>
              <a:t>        "imports": 873.89,</a:t>
            </a:r>
          </a:p>
          <a:p xmlns:a="http://schemas.openxmlformats.org/drawingml/2006/main">
            <a:r>
              <a:t>        "base": 7094.794000000002,</a:t>
            </a:r>
          </a:p>
          <a:p xmlns:a="http://schemas.openxmlformats.org/drawingml/2006/main">
            <a:r>
              <a:t>        "newbill": 2385.6753,</a:t>
            </a:r>
          </a:p>
          <a:p xmlns:a="http://schemas.openxmlformats.org/drawingml/2006/main">
            <a:r>
              <a:t>        "saving": 4709.118700000002</a:t>
            </a:r>
          </a:p>
          <a:p xmlns:a="http://schemas.openxmlformats.org/drawingml/2006/main">
            <a:r>
              <a:t>      },</a:t>
            </a:r>
          </a:p>
          <a:p xmlns:a="http://schemas.openxmlformats.org/drawingml/2006/main">
            <a:r>
              <a:t>      {</a:t>
            </a:r>
          </a:p>
          <a:p xmlns:a="http://schemas.openxmlformats.org/drawingml/2006/main">
            <a:r>
              <a:t>        "month": "Aug",</a:t>
            </a:r>
          </a:p>
          <a:p xmlns:a="http://schemas.openxmlformats.org/drawingml/2006/main">
            <a:r>
              <a:t>        "days": 31,</a:t>
            </a:r>
          </a:p>
          <a:p xmlns:a="http://schemas.openxmlformats.org/drawingml/2006/main">
            <a:r>
              <a:t>        "G": 59.18709677419355,</a:t>
            </a:r>
          </a:p>
          <a:p xmlns:a="http://schemas.openxmlformats.org/drawingml/2006/main">
            <a:r>
              <a:t>        "direct": 40.35,</a:t>
            </a:r>
          </a:p>
          <a:p xmlns:a="http://schemas.openxmlformats.org/drawingml/2006/main">
            <a:r>
              <a:t>        "surplus": 18.837096774193547,</a:t>
            </a:r>
          </a:p>
          <a:p xmlns:a="http://schemas.openxmlformats.org/drawingml/2006/main">
            <a:r>
              <a:t>        "battery": 12.16,</a:t>
            </a:r>
          </a:p>
          <a:p xmlns:a="http://schemas.openxmlformats.org/drawingml/2006/main">
            <a:r>
              <a:t>        "imports": 873.89,</a:t>
            </a:r>
          </a:p>
          <a:p xmlns:a="http://schemas.openxmlformats.org/drawingml/2006/main">
            <a:r>
              <a:t>        "base": 7094.794000000002,</a:t>
            </a:r>
          </a:p>
          <a:p xmlns:a="http://schemas.openxmlformats.org/drawingml/2006/main">
            <a:r>
              <a:t>        "newbill": 2385.6753,</a:t>
            </a:r>
          </a:p>
          <a:p xmlns:a="http://schemas.openxmlformats.org/drawingml/2006/main">
            <a:r>
              <a:t>        "saving": 4709.118700000002</a:t>
            </a:r>
          </a:p>
          <a:p xmlns:a="http://schemas.openxmlformats.org/drawingml/2006/main">
            <a:r>
              <a:t>      },</a:t>
            </a:r>
          </a:p>
          <a:p xmlns:a="http://schemas.openxmlformats.org/drawingml/2006/main">
            <a:r>
              <a:t>      {</a:t>
            </a:r>
          </a:p>
          <a:p xmlns:a="http://schemas.openxmlformats.org/drawingml/2006/main">
            <a:r>
              <a:t>        "month": "Sep",</a:t>
            </a:r>
          </a:p>
          <a:p xmlns:a="http://schemas.openxmlformats.org/drawingml/2006/main">
            <a:r>
              <a:t>        "days": 30,</a:t>
            </a:r>
          </a:p>
          <a:p xmlns:a="http://schemas.openxmlformats.org/drawingml/2006/main">
            <a:r>
              <a:t>        "G": 59.03333333333333,</a:t>
            </a:r>
          </a:p>
          <a:p xmlns:a="http://schemas.openxmlformats.org/drawingml/2006/main">
            <a:r>
              <a:t>        "direct": 40.35,</a:t>
            </a:r>
          </a:p>
          <a:p xmlns:a="http://schemas.openxmlformats.org/drawingml/2006/main">
            <a:r>
              <a:t>        "surplus": 18.68333333333333,</a:t>
            </a:r>
          </a:p>
          <a:p xmlns:a="http://schemas.openxmlformats.org/drawingml/2006/main">
            <a:r>
              <a:t>        "battery": 12.16,</a:t>
            </a:r>
          </a:p>
          <a:p xmlns:a="http://schemas.openxmlformats.org/drawingml/2006/main">
            <a:r>
              <a:t>        "imports": 845.7,</a:t>
            </a:r>
          </a:p>
          <a:p xmlns:a="http://schemas.openxmlformats.org/drawingml/2006/main">
            <a:r>
              <a:t>        "base": 6867.22,</a:t>
            </a:r>
          </a:p>
          <a:p xmlns:a="http://schemas.openxmlformats.org/drawingml/2006/main">
            <a:r>
              <a:t>        "newbill": 2307.5890000000004,</a:t>
            </a:r>
          </a:p>
          <a:p xmlns:a="http://schemas.openxmlformats.org/drawingml/2006/main">
            <a:r>
              <a:t>        "saving": 4559.630999999999</a:t>
            </a:r>
          </a:p>
          <a:p xmlns:a="http://schemas.openxmlformats.org/drawingml/2006/main">
            <a:r>
              <a:t>      },</a:t>
            </a:r>
          </a:p>
          <a:p xmlns:a="http://schemas.openxmlformats.org/drawingml/2006/main">
            <a:r>
              <a:t>      {</a:t>
            </a:r>
          </a:p>
          <a:p xmlns:a="http://schemas.openxmlformats.org/drawingml/2006/main">
            <a:r>
              <a:t>        "month": "Oct",</a:t>
            </a:r>
          </a:p>
          <a:p xmlns:a="http://schemas.openxmlformats.org/drawingml/2006/main">
            <a:r>
              <a:t>        "days": 31,</a:t>
            </a:r>
          </a:p>
          <a:p xmlns:a="http://schemas.openxmlformats.org/drawingml/2006/main">
            <a:r>
              <a:t>        "G": 54.833225806451615,</a:t>
            </a:r>
          </a:p>
          <a:p xmlns:a="http://schemas.openxmlformats.org/drawingml/2006/main">
            <a:r>
              <a:t>        "direct": 40.35,</a:t>
            </a:r>
          </a:p>
          <a:p xmlns:a="http://schemas.openxmlformats.org/drawingml/2006/main">
            <a:r>
              <a:t>        "surplus": 14.483225806451614,</a:t>
            </a:r>
          </a:p>
          <a:p xmlns:a="http://schemas.openxmlformats.org/drawingml/2006/main">
            <a:r>
              <a:t>        "battery": 12.16,</a:t>
            </a:r>
          </a:p>
          <a:p xmlns:a="http://schemas.openxmlformats.org/drawingml/2006/main">
            <a:r>
              <a:t>        "imports": 873.89,</a:t>
            </a:r>
          </a:p>
          <a:p xmlns:a="http://schemas.openxmlformats.org/drawingml/2006/main">
            <a:r>
              <a:t>        "base": 7094.794000000002,</a:t>
            </a:r>
          </a:p>
          <a:p xmlns:a="http://schemas.openxmlformats.org/drawingml/2006/main">
            <a:r>
              <a:t>        "newbill": 2385.6753,</a:t>
            </a:r>
          </a:p>
          <a:p xmlns:a="http://schemas.openxmlformats.org/drawingml/2006/main">
            <a:r>
              <a:t>        "saving": 4709.118700000002</a:t>
            </a:r>
          </a:p>
          <a:p xmlns:a="http://schemas.openxmlformats.org/drawingml/2006/main">
            <a:r>
              <a:t>      },</a:t>
            </a:r>
          </a:p>
          <a:p xmlns:a="http://schemas.openxmlformats.org/drawingml/2006/main">
            <a:r>
              <a:t>      {</a:t>
            </a:r>
          </a:p>
          <a:p xmlns:a="http://schemas.openxmlformats.org/drawingml/2006/main">
            <a:r>
              <a:t>        "month": "Nov",</a:t>
            </a:r>
          </a:p>
          <a:p xmlns:a="http://schemas.openxmlformats.org/drawingml/2006/main">
            <a:r>
              <a:t>        "days": 30,</a:t>
            </a:r>
          </a:p>
          <a:p xmlns:a="http://schemas.openxmlformats.org/drawingml/2006/main">
            <a:r>
              <a:t>        "G": 50.22233333333334,</a:t>
            </a:r>
          </a:p>
          <a:p xmlns:a="http://schemas.openxmlformats.org/drawingml/2006/main">
            <a:r>
              <a:t>        "direct": 40.35,</a:t>
            </a:r>
          </a:p>
          <a:p xmlns:a="http://schemas.openxmlformats.org/drawingml/2006/main">
            <a:r>
              <a:t>        "surplus": 9.872333333333337,</a:t>
            </a:r>
          </a:p>
          <a:p xmlns:a="http://schemas.openxmlformats.org/drawingml/2006/main">
            <a:r>
              <a:t>        "battery": 9.37871666666667,</a:t>
            </a:r>
          </a:p>
          <a:p xmlns:a="http://schemas.openxmlformats.org/drawingml/2006/main">
            <a:r>
              <a:t>        "imports": 929.1385,</a:t>
            </a:r>
          </a:p>
          <a:p xmlns:a="http://schemas.openxmlformats.org/drawingml/2006/main">
            <a:r>
              <a:t>        "base": 6867.22,</a:t>
            </a:r>
          </a:p>
          <a:p xmlns:a="http://schemas.openxmlformats.org/drawingml/2006/main">
            <a:r>
              <a:t>        "newbill": 2538.7136450000003,</a:t>
            </a:r>
          </a:p>
          <a:p xmlns:a="http://schemas.openxmlformats.org/drawingml/2006/main">
            <a:r>
              <a:t>        "saving": 4328.5063549999995</a:t>
            </a:r>
          </a:p>
          <a:p xmlns:a="http://schemas.openxmlformats.org/drawingml/2006/main">
            <a:r>
              <a:t>      },</a:t>
            </a:r>
          </a:p>
          <a:p xmlns:a="http://schemas.openxmlformats.org/drawingml/2006/main">
            <a:r>
              <a:t>      {</a:t>
            </a:r>
          </a:p>
          <a:p xmlns:a="http://schemas.openxmlformats.org/drawingml/2006/main">
            <a:r>
              <a:t>        "month": "Dec",</a:t>
            </a:r>
          </a:p>
          <a:p xmlns:a="http://schemas.openxmlformats.org/drawingml/2006/main">
            <a:r>
              <a:t>        "days": 31,</a:t>
            </a:r>
          </a:p>
          <a:p xmlns:a="http://schemas.openxmlformats.org/drawingml/2006/main">
            <a:r>
              <a:t>        "G": 46.27096774193549,</a:t>
            </a:r>
          </a:p>
          <a:p xmlns:a="http://schemas.openxmlformats.org/drawingml/2006/main">
            <a:r>
              <a:t>        "direct": 40.35,</a:t>
            </a:r>
          </a:p>
          <a:p xmlns:a="http://schemas.openxmlformats.org/drawingml/2006/main">
            <a:r>
              <a:t>        "surplus": 5.920967741935492,</a:t>
            </a:r>
          </a:p>
          <a:p xmlns:a="http://schemas.openxmlformats.org/drawingml/2006/main">
            <a:r>
              <a:t>        "battery": 5.624919354838717,</a:t>
            </a:r>
          </a:p>
          <a:p xmlns:a="http://schemas.openxmlformats.org/drawingml/2006/main">
            <a:r>
              <a:t>        "imports": 1076.4774999999997,</a:t>
            </a:r>
          </a:p>
          <a:p xmlns:a="http://schemas.openxmlformats.org/drawingml/2006/main">
            <a:r>
              <a:t>        "base": 7094.794000000002,</a:t>
            </a:r>
          </a:p>
          <a:p xmlns:a="http://schemas.openxmlformats.org/drawingml/2006/main">
            <a:r>
              <a:t>        "newbill": 3075.666549999999,</a:t>
            </a:r>
          </a:p>
          <a:p xmlns:a="http://schemas.openxmlformats.org/drawingml/2006/main">
            <a:r>
              <a:t>        "saving": 4019.1274500000027</a:t>
            </a:r>
          </a:p>
          <a:p xmlns:a="http://schemas.openxmlformats.org/drawingml/2006/main">
            <a:r>
              <a:t>      }</a:t>
            </a:r>
          </a:p>
          <a:p xmlns:a="http://schemas.openxmlformats.org/drawingml/2006/main">
            <a:r>
              <a:t>    ],</a:t>
            </a:r>
          </a:p>
          <a:p xmlns:a="http://schemas.openxmlformats.org/drawingml/2006/main">
            <a:r>
              <a:t>    "annualSaving": 53709.35158,</a:t>
            </a:r>
          </a:p>
          <a:p xmlns:a="http://schemas.openxmlformats.org/drawingml/2006/main">
            <a:r>
              <a:t>    "averageSaving": 4475.779298333334,</a:t>
            </a:r>
          </a:p>
          <a:p xmlns:a="http://schemas.openxmlformats.org/drawingml/2006/main">
            <a:r>
              <a:t>    "payback": 7.340248735134701,</a:t>
            </a:r>
          </a:p>
          <a:p xmlns:a="http://schemas.openxmlformats.org/drawingml/2006/main">
            <a:r>
              <a:t>    "annualImports": 10829.596</a:t>
            </a:r>
          </a:p>
          <a:p xmlns:a="http://schemas.openxmlformats.org/drawingml/2006/main">
            <a:r>
              <a:t>  },</a:t>
            </a:r>
          </a:p>
          <a:p xmlns:a="http://schemas.openxmlformats.org/drawingml/2006/main">
            <a:r>
              <a:t>  {</a:t>
            </a:r>
          </a:p>
          <a:p xmlns:a="http://schemas.openxmlformats.org/drawingml/2006/main">
            <a:r>
              <a:t>    "option": "C",</a:t>
            </a:r>
          </a:p>
          <a:p xmlns:a="http://schemas.openxmlformats.org/drawingml/2006/main">
            <a:r>
              <a:t>    "C": 64,</a:t>
            </a:r>
          </a:p>
          <a:p xmlns:a="http://schemas.openxmlformats.org/drawingml/2006/main">
            <a:r>
              <a:t>    "P": 17,</a:t>
            </a:r>
          </a:p>
          <a:p xmlns:a="http://schemas.openxmlformats.org/drawingml/2006/main">
            <a:r>
              <a:t>    "inv": 20,</a:t>
            </a:r>
          </a:p>
          <a:p xmlns:a="http://schemas.openxmlformats.org/drawingml/2006/main">
            <a:r>
              <a:t>    "price": 1154560,</a:t>
            </a:r>
          </a:p>
          <a:p xmlns:a="http://schemas.openxmlformats.org/drawingml/2006/main">
            <a:r>
              <a:t>    "reference": {</a:t>
            </a:r>
          </a:p>
          <a:p xmlns:a="http://schemas.openxmlformats.org/drawingml/2006/main">
            <a:r>
              <a:t>      "G": 84.66000000000001,</a:t>
            </a:r>
          </a:p>
          <a:p xmlns:a="http://schemas.openxmlformats.org/drawingml/2006/main">
            <a:r>
              <a:t>      "direct": 40.35,</a:t>
            </a:r>
          </a:p>
          <a:p xmlns:a="http://schemas.openxmlformats.org/drawingml/2006/main">
            <a:r>
              <a:t>      "surplus": 44.31000000000001,</a:t>
            </a:r>
          </a:p>
          <a:p xmlns:a="http://schemas.openxmlformats.org/drawingml/2006/main">
            <a:r>
              <a:t>      "battery": 40.35,</a:t>
            </a:r>
          </a:p>
          <a:p xmlns:a="http://schemas.openxmlformats.org/drawingml/2006/main">
            <a:r>
              <a:t>      "imports": 0,</a:t>
            </a:r>
          </a:p>
          <a:p xmlns:a="http://schemas.openxmlformats.org/drawingml/2006/main">
            <a:r>
              <a:t>      "base": 6867.22,</a:t>
            </a:r>
          </a:p>
          <a:p xmlns:a="http://schemas.openxmlformats.org/drawingml/2006/main">
            <a:r>
              <a:t>      "newbill": 9,</a:t>
            </a:r>
          </a:p>
          <a:p xmlns:a="http://schemas.openxmlformats.org/drawingml/2006/main">
            <a:r>
              <a:t>      "saving": 6858.22</a:t>
            </a:r>
          </a:p>
          <a:p xmlns:a="http://schemas.openxmlformats.org/drawingml/2006/main">
            <a:r>
              <a:t>    },</a:t>
            </a:r>
          </a:p>
          <a:p xmlns:a="http://schemas.openxmlformats.org/drawingml/2006/main">
            <a:r>
              <a:t>    "monthly": [</a:t>
            </a:r>
          </a:p>
          <a:p xmlns:a="http://schemas.openxmlformats.org/drawingml/2006/main">
            <a:r>
              <a:t>      {</a:t>
            </a:r>
          </a:p>
          <a:p xmlns:a="http://schemas.openxmlformats.org/drawingml/2006/main">
            <a:r>
              <a:t>        "month": "Jan",</a:t>
            </a:r>
          </a:p>
          <a:p xmlns:a="http://schemas.openxmlformats.org/drawingml/2006/main">
            <a:r>
              <a:t>        "days": 31,</a:t>
            </a:r>
          </a:p>
          <a:p xmlns:a="http://schemas.openxmlformats.org/drawingml/2006/main">
            <a:r>
              <a:t>        "G": 72.00322580645162,</a:t>
            </a:r>
          </a:p>
          <a:p xmlns:a="http://schemas.openxmlformats.org/drawingml/2006/main">
            <a:r>
              <a:t>        "direct": 40.35,</a:t>
            </a:r>
          </a:p>
          <a:p xmlns:a="http://schemas.openxmlformats.org/drawingml/2006/main">
            <a:r>
              <a:t>        "surplus": 31.653225806451623,</a:t>
            </a:r>
          </a:p>
          <a:p xmlns:a="http://schemas.openxmlformats.org/drawingml/2006/main">
            <a:r>
              <a:t>        "battery": 30.07056451612904,</a:t>
            </a:r>
          </a:p>
          <a:p xmlns:a="http://schemas.openxmlformats.org/drawingml/2006/main">
            <a:r>
              <a:t>        "imports": 318.66249999999985,</a:t>
            </a:r>
          </a:p>
          <a:p xmlns:a="http://schemas.openxmlformats.org/drawingml/2006/main">
            <a:r>
              <a:t>        "base": 7094.794000000002,</a:t>
            </a:r>
          </a:p>
          <a:p xmlns:a="http://schemas.openxmlformats.org/drawingml/2006/main">
            <a:r>
              <a:t>        "newbill": 870.8288749999997,</a:t>
            </a:r>
          </a:p>
          <a:p xmlns:a="http://schemas.openxmlformats.org/drawingml/2006/main">
            <a:r>
              <a:t>        "saving": 6223.965125000002</a:t>
            </a:r>
          </a:p>
          <a:p xmlns:a="http://schemas.openxmlformats.org/drawingml/2006/main">
            <a:r>
              <a:t>      },</a:t>
            </a:r>
          </a:p>
          <a:p xmlns:a="http://schemas.openxmlformats.org/drawingml/2006/main">
            <a:r>
              <a:t>      {</a:t>
            </a:r>
          </a:p>
          <a:p xmlns:a="http://schemas.openxmlformats.org/drawingml/2006/main">
            <a:r>
              <a:t>        "month": "Feb",</a:t>
            </a:r>
          </a:p>
          <a:p xmlns:a="http://schemas.openxmlformats.org/drawingml/2006/main">
            <a:r>
              <a:t>        "days": 28,</a:t>
            </a:r>
          </a:p>
          <a:p xmlns:a="http://schemas.openxmlformats.org/drawingml/2006/main">
            <a:r>
              <a:t>        "G": 78.59464285714284,</a:t>
            </a:r>
          </a:p>
          <a:p xmlns:a="http://schemas.openxmlformats.org/drawingml/2006/main">
            <a:r>
              <a:t>        "direct": 40.35,</a:t>
            </a:r>
          </a:p>
          <a:p xmlns:a="http://schemas.openxmlformats.org/drawingml/2006/main">
            <a:r>
              <a:t>        "surplus": 38.24464285714284,</a:t>
            </a:r>
          </a:p>
          <a:p xmlns:a="http://schemas.openxmlformats.org/drawingml/2006/main">
            <a:r>
              <a:t>        "battery": 36.3324107142857,</a:t>
            </a:r>
          </a:p>
          <a:p xmlns:a="http://schemas.openxmlformats.org/drawingml/2006/main">
            <a:r>
              <a:t>        "imports": 112.49250000000043,</a:t>
            </a:r>
          </a:p>
          <a:p xmlns:a="http://schemas.openxmlformats.org/drawingml/2006/main">
            <a:r>
              <a:t>        "base": 6412.071999999999,</a:t>
            </a:r>
          </a:p>
          <a:p xmlns:a="http://schemas.openxmlformats.org/drawingml/2006/main">
            <a:r>
              <a:t>        "newbill": 261.35857500000094,</a:t>
            </a:r>
          </a:p>
          <a:p xmlns:a="http://schemas.openxmlformats.org/drawingml/2006/main">
            <a:r>
              <a:t>        "saving": 6150.713424999998</a:t>
            </a:r>
          </a:p>
          <a:p xmlns:a="http://schemas.openxmlformats.org/drawingml/2006/main">
            <a:r>
              <a:t>      },</a:t>
            </a:r>
          </a:p>
          <a:p xmlns:a="http://schemas.openxmlformats.org/drawingml/2006/main">
            <a:r>
              <a:t>      {</a:t>
            </a:r>
          </a:p>
          <a:p xmlns:a="http://schemas.openxmlformats.org/drawingml/2006/main">
            <a:r>
              <a:t>        "month": "Mar",</a:t>
            </a:r>
          </a:p>
          <a:p xmlns:a="http://schemas.openxmlformats.org/drawingml/2006/main">
            <a:r>
              <a:t>        "days": 31,</a:t>
            </a:r>
          </a:p>
          <a:p xmlns:a="http://schemas.openxmlformats.org/drawingml/2006/main">
            <a:r>
              <a:t>        "G": 88.3232258064516,</a:t>
            </a:r>
          </a:p>
          <a:p xmlns:a="http://schemas.openxmlformats.org/drawingml/2006/main">
            <a:r>
              <a:t>        "direct": 40.35,</a:t>
            </a:r>
          </a:p>
          <a:p xmlns:a="http://schemas.openxmlformats.org/drawingml/2006/main">
            <a:r>
              <a:t>        "surplus": 47.9732258064516,</a:t>
            </a:r>
          </a:p>
          <a:p xmlns:a="http://schemas.openxmlformats.org/drawingml/2006/main">
            <a:r>
              <a:t>        "battery": 40.35,</a:t>
            </a:r>
          </a:p>
          <a:p xmlns:a="http://schemas.openxmlformats.org/drawingml/2006/main">
            <a:r>
              <a:t>        "imports": 0,</a:t>
            </a:r>
          </a:p>
          <a:p xmlns:a="http://schemas.openxmlformats.org/drawingml/2006/main">
            <a:r>
              <a:t>        "base": 7094.794000000002,</a:t>
            </a:r>
          </a:p>
          <a:p xmlns:a="http://schemas.openxmlformats.org/drawingml/2006/main">
            <a:r>
              <a:t>        "newbill": 9,</a:t>
            </a:r>
          </a:p>
          <a:p xmlns:a="http://schemas.openxmlformats.org/drawingml/2006/main">
            <a:r>
              <a:t>        "saving": 7085.794000000002</a:t>
            </a:r>
          </a:p>
          <a:p xmlns:a="http://schemas.openxmlformats.org/drawingml/2006/main">
            <a:r>
              <a:t>      },</a:t>
            </a:r>
          </a:p>
          <a:p xmlns:a="http://schemas.openxmlformats.org/drawingml/2006/main">
            <a:r>
              <a:t>      {</a:t>
            </a:r>
          </a:p>
          <a:p xmlns:a="http://schemas.openxmlformats.org/drawingml/2006/main">
            <a:r>
              <a:t>        "month": "Apr",</a:t>
            </a:r>
          </a:p>
          <a:p xmlns:a="http://schemas.openxmlformats.org/drawingml/2006/main">
            <a:r>
              <a:t>        "days": 30,</a:t>
            </a:r>
          </a:p>
          <a:p xmlns:a="http://schemas.openxmlformats.org/drawingml/2006/main">
            <a:r>
              <a:t>        "G": 91.154,</a:t>
            </a:r>
          </a:p>
          <a:p xmlns:a="http://schemas.openxmlformats.org/drawingml/2006/main">
            <a:r>
              <a:t>        "direct": 40.35,</a:t>
            </a:r>
          </a:p>
          <a:p xmlns:a="http://schemas.openxmlformats.org/drawingml/2006/main">
            <a:r>
              <a:t>        "surplus": 50.803999999999995,</a:t>
            </a:r>
          </a:p>
          <a:p xmlns:a="http://schemas.openxmlformats.org/drawingml/2006/main">
            <a:r>
              <a:t>        "battery": 40.35,</a:t>
            </a:r>
          </a:p>
          <a:p xmlns:a="http://schemas.openxmlformats.org/drawingml/2006/main">
            <a:r>
              <a:t>        "imports": 0,</a:t>
            </a:r>
          </a:p>
          <a:p xmlns:a="http://schemas.openxmlformats.org/drawingml/2006/main">
            <a:r>
              <a:t>        "base": 6867.22,</a:t>
            </a:r>
          </a:p>
          <a:p xmlns:a="http://schemas.openxmlformats.org/drawingml/2006/main">
            <a:r>
              <a:t>        "newbill": 9,</a:t>
            </a:r>
          </a:p>
          <a:p xmlns:a="http://schemas.openxmlformats.org/drawingml/2006/main">
            <a:r>
              <a:t>        "saving": 6858.22</a:t>
            </a:r>
          </a:p>
          <a:p xmlns:a="http://schemas.openxmlformats.org/drawingml/2006/main">
            <a:r>
              <a:t>      },</a:t>
            </a:r>
          </a:p>
          <a:p xmlns:a="http://schemas.openxmlformats.org/drawingml/2006/main">
            <a:r>
              <a:t>      {</a:t>
            </a:r>
          </a:p>
          <a:p xmlns:a="http://schemas.openxmlformats.org/drawingml/2006/main">
            <a:r>
              <a:t>        "month": "May",</a:t>
            </a:r>
          </a:p>
          <a:p xmlns:a="http://schemas.openxmlformats.org/drawingml/2006/main">
            <a:r>
              <a:t>        "days": 31,</a:t>
            </a:r>
          </a:p>
          <a:p xmlns:a="http://schemas.openxmlformats.org/drawingml/2006/main">
            <a:r>
              <a:t>        "G": 89.23354838709677,</a:t>
            </a:r>
          </a:p>
          <a:p xmlns:a="http://schemas.openxmlformats.org/drawingml/2006/main">
            <a:r>
              <a:t>        "direct": 40.35,</a:t>
            </a:r>
          </a:p>
          <a:p xmlns:a="http://schemas.openxmlformats.org/drawingml/2006/main">
            <a:r>
              <a:t>        "surplus": 48.88354838709677,</a:t>
            </a:r>
          </a:p>
          <a:p xmlns:a="http://schemas.openxmlformats.org/drawingml/2006/main">
            <a:r>
              <a:t>        "battery": 40.35,</a:t>
            </a:r>
          </a:p>
          <a:p xmlns:a="http://schemas.openxmlformats.org/drawingml/2006/main">
            <a:r>
              <a:t>        "imports": 0,</a:t>
            </a:r>
          </a:p>
          <a:p xmlns:a="http://schemas.openxmlformats.org/drawingml/2006/main">
            <a:r>
              <a:t>        "base": 7094.794000000002,</a:t>
            </a:r>
          </a:p>
          <a:p xmlns:a="http://schemas.openxmlformats.org/drawingml/2006/main">
            <a:r>
              <a:t>        "newbill": 9,</a:t>
            </a:r>
          </a:p>
          <a:p xmlns:a="http://schemas.openxmlformats.org/drawingml/2006/main">
            <a:r>
              <a:t>        "saving": 7085.794000000002</a:t>
            </a:r>
          </a:p>
          <a:p xmlns:a="http://schemas.openxmlformats.org/drawingml/2006/main">
            <a:r>
              <a:t>      },</a:t>
            </a:r>
          </a:p>
          <a:p xmlns:a="http://schemas.openxmlformats.org/drawingml/2006/main">
            <a:r>
              <a:t>      {</a:t>
            </a:r>
          </a:p>
          <a:p xmlns:a="http://schemas.openxmlformats.org/drawingml/2006/main">
            <a:r>
              <a:t>        "month": "Jun",</a:t>
            </a:r>
          </a:p>
          <a:p xmlns:a="http://schemas.openxmlformats.org/drawingml/2006/main">
            <a:r>
              <a:t>        "days": 30,</a:t>
            </a:r>
          </a:p>
          <a:p xmlns:a="http://schemas.openxmlformats.org/drawingml/2006/main">
            <a:r>
              <a:t>        "G": 89.88466666666667,</a:t>
            </a:r>
          </a:p>
          <a:p xmlns:a="http://schemas.openxmlformats.org/drawingml/2006/main">
            <a:r>
              <a:t>        "direct": 40.35,</a:t>
            </a:r>
          </a:p>
          <a:p xmlns:a="http://schemas.openxmlformats.org/drawingml/2006/main">
            <a:r>
              <a:t>        "surplus": 49.53466666666667,</a:t>
            </a:r>
          </a:p>
          <a:p xmlns:a="http://schemas.openxmlformats.org/drawingml/2006/main">
            <a:r>
              <a:t>        "battery": 40.35,</a:t>
            </a:r>
          </a:p>
          <a:p xmlns:a="http://schemas.openxmlformats.org/drawingml/2006/main">
            <a:r>
              <a:t>        "imports": 0,</a:t>
            </a:r>
          </a:p>
          <a:p xmlns:a="http://schemas.openxmlformats.org/drawingml/2006/main">
            <a:r>
              <a:t>        "base": 6867.22,</a:t>
            </a:r>
          </a:p>
          <a:p xmlns:a="http://schemas.openxmlformats.org/drawingml/2006/main">
            <a:r>
              <a:t>        "newbill": 9,</a:t>
            </a:r>
          </a:p>
          <a:p xmlns:a="http://schemas.openxmlformats.org/drawingml/2006/main">
            <a:r>
              <a:t>        "saving": 6858.22</a:t>
            </a:r>
          </a:p>
          <a:p xmlns:a="http://schemas.openxmlformats.org/drawingml/2006/main">
            <a:r>
              <a:t>      },</a:t>
            </a:r>
          </a:p>
          <a:p xmlns:a="http://schemas.openxmlformats.org/drawingml/2006/main">
            <a:r>
              <a:t>      {</a:t>
            </a:r>
          </a:p>
          <a:p xmlns:a="http://schemas.openxmlformats.org/drawingml/2006/main">
            <a:r>
              <a:t>        "month": "Jul",</a:t>
            </a:r>
          </a:p>
          <a:p xmlns:a="http://schemas.openxmlformats.org/drawingml/2006/main">
            <a:r>
              <a:t>        "days": 31,</a:t>
            </a:r>
          </a:p>
          <a:p xmlns:a="http://schemas.openxmlformats.org/drawingml/2006/main">
            <a:r>
              <a:t>        "G": 90.29741935483871,</a:t>
            </a:r>
          </a:p>
          <a:p xmlns:a="http://schemas.openxmlformats.org/drawingml/2006/main">
            <a:r>
              <a:t>        "direct": 40.35,</a:t>
            </a:r>
          </a:p>
          <a:p xmlns:a="http://schemas.openxmlformats.org/drawingml/2006/main">
            <a:r>
              <a:t>        "surplus": 49.94741935483871,</a:t>
            </a:r>
          </a:p>
          <a:p xmlns:a="http://schemas.openxmlformats.org/drawingml/2006/main">
            <a:r>
              <a:t>        "battery": 40.35,</a:t>
            </a:r>
          </a:p>
          <a:p xmlns:a="http://schemas.openxmlformats.org/drawingml/2006/main">
            <a:r>
              <a:t>        "imports": 0,</a:t>
            </a:r>
          </a:p>
          <a:p xmlns:a="http://schemas.openxmlformats.org/drawingml/2006/main">
            <a:r>
              <a:t>        "base": 7094.794000000002,</a:t>
            </a:r>
          </a:p>
          <a:p xmlns:a="http://schemas.openxmlformats.org/drawingml/2006/main">
            <a:r>
              <a:t>        "newbill": 9,</a:t>
            </a:r>
          </a:p>
          <a:p xmlns:a="http://schemas.openxmlformats.org/drawingml/2006/main">
            <a:r>
              <a:t>        "saving": 7085.794000000002</a:t>
            </a:r>
          </a:p>
          <a:p xmlns:a="http://schemas.openxmlformats.org/drawingml/2006/main">
            <a:r>
              <a:t>      },</a:t>
            </a:r>
          </a:p>
          <a:p xmlns:a="http://schemas.openxmlformats.org/drawingml/2006/main">
            <a:r>
              <a:t>      {</a:t>
            </a:r>
          </a:p>
          <a:p xmlns:a="http://schemas.openxmlformats.org/drawingml/2006/main">
            <a:r>
              <a:t>        "month": "Aug",</a:t>
            </a:r>
          </a:p>
          <a:p xmlns:a="http://schemas.openxmlformats.org/drawingml/2006/main">
            <a:r>
              <a:t>        "days": 31,</a:t>
            </a:r>
          </a:p>
          <a:p xmlns:a="http://schemas.openxmlformats.org/drawingml/2006/main">
            <a:r>
              <a:t>        "G": 91.47096774193548,</a:t>
            </a:r>
          </a:p>
          <a:p xmlns:a="http://schemas.openxmlformats.org/drawingml/2006/main">
            <a:r>
              <a:t>        "direct": 40.35,</a:t>
            </a:r>
          </a:p>
          <a:p xmlns:a="http://schemas.openxmlformats.org/drawingml/2006/main">
            <a:r>
              <a:t>        "surplus": 51.12096774193548,</a:t>
            </a:r>
          </a:p>
          <a:p xmlns:a="http://schemas.openxmlformats.org/drawingml/2006/main">
            <a:r>
              <a:t>        "battery": 40.35,</a:t>
            </a:r>
          </a:p>
          <a:p xmlns:a="http://schemas.openxmlformats.org/drawingml/2006/main">
            <a:r>
              <a:t>        "imports": 0,</a:t>
            </a:r>
          </a:p>
          <a:p xmlns:a="http://schemas.openxmlformats.org/drawingml/2006/main">
            <a:r>
              <a:t>        "base": 7094.794000000002,</a:t>
            </a:r>
          </a:p>
          <a:p xmlns:a="http://schemas.openxmlformats.org/drawingml/2006/main">
            <a:r>
              <a:t>        "newbill": 9,</a:t>
            </a:r>
          </a:p>
          <a:p xmlns:a="http://schemas.openxmlformats.org/drawingml/2006/main">
            <a:r>
              <a:t>        "saving": 7085.794000000002</a:t>
            </a:r>
          </a:p>
          <a:p xmlns:a="http://schemas.openxmlformats.org/drawingml/2006/main">
            <a:r>
              <a:t>      },</a:t>
            </a:r>
          </a:p>
          <a:p xmlns:a="http://schemas.openxmlformats.org/drawingml/2006/main">
            <a:r>
              <a:t>      {</a:t>
            </a:r>
          </a:p>
          <a:p xmlns:a="http://schemas.openxmlformats.org/drawingml/2006/main">
            <a:r>
              <a:t>        "month": "Sep",</a:t>
            </a:r>
          </a:p>
          <a:p xmlns:a="http://schemas.openxmlformats.org/drawingml/2006/main">
            <a:r>
              <a:t>        "days": 30,</a:t>
            </a:r>
          </a:p>
          <a:p xmlns:a="http://schemas.openxmlformats.org/drawingml/2006/main">
            <a:r>
              <a:t>        "G": 91.23333333333332,</a:t>
            </a:r>
          </a:p>
          <a:p xmlns:a="http://schemas.openxmlformats.org/drawingml/2006/main">
            <a:r>
              <a:t>        "direct": 40.35,</a:t>
            </a:r>
          </a:p>
          <a:p xmlns:a="http://schemas.openxmlformats.org/drawingml/2006/main">
            <a:r>
              <a:t>        "surplus": 50.88333333333332,</a:t>
            </a:r>
          </a:p>
          <a:p xmlns:a="http://schemas.openxmlformats.org/drawingml/2006/main">
            <a:r>
              <a:t>        "battery": 40.35,</a:t>
            </a:r>
          </a:p>
          <a:p xmlns:a="http://schemas.openxmlformats.org/drawingml/2006/main">
            <a:r>
              <a:t>        "imports": 0,</a:t>
            </a:r>
          </a:p>
          <a:p xmlns:a="http://schemas.openxmlformats.org/drawingml/2006/main">
            <a:r>
              <a:t>        "base": 6867.22,</a:t>
            </a:r>
          </a:p>
          <a:p xmlns:a="http://schemas.openxmlformats.org/drawingml/2006/main">
            <a:r>
              <a:t>        "newbill": 9,</a:t>
            </a:r>
          </a:p>
          <a:p xmlns:a="http://schemas.openxmlformats.org/drawingml/2006/main">
            <a:r>
              <a:t>        "saving": 6858.22</a:t>
            </a:r>
          </a:p>
          <a:p xmlns:a="http://schemas.openxmlformats.org/drawingml/2006/main">
            <a:r>
              <a:t>      },</a:t>
            </a:r>
          </a:p>
          <a:p xmlns:a="http://schemas.openxmlformats.org/drawingml/2006/main">
            <a:r>
              <a:t>      {</a:t>
            </a:r>
          </a:p>
          <a:p xmlns:a="http://schemas.openxmlformats.org/drawingml/2006/main">
            <a:r>
              <a:t>        "month": "Oct",</a:t>
            </a:r>
          </a:p>
          <a:p xmlns:a="http://schemas.openxmlformats.org/drawingml/2006/main">
            <a:r>
              <a:t>        "days": 31,</a:t>
            </a:r>
          </a:p>
          <a:p xmlns:a="http://schemas.openxmlformats.org/drawingml/2006/main">
            <a:r>
              <a:t>        "G": 84.74225806451614,</a:t>
            </a:r>
          </a:p>
          <a:p xmlns:a="http://schemas.openxmlformats.org/drawingml/2006/main">
            <a:r>
              <a:t>        "direct": 40.35,</a:t>
            </a:r>
          </a:p>
          <a:p xmlns:a="http://schemas.openxmlformats.org/drawingml/2006/main">
            <a:r>
              <a:t>        "surplus": 44.392258064516135,</a:t>
            </a:r>
          </a:p>
          <a:p xmlns:a="http://schemas.openxmlformats.org/drawingml/2006/main">
            <a:r>
              <a:t>        "battery": 40.35,</a:t>
            </a:r>
          </a:p>
          <a:p xmlns:a="http://schemas.openxmlformats.org/drawingml/2006/main">
            <a:r>
              <a:t>        "imports": 0,</a:t>
            </a:r>
          </a:p>
          <a:p xmlns:a="http://schemas.openxmlformats.org/drawingml/2006/main">
            <a:r>
              <a:t>        "base": 7094.794000000002,</a:t>
            </a:r>
          </a:p>
          <a:p xmlns:a="http://schemas.openxmlformats.org/drawingml/2006/main">
            <a:r>
              <a:t>        "newbill": 9,</a:t>
            </a:r>
          </a:p>
          <a:p xmlns:a="http://schemas.openxmlformats.org/drawingml/2006/main">
            <a:r>
              <a:t>        "saving": 7085.794000000002</a:t>
            </a:r>
          </a:p>
          <a:p xmlns:a="http://schemas.openxmlformats.org/drawingml/2006/main">
            <a:r>
              <a:t>      },</a:t>
            </a:r>
          </a:p>
          <a:p xmlns:a="http://schemas.openxmlformats.org/drawingml/2006/main">
            <a:r>
              <a:t>      {</a:t>
            </a:r>
          </a:p>
          <a:p xmlns:a="http://schemas.openxmlformats.org/drawingml/2006/main">
            <a:r>
              <a:t>        "month": "Nov",</a:t>
            </a:r>
          </a:p>
          <a:p xmlns:a="http://schemas.openxmlformats.org/drawingml/2006/main">
            <a:r>
              <a:t>        "days": 30,</a:t>
            </a:r>
          </a:p>
          <a:p xmlns:a="http://schemas.openxmlformats.org/drawingml/2006/main">
            <a:r>
              <a:t>        "G": 77.61633333333334,</a:t>
            </a:r>
          </a:p>
          <a:p xmlns:a="http://schemas.openxmlformats.org/drawingml/2006/main">
            <a:r>
              <a:t>        "direct": 40.35,</a:t>
            </a:r>
          </a:p>
          <a:p xmlns:a="http://schemas.openxmlformats.org/drawingml/2006/main">
            <a:r>
              <a:t>        "surplus": 37.26633333333334,</a:t>
            </a:r>
          </a:p>
          <a:p xmlns:a="http://schemas.openxmlformats.org/drawingml/2006/main">
            <a:r>
              <a:t>        "battery": 35.40301666666667,</a:t>
            </a:r>
          </a:p>
          <a:p xmlns:a="http://schemas.openxmlformats.org/drawingml/2006/main">
            <a:r>
              <a:t>        "imports": 148.40949999999987,</a:t>
            </a:r>
          </a:p>
          <a:p xmlns:a="http://schemas.openxmlformats.org/drawingml/2006/main">
            <a:r>
              <a:t>        "base": 6867.22,</a:t>
            </a:r>
          </a:p>
          <a:p xmlns:a="http://schemas.openxmlformats.org/drawingml/2006/main">
            <a:r>
              <a:t>        "newbill": 340.01680499999975,</a:t>
            </a:r>
          </a:p>
          <a:p xmlns:a="http://schemas.openxmlformats.org/drawingml/2006/main">
            <a:r>
              <a:t>        "saving": 6527.203195</a:t>
            </a:r>
          </a:p>
          <a:p xmlns:a="http://schemas.openxmlformats.org/drawingml/2006/main">
            <a:r>
              <a:t>      },</a:t>
            </a:r>
          </a:p>
          <a:p xmlns:a="http://schemas.openxmlformats.org/drawingml/2006/main">
            <a:r>
              <a:t>      {</a:t>
            </a:r>
          </a:p>
          <a:p xmlns:a="http://schemas.openxmlformats.org/drawingml/2006/main">
            <a:r>
              <a:t>        "month": "Dec",</a:t>
            </a:r>
          </a:p>
          <a:p xmlns:a="http://schemas.openxmlformats.org/drawingml/2006/main">
            <a:r>
              <a:t>        "days": 31,</a:t>
            </a:r>
          </a:p>
          <a:p xmlns:a="http://schemas.openxmlformats.org/drawingml/2006/main">
            <a:r>
              <a:t>        "G": 71.50967741935484,</a:t>
            </a:r>
          </a:p>
          <a:p xmlns:a="http://schemas.openxmlformats.org/drawingml/2006/main">
            <a:r>
              <a:t>        "direct": 40.35,</a:t>
            </a:r>
          </a:p>
          <a:p xmlns:a="http://schemas.openxmlformats.org/drawingml/2006/main">
            <a:r>
              <a:t>        "surplus": 31.159677419354843,</a:t>
            </a:r>
          </a:p>
          <a:p xmlns:a="http://schemas.openxmlformats.org/drawingml/2006/main">
            <a:r>
              <a:t>        "battery": 29.6016935483871,</a:t>
            </a:r>
          </a:p>
          <a:p xmlns:a="http://schemas.openxmlformats.org/drawingml/2006/main">
            <a:r>
              <a:t>        "imports": 333.19749999999993,</a:t>
            </a:r>
          </a:p>
          <a:p xmlns:a="http://schemas.openxmlformats.org/drawingml/2006/main">
            <a:r>
              <a:t>        "base": 7094.794000000002,</a:t>
            </a:r>
          </a:p>
          <a:p xmlns:a="http://schemas.openxmlformats.org/drawingml/2006/main">
            <a:r>
              <a:t>        "newbill": 909.6373249999998,</a:t>
            </a:r>
          </a:p>
          <a:p xmlns:a="http://schemas.openxmlformats.org/drawingml/2006/main">
            <a:r>
              <a:t>        "saving": 6185.156675000002</a:t>
            </a:r>
          </a:p>
          <a:p xmlns:a="http://schemas.openxmlformats.org/drawingml/2006/main">
            <a:r>
              <a:t>      }</a:t>
            </a:r>
          </a:p>
          <a:p xmlns:a="http://schemas.openxmlformats.org/drawingml/2006/main">
            <a:r>
              <a:t>    ],</a:t>
            </a:r>
          </a:p>
          <a:p xmlns:a="http://schemas.openxmlformats.org/drawingml/2006/main">
            <a:r>
              <a:t>    "annualSaving": 81090.66842000002,</a:t>
            </a:r>
          </a:p>
          <a:p xmlns:a="http://schemas.openxmlformats.org/drawingml/2006/main">
            <a:r>
              <a:t>    "averageSaving": 6757.555701666668,</a:t>
            </a:r>
          </a:p>
          <a:p xmlns:a="http://schemas.openxmlformats.org/drawingml/2006/main">
            <a:r>
              <a:t>    "payback": 14.237889790476089,</a:t>
            </a:r>
          </a:p>
          <a:p xmlns:a="http://schemas.openxmlformats.org/drawingml/2006/main">
            <a:r>
              <a:t>    "annualImports": 912.7620000000002</a:t>
            </a:r>
          </a:p>
          <a:p xmlns:a="http://schemas.openxmlformats.org/drawingml/2006/main">
            <a:r>
              <a:t>  }</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EgyptERA commercial tariff from April 2026, https://www.egyptera.org/en/TarrifApril2026.aspx (checked 30 Sep 2026). JRC PVGIS 5.3, https://re.jrc.ec.europa.eu/api/v5_3/PVcalc?lat=30.0444&amp;lon=31.2357&amp;peakpower=1&amp;loss=14&amp;angle=30&amp;aspect=0&amp;pvtechchoice=crystSi&amp;mountingplace=free&amp;outputformat=json . SARAH3/ERA5 2005–2023, Cairo 30.0444N 31.2357E, south-facing 30 degrees, crystalline silicon, free-standing, 14% entered PV loss. Historical modeled output, local shading unmeasured. Home_Storage.pptx slide 15: battery 220 EUR/kWh at assumed 62 EGP/EUR = 13,640 EGP/kWh. Historical model assumptions treated as customer selling prices, not current quotes. Source deck slide 18 states 10-year warranty and 6,000 cycles at 80% DoD.</a:t>
            </a:r>
          </a:p>
          <a:p xmlns:a="http://schemas.openxmlformats.org/drawingml/2006/main">
            <a:r>
              <a:t>Method: E=2421/30=80.7 kWh/day (billing period assumed). D=N=40.35. U=C*0.8 before losses. eta=0.95 aggregate storage-path energy factor allocated once at output. Delivered battery=min(solar surplus*eta,U*eta,N). No grid charging, exports have zero value, no reserve held. Required whole-night nameplate=40.35/(.8*.95)=53.092105 kWh. Installed C=64 for the product comparison. PV size rounded up to 0.5 kWp. Inverter sizes preliminary.</a:t>
            </a:r>
          </a:p>
          <a:p xmlns:a="http://schemas.openxmlformats.org/drawingml/2006/main">
            <a:r>
              <a:t>Annual scenario: monthly PV daily mean=PVGIS E_m / calendar days, daily consumption held at80.7, non-leap year365days. Treat each month as repeated average days, no hourly dispatch or interday simulation. Baseline bill and newbill evaluated per month at full precision. Rounded displayed inputs may create small rounding differences. All savings exclude the equal annual3EGP stamp, which cancels in the comparison. No finance, maintenance, insurance, degradation, replacement, tariff escalation or added subscription margin.</a:t>
            </a:r>
          </a:p>
          <a:p xmlns:a="http://schemas.openxmlformats.org/drawingml/2006/main">
            <a:r>
              <a:t>PVGIS annual API total1818.36kWh vs summed rounded monthly1818.37kWh differs by0.01 due to rounding. Sizing uses requested unweighted mean of12 displayed daily yields4.9816667 rounded4.98. Annual financial calculation uses monthly E_m.</a:t>
            </a:r>
          </a:p>
          <a:p xmlns:a="http://schemas.openxmlformats.org/drawingml/2006/main">
            <a:r>
              <a:t/>
            </a:r>
          </a:p>
          <a:p xmlns:a="http://schemas.openxmlformats.org/drawingml/2006/main">
            <a:r>
              <a:t>Calculated reference and monthly scenarios (unrounded):</a:t>
            </a:r>
          </a:p>
          <a:p xmlns:a="http://schemas.openxmlformats.org/drawingml/2006/main">
            <a:r>
              <a:t>[</a:t>
            </a:r>
          </a:p>
          <a:p xmlns:a="http://schemas.openxmlformats.org/drawingml/2006/main">
            <a:r>
              <a:t>  {</a:t>
            </a:r>
          </a:p>
          <a:p xmlns:a="http://schemas.openxmlformats.org/drawingml/2006/main">
            <a:r>
              <a:t>    "option": "A",</a:t>
            </a:r>
          </a:p>
          <a:p xmlns:a="http://schemas.openxmlformats.org/drawingml/2006/main">
            <a:r>
              <a:t>    "C": 0,</a:t>
            </a:r>
          </a:p>
          <a:p xmlns:a="http://schemas.openxmlformats.org/drawingml/2006/main">
            <a:r>
              <a:t>    "P": 8.5,</a:t>
            </a:r>
          </a:p>
          <a:p xmlns:a="http://schemas.openxmlformats.org/drawingml/2006/main">
            <a:r>
              <a:t>    "inv": 10,</a:t>
            </a:r>
          </a:p>
          <a:p xmlns:a="http://schemas.openxmlformats.org/drawingml/2006/main">
            <a:r>
              <a:t>    "price": 140800,</a:t>
            </a:r>
          </a:p>
          <a:p xmlns:a="http://schemas.openxmlformats.org/drawingml/2006/main">
            <a:r>
              <a:t>    "reference": {</a:t>
            </a:r>
          </a:p>
          <a:p xmlns:a="http://schemas.openxmlformats.org/drawingml/2006/main">
            <a:r>
              <a:t>      "G": 42.330000000000005,</a:t>
            </a:r>
          </a:p>
          <a:p xmlns:a="http://schemas.openxmlformats.org/drawingml/2006/main">
            <a:r>
              <a:t>      "direct": 40.35,</a:t>
            </a:r>
          </a:p>
          <a:p xmlns:a="http://schemas.openxmlformats.org/drawingml/2006/main">
            <a:r>
              <a:t>      "surplus": 1.980000000000004,</a:t>
            </a:r>
          </a:p>
          <a:p xmlns:a="http://schemas.openxmlformats.org/drawingml/2006/main">
            <a:r>
              <a:t>      "battery": 0,</a:t>
            </a:r>
          </a:p>
          <a:p xmlns:a="http://schemas.openxmlformats.org/drawingml/2006/main">
            <a:r>
              <a:t>      "imports": 1210.5,</a:t>
            </a:r>
          </a:p>
          <a:p xmlns:a="http://schemas.openxmlformats.org/drawingml/2006/main">
            <a:r>
              <a:t>      "base": 6867.22,</a:t>
            </a:r>
          </a:p>
          <a:p xmlns:a="http://schemas.openxmlformats.org/drawingml/2006/main">
            <a:r>
              <a:t>      "newbill": 3453.61,</a:t>
            </a:r>
          </a:p>
          <a:p xmlns:a="http://schemas.openxmlformats.org/drawingml/2006/main">
            <a:r>
              <a:t>      "saving": 3413.61</a:t>
            </a:r>
          </a:p>
          <a:p xmlns:a="http://schemas.openxmlformats.org/drawingml/2006/main">
            <a:r>
              <a:t>    },</a:t>
            </a:r>
          </a:p>
          <a:p xmlns:a="http://schemas.openxmlformats.org/drawingml/2006/main">
            <a:r>
              <a:t>    "monthly": [</a:t>
            </a:r>
          </a:p>
          <a:p xmlns:a="http://schemas.openxmlformats.org/drawingml/2006/main">
            <a:r>
              <a:t>      {</a:t>
            </a:r>
          </a:p>
          <a:p xmlns:a="http://schemas.openxmlformats.org/drawingml/2006/main">
            <a:r>
              <a:t>        "month": "Jan",</a:t>
            </a:r>
          </a:p>
          <a:p xmlns:a="http://schemas.openxmlformats.org/drawingml/2006/main">
            <a:r>
              <a:t>        "days": 31,</a:t>
            </a:r>
          </a:p>
          <a:p xmlns:a="http://schemas.openxmlformats.org/drawingml/2006/main">
            <a:r>
              <a:t>        "G": 36.00161290322581,</a:t>
            </a:r>
          </a:p>
          <a:p xmlns:a="http://schemas.openxmlformats.org/drawingml/2006/main">
            <a:r>
              <a:t>        "direct": 36.00161290322581,</a:t>
            </a:r>
          </a:p>
          <a:p xmlns:a="http://schemas.openxmlformats.org/drawingml/2006/main">
            <a:r>
              <a:t>        "surplus": 0,</a:t>
            </a:r>
          </a:p>
          <a:p xmlns:a="http://schemas.openxmlformats.org/drawingml/2006/main">
            <a:r>
              <a:t>        "battery": 0,</a:t>
            </a:r>
          </a:p>
          <a:p xmlns:a="http://schemas.openxmlformats.org/drawingml/2006/main">
            <a:r>
              <a:t>        "imports": 1385.6499999999999,</a:t>
            </a:r>
          </a:p>
          <a:p xmlns:a="http://schemas.openxmlformats.org/drawingml/2006/main">
            <a:r>
              <a:t>        "base": 7094.794000000002,</a:t>
            </a:r>
          </a:p>
          <a:p xmlns:a="http://schemas.openxmlformats.org/drawingml/2006/main">
            <a:r>
              <a:t>        "newbill": 3947.533,</a:t>
            </a:r>
          </a:p>
          <a:p xmlns:a="http://schemas.openxmlformats.org/drawingml/2006/main">
            <a:r>
              <a:t>        "saving": 3147.261000000002</a:t>
            </a:r>
          </a:p>
          <a:p xmlns:a="http://schemas.openxmlformats.org/drawingml/2006/main">
            <a:r>
              <a:t>      },</a:t>
            </a:r>
          </a:p>
          <a:p xmlns:a="http://schemas.openxmlformats.org/drawingml/2006/main">
            <a:r>
              <a:t>      {</a:t>
            </a:r>
          </a:p>
          <a:p xmlns:a="http://schemas.openxmlformats.org/drawingml/2006/main">
            <a:r>
              <a:t>        "month": "Feb",</a:t>
            </a:r>
          </a:p>
          <a:p xmlns:a="http://schemas.openxmlformats.org/drawingml/2006/main">
            <a:r>
              <a:t>        "days": 28,</a:t>
            </a:r>
          </a:p>
          <a:p xmlns:a="http://schemas.openxmlformats.org/drawingml/2006/main">
            <a:r>
              <a:t>        "G": 39.29732142857142,</a:t>
            </a:r>
          </a:p>
          <a:p xmlns:a="http://schemas.openxmlformats.org/drawingml/2006/main">
            <a:r>
              <a:t>        "direct": 39.29732142857142,</a:t>
            </a:r>
          </a:p>
          <a:p xmlns:a="http://schemas.openxmlformats.org/drawingml/2006/main">
            <a:r>
              <a:t>        "surplus": 0,</a:t>
            </a:r>
          </a:p>
          <a:p xmlns:a="http://schemas.openxmlformats.org/drawingml/2006/main">
            <a:r>
              <a:t>        "battery": 0,</a:t>
            </a:r>
          </a:p>
          <a:p xmlns:a="http://schemas.openxmlformats.org/drawingml/2006/main">
            <a:r>
              <a:t>        "imports": 1159.2750000000003,</a:t>
            </a:r>
          </a:p>
          <a:p xmlns:a="http://schemas.openxmlformats.org/drawingml/2006/main">
            <a:r>
              <a:t>        "base": 6412.071999999999,</a:t>
            </a:r>
          </a:p>
          <a:p xmlns:a="http://schemas.openxmlformats.org/drawingml/2006/main">
            <a:r>
              <a:t>        "newbill": 3309.1555000000008,</a:t>
            </a:r>
          </a:p>
          <a:p xmlns:a="http://schemas.openxmlformats.org/drawingml/2006/main">
            <a:r>
              <a:t>        "saving": 3102.9164999999985</a:t>
            </a:r>
          </a:p>
          <a:p xmlns:a="http://schemas.openxmlformats.org/drawingml/2006/main">
            <a:r>
              <a:t>      },</a:t>
            </a:r>
          </a:p>
          <a:p xmlns:a="http://schemas.openxmlformats.org/drawingml/2006/main">
            <a:r>
              <a:t>      {</a:t>
            </a:r>
          </a:p>
          <a:p xmlns:a="http://schemas.openxmlformats.org/drawingml/2006/main">
            <a:r>
              <a:t>        "month": "Mar",</a:t>
            </a:r>
          </a:p>
          <a:p xmlns:a="http://schemas.openxmlformats.org/drawingml/2006/main">
            <a:r>
              <a:t>        "days": 31,</a:t>
            </a:r>
          </a:p>
          <a:p xmlns:a="http://schemas.openxmlformats.org/drawingml/2006/main">
            <a:r>
              <a:t>        "G": 44.1616129032258,</a:t>
            </a:r>
          </a:p>
          <a:p xmlns:a="http://schemas.openxmlformats.org/drawingml/2006/main">
            <a:r>
              <a:t>        "direct": 40.35,</a:t>
            </a:r>
          </a:p>
          <a:p xmlns:a="http://schemas.openxmlformats.org/drawingml/2006/main">
            <a:r>
              <a:t>        "surplus": 3.8116129032258,</a:t>
            </a:r>
          </a:p>
          <a:p xmlns:a="http://schemas.openxmlformats.org/drawingml/2006/main">
            <a:r>
              <a:t>        "battery": 0,</a:t>
            </a:r>
          </a:p>
          <a:p xmlns:a="http://schemas.openxmlformats.org/drawingml/2006/main">
            <a:r>
              <a:t>        "imports": 1250.8500000000001,</a:t>
            </a:r>
          </a:p>
          <a:p xmlns:a="http://schemas.openxmlformats.org/drawingml/2006/main">
            <a:r>
              <a:t>        "base": 7094.794000000002,</a:t>
            </a:r>
          </a:p>
          <a:p xmlns:a="http://schemas.openxmlformats.org/drawingml/2006/main">
            <a:r>
              <a:t>        "newbill": 3567.397000000001,</a:t>
            </a:r>
          </a:p>
          <a:p xmlns:a="http://schemas.openxmlformats.org/drawingml/2006/main">
            <a:r>
              <a:t>        "saving": 3527.397000000001</a:t>
            </a:r>
          </a:p>
          <a:p xmlns:a="http://schemas.openxmlformats.org/drawingml/2006/main">
            <a:r>
              <a:t>      },</a:t>
            </a:r>
          </a:p>
          <a:p xmlns:a="http://schemas.openxmlformats.org/drawingml/2006/main">
            <a:r>
              <a:t>      {</a:t>
            </a:r>
          </a:p>
          <a:p xmlns:a="http://schemas.openxmlformats.org/drawingml/2006/main">
            <a:r>
              <a:t>        "month": "Apr",</a:t>
            </a:r>
          </a:p>
          <a:p xmlns:a="http://schemas.openxmlformats.org/drawingml/2006/main">
            <a:r>
              <a:t>        "days": 30,</a:t>
            </a:r>
          </a:p>
          <a:p xmlns:a="http://schemas.openxmlformats.org/drawingml/2006/main">
            <a:r>
              <a:t>        "G": 45.577,</a:t>
            </a:r>
          </a:p>
          <a:p xmlns:a="http://schemas.openxmlformats.org/drawingml/2006/main">
            <a:r>
              <a:t>        "direct": 40.35,</a:t>
            </a:r>
          </a:p>
          <a:p xmlns:a="http://schemas.openxmlformats.org/drawingml/2006/main">
            <a:r>
              <a:t>        "surplus": 5.226999999999997,</a:t>
            </a:r>
          </a:p>
          <a:p xmlns:a="http://schemas.openxmlformats.org/drawingml/2006/main">
            <a:r>
              <a:t>        "battery": 0,</a:t>
            </a:r>
          </a:p>
          <a:p xmlns:a="http://schemas.openxmlformats.org/drawingml/2006/main">
            <a:r>
              <a:t>        "imports": 1210.5,</a:t>
            </a:r>
          </a:p>
          <a:p xmlns:a="http://schemas.openxmlformats.org/drawingml/2006/main">
            <a:r>
              <a:t>        "base": 6867.22,</a:t>
            </a:r>
          </a:p>
          <a:p xmlns:a="http://schemas.openxmlformats.org/drawingml/2006/main">
            <a:r>
              <a:t>        "newbill": 3453.61,</a:t>
            </a:r>
          </a:p>
          <a:p xmlns:a="http://schemas.openxmlformats.org/drawingml/2006/main">
            <a:r>
              <a:t>        "saving": 3413.61</a:t>
            </a:r>
          </a:p>
          <a:p xmlns:a="http://schemas.openxmlformats.org/drawingml/2006/main">
            <a:r>
              <a:t>      },</a:t>
            </a:r>
          </a:p>
          <a:p xmlns:a="http://schemas.openxmlformats.org/drawingml/2006/main">
            <a:r>
              <a:t>      {</a:t>
            </a:r>
          </a:p>
          <a:p xmlns:a="http://schemas.openxmlformats.org/drawingml/2006/main">
            <a:r>
              <a:t>        "month": "May",</a:t>
            </a:r>
          </a:p>
          <a:p xmlns:a="http://schemas.openxmlformats.org/drawingml/2006/main">
            <a:r>
              <a:t>        "days": 31,</a:t>
            </a:r>
          </a:p>
          <a:p xmlns:a="http://schemas.openxmlformats.org/drawingml/2006/main">
            <a:r>
              <a:t>        "G": 44.61677419354839,</a:t>
            </a:r>
          </a:p>
          <a:p xmlns:a="http://schemas.openxmlformats.org/drawingml/2006/main">
            <a:r>
              <a:t>        "direct": 40.35,</a:t>
            </a:r>
          </a:p>
          <a:p xmlns:a="http://schemas.openxmlformats.org/drawingml/2006/main">
            <a:r>
              <a:t>        "surplus": 4.266774193548386,</a:t>
            </a:r>
          </a:p>
          <a:p xmlns:a="http://schemas.openxmlformats.org/drawingml/2006/main">
            <a:r>
              <a:t>        "battery": 0,</a:t>
            </a:r>
          </a:p>
          <a:p xmlns:a="http://schemas.openxmlformats.org/drawingml/2006/main">
            <a:r>
              <a:t>        "imports": 1250.8500000000001,</a:t>
            </a:r>
          </a:p>
          <a:p xmlns:a="http://schemas.openxmlformats.org/drawingml/2006/main">
            <a:r>
              <a:t>        "base": 7094.794000000002,</a:t>
            </a:r>
          </a:p>
          <a:p xmlns:a="http://schemas.openxmlformats.org/drawingml/2006/main">
            <a:r>
              <a:t>        "newbill": 3567.397000000001,</a:t>
            </a:r>
          </a:p>
          <a:p xmlns:a="http://schemas.openxmlformats.org/drawingml/2006/main">
            <a:r>
              <a:t>        "saving": 3527.397000000001</a:t>
            </a:r>
          </a:p>
          <a:p xmlns:a="http://schemas.openxmlformats.org/drawingml/2006/main">
            <a:r>
              <a:t>      },</a:t>
            </a:r>
          </a:p>
          <a:p xmlns:a="http://schemas.openxmlformats.org/drawingml/2006/main">
            <a:r>
              <a:t>      {</a:t>
            </a:r>
          </a:p>
          <a:p xmlns:a="http://schemas.openxmlformats.org/drawingml/2006/main">
            <a:r>
              <a:t>        "month": "Jun",</a:t>
            </a:r>
          </a:p>
          <a:p xmlns:a="http://schemas.openxmlformats.org/drawingml/2006/main">
            <a:r>
              <a:t>        "days": 30,</a:t>
            </a:r>
          </a:p>
          <a:p xmlns:a="http://schemas.openxmlformats.org/drawingml/2006/main">
            <a:r>
              <a:t>        "G": 44.94233333333334,</a:t>
            </a:r>
          </a:p>
          <a:p xmlns:a="http://schemas.openxmlformats.org/drawingml/2006/main">
            <a:r>
              <a:t>        "direct": 40.35,</a:t>
            </a:r>
          </a:p>
          <a:p xmlns:a="http://schemas.openxmlformats.org/drawingml/2006/main">
            <a:r>
              <a:t>        "surplus": 4.592333333333336,</a:t>
            </a:r>
          </a:p>
          <a:p xmlns:a="http://schemas.openxmlformats.org/drawingml/2006/main">
            <a:r>
              <a:t>        "battery": 0,</a:t>
            </a:r>
          </a:p>
          <a:p xmlns:a="http://schemas.openxmlformats.org/drawingml/2006/main">
            <a:r>
              <a:t>        "imports": 1210.5,</a:t>
            </a:r>
          </a:p>
          <a:p xmlns:a="http://schemas.openxmlformats.org/drawingml/2006/main">
            <a:r>
              <a:t>        "base": 6867.22,</a:t>
            </a:r>
          </a:p>
          <a:p xmlns:a="http://schemas.openxmlformats.org/drawingml/2006/main">
            <a:r>
              <a:t>        "newbill": 3453.61,</a:t>
            </a:r>
          </a:p>
          <a:p xmlns:a="http://schemas.openxmlformats.org/drawingml/2006/main">
            <a:r>
              <a:t>        "saving": 3413.61</a:t>
            </a:r>
          </a:p>
          <a:p xmlns:a="http://schemas.openxmlformats.org/drawingml/2006/main">
            <a:r>
              <a:t>      },</a:t>
            </a:r>
          </a:p>
          <a:p xmlns:a="http://schemas.openxmlformats.org/drawingml/2006/main">
            <a:r>
              <a:t>      {</a:t>
            </a:r>
          </a:p>
          <a:p xmlns:a="http://schemas.openxmlformats.org/drawingml/2006/main">
            <a:r>
              <a:t>        "month": "Jul",</a:t>
            </a:r>
          </a:p>
          <a:p xmlns:a="http://schemas.openxmlformats.org/drawingml/2006/main">
            <a:r>
              <a:t>        "days": 31,</a:t>
            </a:r>
          </a:p>
          <a:p xmlns:a="http://schemas.openxmlformats.org/drawingml/2006/main">
            <a:r>
              <a:t>        "G": 45.148709677419355,</a:t>
            </a:r>
          </a:p>
          <a:p xmlns:a="http://schemas.openxmlformats.org/drawingml/2006/main">
            <a:r>
              <a:t>        "direct": 40.35,</a:t>
            </a:r>
          </a:p>
          <a:p xmlns:a="http://schemas.openxmlformats.org/drawingml/2006/main">
            <a:r>
              <a:t>        "surplus": 4.798709677419353,</a:t>
            </a:r>
          </a:p>
          <a:p xmlns:a="http://schemas.openxmlformats.org/drawingml/2006/main">
            <a:r>
              <a:t>        "battery": 0,</a:t>
            </a:r>
          </a:p>
          <a:p xmlns:a="http://schemas.openxmlformats.org/drawingml/2006/main">
            <a:r>
              <a:t>        "imports": 1250.8500000000001,</a:t>
            </a:r>
          </a:p>
          <a:p xmlns:a="http://schemas.openxmlformats.org/drawingml/2006/main">
            <a:r>
              <a:t>        "base": 7094.794000000002,</a:t>
            </a:r>
          </a:p>
          <a:p xmlns:a="http://schemas.openxmlformats.org/drawingml/2006/main">
            <a:r>
              <a:t>        "newbill": 3567.397000000001,</a:t>
            </a:r>
          </a:p>
          <a:p xmlns:a="http://schemas.openxmlformats.org/drawingml/2006/main">
            <a:r>
              <a:t>        "saving": 3527.397000000001</a:t>
            </a:r>
          </a:p>
          <a:p xmlns:a="http://schemas.openxmlformats.org/drawingml/2006/main">
            <a:r>
              <a:t>      },</a:t>
            </a:r>
          </a:p>
          <a:p xmlns:a="http://schemas.openxmlformats.org/drawingml/2006/main">
            <a:r>
              <a:t>      {</a:t>
            </a:r>
          </a:p>
          <a:p xmlns:a="http://schemas.openxmlformats.org/drawingml/2006/main">
            <a:r>
              <a:t>        "month": "Aug",</a:t>
            </a:r>
          </a:p>
          <a:p xmlns:a="http://schemas.openxmlformats.org/drawingml/2006/main">
            <a:r>
              <a:t>        "days": 31,</a:t>
            </a:r>
          </a:p>
          <a:p xmlns:a="http://schemas.openxmlformats.org/drawingml/2006/main">
            <a:r>
              <a:t>        "G": 45.73548387096774,</a:t>
            </a:r>
          </a:p>
          <a:p xmlns:a="http://schemas.openxmlformats.org/drawingml/2006/main">
            <a:r>
              <a:t>        "direct": 40.35,</a:t>
            </a:r>
          </a:p>
          <a:p xmlns:a="http://schemas.openxmlformats.org/drawingml/2006/main">
            <a:r>
              <a:t>        "surplus": 5.3854838709677395,</a:t>
            </a:r>
          </a:p>
          <a:p xmlns:a="http://schemas.openxmlformats.org/drawingml/2006/main">
            <a:r>
              <a:t>        "battery": 0,</a:t>
            </a:r>
          </a:p>
          <a:p xmlns:a="http://schemas.openxmlformats.org/drawingml/2006/main">
            <a:r>
              <a:t>        "imports": 1250.8500000000001,</a:t>
            </a:r>
          </a:p>
          <a:p xmlns:a="http://schemas.openxmlformats.org/drawingml/2006/main">
            <a:r>
              <a:t>        "base": 7094.794000000002,</a:t>
            </a:r>
          </a:p>
          <a:p xmlns:a="http://schemas.openxmlformats.org/drawingml/2006/main">
            <a:r>
              <a:t>        "newbill": 3567.397000000001,</a:t>
            </a:r>
          </a:p>
          <a:p xmlns:a="http://schemas.openxmlformats.org/drawingml/2006/main">
            <a:r>
              <a:t>        "saving": 3527.397000000001</a:t>
            </a:r>
          </a:p>
          <a:p xmlns:a="http://schemas.openxmlformats.org/drawingml/2006/main">
            <a:r>
              <a:t>      },</a:t>
            </a:r>
          </a:p>
          <a:p xmlns:a="http://schemas.openxmlformats.org/drawingml/2006/main">
            <a:r>
              <a:t>      {</a:t>
            </a:r>
          </a:p>
          <a:p xmlns:a="http://schemas.openxmlformats.org/drawingml/2006/main">
            <a:r>
              <a:t>        "month": "Sep",</a:t>
            </a:r>
          </a:p>
          <a:p xmlns:a="http://schemas.openxmlformats.org/drawingml/2006/main">
            <a:r>
              <a:t>        "days": 30,</a:t>
            </a:r>
          </a:p>
          <a:p xmlns:a="http://schemas.openxmlformats.org/drawingml/2006/main">
            <a:r>
              <a:t>        "G": 45.61666666666666,</a:t>
            </a:r>
          </a:p>
          <a:p xmlns:a="http://schemas.openxmlformats.org/drawingml/2006/main">
            <a:r>
              <a:t>        "direct": 40.35,</a:t>
            </a:r>
          </a:p>
          <a:p xmlns:a="http://schemas.openxmlformats.org/drawingml/2006/main">
            <a:r>
              <a:t>        "surplus": 5.266666666666659,</a:t>
            </a:r>
          </a:p>
          <a:p xmlns:a="http://schemas.openxmlformats.org/drawingml/2006/main">
            <a:r>
              <a:t>        "battery": 0,</a:t>
            </a:r>
          </a:p>
          <a:p xmlns:a="http://schemas.openxmlformats.org/drawingml/2006/main">
            <a:r>
              <a:t>        "imports": 1210.5,</a:t>
            </a:r>
          </a:p>
          <a:p xmlns:a="http://schemas.openxmlformats.org/drawingml/2006/main">
            <a:r>
              <a:t>        "base": 6867.22,</a:t>
            </a:r>
          </a:p>
          <a:p xmlns:a="http://schemas.openxmlformats.org/drawingml/2006/main">
            <a:r>
              <a:t>        "newbill": 3453.61,</a:t>
            </a:r>
          </a:p>
          <a:p xmlns:a="http://schemas.openxmlformats.org/drawingml/2006/main">
            <a:r>
              <a:t>        "saving": 3413.61</a:t>
            </a:r>
          </a:p>
          <a:p xmlns:a="http://schemas.openxmlformats.org/drawingml/2006/main">
            <a:r>
              <a:t>      },</a:t>
            </a:r>
          </a:p>
          <a:p xmlns:a="http://schemas.openxmlformats.org/drawingml/2006/main">
            <a:r>
              <a:t>      {</a:t>
            </a:r>
          </a:p>
          <a:p xmlns:a="http://schemas.openxmlformats.org/drawingml/2006/main">
            <a:r>
              <a:t>        "month": "Oct",</a:t>
            </a:r>
          </a:p>
          <a:p xmlns:a="http://schemas.openxmlformats.org/drawingml/2006/main">
            <a:r>
              <a:t>        "days": 31,</a:t>
            </a:r>
          </a:p>
          <a:p xmlns:a="http://schemas.openxmlformats.org/drawingml/2006/main">
            <a:r>
              <a:t>        "G": 42.37112903225807,</a:t>
            </a:r>
          </a:p>
          <a:p xmlns:a="http://schemas.openxmlformats.org/drawingml/2006/main">
            <a:r>
              <a:t>        "direct": 40.35,</a:t>
            </a:r>
          </a:p>
          <a:p xmlns:a="http://schemas.openxmlformats.org/drawingml/2006/main">
            <a:r>
              <a:t>        "surplus": 2.0211290322580666,</a:t>
            </a:r>
          </a:p>
          <a:p xmlns:a="http://schemas.openxmlformats.org/drawingml/2006/main">
            <a:r>
              <a:t>        "battery": 0,</a:t>
            </a:r>
          </a:p>
          <a:p xmlns:a="http://schemas.openxmlformats.org/drawingml/2006/main">
            <a:r>
              <a:t>        "imports": 1250.8500000000001,</a:t>
            </a:r>
          </a:p>
          <a:p xmlns:a="http://schemas.openxmlformats.org/drawingml/2006/main">
            <a:r>
              <a:t>        "base": 7094.794000000002,</a:t>
            </a:r>
          </a:p>
          <a:p xmlns:a="http://schemas.openxmlformats.org/drawingml/2006/main">
            <a:r>
              <a:t>        "newbill": 3567.397000000001,</a:t>
            </a:r>
          </a:p>
          <a:p xmlns:a="http://schemas.openxmlformats.org/drawingml/2006/main">
            <a:r>
              <a:t>        "saving": 3527.397000000001</a:t>
            </a:r>
          </a:p>
          <a:p xmlns:a="http://schemas.openxmlformats.org/drawingml/2006/main">
            <a:r>
              <a:t>      },</a:t>
            </a:r>
          </a:p>
          <a:p xmlns:a="http://schemas.openxmlformats.org/drawingml/2006/main">
            <a:r>
              <a:t>      {</a:t>
            </a:r>
          </a:p>
          <a:p xmlns:a="http://schemas.openxmlformats.org/drawingml/2006/main">
            <a:r>
              <a:t>        "month": "Nov",</a:t>
            </a:r>
          </a:p>
          <a:p xmlns:a="http://schemas.openxmlformats.org/drawingml/2006/main">
            <a:r>
              <a:t>        "days": 30,</a:t>
            </a:r>
          </a:p>
          <a:p xmlns:a="http://schemas.openxmlformats.org/drawingml/2006/main">
            <a:r>
              <a:t>        "G": 38.80816666666667,</a:t>
            </a:r>
          </a:p>
          <a:p xmlns:a="http://schemas.openxmlformats.org/drawingml/2006/main">
            <a:r>
              <a:t>        "direct": 38.80816666666667,</a:t>
            </a:r>
          </a:p>
          <a:p xmlns:a="http://schemas.openxmlformats.org/drawingml/2006/main">
            <a:r>
              <a:t>        "surplus": 0,</a:t>
            </a:r>
          </a:p>
          <a:p xmlns:a="http://schemas.openxmlformats.org/drawingml/2006/main">
            <a:r>
              <a:t>        "battery": 0,</a:t>
            </a:r>
          </a:p>
          <a:p xmlns:a="http://schemas.openxmlformats.org/drawingml/2006/main">
            <a:r>
              <a:t>        "imports": 1256.7549999999999,</a:t>
            </a:r>
          </a:p>
          <a:p xmlns:a="http://schemas.openxmlformats.org/drawingml/2006/main">
            <a:r>
              <a:t>        "base": 6867.22,</a:t>
            </a:r>
          </a:p>
          <a:p xmlns:a="http://schemas.openxmlformats.org/drawingml/2006/main">
            <a:r>
              <a:t>        "newbill": 3584.0490999999997,</a:t>
            </a:r>
          </a:p>
          <a:p xmlns:a="http://schemas.openxmlformats.org/drawingml/2006/main">
            <a:r>
              <a:t>        "saving": 3283.1709000000005</a:t>
            </a:r>
          </a:p>
          <a:p xmlns:a="http://schemas.openxmlformats.org/drawingml/2006/main">
            <a:r>
              <a:t>      },</a:t>
            </a:r>
          </a:p>
          <a:p xmlns:a="http://schemas.openxmlformats.org/drawingml/2006/main">
            <a:r>
              <a:t>      {</a:t>
            </a:r>
          </a:p>
          <a:p xmlns:a="http://schemas.openxmlformats.org/drawingml/2006/main">
            <a:r>
              <a:t>        "month": "Dec",</a:t>
            </a:r>
          </a:p>
          <a:p xmlns:a="http://schemas.openxmlformats.org/drawingml/2006/main">
            <a:r>
              <a:t>        "days": 31,</a:t>
            </a:r>
          </a:p>
          <a:p xmlns:a="http://schemas.openxmlformats.org/drawingml/2006/main">
            <a:r>
              <a:t>        "G": 35.75483870967742,</a:t>
            </a:r>
          </a:p>
          <a:p xmlns:a="http://schemas.openxmlformats.org/drawingml/2006/main">
            <a:r>
              <a:t>        "direct": 35.75483870967742,</a:t>
            </a:r>
          </a:p>
          <a:p xmlns:a="http://schemas.openxmlformats.org/drawingml/2006/main">
            <a:r>
              <a:t>        "surplus": 0,</a:t>
            </a:r>
          </a:p>
          <a:p xmlns:a="http://schemas.openxmlformats.org/drawingml/2006/main">
            <a:r>
              <a:t>        "battery": 0,</a:t>
            </a:r>
          </a:p>
          <a:p xmlns:a="http://schemas.openxmlformats.org/drawingml/2006/main">
            <a:r>
              <a:t>        "imports": 1393.3,</a:t>
            </a:r>
          </a:p>
          <a:p xmlns:a="http://schemas.openxmlformats.org/drawingml/2006/main">
            <a:r>
              <a:t>        "base": 7094.794000000002,</a:t>
            </a:r>
          </a:p>
          <a:p xmlns:a="http://schemas.openxmlformats.org/drawingml/2006/main">
            <a:r>
              <a:t>        "newbill": 3969.1059999999998,</a:t>
            </a:r>
          </a:p>
          <a:p xmlns:a="http://schemas.openxmlformats.org/drawingml/2006/main">
            <a:r>
              <a:t>        "saving": 3125.688000000002</a:t>
            </a:r>
          </a:p>
          <a:p xmlns:a="http://schemas.openxmlformats.org/drawingml/2006/main">
            <a:r>
              <a:t>      }</a:t>
            </a:r>
          </a:p>
          <a:p xmlns:a="http://schemas.openxmlformats.org/drawingml/2006/main">
            <a:r>
              <a:t>    ],</a:t>
            </a:r>
          </a:p>
          <a:p xmlns:a="http://schemas.openxmlformats.org/drawingml/2006/main">
            <a:r>
              <a:t>    "annualSaving": 40536.85140000001,</a:t>
            </a:r>
          </a:p>
          <a:p xmlns:a="http://schemas.openxmlformats.org/drawingml/2006/main">
            <a:r>
              <a:t>    "averageSaving": 3378.0709500000007,</a:t>
            </a:r>
          </a:p>
          <a:p xmlns:a="http://schemas.openxmlformats.org/drawingml/2006/main">
            <a:r>
              <a:t>    "payback": 3.4733827403279767,</a:t>
            </a:r>
          </a:p>
          <a:p xmlns:a="http://schemas.openxmlformats.org/drawingml/2006/main">
            <a:r>
              <a:t>    "annualImports": 15080.73</a:t>
            </a:r>
          </a:p>
          <a:p xmlns:a="http://schemas.openxmlformats.org/drawingml/2006/main">
            <a:r>
              <a:t>  },</a:t>
            </a:r>
          </a:p>
          <a:p xmlns:a="http://schemas.openxmlformats.org/drawingml/2006/main">
            <a:r>
              <a:t>  {</a:t>
            </a:r>
          </a:p>
          <a:p xmlns:a="http://schemas.openxmlformats.org/drawingml/2006/main">
            <a:r>
              <a:t>    "option": "B",</a:t>
            </a:r>
          </a:p>
          <a:p xmlns:a="http://schemas.openxmlformats.org/drawingml/2006/main">
            <a:r>
              <a:t>    "C": 16,</a:t>
            </a:r>
          </a:p>
          <a:p xmlns:a="http://schemas.openxmlformats.org/drawingml/2006/main">
            <a:r>
              <a:t>    "P": 11,</a:t>
            </a:r>
          </a:p>
          <a:p xmlns:a="http://schemas.openxmlformats.org/drawingml/2006/main">
            <a:r>
              <a:t>    "inv": 12,</a:t>
            </a:r>
          </a:p>
          <a:p xmlns:a="http://schemas.openxmlformats.org/drawingml/2006/main">
            <a:r>
              <a:t>    "price": 394240,</a:t>
            </a:r>
          </a:p>
          <a:p xmlns:a="http://schemas.openxmlformats.org/drawingml/2006/main">
            <a:r>
              <a:t>    "reference": {</a:t>
            </a:r>
          </a:p>
          <a:p xmlns:a="http://schemas.openxmlformats.org/drawingml/2006/main">
            <a:r>
              <a:t>      "G": 54.78,</a:t>
            </a:r>
          </a:p>
          <a:p xmlns:a="http://schemas.openxmlformats.org/drawingml/2006/main">
            <a:r>
              <a:t>      "direct": 40.35,</a:t>
            </a:r>
          </a:p>
          <a:p xmlns:a="http://schemas.openxmlformats.org/drawingml/2006/main">
            <a:r>
              <a:t>      "surplus": 14.43,</a:t>
            </a:r>
          </a:p>
          <a:p xmlns:a="http://schemas.openxmlformats.org/drawingml/2006/main">
            <a:r>
              <a:t>      "battery": 12.16,</a:t>
            </a:r>
          </a:p>
          <a:p xmlns:a="http://schemas.openxmlformats.org/drawingml/2006/main">
            <a:r>
              <a:t>      "imports": 845.7,</a:t>
            </a:r>
          </a:p>
          <a:p xmlns:a="http://schemas.openxmlformats.org/drawingml/2006/main">
            <a:r>
              <a:t>      "base": 6867.22,</a:t>
            </a:r>
          </a:p>
          <a:p xmlns:a="http://schemas.openxmlformats.org/drawingml/2006/main">
            <a:r>
              <a:t>      "newbill": 2307.5890000000004,</a:t>
            </a:r>
          </a:p>
          <a:p xmlns:a="http://schemas.openxmlformats.org/drawingml/2006/main">
            <a:r>
              <a:t>      "saving": 4559.630999999999</a:t>
            </a:r>
          </a:p>
          <a:p xmlns:a="http://schemas.openxmlformats.org/drawingml/2006/main">
            <a:r>
              <a:t>    },</a:t>
            </a:r>
          </a:p>
          <a:p xmlns:a="http://schemas.openxmlformats.org/drawingml/2006/main">
            <a:r>
              <a:t>    "monthly": [</a:t>
            </a:r>
          </a:p>
          <a:p xmlns:a="http://schemas.openxmlformats.org/drawingml/2006/main">
            <a:r>
              <a:t>      {</a:t>
            </a:r>
          </a:p>
          <a:p xmlns:a="http://schemas.openxmlformats.org/drawingml/2006/main">
            <a:r>
              <a:t>        "month": "Jan",</a:t>
            </a:r>
          </a:p>
          <a:p xmlns:a="http://schemas.openxmlformats.org/drawingml/2006/main">
            <a:r>
              <a:t>        "days": 31,</a:t>
            </a:r>
          </a:p>
          <a:p xmlns:a="http://schemas.openxmlformats.org/drawingml/2006/main">
            <a:r>
              <a:t>        "G": 46.59032258064517,</a:t>
            </a:r>
          </a:p>
          <a:p xmlns:a="http://schemas.openxmlformats.org/drawingml/2006/main">
            <a:r>
              <a:t>        "direct": 40.35,</a:t>
            </a:r>
          </a:p>
          <a:p xmlns:a="http://schemas.openxmlformats.org/drawingml/2006/main">
            <a:r>
              <a:t>        "surplus": 6.24032258064517,</a:t>
            </a:r>
          </a:p>
          <a:p xmlns:a="http://schemas.openxmlformats.org/drawingml/2006/main">
            <a:r>
              <a:t>        "battery": 5.928306451612912,</a:t>
            </a:r>
          </a:p>
          <a:p xmlns:a="http://schemas.openxmlformats.org/drawingml/2006/main">
            <a:r>
              <a:t>        "imports": 1067.0724999999998,</a:t>
            </a:r>
          </a:p>
          <a:p xmlns:a="http://schemas.openxmlformats.org/drawingml/2006/main">
            <a:r>
              <a:t>        "base": 7094.794000000002,</a:t>
            </a:r>
          </a:p>
          <a:p xmlns:a="http://schemas.openxmlformats.org/drawingml/2006/main">
            <a:r>
              <a:t>        "newbill": 3049.1444499999993,</a:t>
            </a:r>
          </a:p>
          <a:p xmlns:a="http://schemas.openxmlformats.org/drawingml/2006/main">
            <a:r>
              <a:t>        "saving": 4045.6495500000024</a:t>
            </a:r>
          </a:p>
          <a:p xmlns:a="http://schemas.openxmlformats.org/drawingml/2006/main">
            <a:r>
              <a:t>      },</a:t>
            </a:r>
          </a:p>
          <a:p xmlns:a="http://schemas.openxmlformats.org/drawingml/2006/main">
            <a:r>
              <a:t>      {</a:t>
            </a:r>
          </a:p>
          <a:p xmlns:a="http://schemas.openxmlformats.org/drawingml/2006/main">
            <a:r>
              <a:t>        "month": "Feb",</a:t>
            </a:r>
          </a:p>
          <a:p xmlns:a="http://schemas.openxmlformats.org/drawingml/2006/main">
            <a:r>
              <a:t>        "days": 28,</a:t>
            </a:r>
          </a:p>
          <a:p xmlns:a="http://schemas.openxmlformats.org/drawingml/2006/main">
            <a:r>
              <a:t>        "G": 50.85535714285714,</a:t>
            </a:r>
          </a:p>
          <a:p xmlns:a="http://schemas.openxmlformats.org/drawingml/2006/main">
            <a:r>
              <a:t>        "direct": 40.35,</a:t>
            </a:r>
          </a:p>
          <a:p xmlns:a="http://schemas.openxmlformats.org/drawingml/2006/main">
            <a:r>
              <a:t>        "surplus": 10.505357142857136,</a:t>
            </a:r>
          </a:p>
          <a:p xmlns:a="http://schemas.openxmlformats.org/drawingml/2006/main">
            <a:r>
              <a:t>        "battery": 9.980089285714278,</a:t>
            </a:r>
          </a:p>
          <a:p xmlns:a="http://schemas.openxmlformats.org/drawingml/2006/main">
            <a:r>
              <a:t>        "imports": 850.3575000000003,</a:t>
            </a:r>
          </a:p>
          <a:p xmlns:a="http://schemas.openxmlformats.org/drawingml/2006/main">
            <a:r>
              <a:t>        "base": 6412.071999999999,</a:t>
            </a:r>
          </a:p>
          <a:p xmlns:a="http://schemas.openxmlformats.org/drawingml/2006/main">
            <a:r>
              <a:t>        "newbill": 2320.490275000001,</a:t>
            </a:r>
          </a:p>
          <a:p xmlns:a="http://schemas.openxmlformats.org/drawingml/2006/main">
            <a:r>
              <a:t>        "saving": 4091.581724999998</a:t>
            </a:r>
          </a:p>
          <a:p xmlns:a="http://schemas.openxmlformats.org/drawingml/2006/main">
            <a:r>
              <a:t>      },</a:t>
            </a:r>
          </a:p>
          <a:p xmlns:a="http://schemas.openxmlformats.org/drawingml/2006/main">
            <a:r>
              <a:t>      {</a:t>
            </a:r>
          </a:p>
          <a:p xmlns:a="http://schemas.openxmlformats.org/drawingml/2006/main">
            <a:r>
              <a:t>        "month": "Mar",</a:t>
            </a:r>
          </a:p>
          <a:p xmlns:a="http://schemas.openxmlformats.org/drawingml/2006/main">
            <a:r>
              <a:t>        "days": 31,</a:t>
            </a:r>
          </a:p>
          <a:p xmlns:a="http://schemas.openxmlformats.org/drawingml/2006/main">
            <a:r>
              <a:t>        "G": 57.15032258064516,</a:t>
            </a:r>
          </a:p>
          <a:p xmlns:a="http://schemas.openxmlformats.org/drawingml/2006/main">
            <a:r>
              <a:t>        "direct": 40.35,</a:t>
            </a:r>
          </a:p>
          <a:p xmlns:a="http://schemas.openxmlformats.org/drawingml/2006/main">
            <a:r>
              <a:t>        "surplus": 16.800322580645158,</a:t>
            </a:r>
          </a:p>
          <a:p xmlns:a="http://schemas.openxmlformats.org/drawingml/2006/main">
            <a:r>
              <a:t>        "battery": 12.16,</a:t>
            </a:r>
          </a:p>
          <a:p xmlns:a="http://schemas.openxmlformats.org/drawingml/2006/main">
            <a:r>
              <a:t>        "imports": 873.89,</a:t>
            </a:r>
          </a:p>
          <a:p xmlns:a="http://schemas.openxmlformats.org/drawingml/2006/main">
            <a:r>
              <a:t>        "base": 7094.794000000002,</a:t>
            </a:r>
          </a:p>
          <a:p xmlns:a="http://schemas.openxmlformats.org/drawingml/2006/main">
            <a:r>
              <a:t>        "newbill": 2385.6753,</a:t>
            </a:r>
          </a:p>
          <a:p xmlns:a="http://schemas.openxmlformats.org/drawingml/2006/main">
            <a:r>
              <a:t>        "saving": 4709.118700000002</a:t>
            </a:r>
          </a:p>
          <a:p xmlns:a="http://schemas.openxmlformats.org/drawingml/2006/main">
            <a:r>
              <a:t>      },</a:t>
            </a:r>
          </a:p>
          <a:p xmlns:a="http://schemas.openxmlformats.org/drawingml/2006/main">
            <a:r>
              <a:t>      {</a:t>
            </a:r>
          </a:p>
          <a:p xmlns:a="http://schemas.openxmlformats.org/drawingml/2006/main">
            <a:r>
              <a:t>        "month": "Apr",</a:t>
            </a:r>
          </a:p>
          <a:p xmlns:a="http://schemas.openxmlformats.org/drawingml/2006/main">
            <a:r>
              <a:t>        "days": 30,</a:t>
            </a:r>
          </a:p>
          <a:p xmlns:a="http://schemas.openxmlformats.org/drawingml/2006/main">
            <a:r>
              <a:t>        "G": 58.982,</a:t>
            </a:r>
          </a:p>
          <a:p xmlns:a="http://schemas.openxmlformats.org/drawingml/2006/main">
            <a:r>
              <a:t>        "direct": 40.35,</a:t>
            </a:r>
          </a:p>
          <a:p xmlns:a="http://schemas.openxmlformats.org/drawingml/2006/main">
            <a:r>
              <a:t>        "surplus": 18.631999999999998,</a:t>
            </a:r>
          </a:p>
          <a:p xmlns:a="http://schemas.openxmlformats.org/drawingml/2006/main">
            <a:r>
              <a:t>        "battery": 12.16,</a:t>
            </a:r>
          </a:p>
          <a:p xmlns:a="http://schemas.openxmlformats.org/drawingml/2006/main">
            <a:r>
              <a:t>        "imports": 845.7,</a:t>
            </a:r>
          </a:p>
          <a:p xmlns:a="http://schemas.openxmlformats.org/drawingml/2006/main">
            <a:r>
              <a:t>        "base": 6867.22,</a:t>
            </a:r>
          </a:p>
          <a:p xmlns:a="http://schemas.openxmlformats.org/drawingml/2006/main">
            <a:r>
              <a:t>        "newbill": 2307.5890000000004,</a:t>
            </a:r>
          </a:p>
          <a:p xmlns:a="http://schemas.openxmlformats.org/drawingml/2006/main">
            <a:r>
              <a:t>        "saving": 4559.630999999999</a:t>
            </a:r>
          </a:p>
          <a:p xmlns:a="http://schemas.openxmlformats.org/drawingml/2006/main">
            <a:r>
              <a:t>      },</a:t>
            </a:r>
          </a:p>
          <a:p xmlns:a="http://schemas.openxmlformats.org/drawingml/2006/main">
            <a:r>
              <a:t>      {</a:t>
            </a:r>
          </a:p>
          <a:p xmlns:a="http://schemas.openxmlformats.org/drawingml/2006/main">
            <a:r>
              <a:t>        "month": "May",</a:t>
            </a:r>
          </a:p>
          <a:p xmlns:a="http://schemas.openxmlformats.org/drawingml/2006/main">
            <a:r>
              <a:t>        "days": 31,</a:t>
            </a:r>
          </a:p>
          <a:p xmlns:a="http://schemas.openxmlformats.org/drawingml/2006/main">
            <a:r>
              <a:t>        "G": 57.73935483870968,</a:t>
            </a:r>
          </a:p>
          <a:p xmlns:a="http://schemas.openxmlformats.org/drawingml/2006/main">
            <a:r>
              <a:t>        "direct": 40.35,</a:t>
            </a:r>
          </a:p>
          <a:p xmlns:a="http://schemas.openxmlformats.org/drawingml/2006/main">
            <a:r>
              <a:t>        "surplus": 17.38935483870968,</a:t>
            </a:r>
          </a:p>
          <a:p xmlns:a="http://schemas.openxmlformats.org/drawingml/2006/main">
            <a:r>
              <a:t>        "battery": 12.16,</a:t>
            </a:r>
          </a:p>
          <a:p xmlns:a="http://schemas.openxmlformats.org/drawingml/2006/main">
            <a:r>
              <a:t>        "imports": 873.89,</a:t>
            </a:r>
          </a:p>
          <a:p xmlns:a="http://schemas.openxmlformats.org/drawingml/2006/main">
            <a:r>
              <a:t>        "base": 7094.794000000002,</a:t>
            </a:r>
          </a:p>
          <a:p xmlns:a="http://schemas.openxmlformats.org/drawingml/2006/main">
            <a:r>
              <a:t>        "newbill": 2385.6753,</a:t>
            </a:r>
          </a:p>
          <a:p xmlns:a="http://schemas.openxmlformats.org/drawingml/2006/main">
            <a:r>
              <a:t>        "saving": 4709.118700000002</a:t>
            </a:r>
          </a:p>
          <a:p xmlns:a="http://schemas.openxmlformats.org/drawingml/2006/main">
            <a:r>
              <a:t>      },</a:t>
            </a:r>
          </a:p>
          <a:p xmlns:a="http://schemas.openxmlformats.org/drawingml/2006/main">
            <a:r>
              <a:t>      {</a:t>
            </a:r>
          </a:p>
          <a:p xmlns:a="http://schemas.openxmlformats.org/drawingml/2006/main">
            <a:r>
              <a:t>        "month": "Jun",</a:t>
            </a:r>
          </a:p>
          <a:p xmlns:a="http://schemas.openxmlformats.org/drawingml/2006/main">
            <a:r>
              <a:t>        "days": 30,</a:t>
            </a:r>
          </a:p>
          <a:p xmlns:a="http://schemas.openxmlformats.org/drawingml/2006/main">
            <a:r>
              <a:t>        "G": 58.16066666666667,</a:t>
            </a:r>
          </a:p>
          <a:p xmlns:a="http://schemas.openxmlformats.org/drawingml/2006/main">
            <a:r>
              <a:t>        "direct": 40.35,</a:t>
            </a:r>
          </a:p>
          <a:p xmlns:a="http://schemas.openxmlformats.org/drawingml/2006/main">
            <a:r>
              <a:t>        "surplus": 17.81066666666667,</a:t>
            </a:r>
          </a:p>
          <a:p xmlns:a="http://schemas.openxmlformats.org/drawingml/2006/main">
            <a:r>
              <a:t>        "battery": 12.16,</a:t>
            </a:r>
          </a:p>
          <a:p xmlns:a="http://schemas.openxmlformats.org/drawingml/2006/main">
            <a:r>
              <a:t>        "imports": 845.7,</a:t>
            </a:r>
          </a:p>
          <a:p xmlns:a="http://schemas.openxmlformats.org/drawingml/2006/main">
            <a:r>
              <a:t>        "base": 6867.22,</a:t>
            </a:r>
          </a:p>
          <a:p xmlns:a="http://schemas.openxmlformats.org/drawingml/2006/main">
            <a:r>
              <a:t>        "newbill": 2307.5890000000004,</a:t>
            </a:r>
          </a:p>
          <a:p xmlns:a="http://schemas.openxmlformats.org/drawingml/2006/main">
            <a:r>
              <a:t>        "saving": 4559.630999999999</a:t>
            </a:r>
          </a:p>
          <a:p xmlns:a="http://schemas.openxmlformats.org/drawingml/2006/main">
            <a:r>
              <a:t>      },</a:t>
            </a:r>
          </a:p>
          <a:p xmlns:a="http://schemas.openxmlformats.org/drawingml/2006/main">
            <a:r>
              <a:t>      {</a:t>
            </a:r>
          </a:p>
          <a:p xmlns:a="http://schemas.openxmlformats.org/drawingml/2006/main">
            <a:r>
              <a:t>        "month": "Jul",</a:t>
            </a:r>
          </a:p>
          <a:p xmlns:a="http://schemas.openxmlformats.org/drawingml/2006/main">
            <a:r>
              <a:t>        "days": 31,</a:t>
            </a:r>
          </a:p>
          <a:p xmlns:a="http://schemas.openxmlformats.org/drawingml/2006/main">
            <a:r>
              <a:t>        "G": 58.42774193548387,</a:t>
            </a:r>
          </a:p>
          <a:p xmlns:a="http://schemas.openxmlformats.org/drawingml/2006/main">
            <a:r>
              <a:t>        "direct": 40.35,</a:t>
            </a:r>
          </a:p>
          <a:p xmlns:a="http://schemas.openxmlformats.org/drawingml/2006/main">
            <a:r>
              <a:t>        "surplus": 18.07774193548387,</a:t>
            </a:r>
          </a:p>
          <a:p xmlns:a="http://schemas.openxmlformats.org/drawingml/2006/main">
            <a:r>
              <a:t>        "battery": 12.16,</a:t>
            </a:r>
          </a:p>
          <a:p xmlns:a="http://schemas.openxmlformats.org/drawingml/2006/main">
            <a:r>
              <a:t>        "imports": 873.89,</a:t>
            </a:r>
          </a:p>
          <a:p xmlns:a="http://schemas.openxmlformats.org/drawingml/2006/main">
            <a:r>
              <a:t>        "base": 7094.794000000002,</a:t>
            </a:r>
          </a:p>
          <a:p xmlns:a="http://schemas.openxmlformats.org/drawingml/2006/main">
            <a:r>
              <a:t>        "newbill": 2385.6753,</a:t>
            </a:r>
          </a:p>
          <a:p xmlns:a="http://schemas.openxmlformats.org/drawingml/2006/main">
            <a:r>
              <a:t>        "saving": 4709.118700000002</a:t>
            </a:r>
          </a:p>
          <a:p xmlns:a="http://schemas.openxmlformats.org/drawingml/2006/main">
            <a:r>
              <a:t>      },</a:t>
            </a:r>
          </a:p>
          <a:p xmlns:a="http://schemas.openxmlformats.org/drawingml/2006/main">
            <a:r>
              <a:t>      {</a:t>
            </a:r>
          </a:p>
          <a:p xmlns:a="http://schemas.openxmlformats.org/drawingml/2006/main">
            <a:r>
              <a:t>        "month": "Aug",</a:t>
            </a:r>
          </a:p>
          <a:p xmlns:a="http://schemas.openxmlformats.org/drawingml/2006/main">
            <a:r>
              <a:t>        "days": 31,</a:t>
            </a:r>
          </a:p>
          <a:p xmlns:a="http://schemas.openxmlformats.org/drawingml/2006/main">
            <a:r>
              <a:t>        "G": 59.18709677419355,</a:t>
            </a:r>
          </a:p>
          <a:p xmlns:a="http://schemas.openxmlformats.org/drawingml/2006/main">
            <a:r>
              <a:t>        "direct": 40.35,</a:t>
            </a:r>
          </a:p>
          <a:p xmlns:a="http://schemas.openxmlformats.org/drawingml/2006/main">
            <a:r>
              <a:t>        "surplus": 18.837096774193547,</a:t>
            </a:r>
          </a:p>
          <a:p xmlns:a="http://schemas.openxmlformats.org/drawingml/2006/main">
            <a:r>
              <a:t>        "battery": 12.16,</a:t>
            </a:r>
          </a:p>
          <a:p xmlns:a="http://schemas.openxmlformats.org/drawingml/2006/main">
            <a:r>
              <a:t>        "imports": 873.89,</a:t>
            </a:r>
          </a:p>
          <a:p xmlns:a="http://schemas.openxmlformats.org/drawingml/2006/main">
            <a:r>
              <a:t>        "base": 7094.794000000002,</a:t>
            </a:r>
          </a:p>
          <a:p xmlns:a="http://schemas.openxmlformats.org/drawingml/2006/main">
            <a:r>
              <a:t>        "newbill": 2385.6753,</a:t>
            </a:r>
          </a:p>
          <a:p xmlns:a="http://schemas.openxmlformats.org/drawingml/2006/main">
            <a:r>
              <a:t>        "saving": 4709.118700000002</a:t>
            </a:r>
          </a:p>
          <a:p xmlns:a="http://schemas.openxmlformats.org/drawingml/2006/main">
            <a:r>
              <a:t>      },</a:t>
            </a:r>
          </a:p>
          <a:p xmlns:a="http://schemas.openxmlformats.org/drawingml/2006/main">
            <a:r>
              <a:t>      {</a:t>
            </a:r>
          </a:p>
          <a:p xmlns:a="http://schemas.openxmlformats.org/drawingml/2006/main">
            <a:r>
              <a:t>        "month": "Sep",</a:t>
            </a:r>
          </a:p>
          <a:p xmlns:a="http://schemas.openxmlformats.org/drawingml/2006/main">
            <a:r>
              <a:t>        "days": 30,</a:t>
            </a:r>
          </a:p>
          <a:p xmlns:a="http://schemas.openxmlformats.org/drawingml/2006/main">
            <a:r>
              <a:t>        "G": 59.03333333333333,</a:t>
            </a:r>
          </a:p>
          <a:p xmlns:a="http://schemas.openxmlformats.org/drawingml/2006/main">
            <a:r>
              <a:t>        "direct": 40.35,</a:t>
            </a:r>
          </a:p>
          <a:p xmlns:a="http://schemas.openxmlformats.org/drawingml/2006/main">
            <a:r>
              <a:t>        "surplus": 18.68333333333333,</a:t>
            </a:r>
          </a:p>
          <a:p xmlns:a="http://schemas.openxmlformats.org/drawingml/2006/main">
            <a:r>
              <a:t>        "battery": 12.16,</a:t>
            </a:r>
          </a:p>
          <a:p xmlns:a="http://schemas.openxmlformats.org/drawingml/2006/main">
            <a:r>
              <a:t>        "imports": 845.7,</a:t>
            </a:r>
          </a:p>
          <a:p xmlns:a="http://schemas.openxmlformats.org/drawingml/2006/main">
            <a:r>
              <a:t>        "base": 6867.22,</a:t>
            </a:r>
          </a:p>
          <a:p xmlns:a="http://schemas.openxmlformats.org/drawingml/2006/main">
            <a:r>
              <a:t>        "newbill": 2307.5890000000004,</a:t>
            </a:r>
          </a:p>
          <a:p xmlns:a="http://schemas.openxmlformats.org/drawingml/2006/main">
            <a:r>
              <a:t>        "saving": 4559.630999999999</a:t>
            </a:r>
          </a:p>
          <a:p xmlns:a="http://schemas.openxmlformats.org/drawingml/2006/main">
            <a:r>
              <a:t>      },</a:t>
            </a:r>
          </a:p>
          <a:p xmlns:a="http://schemas.openxmlformats.org/drawingml/2006/main">
            <a:r>
              <a:t>      {</a:t>
            </a:r>
          </a:p>
          <a:p xmlns:a="http://schemas.openxmlformats.org/drawingml/2006/main">
            <a:r>
              <a:t>        "month": "Oct",</a:t>
            </a:r>
          </a:p>
          <a:p xmlns:a="http://schemas.openxmlformats.org/drawingml/2006/main">
            <a:r>
              <a:t>        "days": 31,</a:t>
            </a:r>
          </a:p>
          <a:p xmlns:a="http://schemas.openxmlformats.org/drawingml/2006/main">
            <a:r>
              <a:t>        "G": 54.833225806451615,</a:t>
            </a:r>
          </a:p>
          <a:p xmlns:a="http://schemas.openxmlformats.org/drawingml/2006/main">
            <a:r>
              <a:t>        "direct": 40.35,</a:t>
            </a:r>
          </a:p>
          <a:p xmlns:a="http://schemas.openxmlformats.org/drawingml/2006/main">
            <a:r>
              <a:t>        "surplus": 14.483225806451614,</a:t>
            </a:r>
          </a:p>
          <a:p xmlns:a="http://schemas.openxmlformats.org/drawingml/2006/main">
            <a:r>
              <a:t>        "battery": 12.16,</a:t>
            </a:r>
          </a:p>
          <a:p xmlns:a="http://schemas.openxmlformats.org/drawingml/2006/main">
            <a:r>
              <a:t>        "imports": 873.89,</a:t>
            </a:r>
          </a:p>
          <a:p xmlns:a="http://schemas.openxmlformats.org/drawingml/2006/main">
            <a:r>
              <a:t>        "base": 7094.794000000002,</a:t>
            </a:r>
          </a:p>
          <a:p xmlns:a="http://schemas.openxmlformats.org/drawingml/2006/main">
            <a:r>
              <a:t>        "newbill": 2385.6753,</a:t>
            </a:r>
          </a:p>
          <a:p xmlns:a="http://schemas.openxmlformats.org/drawingml/2006/main">
            <a:r>
              <a:t>        "saving": 4709.118700000002</a:t>
            </a:r>
          </a:p>
          <a:p xmlns:a="http://schemas.openxmlformats.org/drawingml/2006/main">
            <a:r>
              <a:t>      },</a:t>
            </a:r>
          </a:p>
          <a:p xmlns:a="http://schemas.openxmlformats.org/drawingml/2006/main">
            <a:r>
              <a:t>      {</a:t>
            </a:r>
          </a:p>
          <a:p xmlns:a="http://schemas.openxmlformats.org/drawingml/2006/main">
            <a:r>
              <a:t>        "month": "Nov",</a:t>
            </a:r>
          </a:p>
          <a:p xmlns:a="http://schemas.openxmlformats.org/drawingml/2006/main">
            <a:r>
              <a:t>        "days": 30,</a:t>
            </a:r>
          </a:p>
          <a:p xmlns:a="http://schemas.openxmlformats.org/drawingml/2006/main">
            <a:r>
              <a:t>        "G": 50.22233333333334,</a:t>
            </a:r>
          </a:p>
          <a:p xmlns:a="http://schemas.openxmlformats.org/drawingml/2006/main">
            <a:r>
              <a:t>        "direct": 40.35,</a:t>
            </a:r>
          </a:p>
          <a:p xmlns:a="http://schemas.openxmlformats.org/drawingml/2006/main">
            <a:r>
              <a:t>        "surplus": 9.872333333333337,</a:t>
            </a:r>
          </a:p>
          <a:p xmlns:a="http://schemas.openxmlformats.org/drawingml/2006/main">
            <a:r>
              <a:t>        "battery": 9.37871666666667,</a:t>
            </a:r>
          </a:p>
          <a:p xmlns:a="http://schemas.openxmlformats.org/drawingml/2006/main">
            <a:r>
              <a:t>        "imports": 929.1385,</a:t>
            </a:r>
          </a:p>
          <a:p xmlns:a="http://schemas.openxmlformats.org/drawingml/2006/main">
            <a:r>
              <a:t>        "base": 6867.22,</a:t>
            </a:r>
          </a:p>
          <a:p xmlns:a="http://schemas.openxmlformats.org/drawingml/2006/main">
            <a:r>
              <a:t>        "newbill": 2538.7136450000003,</a:t>
            </a:r>
          </a:p>
          <a:p xmlns:a="http://schemas.openxmlformats.org/drawingml/2006/main">
            <a:r>
              <a:t>        "saving": 4328.5063549999995</a:t>
            </a:r>
          </a:p>
          <a:p xmlns:a="http://schemas.openxmlformats.org/drawingml/2006/main">
            <a:r>
              <a:t>      },</a:t>
            </a:r>
          </a:p>
          <a:p xmlns:a="http://schemas.openxmlformats.org/drawingml/2006/main">
            <a:r>
              <a:t>      {</a:t>
            </a:r>
          </a:p>
          <a:p xmlns:a="http://schemas.openxmlformats.org/drawingml/2006/main">
            <a:r>
              <a:t>        "month": "Dec",</a:t>
            </a:r>
          </a:p>
          <a:p xmlns:a="http://schemas.openxmlformats.org/drawingml/2006/main">
            <a:r>
              <a:t>        "days": 31,</a:t>
            </a:r>
          </a:p>
          <a:p xmlns:a="http://schemas.openxmlformats.org/drawingml/2006/main">
            <a:r>
              <a:t>        "G": 46.27096774193549,</a:t>
            </a:r>
          </a:p>
          <a:p xmlns:a="http://schemas.openxmlformats.org/drawingml/2006/main">
            <a:r>
              <a:t>        "direct": 40.35,</a:t>
            </a:r>
          </a:p>
          <a:p xmlns:a="http://schemas.openxmlformats.org/drawingml/2006/main">
            <a:r>
              <a:t>        "surplus": 5.920967741935492,</a:t>
            </a:r>
          </a:p>
          <a:p xmlns:a="http://schemas.openxmlformats.org/drawingml/2006/main">
            <a:r>
              <a:t>        "battery": 5.624919354838717,</a:t>
            </a:r>
          </a:p>
          <a:p xmlns:a="http://schemas.openxmlformats.org/drawingml/2006/main">
            <a:r>
              <a:t>        "imports": 1076.4774999999997,</a:t>
            </a:r>
          </a:p>
          <a:p xmlns:a="http://schemas.openxmlformats.org/drawingml/2006/main">
            <a:r>
              <a:t>        "base": 7094.794000000002,</a:t>
            </a:r>
          </a:p>
          <a:p xmlns:a="http://schemas.openxmlformats.org/drawingml/2006/main">
            <a:r>
              <a:t>        "newbill": 3075.666549999999,</a:t>
            </a:r>
          </a:p>
          <a:p xmlns:a="http://schemas.openxmlformats.org/drawingml/2006/main">
            <a:r>
              <a:t>        "saving": 4019.1274500000027</a:t>
            </a:r>
          </a:p>
          <a:p xmlns:a="http://schemas.openxmlformats.org/drawingml/2006/main">
            <a:r>
              <a:t>      }</a:t>
            </a:r>
          </a:p>
          <a:p xmlns:a="http://schemas.openxmlformats.org/drawingml/2006/main">
            <a:r>
              <a:t>    ],</a:t>
            </a:r>
          </a:p>
          <a:p xmlns:a="http://schemas.openxmlformats.org/drawingml/2006/main">
            <a:r>
              <a:t>    "annualSaving": 53709.35158,</a:t>
            </a:r>
          </a:p>
          <a:p xmlns:a="http://schemas.openxmlformats.org/drawingml/2006/main">
            <a:r>
              <a:t>    "averageSaving": 4475.779298333334,</a:t>
            </a:r>
          </a:p>
          <a:p xmlns:a="http://schemas.openxmlformats.org/drawingml/2006/main">
            <a:r>
              <a:t>    "payback": 7.340248735134701,</a:t>
            </a:r>
          </a:p>
          <a:p xmlns:a="http://schemas.openxmlformats.org/drawingml/2006/main">
            <a:r>
              <a:t>    "annualImports": 10829.596</a:t>
            </a:r>
          </a:p>
          <a:p xmlns:a="http://schemas.openxmlformats.org/drawingml/2006/main">
            <a:r>
              <a:t>  },</a:t>
            </a:r>
          </a:p>
          <a:p xmlns:a="http://schemas.openxmlformats.org/drawingml/2006/main">
            <a:r>
              <a:t>  {</a:t>
            </a:r>
          </a:p>
          <a:p xmlns:a="http://schemas.openxmlformats.org/drawingml/2006/main">
            <a:r>
              <a:t>    "option": "C",</a:t>
            </a:r>
          </a:p>
          <a:p xmlns:a="http://schemas.openxmlformats.org/drawingml/2006/main">
            <a:r>
              <a:t>    "C": 64,</a:t>
            </a:r>
          </a:p>
          <a:p xmlns:a="http://schemas.openxmlformats.org/drawingml/2006/main">
            <a:r>
              <a:t>    "P": 17,</a:t>
            </a:r>
          </a:p>
          <a:p xmlns:a="http://schemas.openxmlformats.org/drawingml/2006/main">
            <a:r>
              <a:t>    "inv": 20,</a:t>
            </a:r>
          </a:p>
          <a:p xmlns:a="http://schemas.openxmlformats.org/drawingml/2006/main">
            <a:r>
              <a:t>    "price": 1154560,</a:t>
            </a:r>
          </a:p>
          <a:p xmlns:a="http://schemas.openxmlformats.org/drawingml/2006/main">
            <a:r>
              <a:t>    "reference": {</a:t>
            </a:r>
          </a:p>
          <a:p xmlns:a="http://schemas.openxmlformats.org/drawingml/2006/main">
            <a:r>
              <a:t>      "G": 84.66000000000001,</a:t>
            </a:r>
          </a:p>
          <a:p xmlns:a="http://schemas.openxmlformats.org/drawingml/2006/main">
            <a:r>
              <a:t>      "direct": 40.35,</a:t>
            </a:r>
          </a:p>
          <a:p xmlns:a="http://schemas.openxmlformats.org/drawingml/2006/main">
            <a:r>
              <a:t>      "surplus": 44.31000000000001,</a:t>
            </a:r>
          </a:p>
          <a:p xmlns:a="http://schemas.openxmlformats.org/drawingml/2006/main">
            <a:r>
              <a:t>      "battery": 40.35,</a:t>
            </a:r>
          </a:p>
          <a:p xmlns:a="http://schemas.openxmlformats.org/drawingml/2006/main">
            <a:r>
              <a:t>      "imports": 0,</a:t>
            </a:r>
          </a:p>
          <a:p xmlns:a="http://schemas.openxmlformats.org/drawingml/2006/main">
            <a:r>
              <a:t>      "base": 6867.22,</a:t>
            </a:r>
          </a:p>
          <a:p xmlns:a="http://schemas.openxmlformats.org/drawingml/2006/main">
            <a:r>
              <a:t>      "newbill": 9,</a:t>
            </a:r>
          </a:p>
          <a:p xmlns:a="http://schemas.openxmlformats.org/drawingml/2006/main">
            <a:r>
              <a:t>      "saving": 6858.22</a:t>
            </a:r>
          </a:p>
          <a:p xmlns:a="http://schemas.openxmlformats.org/drawingml/2006/main">
            <a:r>
              <a:t>    },</a:t>
            </a:r>
          </a:p>
          <a:p xmlns:a="http://schemas.openxmlformats.org/drawingml/2006/main">
            <a:r>
              <a:t>    "monthly": [</a:t>
            </a:r>
          </a:p>
          <a:p xmlns:a="http://schemas.openxmlformats.org/drawingml/2006/main">
            <a:r>
              <a:t>      {</a:t>
            </a:r>
          </a:p>
          <a:p xmlns:a="http://schemas.openxmlformats.org/drawingml/2006/main">
            <a:r>
              <a:t>        "month": "Jan",</a:t>
            </a:r>
          </a:p>
          <a:p xmlns:a="http://schemas.openxmlformats.org/drawingml/2006/main">
            <a:r>
              <a:t>        "days": 31,</a:t>
            </a:r>
          </a:p>
          <a:p xmlns:a="http://schemas.openxmlformats.org/drawingml/2006/main">
            <a:r>
              <a:t>        "G": 72.00322580645162,</a:t>
            </a:r>
          </a:p>
          <a:p xmlns:a="http://schemas.openxmlformats.org/drawingml/2006/main">
            <a:r>
              <a:t>        "direct": 40.35,</a:t>
            </a:r>
          </a:p>
          <a:p xmlns:a="http://schemas.openxmlformats.org/drawingml/2006/main">
            <a:r>
              <a:t>        "surplus": 31.653225806451623,</a:t>
            </a:r>
          </a:p>
          <a:p xmlns:a="http://schemas.openxmlformats.org/drawingml/2006/main">
            <a:r>
              <a:t>        "battery": 30.07056451612904,</a:t>
            </a:r>
          </a:p>
          <a:p xmlns:a="http://schemas.openxmlformats.org/drawingml/2006/main">
            <a:r>
              <a:t>        "imports": 318.66249999999985,</a:t>
            </a:r>
          </a:p>
          <a:p xmlns:a="http://schemas.openxmlformats.org/drawingml/2006/main">
            <a:r>
              <a:t>        "base": 7094.794000000002,</a:t>
            </a:r>
          </a:p>
          <a:p xmlns:a="http://schemas.openxmlformats.org/drawingml/2006/main">
            <a:r>
              <a:t>        "newbill": 870.8288749999997,</a:t>
            </a:r>
          </a:p>
          <a:p xmlns:a="http://schemas.openxmlformats.org/drawingml/2006/main">
            <a:r>
              <a:t>        "saving": 6223.965125000002</a:t>
            </a:r>
          </a:p>
          <a:p xmlns:a="http://schemas.openxmlformats.org/drawingml/2006/main">
            <a:r>
              <a:t>      },</a:t>
            </a:r>
          </a:p>
          <a:p xmlns:a="http://schemas.openxmlformats.org/drawingml/2006/main">
            <a:r>
              <a:t>      {</a:t>
            </a:r>
          </a:p>
          <a:p xmlns:a="http://schemas.openxmlformats.org/drawingml/2006/main">
            <a:r>
              <a:t>        "month": "Feb",</a:t>
            </a:r>
          </a:p>
          <a:p xmlns:a="http://schemas.openxmlformats.org/drawingml/2006/main">
            <a:r>
              <a:t>        "days": 28,</a:t>
            </a:r>
          </a:p>
          <a:p xmlns:a="http://schemas.openxmlformats.org/drawingml/2006/main">
            <a:r>
              <a:t>        "G": 78.59464285714284,</a:t>
            </a:r>
          </a:p>
          <a:p xmlns:a="http://schemas.openxmlformats.org/drawingml/2006/main">
            <a:r>
              <a:t>        "direct": 40.35,</a:t>
            </a:r>
          </a:p>
          <a:p xmlns:a="http://schemas.openxmlformats.org/drawingml/2006/main">
            <a:r>
              <a:t>        "surplus": 38.24464285714284,</a:t>
            </a:r>
          </a:p>
          <a:p xmlns:a="http://schemas.openxmlformats.org/drawingml/2006/main">
            <a:r>
              <a:t>        "battery": 36.3324107142857,</a:t>
            </a:r>
          </a:p>
          <a:p xmlns:a="http://schemas.openxmlformats.org/drawingml/2006/main">
            <a:r>
              <a:t>        "imports": 112.49250000000043,</a:t>
            </a:r>
          </a:p>
          <a:p xmlns:a="http://schemas.openxmlformats.org/drawingml/2006/main">
            <a:r>
              <a:t>        "base": 6412.071999999999,</a:t>
            </a:r>
          </a:p>
          <a:p xmlns:a="http://schemas.openxmlformats.org/drawingml/2006/main">
            <a:r>
              <a:t>        "newbill": 261.35857500000094,</a:t>
            </a:r>
          </a:p>
          <a:p xmlns:a="http://schemas.openxmlformats.org/drawingml/2006/main">
            <a:r>
              <a:t>        "saving": 6150.713424999998</a:t>
            </a:r>
          </a:p>
          <a:p xmlns:a="http://schemas.openxmlformats.org/drawingml/2006/main">
            <a:r>
              <a:t>      },</a:t>
            </a:r>
          </a:p>
          <a:p xmlns:a="http://schemas.openxmlformats.org/drawingml/2006/main">
            <a:r>
              <a:t>      {</a:t>
            </a:r>
          </a:p>
          <a:p xmlns:a="http://schemas.openxmlformats.org/drawingml/2006/main">
            <a:r>
              <a:t>        "month": "Mar",</a:t>
            </a:r>
          </a:p>
          <a:p xmlns:a="http://schemas.openxmlformats.org/drawingml/2006/main">
            <a:r>
              <a:t>        "days": 31,</a:t>
            </a:r>
          </a:p>
          <a:p xmlns:a="http://schemas.openxmlformats.org/drawingml/2006/main">
            <a:r>
              <a:t>        "G": 88.3232258064516,</a:t>
            </a:r>
          </a:p>
          <a:p xmlns:a="http://schemas.openxmlformats.org/drawingml/2006/main">
            <a:r>
              <a:t>        "direct": 40.35,</a:t>
            </a:r>
          </a:p>
          <a:p xmlns:a="http://schemas.openxmlformats.org/drawingml/2006/main">
            <a:r>
              <a:t>        "surplus": 47.9732258064516,</a:t>
            </a:r>
          </a:p>
          <a:p xmlns:a="http://schemas.openxmlformats.org/drawingml/2006/main">
            <a:r>
              <a:t>        "battery": 40.35,</a:t>
            </a:r>
          </a:p>
          <a:p xmlns:a="http://schemas.openxmlformats.org/drawingml/2006/main">
            <a:r>
              <a:t>        "imports": 0,</a:t>
            </a:r>
          </a:p>
          <a:p xmlns:a="http://schemas.openxmlformats.org/drawingml/2006/main">
            <a:r>
              <a:t>        "base": 7094.794000000002,</a:t>
            </a:r>
          </a:p>
          <a:p xmlns:a="http://schemas.openxmlformats.org/drawingml/2006/main">
            <a:r>
              <a:t>        "newbill": 9,</a:t>
            </a:r>
          </a:p>
          <a:p xmlns:a="http://schemas.openxmlformats.org/drawingml/2006/main">
            <a:r>
              <a:t>        "saving": 7085.794000000002</a:t>
            </a:r>
          </a:p>
          <a:p xmlns:a="http://schemas.openxmlformats.org/drawingml/2006/main">
            <a:r>
              <a:t>      },</a:t>
            </a:r>
          </a:p>
          <a:p xmlns:a="http://schemas.openxmlformats.org/drawingml/2006/main">
            <a:r>
              <a:t>      {</a:t>
            </a:r>
          </a:p>
          <a:p xmlns:a="http://schemas.openxmlformats.org/drawingml/2006/main">
            <a:r>
              <a:t>        "month": "Apr",</a:t>
            </a:r>
          </a:p>
          <a:p xmlns:a="http://schemas.openxmlformats.org/drawingml/2006/main">
            <a:r>
              <a:t>        "days": 30,</a:t>
            </a:r>
          </a:p>
          <a:p xmlns:a="http://schemas.openxmlformats.org/drawingml/2006/main">
            <a:r>
              <a:t>        "G": 91.154,</a:t>
            </a:r>
          </a:p>
          <a:p xmlns:a="http://schemas.openxmlformats.org/drawingml/2006/main">
            <a:r>
              <a:t>        "direct": 40.35,</a:t>
            </a:r>
          </a:p>
          <a:p xmlns:a="http://schemas.openxmlformats.org/drawingml/2006/main">
            <a:r>
              <a:t>        "surplus": 50.803999999999995,</a:t>
            </a:r>
          </a:p>
          <a:p xmlns:a="http://schemas.openxmlformats.org/drawingml/2006/main">
            <a:r>
              <a:t>        "battery": 40.35,</a:t>
            </a:r>
          </a:p>
          <a:p xmlns:a="http://schemas.openxmlformats.org/drawingml/2006/main">
            <a:r>
              <a:t>        "imports": 0,</a:t>
            </a:r>
          </a:p>
          <a:p xmlns:a="http://schemas.openxmlformats.org/drawingml/2006/main">
            <a:r>
              <a:t>        "base": 6867.22,</a:t>
            </a:r>
          </a:p>
          <a:p xmlns:a="http://schemas.openxmlformats.org/drawingml/2006/main">
            <a:r>
              <a:t>        "newbill": 9,</a:t>
            </a:r>
          </a:p>
          <a:p xmlns:a="http://schemas.openxmlformats.org/drawingml/2006/main">
            <a:r>
              <a:t>        "saving": 6858.22</a:t>
            </a:r>
          </a:p>
          <a:p xmlns:a="http://schemas.openxmlformats.org/drawingml/2006/main">
            <a:r>
              <a:t>      },</a:t>
            </a:r>
          </a:p>
          <a:p xmlns:a="http://schemas.openxmlformats.org/drawingml/2006/main">
            <a:r>
              <a:t>      {</a:t>
            </a:r>
          </a:p>
          <a:p xmlns:a="http://schemas.openxmlformats.org/drawingml/2006/main">
            <a:r>
              <a:t>        "month": "May",</a:t>
            </a:r>
          </a:p>
          <a:p xmlns:a="http://schemas.openxmlformats.org/drawingml/2006/main">
            <a:r>
              <a:t>        "days": 31,</a:t>
            </a:r>
          </a:p>
          <a:p xmlns:a="http://schemas.openxmlformats.org/drawingml/2006/main">
            <a:r>
              <a:t>        "G": 89.23354838709677,</a:t>
            </a:r>
          </a:p>
          <a:p xmlns:a="http://schemas.openxmlformats.org/drawingml/2006/main">
            <a:r>
              <a:t>        "direct": 40.35,</a:t>
            </a:r>
          </a:p>
          <a:p xmlns:a="http://schemas.openxmlformats.org/drawingml/2006/main">
            <a:r>
              <a:t>        "surplus": 48.88354838709677,</a:t>
            </a:r>
          </a:p>
          <a:p xmlns:a="http://schemas.openxmlformats.org/drawingml/2006/main">
            <a:r>
              <a:t>        "battery": 40.35,</a:t>
            </a:r>
          </a:p>
          <a:p xmlns:a="http://schemas.openxmlformats.org/drawingml/2006/main">
            <a:r>
              <a:t>        "imports": 0,</a:t>
            </a:r>
          </a:p>
          <a:p xmlns:a="http://schemas.openxmlformats.org/drawingml/2006/main">
            <a:r>
              <a:t>        "base": 7094.794000000002,</a:t>
            </a:r>
          </a:p>
          <a:p xmlns:a="http://schemas.openxmlformats.org/drawingml/2006/main">
            <a:r>
              <a:t>        "newbill": 9,</a:t>
            </a:r>
          </a:p>
          <a:p xmlns:a="http://schemas.openxmlformats.org/drawingml/2006/main">
            <a:r>
              <a:t>        "saving": 7085.794000000002</a:t>
            </a:r>
          </a:p>
          <a:p xmlns:a="http://schemas.openxmlformats.org/drawingml/2006/main">
            <a:r>
              <a:t>      },</a:t>
            </a:r>
          </a:p>
          <a:p xmlns:a="http://schemas.openxmlformats.org/drawingml/2006/main">
            <a:r>
              <a:t>      {</a:t>
            </a:r>
          </a:p>
          <a:p xmlns:a="http://schemas.openxmlformats.org/drawingml/2006/main">
            <a:r>
              <a:t>        "month": "Jun",</a:t>
            </a:r>
          </a:p>
          <a:p xmlns:a="http://schemas.openxmlformats.org/drawingml/2006/main">
            <a:r>
              <a:t>        "days": 30,</a:t>
            </a:r>
          </a:p>
          <a:p xmlns:a="http://schemas.openxmlformats.org/drawingml/2006/main">
            <a:r>
              <a:t>        "G": 89.88466666666667,</a:t>
            </a:r>
          </a:p>
          <a:p xmlns:a="http://schemas.openxmlformats.org/drawingml/2006/main">
            <a:r>
              <a:t>        "direct": 40.35,</a:t>
            </a:r>
          </a:p>
          <a:p xmlns:a="http://schemas.openxmlformats.org/drawingml/2006/main">
            <a:r>
              <a:t>        "surplus": 49.53466666666667,</a:t>
            </a:r>
          </a:p>
          <a:p xmlns:a="http://schemas.openxmlformats.org/drawingml/2006/main">
            <a:r>
              <a:t>        "battery": 40.35,</a:t>
            </a:r>
          </a:p>
          <a:p xmlns:a="http://schemas.openxmlformats.org/drawingml/2006/main">
            <a:r>
              <a:t>        "imports": 0,</a:t>
            </a:r>
          </a:p>
          <a:p xmlns:a="http://schemas.openxmlformats.org/drawingml/2006/main">
            <a:r>
              <a:t>        "base": 6867.22,</a:t>
            </a:r>
          </a:p>
          <a:p xmlns:a="http://schemas.openxmlformats.org/drawingml/2006/main">
            <a:r>
              <a:t>        "newbill": 9,</a:t>
            </a:r>
          </a:p>
          <a:p xmlns:a="http://schemas.openxmlformats.org/drawingml/2006/main">
            <a:r>
              <a:t>        "saving": 6858.22</a:t>
            </a:r>
          </a:p>
          <a:p xmlns:a="http://schemas.openxmlformats.org/drawingml/2006/main">
            <a:r>
              <a:t>      },</a:t>
            </a:r>
          </a:p>
          <a:p xmlns:a="http://schemas.openxmlformats.org/drawingml/2006/main">
            <a:r>
              <a:t>      {</a:t>
            </a:r>
          </a:p>
          <a:p xmlns:a="http://schemas.openxmlformats.org/drawingml/2006/main">
            <a:r>
              <a:t>        "month": "Jul",</a:t>
            </a:r>
          </a:p>
          <a:p xmlns:a="http://schemas.openxmlformats.org/drawingml/2006/main">
            <a:r>
              <a:t>        "days": 31,</a:t>
            </a:r>
          </a:p>
          <a:p xmlns:a="http://schemas.openxmlformats.org/drawingml/2006/main">
            <a:r>
              <a:t>        "G": 90.29741935483871,</a:t>
            </a:r>
          </a:p>
          <a:p xmlns:a="http://schemas.openxmlformats.org/drawingml/2006/main">
            <a:r>
              <a:t>        "direct": 40.35,</a:t>
            </a:r>
          </a:p>
          <a:p xmlns:a="http://schemas.openxmlformats.org/drawingml/2006/main">
            <a:r>
              <a:t>        "surplus": 49.94741935483871,</a:t>
            </a:r>
          </a:p>
          <a:p xmlns:a="http://schemas.openxmlformats.org/drawingml/2006/main">
            <a:r>
              <a:t>        "battery": 40.35,</a:t>
            </a:r>
          </a:p>
          <a:p xmlns:a="http://schemas.openxmlformats.org/drawingml/2006/main">
            <a:r>
              <a:t>        "imports": 0,</a:t>
            </a:r>
          </a:p>
          <a:p xmlns:a="http://schemas.openxmlformats.org/drawingml/2006/main">
            <a:r>
              <a:t>        "base": 7094.794000000002,</a:t>
            </a:r>
          </a:p>
          <a:p xmlns:a="http://schemas.openxmlformats.org/drawingml/2006/main">
            <a:r>
              <a:t>        "newbill": 9,</a:t>
            </a:r>
          </a:p>
          <a:p xmlns:a="http://schemas.openxmlformats.org/drawingml/2006/main">
            <a:r>
              <a:t>        "saving": 7085.794000000002</a:t>
            </a:r>
          </a:p>
          <a:p xmlns:a="http://schemas.openxmlformats.org/drawingml/2006/main">
            <a:r>
              <a:t>      },</a:t>
            </a:r>
          </a:p>
          <a:p xmlns:a="http://schemas.openxmlformats.org/drawingml/2006/main">
            <a:r>
              <a:t>      {</a:t>
            </a:r>
          </a:p>
          <a:p xmlns:a="http://schemas.openxmlformats.org/drawingml/2006/main">
            <a:r>
              <a:t>        "month": "Aug",</a:t>
            </a:r>
          </a:p>
          <a:p xmlns:a="http://schemas.openxmlformats.org/drawingml/2006/main">
            <a:r>
              <a:t>        "days": 31,</a:t>
            </a:r>
          </a:p>
          <a:p xmlns:a="http://schemas.openxmlformats.org/drawingml/2006/main">
            <a:r>
              <a:t>        "G": 91.47096774193548,</a:t>
            </a:r>
          </a:p>
          <a:p xmlns:a="http://schemas.openxmlformats.org/drawingml/2006/main">
            <a:r>
              <a:t>        "direct": 40.35,</a:t>
            </a:r>
          </a:p>
          <a:p xmlns:a="http://schemas.openxmlformats.org/drawingml/2006/main">
            <a:r>
              <a:t>        "surplus": 51.12096774193548,</a:t>
            </a:r>
          </a:p>
          <a:p xmlns:a="http://schemas.openxmlformats.org/drawingml/2006/main">
            <a:r>
              <a:t>        "battery": 40.35,</a:t>
            </a:r>
          </a:p>
          <a:p xmlns:a="http://schemas.openxmlformats.org/drawingml/2006/main">
            <a:r>
              <a:t>        "imports": 0,</a:t>
            </a:r>
          </a:p>
          <a:p xmlns:a="http://schemas.openxmlformats.org/drawingml/2006/main">
            <a:r>
              <a:t>        "base": 7094.794000000002,</a:t>
            </a:r>
          </a:p>
          <a:p xmlns:a="http://schemas.openxmlformats.org/drawingml/2006/main">
            <a:r>
              <a:t>        "newbill": 9,</a:t>
            </a:r>
          </a:p>
          <a:p xmlns:a="http://schemas.openxmlformats.org/drawingml/2006/main">
            <a:r>
              <a:t>        "saving": 7085.794000000002</a:t>
            </a:r>
          </a:p>
          <a:p xmlns:a="http://schemas.openxmlformats.org/drawingml/2006/main">
            <a:r>
              <a:t>      },</a:t>
            </a:r>
          </a:p>
          <a:p xmlns:a="http://schemas.openxmlformats.org/drawingml/2006/main">
            <a:r>
              <a:t>      {</a:t>
            </a:r>
          </a:p>
          <a:p xmlns:a="http://schemas.openxmlformats.org/drawingml/2006/main">
            <a:r>
              <a:t>        "month": "Sep",</a:t>
            </a:r>
          </a:p>
          <a:p xmlns:a="http://schemas.openxmlformats.org/drawingml/2006/main">
            <a:r>
              <a:t>        "days": 30,</a:t>
            </a:r>
          </a:p>
          <a:p xmlns:a="http://schemas.openxmlformats.org/drawingml/2006/main">
            <a:r>
              <a:t>        "G": 91.23333333333332,</a:t>
            </a:r>
          </a:p>
          <a:p xmlns:a="http://schemas.openxmlformats.org/drawingml/2006/main">
            <a:r>
              <a:t>        "direct": 40.35,</a:t>
            </a:r>
          </a:p>
          <a:p xmlns:a="http://schemas.openxmlformats.org/drawingml/2006/main">
            <a:r>
              <a:t>        "surplus": 50.88333333333332,</a:t>
            </a:r>
          </a:p>
          <a:p xmlns:a="http://schemas.openxmlformats.org/drawingml/2006/main">
            <a:r>
              <a:t>        "battery": 40.35,</a:t>
            </a:r>
          </a:p>
          <a:p xmlns:a="http://schemas.openxmlformats.org/drawingml/2006/main">
            <a:r>
              <a:t>        "imports": 0,</a:t>
            </a:r>
          </a:p>
          <a:p xmlns:a="http://schemas.openxmlformats.org/drawingml/2006/main">
            <a:r>
              <a:t>        "base": 6867.22,</a:t>
            </a:r>
          </a:p>
          <a:p xmlns:a="http://schemas.openxmlformats.org/drawingml/2006/main">
            <a:r>
              <a:t>        "newbill": 9,</a:t>
            </a:r>
          </a:p>
          <a:p xmlns:a="http://schemas.openxmlformats.org/drawingml/2006/main">
            <a:r>
              <a:t>        "saving": 6858.22</a:t>
            </a:r>
          </a:p>
          <a:p xmlns:a="http://schemas.openxmlformats.org/drawingml/2006/main">
            <a:r>
              <a:t>      },</a:t>
            </a:r>
          </a:p>
          <a:p xmlns:a="http://schemas.openxmlformats.org/drawingml/2006/main">
            <a:r>
              <a:t>      {</a:t>
            </a:r>
          </a:p>
          <a:p xmlns:a="http://schemas.openxmlformats.org/drawingml/2006/main">
            <a:r>
              <a:t>        "month": "Oct",</a:t>
            </a:r>
          </a:p>
          <a:p xmlns:a="http://schemas.openxmlformats.org/drawingml/2006/main">
            <a:r>
              <a:t>        "days": 31,</a:t>
            </a:r>
          </a:p>
          <a:p xmlns:a="http://schemas.openxmlformats.org/drawingml/2006/main">
            <a:r>
              <a:t>        "G": 84.74225806451614,</a:t>
            </a:r>
          </a:p>
          <a:p xmlns:a="http://schemas.openxmlformats.org/drawingml/2006/main">
            <a:r>
              <a:t>        "direct": 40.35,</a:t>
            </a:r>
          </a:p>
          <a:p xmlns:a="http://schemas.openxmlformats.org/drawingml/2006/main">
            <a:r>
              <a:t>        "surplus": 44.392258064516135,</a:t>
            </a:r>
          </a:p>
          <a:p xmlns:a="http://schemas.openxmlformats.org/drawingml/2006/main">
            <a:r>
              <a:t>        "battery": 40.35,</a:t>
            </a:r>
          </a:p>
          <a:p xmlns:a="http://schemas.openxmlformats.org/drawingml/2006/main">
            <a:r>
              <a:t>        "imports": 0,</a:t>
            </a:r>
          </a:p>
          <a:p xmlns:a="http://schemas.openxmlformats.org/drawingml/2006/main">
            <a:r>
              <a:t>        "base": 7094.794000000002,</a:t>
            </a:r>
          </a:p>
          <a:p xmlns:a="http://schemas.openxmlformats.org/drawingml/2006/main">
            <a:r>
              <a:t>        "newbill": 9,</a:t>
            </a:r>
          </a:p>
          <a:p xmlns:a="http://schemas.openxmlformats.org/drawingml/2006/main">
            <a:r>
              <a:t>        "saving": 7085.794000000002</a:t>
            </a:r>
          </a:p>
          <a:p xmlns:a="http://schemas.openxmlformats.org/drawingml/2006/main">
            <a:r>
              <a:t>      },</a:t>
            </a:r>
          </a:p>
          <a:p xmlns:a="http://schemas.openxmlformats.org/drawingml/2006/main">
            <a:r>
              <a:t>      {</a:t>
            </a:r>
          </a:p>
          <a:p xmlns:a="http://schemas.openxmlformats.org/drawingml/2006/main">
            <a:r>
              <a:t>        "month": "Nov",</a:t>
            </a:r>
          </a:p>
          <a:p xmlns:a="http://schemas.openxmlformats.org/drawingml/2006/main">
            <a:r>
              <a:t>        "days": 30,</a:t>
            </a:r>
          </a:p>
          <a:p xmlns:a="http://schemas.openxmlformats.org/drawingml/2006/main">
            <a:r>
              <a:t>        "G": 77.61633333333334,</a:t>
            </a:r>
          </a:p>
          <a:p xmlns:a="http://schemas.openxmlformats.org/drawingml/2006/main">
            <a:r>
              <a:t>        "direct": 40.35,</a:t>
            </a:r>
          </a:p>
          <a:p xmlns:a="http://schemas.openxmlformats.org/drawingml/2006/main">
            <a:r>
              <a:t>        "surplus": 37.26633333333334,</a:t>
            </a:r>
          </a:p>
          <a:p xmlns:a="http://schemas.openxmlformats.org/drawingml/2006/main">
            <a:r>
              <a:t>        "battery": 35.40301666666667,</a:t>
            </a:r>
          </a:p>
          <a:p xmlns:a="http://schemas.openxmlformats.org/drawingml/2006/main">
            <a:r>
              <a:t>        "imports": 148.40949999999987,</a:t>
            </a:r>
          </a:p>
          <a:p xmlns:a="http://schemas.openxmlformats.org/drawingml/2006/main">
            <a:r>
              <a:t>        "base": 6867.22,</a:t>
            </a:r>
          </a:p>
          <a:p xmlns:a="http://schemas.openxmlformats.org/drawingml/2006/main">
            <a:r>
              <a:t>        "newbill": 340.01680499999975,</a:t>
            </a:r>
          </a:p>
          <a:p xmlns:a="http://schemas.openxmlformats.org/drawingml/2006/main">
            <a:r>
              <a:t>        "saving": 6527.203195</a:t>
            </a:r>
          </a:p>
          <a:p xmlns:a="http://schemas.openxmlformats.org/drawingml/2006/main">
            <a:r>
              <a:t>      },</a:t>
            </a:r>
          </a:p>
          <a:p xmlns:a="http://schemas.openxmlformats.org/drawingml/2006/main">
            <a:r>
              <a:t>      {</a:t>
            </a:r>
          </a:p>
          <a:p xmlns:a="http://schemas.openxmlformats.org/drawingml/2006/main">
            <a:r>
              <a:t>        "month": "Dec",</a:t>
            </a:r>
          </a:p>
          <a:p xmlns:a="http://schemas.openxmlformats.org/drawingml/2006/main">
            <a:r>
              <a:t>        "days": 31,</a:t>
            </a:r>
          </a:p>
          <a:p xmlns:a="http://schemas.openxmlformats.org/drawingml/2006/main">
            <a:r>
              <a:t>        "G": 71.50967741935484,</a:t>
            </a:r>
          </a:p>
          <a:p xmlns:a="http://schemas.openxmlformats.org/drawingml/2006/main">
            <a:r>
              <a:t>        "direct": 40.35,</a:t>
            </a:r>
          </a:p>
          <a:p xmlns:a="http://schemas.openxmlformats.org/drawingml/2006/main">
            <a:r>
              <a:t>        "surplus": 31.159677419354843,</a:t>
            </a:r>
          </a:p>
          <a:p xmlns:a="http://schemas.openxmlformats.org/drawingml/2006/main">
            <a:r>
              <a:t>        "battery": 29.6016935483871,</a:t>
            </a:r>
          </a:p>
          <a:p xmlns:a="http://schemas.openxmlformats.org/drawingml/2006/main">
            <a:r>
              <a:t>        "imports": 333.19749999999993,</a:t>
            </a:r>
          </a:p>
          <a:p xmlns:a="http://schemas.openxmlformats.org/drawingml/2006/main">
            <a:r>
              <a:t>        "base": 7094.794000000002,</a:t>
            </a:r>
          </a:p>
          <a:p xmlns:a="http://schemas.openxmlformats.org/drawingml/2006/main">
            <a:r>
              <a:t>        "newbill": 909.6373249999998,</a:t>
            </a:r>
          </a:p>
          <a:p xmlns:a="http://schemas.openxmlformats.org/drawingml/2006/main">
            <a:r>
              <a:t>        "saving": 6185.156675000002</a:t>
            </a:r>
          </a:p>
          <a:p xmlns:a="http://schemas.openxmlformats.org/drawingml/2006/main">
            <a:r>
              <a:t>      }</a:t>
            </a:r>
          </a:p>
          <a:p xmlns:a="http://schemas.openxmlformats.org/drawingml/2006/main">
            <a:r>
              <a:t>    ],</a:t>
            </a:r>
          </a:p>
          <a:p xmlns:a="http://schemas.openxmlformats.org/drawingml/2006/main">
            <a:r>
              <a:t>    "annualSaving": 81090.66842000002,</a:t>
            </a:r>
          </a:p>
          <a:p xmlns:a="http://schemas.openxmlformats.org/drawingml/2006/main">
            <a:r>
              <a:t>    "averageSaving": 6757.555701666668,</a:t>
            </a:r>
          </a:p>
          <a:p xmlns:a="http://schemas.openxmlformats.org/drawingml/2006/main">
            <a:r>
              <a:t>    "payback": 14.237889790476089,</a:t>
            </a:r>
          </a:p>
          <a:p xmlns:a="http://schemas.openxmlformats.org/drawingml/2006/main">
            <a:r>
              <a:t>    "annualImports": 912.7620000000002</a:t>
            </a:r>
          </a:p>
          <a:p xmlns:a="http://schemas.openxmlformats.org/drawingml/2006/main">
            <a:r>
              <a:t>  }</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Same assumptions and calculation basis as El_Mo3alem_Juice_Shop_Solar_BESS.pptx, reviewed 30 Sep 2026. Baseline80.7 kWh/day,50/50,PV mean4.98,DoD80%,storage efficiency95% applied once at output. Prices are historical selling-price assumptions. Battery220 EUR/kWh*62EGP/EUR=13640EGP/kWh from Home_Storage slide15. Tariff source https://www.egyptera.org/en/TarrifApril2026.aspx . PV source JRC PVGIS5.3: https://re.jrc.ec.europa.eu/api/v5_3/PVcalc?lat=30.0444&amp;lon=31.2357&amp;peakpower=1&amp;loss=14&amp;angle=30&amp;aspect=0&amp;pvtechchoice=crystSi&amp;mountingplace=free&amp;outputformat=json . SARAH3/ERA5 2005–2023. 30degree south-facing free-standing crystalline silicon,14% entered PV loss. Solar-only charging, zero export value. No maintenance, insurance, finance, replacement, degradation or price escalation. Annual3EGP stamp excluded equally. Monthly-average days rather than hourly dispatch, daily demand constant over365days. Unrounded values used, display rounding may differ. Billing-period30days assumed. Inverter and roof sizing provisional. Warranty10years,6000cycles@80%DoD from original source.</a:t>
            </a:r>
          </a:p>
          <a:p xmlns:a="http://schemas.openxmlformats.org/drawingml/2006/main">
            <a:r>
              <a:t>{</a:t>
            </a:r>
          </a:p>
          <a:p xmlns:a="http://schemas.openxmlformats.org/drawingml/2006/main">
            <a:r>
              <a:t>  "option": "A",</a:t>
            </a:r>
          </a:p>
          <a:p xmlns:a="http://schemas.openxmlformats.org/drawingml/2006/main">
            <a:r>
              <a:t>  "C": 0,</a:t>
            </a:r>
          </a:p>
          <a:p xmlns:a="http://schemas.openxmlformats.org/drawingml/2006/main">
            <a:r>
              <a:t>  "P": 8.5,</a:t>
            </a:r>
          </a:p>
          <a:p xmlns:a="http://schemas.openxmlformats.org/drawingml/2006/main">
            <a:r>
              <a:t>  "inv": 10,</a:t>
            </a:r>
          </a:p>
          <a:p xmlns:a="http://schemas.openxmlformats.org/drawingml/2006/main">
            <a:r>
              <a:t>  "price": 140800,</a:t>
            </a:r>
          </a:p>
          <a:p xmlns:a="http://schemas.openxmlformats.org/drawingml/2006/main">
            <a:r>
              <a:t>  "reference": {</a:t>
            </a:r>
          </a:p>
          <a:p xmlns:a="http://schemas.openxmlformats.org/drawingml/2006/main">
            <a:r>
              <a:t>    "G": 42.330000000000005,</a:t>
            </a:r>
          </a:p>
          <a:p xmlns:a="http://schemas.openxmlformats.org/drawingml/2006/main">
            <a:r>
              <a:t>    "direct": 40.35,</a:t>
            </a:r>
          </a:p>
          <a:p xmlns:a="http://schemas.openxmlformats.org/drawingml/2006/main">
            <a:r>
              <a:t>    "surplus": 1.980000000000004,</a:t>
            </a:r>
          </a:p>
          <a:p xmlns:a="http://schemas.openxmlformats.org/drawingml/2006/main">
            <a:r>
              <a:t>    "battery": 0,</a:t>
            </a:r>
          </a:p>
          <a:p xmlns:a="http://schemas.openxmlformats.org/drawingml/2006/main">
            <a:r>
              <a:t>    "imports": 1210.5,</a:t>
            </a:r>
          </a:p>
          <a:p xmlns:a="http://schemas.openxmlformats.org/drawingml/2006/main">
            <a:r>
              <a:t>    "base": 6867.22,</a:t>
            </a:r>
          </a:p>
          <a:p xmlns:a="http://schemas.openxmlformats.org/drawingml/2006/main">
            <a:r>
              <a:t>    "newbill": 3453.61,</a:t>
            </a:r>
          </a:p>
          <a:p xmlns:a="http://schemas.openxmlformats.org/drawingml/2006/main">
            <a:r>
              <a:t>    "saving": 3413.61</a:t>
            </a:r>
          </a:p>
          <a:p xmlns:a="http://schemas.openxmlformats.org/drawingml/2006/main">
            <a:r>
              <a:t>  },</a:t>
            </a:r>
          </a:p>
          <a:p xmlns:a="http://schemas.openxmlformats.org/drawingml/2006/main">
            <a:r>
              <a:t>  "monthly": [</a:t>
            </a:r>
          </a:p>
          <a:p xmlns:a="http://schemas.openxmlformats.org/drawingml/2006/main">
            <a:r>
              <a:t>    {</a:t>
            </a:r>
          </a:p>
          <a:p xmlns:a="http://schemas.openxmlformats.org/drawingml/2006/main">
            <a:r>
              <a:t>      "month": "Jan",</a:t>
            </a:r>
          </a:p>
          <a:p xmlns:a="http://schemas.openxmlformats.org/drawingml/2006/main">
            <a:r>
              <a:t>      "days": 31,</a:t>
            </a:r>
          </a:p>
          <a:p xmlns:a="http://schemas.openxmlformats.org/drawingml/2006/main">
            <a:r>
              <a:t>      "G": 36.00161290322581,</a:t>
            </a:r>
          </a:p>
          <a:p xmlns:a="http://schemas.openxmlformats.org/drawingml/2006/main">
            <a:r>
              <a:t>      "direct": 36.00161290322581,</a:t>
            </a:r>
          </a:p>
          <a:p xmlns:a="http://schemas.openxmlformats.org/drawingml/2006/main">
            <a:r>
              <a:t>      "surplus": 0,</a:t>
            </a:r>
          </a:p>
          <a:p xmlns:a="http://schemas.openxmlformats.org/drawingml/2006/main">
            <a:r>
              <a:t>      "battery": 0,</a:t>
            </a:r>
          </a:p>
          <a:p xmlns:a="http://schemas.openxmlformats.org/drawingml/2006/main">
            <a:r>
              <a:t>      "imports": 1385.6499999999999,</a:t>
            </a:r>
          </a:p>
          <a:p xmlns:a="http://schemas.openxmlformats.org/drawingml/2006/main">
            <a:r>
              <a:t>      "base": 7094.794000000002,</a:t>
            </a:r>
          </a:p>
          <a:p xmlns:a="http://schemas.openxmlformats.org/drawingml/2006/main">
            <a:r>
              <a:t>      "newbill": 3947.533,</a:t>
            </a:r>
          </a:p>
          <a:p xmlns:a="http://schemas.openxmlformats.org/drawingml/2006/main">
            <a:r>
              <a:t>      "saving": 3147.261000000002</a:t>
            </a:r>
          </a:p>
          <a:p xmlns:a="http://schemas.openxmlformats.org/drawingml/2006/main">
            <a:r>
              <a:t>    },</a:t>
            </a:r>
          </a:p>
          <a:p xmlns:a="http://schemas.openxmlformats.org/drawingml/2006/main">
            <a:r>
              <a:t>    {</a:t>
            </a:r>
          </a:p>
          <a:p xmlns:a="http://schemas.openxmlformats.org/drawingml/2006/main">
            <a:r>
              <a:t>      "month": "Feb",</a:t>
            </a:r>
          </a:p>
          <a:p xmlns:a="http://schemas.openxmlformats.org/drawingml/2006/main">
            <a:r>
              <a:t>      "days": 28,</a:t>
            </a:r>
          </a:p>
          <a:p xmlns:a="http://schemas.openxmlformats.org/drawingml/2006/main">
            <a:r>
              <a:t>      "G": 39.29732142857142,</a:t>
            </a:r>
          </a:p>
          <a:p xmlns:a="http://schemas.openxmlformats.org/drawingml/2006/main">
            <a:r>
              <a:t>      "direct": 39.29732142857142,</a:t>
            </a:r>
          </a:p>
          <a:p xmlns:a="http://schemas.openxmlformats.org/drawingml/2006/main">
            <a:r>
              <a:t>      "surplus": 0,</a:t>
            </a:r>
          </a:p>
          <a:p xmlns:a="http://schemas.openxmlformats.org/drawingml/2006/main">
            <a:r>
              <a:t>      "battery": 0,</a:t>
            </a:r>
          </a:p>
          <a:p xmlns:a="http://schemas.openxmlformats.org/drawingml/2006/main">
            <a:r>
              <a:t>      "imports": 1159.2750000000003,</a:t>
            </a:r>
          </a:p>
          <a:p xmlns:a="http://schemas.openxmlformats.org/drawingml/2006/main">
            <a:r>
              <a:t>      "base": 6412.071999999999,</a:t>
            </a:r>
          </a:p>
          <a:p xmlns:a="http://schemas.openxmlformats.org/drawingml/2006/main">
            <a:r>
              <a:t>      "newbill": 3309.1555000000008,</a:t>
            </a:r>
          </a:p>
          <a:p xmlns:a="http://schemas.openxmlformats.org/drawingml/2006/main">
            <a:r>
              <a:t>      "saving": 3102.9164999999985</a:t>
            </a:r>
          </a:p>
          <a:p xmlns:a="http://schemas.openxmlformats.org/drawingml/2006/main">
            <a:r>
              <a:t>    },</a:t>
            </a:r>
          </a:p>
          <a:p xmlns:a="http://schemas.openxmlformats.org/drawingml/2006/main">
            <a:r>
              <a:t>    {</a:t>
            </a:r>
          </a:p>
          <a:p xmlns:a="http://schemas.openxmlformats.org/drawingml/2006/main">
            <a:r>
              <a:t>      "month": "Mar",</a:t>
            </a:r>
          </a:p>
          <a:p xmlns:a="http://schemas.openxmlformats.org/drawingml/2006/main">
            <a:r>
              <a:t>      "days": 31,</a:t>
            </a:r>
          </a:p>
          <a:p xmlns:a="http://schemas.openxmlformats.org/drawingml/2006/main">
            <a:r>
              <a:t>      "G": 44.1616129032258,</a:t>
            </a:r>
          </a:p>
          <a:p xmlns:a="http://schemas.openxmlformats.org/drawingml/2006/main">
            <a:r>
              <a:t>      "direct": 40.35,</a:t>
            </a:r>
          </a:p>
          <a:p xmlns:a="http://schemas.openxmlformats.org/drawingml/2006/main">
            <a:r>
              <a:t>      "surplus": 3.8116129032258,</a:t>
            </a:r>
          </a:p>
          <a:p xmlns:a="http://schemas.openxmlformats.org/drawingml/2006/main">
            <a:r>
              <a:t>      "battery": 0,</a:t>
            </a:r>
          </a:p>
          <a:p xmlns:a="http://schemas.openxmlformats.org/drawingml/2006/main">
            <a:r>
              <a:t>      "imports": 1250.8500000000001,</a:t>
            </a:r>
          </a:p>
          <a:p xmlns:a="http://schemas.openxmlformats.org/drawingml/2006/main">
            <a:r>
              <a:t>      "base": 7094.794000000002,</a:t>
            </a:r>
          </a:p>
          <a:p xmlns:a="http://schemas.openxmlformats.org/drawingml/2006/main">
            <a:r>
              <a:t>      "newbill": 3567.397000000001,</a:t>
            </a:r>
          </a:p>
          <a:p xmlns:a="http://schemas.openxmlformats.org/drawingml/2006/main">
            <a:r>
              <a:t>      "saving": 3527.397000000001</a:t>
            </a:r>
          </a:p>
          <a:p xmlns:a="http://schemas.openxmlformats.org/drawingml/2006/main">
            <a:r>
              <a:t>    },</a:t>
            </a:r>
          </a:p>
          <a:p xmlns:a="http://schemas.openxmlformats.org/drawingml/2006/main">
            <a:r>
              <a:t>    {</a:t>
            </a:r>
          </a:p>
          <a:p xmlns:a="http://schemas.openxmlformats.org/drawingml/2006/main">
            <a:r>
              <a:t>      "month": "Apr",</a:t>
            </a:r>
          </a:p>
          <a:p xmlns:a="http://schemas.openxmlformats.org/drawingml/2006/main">
            <a:r>
              <a:t>      "days": 30,</a:t>
            </a:r>
          </a:p>
          <a:p xmlns:a="http://schemas.openxmlformats.org/drawingml/2006/main">
            <a:r>
              <a:t>      "G": 45.577,</a:t>
            </a:r>
          </a:p>
          <a:p xmlns:a="http://schemas.openxmlformats.org/drawingml/2006/main">
            <a:r>
              <a:t>      "direct": 40.35,</a:t>
            </a:r>
          </a:p>
          <a:p xmlns:a="http://schemas.openxmlformats.org/drawingml/2006/main">
            <a:r>
              <a:t>      "surplus": 5.226999999999997,</a:t>
            </a:r>
          </a:p>
          <a:p xmlns:a="http://schemas.openxmlformats.org/drawingml/2006/main">
            <a:r>
              <a:t>      "battery": 0,</a:t>
            </a:r>
          </a:p>
          <a:p xmlns:a="http://schemas.openxmlformats.org/drawingml/2006/main">
            <a:r>
              <a:t>      "imports": 1210.5,</a:t>
            </a:r>
          </a:p>
          <a:p xmlns:a="http://schemas.openxmlformats.org/drawingml/2006/main">
            <a:r>
              <a:t>      "base": 6867.22,</a:t>
            </a:r>
          </a:p>
          <a:p xmlns:a="http://schemas.openxmlformats.org/drawingml/2006/main">
            <a:r>
              <a:t>      "newbill": 3453.61,</a:t>
            </a:r>
          </a:p>
          <a:p xmlns:a="http://schemas.openxmlformats.org/drawingml/2006/main">
            <a:r>
              <a:t>      "saving": 3413.61</a:t>
            </a:r>
          </a:p>
          <a:p xmlns:a="http://schemas.openxmlformats.org/drawingml/2006/main">
            <a:r>
              <a:t>    },</a:t>
            </a:r>
          </a:p>
          <a:p xmlns:a="http://schemas.openxmlformats.org/drawingml/2006/main">
            <a:r>
              <a:t>    {</a:t>
            </a:r>
          </a:p>
          <a:p xmlns:a="http://schemas.openxmlformats.org/drawingml/2006/main">
            <a:r>
              <a:t>      "month": "May",</a:t>
            </a:r>
          </a:p>
          <a:p xmlns:a="http://schemas.openxmlformats.org/drawingml/2006/main">
            <a:r>
              <a:t>      "days": 31,</a:t>
            </a:r>
          </a:p>
          <a:p xmlns:a="http://schemas.openxmlformats.org/drawingml/2006/main">
            <a:r>
              <a:t>      "G": 44.61677419354839,</a:t>
            </a:r>
          </a:p>
          <a:p xmlns:a="http://schemas.openxmlformats.org/drawingml/2006/main">
            <a:r>
              <a:t>      "direct": 40.35,</a:t>
            </a:r>
          </a:p>
          <a:p xmlns:a="http://schemas.openxmlformats.org/drawingml/2006/main">
            <a:r>
              <a:t>      "surplus": 4.266774193548386,</a:t>
            </a:r>
          </a:p>
          <a:p xmlns:a="http://schemas.openxmlformats.org/drawingml/2006/main">
            <a:r>
              <a:t>      "battery": 0,</a:t>
            </a:r>
          </a:p>
          <a:p xmlns:a="http://schemas.openxmlformats.org/drawingml/2006/main">
            <a:r>
              <a:t>      "imports": 1250.8500000000001,</a:t>
            </a:r>
          </a:p>
          <a:p xmlns:a="http://schemas.openxmlformats.org/drawingml/2006/main">
            <a:r>
              <a:t>      "base": 7094.794000000002,</a:t>
            </a:r>
          </a:p>
          <a:p xmlns:a="http://schemas.openxmlformats.org/drawingml/2006/main">
            <a:r>
              <a:t>      "newbill": 3567.397000000001,</a:t>
            </a:r>
          </a:p>
          <a:p xmlns:a="http://schemas.openxmlformats.org/drawingml/2006/main">
            <a:r>
              <a:t>      "saving": 3527.397000000001</a:t>
            </a:r>
          </a:p>
          <a:p xmlns:a="http://schemas.openxmlformats.org/drawingml/2006/main">
            <a:r>
              <a:t>    },</a:t>
            </a:r>
          </a:p>
          <a:p xmlns:a="http://schemas.openxmlformats.org/drawingml/2006/main">
            <a:r>
              <a:t>    {</a:t>
            </a:r>
          </a:p>
          <a:p xmlns:a="http://schemas.openxmlformats.org/drawingml/2006/main">
            <a:r>
              <a:t>      "month": "Jun",</a:t>
            </a:r>
          </a:p>
          <a:p xmlns:a="http://schemas.openxmlformats.org/drawingml/2006/main">
            <a:r>
              <a:t>      "days": 30,</a:t>
            </a:r>
          </a:p>
          <a:p xmlns:a="http://schemas.openxmlformats.org/drawingml/2006/main">
            <a:r>
              <a:t>      "G": 44.94233333333334,</a:t>
            </a:r>
          </a:p>
          <a:p xmlns:a="http://schemas.openxmlformats.org/drawingml/2006/main">
            <a:r>
              <a:t>      "direct": 40.35,</a:t>
            </a:r>
          </a:p>
          <a:p xmlns:a="http://schemas.openxmlformats.org/drawingml/2006/main">
            <a:r>
              <a:t>      "surplus": 4.592333333333336,</a:t>
            </a:r>
          </a:p>
          <a:p xmlns:a="http://schemas.openxmlformats.org/drawingml/2006/main">
            <a:r>
              <a:t>      "battery": 0,</a:t>
            </a:r>
          </a:p>
          <a:p xmlns:a="http://schemas.openxmlformats.org/drawingml/2006/main">
            <a:r>
              <a:t>      "imports": 1210.5,</a:t>
            </a:r>
          </a:p>
          <a:p xmlns:a="http://schemas.openxmlformats.org/drawingml/2006/main">
            <a:r>
              <a:t>      "base": 6867.22,</a:t>
            </a:r>
          </a:p>
          <a:p xmlns:a="http://schemas.openxmlformats.org/drawingml/2006/main">
            <a:r>
              <a:t>      "newbill": 3453.61,</a:t>
            </a:r>
          </a:p>
          <a:p xmlns:a="http://schemas.openxmlformats.org/drawingml/2006/main">
            <a:r>
              <a:t>      "saving": 3413.61</a:t>
            </a:r>
          </a:p>
          <a:p xmlns:a="http://schemas.openxmlformats.org/drawingml/2006/main">
            <a:r>
              <a:t>    },</a:t>
            </a:r>
          </a:p>
          <a:p xmlns:a="http://schemas.openxmlformats.org/drawingml/2006/main">
            <a:r>
              <a:t>    {</a:t>
            </a:r>
          </a:p>
          <a:p xmlns:a="http://schemas.openxmlformats.org/drawingml/2006/main">
            <a:r>
              <a:t>      "month": "Jul",</a:t>
            </a:r>
          </a:p>
          <a:p xmlns:a="http://schemas.openxmlformats.org/drawingml/2006/main">
            <a:r>
              <a:t>      "days": 31,</a:t>
            </a:r>
          </a:p>
          <a:p xmlns:a="http://schemas.openxmlformats.org/drawingml/2006/main">
            <a:r>
              <a:t>      "G": 45.148709677419355,</a:t>
            </a:r>
          </a:p>
          <a:p xmlns:a="http://schemas.openxmlformats.org/drawingml/2006/main">
            <a:r>
              <a:t>      "direct": 40.35,</a:t>
            </a:r>
          </a:p>
          <a:p xmlns:a="http://schemas.openxmlformats.org/drawingml/2006/main">
            <a:r>
              <a:t>      "surplus": 4.798709677419353,</a:t>
            </a:r>
          </a:p>
          <a:p xmlns:a="http://schemas.openxmlformats.org/drawingml/2006/main">
            <a:r>
              <a:t>      "battery": 0,</a:t>
            </a:r>
          </a:p>
          <a:p xmlns:a="http://schemas.openxmlformats.org/drawingml/2006/main">
            <a:r>
              <a:t>      "imports": 1250.8500000000001,</a:t>
            </a:r>
          </a:p>
          <a:p xmlns:a="http://schemas.openxmlformats.org/drawingml/2006/main">
            <a:r>
              <a:t>      "base": 7094.794000000002,</a:t>
            </a:r>
          </a:p>
          <a:p xmlns:a="http://schemas.openxmlformats.org/drawingml/2006/main">
            <a:r>
              <a:t>      "newbill": 3567.397000000001,</a:t>
            </a:r>
          </a:p>
          <a:p xmlns:a="http://schemas.openxmlformats.org/drawingml/2006/main">
            <a:r>
              <a:t>      "saving": 3527.397000000001</a:t>
            </a:r>
          </a:p>
          <a:p xmlns:a="http://schemas.openxmlformats.org/drawingml/2006/main">
            <a:r>
              <a:t>    },</a:t>
            </a:r>
          </a:p>
          <a:p xmlns:a="http://schemas.openxmlformats.org/drawingml/2006/main">
            <a:r>
              <a:t>    {</a:t>
            </a:r>
          </a:p>
          <a:p xmlns:a="http://schemas.openxmlformats.org/drawingml/2006/main">
            <a:r>
              <a:t>      "month": "Aug",</a:t>
            </a:r>
          </a:p>
          <a:p xmlns:a="http://schemas.openxmlformats.org/drawingml/2006/main">
            <a:r>
              <a:t>      "days": 31,</a:t>
            </a:r>
          </a:p>
          <a:p xmlns:a="http://schemas.openxmlformats.org/drawingml/2006/main">
            <a:r>
              <a:t>      "G": 45.73548387096774,</a:t>
            </a:r>
          </a:p>
          <a:p xmlns:a="http://schemas.openxmlformats.org/drawingml/2006/main">
            <a:r>
              <a:t>      "direct": 40.35,</a:t>
            </a:r>
          </a:p>
          <a:p xmlns:a="http://schemas.openxmlformats.org/drawingml/2006/main">
            <a:r>
              <a:t>      "surplus": 5.3854838709677395,</a:t>
            </a:r>
          </a:p>
          <a:p xmlns:a="http://schemas.openxmlformats.org/drawingml/2006/main">
            <a:r>
              <a:t>      "battery": 0,</a:t>
            </a:r>
          </a:p>
          <a:p xmlns:a="http://schemas.openxmlformats.org/drawingml/2006/main">
            <a:r>
              <a:t>      "imports": 1250.8500000000001,</a:t>
            </a:r>
          </a:p>
          <a:p xmlns:a="http://schemas.openxmlformats.org/drawingml/2006/main">
            <a:r>
              <a:t>      "base": 7094.794000000002,</a:t>
            </a:r>
          </a:p>
          <a:p xmlns:a="http://schemas.openxmlformats.org/drawingml/2006/main">
            <a:r>
              <a:t>      "newbill": 3567.397000000001,</a:t>
            </a:r>
          </a:p>
          <a:p xmlns:a="http://schemas.openxmlformats.org/drawingml/2006/main">
            <a:r>
              <a:t>      "saving": 3527.397000000001</a:t>
            </a:r>
          </a:p>
          <a:p xmlns:a="http://schemas.openxmlformats.org/drawingml/2006/main">
            <a:r>
              <a:t>    },</a:t>
            </a:r>
          </a:p>
          <a:p xmlns:a="http://schemas.openxmlformats.org/drawingml/2006/main">
            <a:r>
              <a:t>    {</a:t>
            </a:r>
          </a:p>
          <a:p xmlns:a="http://schemas.openxmlformats.org/drawingml/2006/main">
            <a:r>
              <a:t>      "month": "Sep",</a:t>
            </a:r>
          </a:p>
          <a:p xmlns:a="http://schemas.openxmlformats.org/drawingml/2006/main">
            <a:r>
              <a:t>      "days": 30,</a:t>
            </a:r>
          </a:p>
          <a:p xmlns:a="http://schemas.openxmlformats.org/drawingml/2006/main">
            <a:r>
              <a:t>      "G": 45.61666666666666,</a:t>
            </a:r>
          </a:p>
          <a:p xmlns:a="http://schemas.openxmlformats.org/drawingml/2006/main">
            <a:r>
              <a:t>      "direct": 40.35,</a:t>
            </a:r>
          </a:p>
          <a:p xmlns:a="http://schemas.openxmlformats.org/drawingml/2006/main">
            <a:r>
              <a:t>      "surplus": 5.266666666666659,</a:t>
            </a:r>
          </a:p>
          <a:p xmlns:a="http://schemas.openxmlformats.org/drawingml/2006/main">
            <a:r>
              <a:t>      "battery": 0,</a:t>
            </a:r>
          </a:p>
          <a:p xmlns:a="http://schemas.openxmlformats.org/drawingml/2006/main">
            <a:r>
              <a:t>      "imports": 1210.5,</a:t>
            </a:r>
          </a:p>
          <a:p xmlns:a="http://schemas.openxmlformats.org/drawingml/2006/main">
            <a:r>
              <a:t>      "base": 6867.22,</a:t>
            </a:r>
          </a:p>
          <a:p xmlns:a="http://schemas.openxmlformats.org/drawingml/2006/main">
            <a:r>
              <a:t>      "newbill": 3453.61,</a:t>
            </a:r>
          </a:p>
          <a:p xmlns:a="http://schemas.openxmlformats.org/drawingml/2006/main">
            <a:r>
              <a:t>      "saving": 3413.61</a:t>
            </a:r>
          </a:p>
          <a:p xmlns:a="http://schemas.openxmlformats.org/drawingml/2006/main">
            <a:r>
              <a:t>    },</a:t>
            </a:r>
          </a:p>
          <a:p xmlns:a="http://schemas.openxmlformats.org/drawingml/2006/main">
            <a:r>
              <a:t>    {</a:t>
            </a:r>
          </a:p>
          <a:p xmlns:a="http://schemas.openxmlformats.org/drawingml/2006/main">
            <a:r>
              <a:t>      "month": "Oct",</a:t>
            </a:r>
          </a:p>
          <a:p xmlns:a="http://schemas.openxmlformats.org/drawingml/2006/main">
            <a:r>
              <a:t>      "days": 31,</a:t>
            </a:r>
          </a:p>
          <a:p xmlns:a="http://schemas.openxmlformats.org/drawingml/2006/main">
            <a:r>
              <a:t>      "G": 42.37112903225807,</a:t>
            </a:r>
          </a:p>
          <a:p xmlns:a="http://schemas.openxmlformats.org/drawingml/2006/main">
            <a:r>
              <a:t>      "direct": 40.35,</a:t>
            </a:r>
          </a:p>
          <a:p xmlns:a="http://schemas.openxmlformats.org/drawingml/2006/main">
            <a:r>
              <a:t>      "surplus": 2.0211290322580666,</a:t>
            </a:r>
          </a:p>
          <a:p xmlns:a="http://schemas.openxmlformats.org/drawingml/2006/main">
            <a:r>
              <a:t>      "battery": 0,</a:t>
            </a:r>
          </a:p>
          <a:p xmlns:a="http://schemas.openxmlformats.org/drawingml/2006/main">
            <a:r>
              <a:t>      "imports": 1250.8500000000001,</a:t>
            </a:r>
          </a:p>
          <a:p xmlns:a="http://schemas.openxmlformats.org/drawingml/2006/main">
            <a:r>
              <a:t>      "base": 7094.794000000002,</a:t>
            </a:r>
          </a:p>
          <a:p xmlns:a="http://schemas.openxmlformats.org/drawingml/2006/main">
            <a:r>
              <a:t>      "newbill": 3567.397000000001,</a:t>
            </a:r>
          </a:p>
          <a:p xmlns:a="http://schemas.openxmlformats.org/drawingml/2006/main">
            <a:r>
              <a:t>      "saving": 3527.397000000001</a:t>
            </a:r>
          </a:p>
          <a:p xmlns:a="http://schemas.openxmlformats.org/drawingml/2006/main">
            <a:r>
              <a:t>    },</a:t>
            </a:r>
          </a:p>
          <a:p xmlns:a="http://schemas.openxmlformats.org/drawingml/2006/main">
            <a:r>
              <a:t>    {</a:t>
            </a:r>
          </a:p>
          <a:p xmlns:a="http://schemas.openxmlformats.org/drawingml/2006/main">
            <a:r>
              <a:t>      "month": "Nov",</a:t>
            </a:r>
          </a:p>
          <a:p xmlns:a="http://schemas.openxmlformats.org/drawingml/2006/main">
            <a:r>
              <a:t>      "days": 30,</a:t>
            </a:r>
          </a:p>
          <a:p xmlns:a="http://schemas.openxmlformats.org/drawingml/2006/main">
            <a:r>
              <a:t>      "G": 38.80816666666667,</a:t>
            </a:r>
          </a:p>
          <a:p xmlns:a="http://schemas.openxmlformats.org/drawingml/2006/main">
            <a:r>
              <a:t>      "direct": 38.80816666666667,</a:t>
            </a:r>
          </a:p>
          <a:p xmlns:a="http://schemas.openxmlformats.org/drawingml/2006/main">
            <a:r>
              <a:t>      "surplus": 0,</a:t>
            </a:r>
          </a:p>
          <a:p xmlns:a="http://schemas.openxmlformats.org/drawingml/2006/main">
            <a:r>
              <a:t>      "battery": 0,</a:t>
            </a:r>
          </a:p>
          <a:p xmlns:a="http://schemas.openxmlformats.org/drawingml/2006/main">
            <a:r>
              <a:t>      "imports": 1256.7549999999999,</a:t>
            </a:r>
          </a:p>
          <a:p xmlns:a="http://schemas.openxmlformats.org/drawingml/2006/main">
            <a:r>
              <a:t>      "base": 6867.22,</a:t>
            </a:r>
          </a:p>
          <a:p xmlns:a="http://schemas.openxmlformats.org/drawingml/2006/main">
            <a:r>
              <a:t>      "newbill": 3584.0490999999997,</a:t>
            </a:r>
          </a:p>
          <a:p xmlns:a="http://schemas.openxmlformats.org/drawingml/2006/main">
            <a:r>
              <a:t>      "saving": 3283.1709000000005</a:t>
            </a:r>
          </a:p>
          <a:p xmlns:a="http://schemas.openxmlformats.org/drawingml/2006/main">
            <a:r>
              <a:t>    },</a:t>
            </a:r>
          </a:p>
          <a:p xmlns:a="http://schemas.openxmlformats.org/drawingml/2006/main">
            <a:r>
              <a:t>    {</a:t>
            </a:r>
          </a:p>
          <a:p xmlns:a="http://schemas.openxmlformats.org/drawingml/2006/main">
            <a:r>
              <a:t>      "month": "Dec",</a:t>
            </a:r>
          </a:p>
          <a:p xmlns:a="http://schemas.openxmlformats.org/drawingml/2006/main">
            <a:r>
              <a:t>      "days": 31,</a:t>
            </a:r>
          </a:p>
          <a:p xmlns:a="http://schemas.openxmlformats.org/drawingml/2006/main">
            <a:r>
              <a:t>      "G": 35.75483870967742,</a:t>
            </a:r>
          </a:p>
          <a:p xmlns:a="http://schemas.openxmlformats.org/drawingml/2006/main">
            <a:r>
              <a:t>      "direct": 35.75483870967742,</a:t>
            </a:r>
          </a:p>
          <a:p xmlns:a="http://schemas.openxmlformats.org/drawingml/2006/main">
            <a:r>
              <a:t>      "surplus": 0,</a:t>
            </a:r>
          </a:p>
          <a:p xmlns:a="http://schemas.openxmlformats.org/drawingml/2006/main">
            <a:r>
              <a:t>      "battery": 0,</a:t>
            </a:r>
          </a:p>
          <a:p xmlns:a="http://schemas.openxmlformats.org/drawingml/2006/main">
            <a:r>
              <a:t>      "imports": 1393.3,</a:t>
            </a:r>
          </a:p>
          <a:p xmlns:a="http://schemas.openxmlformats.org/drawingml/2006/main">
            <a:r>
              <a:t>      "base": 7094.794000000002,</a:t>
            </a:r>
          </a:p>
          <a:p xmlns:a="http://schemas.openxmlformats.org/drawingml/2006/main">
            <a:r>
              <a:t>      "newbill": 3969.1059999999998,</a:t>
            </a:r>
          </a:p>
          <a:p xmlns:a="http://schemas.openxmlformats.org/drawingml/2006/main">
            <a:r>
              <a:t>      "saving": 3125.688000000002</a:t>
            </a:r>
          </a:p>
          <a:p xmlns:a="http://schemas.openxmlformats.org/drawingml/2006/main">
            <a:r>
              <a:t>    }</a:t>
            </a:r>
          </a:p>
          <a:p xmlns:a="http://schemas.openxmlformats.org/drawingml/2006/main">
            <a:r>
              <a:t>  ],</a:t>
            </a:r>
          </a:p>
          <a:p xmlns:a="http://schemas.openxmlformats.org/drawingml/2006/main">
            <a:r>
              <a:t>  "annualSaving": 40536.85140000001,</a:t>
            </a:r>
          </a:p>
          <a:p xmlns:a="http://schemas.openxmlformats.org/drawingml/2006/main">
            <a:r>
              <a:t>  "averageSaving": 3378.0709500000007,</a:t>
            </a:r>
          </a:p>
          <a:p xmlns:a="http://schemas.openxmlformats.org/drawingml/2006/main">
            <a:r>
              <a:t>  "payback": 3.4733827403279767,</a:t>
            </a:r>
          </a:p>
          <a:p xmlns:a="http://schemas.openxmlformats.org/drawingml/2006/main">
            <a:r>
              <a:t>  "annualImports": 15080.73</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Same assumptions and calculation basis as El_Mo3alem_Juice_Shop_Solar_BESS.pptx, reviewed 30 Sep 2026. Baseline80.7 kWh/day,50/50,PV mean4.98,DoD80%,storage efficiency95% applied once at output. Prices are historical selling-price assumptions. Battery220 EUR/kWh*62EGP/EUR=13640EGP/kWh from Home_Storage slide15. Tariff source https://www.egyptera.org/en/TarrifApril2026.aspx . PV source JRC PVGIS5.3: https://re.jrc.ec.europa.eu/api/v5_3/PVcalc?lat=30.0444&amp;lon=31.2357&amp;peakpower=1&amp;loss=14&amp;angle=30&amp;aspect=0&amp;pvtechchoice=crystSi&amp;mountingplace=free&amp;outputformat=json . SARAH3/ERA5 2005–2023. 30degree south-facing free-standing crystalline silicon,14% entered PV loss. Solar-only charging, zero export value. No maintenance, insurance, finance, replacement, degradation or price escalation. Annual3EGP stamp excluded equally. Monthly-average days rather than hourly dispatch, daily demand constant over365days. Unrounded values used, display rounding may differ. Billing-period30days assumed. Inverter and roof sizing provisional. Warranty10years,6000cycles@80%DoD from original source.</a:t>
            </a:r>
          </a:p>
          <a:p xmlns:a="http://schemas.openxmlformats.org/drawingml/2006/main">
            <a:r>
              <a:t>{</a:t>
            </a:r>
          </a:p>
          <a:p xmlns:a="http://schemas.openxmlformats.org/drawingml/2006/main">
            <a:r>
              <a:t>  "option": "A",</a:t>
            </a:r>
          </a:p>
          <a:p xmlns:a="http://schemas.openxmlformats.org/drawingml/2006/main">
            <a:r>
              <a:t>  "C": 0,</a:t>
            </a:r>
          </a:p>
          <a:p xmlns:a="http://schemas.openxmlformats.org/drawingml/2006/main">
            <a:r>
              <a:t>  "P": 8.5,</a:t>
            </a:r>
          </a:p>
          <a:p xmlns:a="http://schemas.openxmlformats.org/drawingml/2006/main">
            <a:r>
              <a:t>  "inv": 10,</a:t>
            </a:r>
          </a:p>
          <a:p xmlns:a="http://schemas.openxmlformats.org/drawingml/2006/main">
            <a:r>
              <a:t>  "price": 140800,</a:t>
            </a:r>
          </a:p>
          <a:p xmlns:a="http://schemas.openxmlformats.org/drawingml/2006/main">
            <a:r>
              <a:t>  "reference": {</a:t>
            </a:r>
          </a:p>
          <a:p xmlns:a="http://schemas.openxmlformats.org/drawingml/2006/main">
            <a:r>
              <a:t>    "G": 42.330000000000005,</a:t>
            </a:r>
          </a:p>
          <a:p xmlns:a="http://schemas.openxmlformats.org/drawingml/2006/main">
            <a:r>
              <a:t>    "direct": 40.35,</a:t>
            </a:r>
          </a:p>
          <a:p xmlns:a="http://schemas.openxmlformats.org/drawingml/2006/main">
            <a:r>
              <a:t>    "surplus": 1.980000000000004,</a:t>
            </a:r>
          </a:p>
          <a:p xmlns:a="http://schemas.openxmlformats.org/drawingml/2006/main">
            <a:r>
              <a:t>    "battery": 0,</a:t>
            </a:r>
          </a:p>
          <a:p xmlns:a="http://schemas.openxmlformats.org/drawingml/2006/main">
            <a:r>
              <a:t>    "imports": 1210.5,</a:t>
            </a:r>
          </a:p>
          <a:p xmlns:a="http://schemas.openxmlformats.org/drawingml/2006/main">
            <a:r>
              <a:t>    "base": 6867.22,</a:t>
            </a:r>
          </a:p>
          <a:p xmlns:a="http://schemas.openxmlformats.org/drawingml/2006/main">
            <a:r>
              <a:t>    "newbill": 3453.61,</a:t>
            </a:r>
          </a:p>
          <a:p xmlns:a="http://schemas.openxmlformats.org/drawingml/2006/main">
            <a:r>
              <a:t>    "saving": 3413.61</a:t>
            </a:r>
          </a:p>
          <a:p xmlns:a="http://schemas.openxmlformats.org/drawingml/2006/main">
            <a:r>
              <a:t>  },</a:t>
            </a:r>
          </a:p>
          <a:p xmlns:a="http://schemas.openxmlformats.org/drawingml/2006/main">
            <a:r>
              <a:t>  "monthly": [</a:t>
            </a:r>
          </a:p>
          <a:p xmlns:a="http://schemas.openxmlformats.org/drawingml/2006/main">
            <a:r>
              <a:t>    {</a:t>
            </a:r>
          </a:p>
          <a:p xmlns:a="http://schemas.openxmlformats.org/drawingml/2006/main">
            <a:r>
              <a:t>      "month": "Jan",</a:t>
            </a:r>
          </a:p>
          <a:p xmlns:a="http://schemas.openxmlformats.org/drawingml/2006/main">
            <a:r>
              <a:t>      "days": 31,</a:t>
            </a:r>
          </a:p>
          <a:p xmlns:a="http://schemas.openxmlformats.org/drawingml/2006/main">
            <a:r>
              <a:t>      "G": 36.00161290322581,</a:t>
            </a:r>
          </a:p>
          <a:p xmlns:a="http://schemas.openxmlformats.org/drawingml/2006/main">
            <a:r>
              <a:t>      "direct": 36.00161290322581,</a:t>
            </a:r>
          </a:p>
          <a:p xmlns:a="http://schemas.openxmlformats.org/drawingml/2006/main">
            <a:r>
              <a:t>      "surplus": 0,</a:t>
            </a:r>
          </a:p>
          <a:p xmlns:a="http://schemas.openxmlformats.org/drawingml/2006/main">
            <a:r>
              <a:t>      "battery": 0,</a:t>
            </a:r>
          </a:p>
          <a:p xmlns:a="http://schemas.openxmlformats.org/drawingml/2006/main">
            <a:r>
              <a:t>      "imports": 1385.6499999999999,</a:t>
            </a:r>
          </a:p>
          <a:p xmlns:a="http://schemas.openxmlformats.org/drawingml/2006/main">
            <a:r>
              <a:t>      "base": 7094.794000000002,</a:t>
            </a:r>
          </a:p>
          <a:p xmlns:a="http://schemas.openxmlformats.org/drawingml/2006/main">
            <a:r>
              <a:t>      "newbill": 3947.533,</a:t>
            </a:r>
          </a:p>
          <a:p xmlns:a="http://schemas.openxmlformats.org/drawingml/2006/main">
            <a:r>
              <a:t>      "saving": 3147.261000000002</a:t>
            </a:r>
          </a:p>
          <a:p xmlns:a="http://schemas.openxmlformats.org/drawingml/2006/main">
            <a:r>
              <a:t>    },</a:t>
            </a:r>
          </a:p>
          <a:p xmlns:a="http://schemas.openxmlformats.org/drawingml/2006/main">
            <a:r>
              <a:t>    {</a:t>
            </a:r>
          </a:p>
          <a:p xmlns:a="http://schemas.openxmlformats.org/drawingml/2006/main">
            <a:r>
              <a:t>      "month": "Feb",</a:t>
            </a:r>
          </a:p>
          <a:p xmlns:a="http://schemas.openxmlformats.org/drawingml/2006/main">
            <a:r>
              <a:t>      "days": 28,</a:t>
            </a:r>
          </a:p>
          <a:p xmlns:a="http://schemas.openxmlformats.org/drawingml/2006/main">
            <a:r>
              <a:t>      "G": 39.29732142857142,</a:t>
            </a:r>
          </a:p>
          <a:p xmlns:a="http://schemas.openxmlformats.org/drawingml/2006/main">
            <a:r>
              <a:t>      "direct": 39.29732142857142,</a:t>
            </a:r>
          </a:p>
          <a:p xmlns:a="http://schemas.openxmlformats.org/drawingml/2006/main">
            <a:r>
              <a:t>      "surplus": 0,</a:t>
            </a:r>
          </a:p>
          <a:p xmlns:a="http://schemas.openxmlformats.org/drawingml/2006/main">
            <a:r>
              <a:t>      "battery": 0,</a:t>
            </a:r>
          </a:p>
          <a:p xmlns:a="http://schemas.openxmlformats.org/drawingml/2006/main">
            <a:r>
              <a:t>      "imports": 1159.2750000000003,</a:t>
            </a:r>
          </a:p>
          <a:p xmlns:a="http://schemas.openxmlformats.org/drawingml/2006/main">
            <a:r>
              <a:t>      "base": 6412.071999999999,</a:t>
            </a:r>
          </a:p>
          <a:p xmlns:a="http://schemas.openxmlformats.org/drawingml/2006/main">
            <a:r>
              <a:t>      "newbill": 3309.1555000000008,</a:t>
            </a:r>
          </a:p>
          <a:p xmlns:a="http://schemas.openxmlformats.org/drawingml/2006/main">
            <a:r>
              <a:t>      "saving": 3102.9164999999985</a:t>
            </a:r>
          </a:p>
          <a:p xmlns:a="http://schemas.openxmlformats.org/drawingml/2006/main">
            <a:r>
              <a:t>    },</a:t>
            </a:r>
          </a:p>
          <a:p xmlns:a="http://schemas.openxmlformats.org/drawingml/2006/main">
            <a:r>
              <a:t>    {</a:t>
            </a:r>
          </a:p>
          <a:p xmlns:a="http://schemas.openxmlformats.org/drawingml/2006/main">
            <a:r>
              <a:t>      "month": "Mar",</a:t>
            </a:r>
          </a:p>
          <a:p xmlns:a="http://schemas.openxmlformats.org/drawingml/2006/main">
            <a:r>
              <a:t>      "days": 31,</a:t>
            </a:r>
          </a:p>
          <a:p xmlns:a="http://schemas.openxmlformats.org/drawingml/2006/main">
            <a:r>
              <a:t>      "G": 44.1616129032258,</a:t>
            </a:r>
          </a:p>
          <a:p xmlns:a="http://schemas.openxmlformats.org/drawingml/2006/main">
            <a:r>
              <a:t>      "direct": 40.35,</a:t>
            </a:r>
          </a:p>
          <a:p xmlns:a="http://schemas.openxmlformats.org/drawingml/2006/main">
            <a:r>
              <a:t>      "surplus": 3.8116129032258,</a:t>
            </a:r>
          </a:p>
          <a:p xmlns:a="http://schemas.openxmlformats.org/drawingml/2006/main">
            <a:r>
              <a:t>      "battery": 0,</a:t>
            </a:r>
          </a:p>
          <a:p xmlns:a="http://schemas.openxmlformats.org/drawingml/2006/main">
            <a:r>
              <a:t>      "imports": 1250.8500000000001,</a:t>
            </a:r>
          </a:p>
          <a:p xmlns:a="http://schemas.openxmlformats.org/drawingml/2006/main">
            <a:r>
              <a:t>      "base": 7094.794000000002,</a:t>
            </a:r>
          </a:p>
          <a:p xmlns:a="http://schemas.openxmlformats.org/drawingml/2006/main">
            <a:r>
              <a:t>      "newbill": 3567.397000000001,</a:t>
            </a:r>
          </a:p>
          <a:p xmlns:a="http://schemas.openxmlformats.org/drawingml/2006/main">
            <a:r>
              <a:t>      "saving": 3527.397000000001</a:t>
            </a:r>
          </a:p>
          <a:p xmlns:a="http://schemas.openxmlformats.org/drawingml/2006/main">
            <a:r>
              <a:t>    },</a:t>
            </a:r>
          </a:p>
          <a:p xmlns:a="http://schemas.openxmlformats.org/drawingml/2006/main">
            <a:r>
              <a:t>    {</a:t>
            </a:r>
          </a:p>
          <a:p xmlns:a="http://schemas.openxmlformats.org/drawingml/2006/main">
            <a:r>
              <a:t>      "month": "Apr",</a:t>
            </a:r>
          </a:p>
          <a:p xmlns:a="http://schemas.openxmlformats.org/drawingml/2006/main">
            <a:r>
              <a:t>      "days": 30,</a:t>
            </a:r>
          </a:p>
          <a:p xmlns:a="http://schemas.openxmlformats.org/drawingml/2006/main">
            <a:r>
              <a:t>      "G": 45.577,</a:t>
            </a:r>
          </a:p>
          <a:p xmlns:a="http://schemas.openxmlformats.org/drawingml/2006/main">
            <a:r>
              <a:t>      "direct": 40.35,</a:t>
            </a:r>
          </a:p>
          <a:p xmlns:a="http://schemas.openxmlformats.org/drawingml/2006/main">
            <a:r>
              <a:t>      "surplus": 5.226999999999997,</a:t>
            </a:r>
          </a:p>
          <a:p xmlns:a="http://schemas.openxmlformats.org/drawingml/2006/main">
            <a:r>
              <a:t>      "battery": 0,</a:t>
            </a:r>
          </a:p>
          <a:p xmlns:a="http://schemas.openxmlformats.org/drawingml/2006/main">
            <a:r>
              <a:t>      "imports": 1210.5,</a:t>
            </a:r>
          </a:p>
          <a:p xmlns:a="http://schemas.openxmlformats.org/drawingml/2006/main">
            <a:r>
              <a:t>      "base": 6867.22,</a:t>
            </a:r>
          </a:p>
          <a:p xmlns:a="http://schemas.openxmlformats.org/drawingml/2006/main">
            <a:r>
              <a:t>      "newbill": 3453.61,</a:t>
            </a:r>
          </a:p>
          <a:p xmlns:a="http://schemas.openxmlformats.org/drawingml/2006/main">
            <a:r>
              <a:t>      "saving": 3413.61</a:t>
            </a:r>
          </a:p>
          <a:p xmlns:a="http://schemas.openxmlformats.org/drawingml/2006/main">
            <a:r>
              <a:t>    },</a:t>
            </a:r>
          </a:p>
          <a:p xmlns:a="http://schemas.openxmlformats.org/drawingml/2006/main">
            <a:r>
              <a:t>    {</a:t>
            </a:r>
          </a:p>
          <a:p xmlns:a="http://schemas.openxmlformats.org/drawingml/2006/main">
            <a:r>
              <a:t>      "month": "May",</a:t>
            </a:r>
          </a:p>
          <a:p xmlns:a="http://schemas.openxmlformats.org/drawingml/2006/main">
            <a:r>
              <a:t>      "days": 31,</a:t>
            </a:r>
          </a:p>
          <a:p xmlns:a="http://schemas.openxmlformats.org/drawingml/2006/main">
            <a:r>
              <a:t>      "G": 44.61677419354839,</a:t>
            </a:r>
          </a:p>
          <a:p xmlns:a="http://schemas.openxmlformats.org/drawingml/2006/main">
            <a:r>
              <a:t>      "direct": 40.35,</a:t>
            </a:r>
          </a:p>
          <a:p xmlns:a="http://schemas.openxmlformats.org/drawingml/2006/main">
            <a:r>
              <a:t>      "surplus": 4.266774193548386,</a:t>
            </a:r>
          </a:p>
          <a:p xmlns:a="http://schemas.openxmlformats.org/drawingml/2006/main">
            <a:r>
              <a:t>      "battery": 0,</a:t>
            </a:r>
          </a:p>
          <a:p xmlns:a="http://schemas.openxmlformats.org/drawingml/2006/main">
            <a:r>
              <a:t>      "imports": 1250.8500000000001,</a:t>
            </a:r>
          </a:p>
          <a:p xmlns:a="http://schemas.openxmlformats.org/drawingml/2006/main">
            <a:r>
              <a:t>      "base": 7094.794000000002,</a:t>
            </a:r>
          </a:p>
          <a:p xmlns:a="http://schemas.openxmlformats.org/drawingml/2006/main">
            <a:r>
              <a:t>      "newbill": 3567.397000000001,</a:t>
            </a:r>
          </a:p>
          <a:p xmlns:a="http://schemas.openxmlformats.org/drawingml/2006/main">
            <a:r>
              <a:t>      "saving": 3527.397000000001</a:t>
            </a:r>
          </a:p>
          <a:p xmlns:a="http://schemas.openxmlformats.org/drawingml/2006/main">
            <a:r>
              <a:t>    },</a:t>
            </a:r>
          </a:p>
          <a:p xmlns:a="http://schemas.openxmlformats.org/drawingml/2006/main">
            <a:r>
              <a:t>    {</a:t>
            </a:r>
          </a:p>
          <a:p xmlns:a="http://schemas.openxmlformats.org/drawingml/2006/main">
            <a:r>
              <a:t>      "month": "Jun",</a:t>
            </a:r>
          </a:p>
          <a:p xmlns:a="http://schemas.openxmlformats.org/drawingml/2006/main">
            <a:r>
              <a:t>      "days": 30,</a:t>
            </a:r>
          </a:p>
          <a:p xmlns:a="http://schemas.openxmlformats.org/drawingml/2006/main">
            <a:r>
              <a:t>      "G": 44.94233333333334,</a:t>
            </a:r>
          </a:p>
          <a:p xmlns:a="http://schemas.openxmlformats.org/drawingml/2006/main">
            <a:r>
              <a:t>      "direct": 40.35,</a:t>
            </a:r>
          </a:p>
          <a:p xmlns:a="http://schemas.openxmlformats.org/drawingml/2006/main">
            <a:r>
              <a:t>      "surplus": 4.592333333333336,</a:t>
            </a:r>
          </a:p>
          <a:p xmlns:a="http://schemas.openxmlformats.org/drawingml/2006/main">
            <a:r>
              <a:t>      "battery": 0,</a:t>
            </a:r>
          </a:p>
          <a:p xmlns:a="http://schemas.openxmlformats.org/drawingml/2006/main">
            <a:r>
              <a:t>      "imports": 1210.5,</a:t>
            </a:r>
          </a:p>
          <a:p xmlns:a="http://schemas.openxmlformats.org/drawingml/2006/main">
            <a:r>
              <a:t>      "base": 6867.22,</a:t>
            </a:r>
          </a:p>
          <a:p xmlns:a="http://schemas.openxmlformats.org/drawingml/2006/main">
            <a:r>
              <a:t>      "newbill": 3453.61,</a:t>
            </a:r>
          </a:p>
          <a:p xmlns:a="http://schemas.openxmlformats.org/drawingml/2006/main">
            <a:r>
              <a:t>      "saving": 3413.61</a:t>
            </a:r>
          </a:p>
          <a:p xmlns:a="http://schemas.openxmlformats.org/drawingml/2006/main">
            <a:r>
              <a:t>    },</a:t>
            </a:r>
          </a:p>
          <a:p xmlns:a="http://schemas.openxmlformats.org/drawingml/2006/main">
            <a:r>
              <a:t>    {</a:t>
            </a:r>
          </a:p>
          <a:p xmlns:a="http://schemas.openxmlformats.org/drawingml/2006/main">
            <a:r>
              <a:t>      "month": "Jul",</a:t>
            </a:r>
          </a:p>
          <a:p xmlns:a="http://schemas.openxmlformats.org/drawingml/2006/main">
            <a:r>
              <a:t>      "days": 31,</a:t>
            </a:r>
          </a:p>
          <a:p xmlns:a="http://schemas.openxmlformats.org/drawingml/2006/main">
            <a:r>
              <a:t>      "G": 45.148709677419355,</a:t>
            </a:r>
          </a:p>
          <a:p xmlns:a="http://schemas.openxmlformats.org/drawingml/2006/main">
            <a:r>
              <a:t>      "direct": 40.35,</a:t>
            </a:r>
          </a:p>
          <a:p xmlns:a="http://schemas.openxmlformats.org/drawingml/2006/main">
            <a:r>
              <a:t>      "surplus": 4.798709677419353,</a:t>
            </a:r>
          </a:p>
          <a:p xmlns:a="http://schemas.openxmlformats.org/drawingml/2006/main">
            <a:r>
              <a:t>      "battery": 0,</a:t>
            </a:r>
          </a:p>
          <a:p xmlns:a="http://schemas.openxmlformats.org/drawingml/2006/main">
            <a:r>
              <a:t>      "imports": 1250.8500000000001,</a:t>
            </a:r>
          </a:p>
          <a:p xmlns:a="http://schemas.openxmlformats.org/drawingml/2006/main">
            <a:r>
              <a:t>      "base": 7094.794000000002,</a:t>
            </a:r>
          </a:p>
          <a:p xmlns:a="http://schemas.openxmlformats.org/drawingml/2006/main">
            <a:r>
              <a:t>      "newbill": 3567.397000000001,</a:t>
            </a:r>
          </a:p>
          <a:p xmlns:a="http://schemas.openxmlformats.org/drawingml/2006/main">
            <a:r>
              <a:t>      "saving": 3527.397000000001</a:t>
            </a:r>
          </a:p>
          <a:p xmlns:a="http://schemas.openxmlformats.org/drawingml/2006/main">
            <a:r>
              <a:t>    },</a:t>
            </a:r>
          </a:p>
          <a:p xmlns:a="http://schemas.openxmlformats.org/drawingml/2006/main">
            <a:r>
              <a:t>    {</a:t>
            </a:r>
          </a:p>
          <a:p xmlns:a="http://schemas.openxmlformats.org/drawingml/2006/main">
            <a:r>
              <a:t>      "month": "Aug",</a:t>
            </a:r>
          </a:p>
          <a:p xmlns:a="http://schemas.openxmlformats.org/drawingml/2006/main">
            <a:r>
              <a:t>      "days": 31,</a:t>
            </a:r>
          </a:p>
          <a:p xmlns:a="http://schemas.openxmlformats.org/drawingml/2006/main">
            <a:r>
              <a:t>      "G": 45.73548387096774,</a:t>
            </a:r>
          </a:p>
          <a:p xmlns:a="http://schemas.openxmlformats.org/drawingml/2006/main">
            <a:r>
              <a:t>      "direct": 40.35,</a:t>
            </a:r>
          </a:p>
          <a:p xmlns:a="http://schemas.openxmlformats.org/drawingml/2006/main">
            <a:r>
              <a:t>      "surplus": 5.3854838709677395,</a:t>
            </a:r>
          </a:p>
          <a:p xmlns:a="http://schemas.openxmlformats.org/drawingml/2006/main">
            <a:r>
              <a:t>      "battery": 0,</a:t>
            </a:r>
          </a:p>
          <a:p xmlns:a="http://schemas.openxmlformats.org/drawingml/2006/main">
            <a:r>
              <a:t>      "imports": 1250.8500000000001,</a:t>
            </a:r>
          </a:p>
          <a:p xmlns:a="http://schemas.openxmlformats.org/drawingml/2006/main">
            <a:r>
              <a:t>      "base": 7094.794000000002,</a:t>
            </a:r>
          </a:p>
          <a:p xmlns:a="http://schemas.openxmlformats.org/drawingml/2006/main">
            <a:r>
              <a:t>      "newbill": 3567.397000000001,</a:t>
            </a:r>
          </a:p>
          <a:p xmlns:a="http://schemas.openxmlformats.org/drawingml/2006/main">
            <a:r>
              <a:t>      "saving": 3527.397000000001</a:t>
            </a:r>
          </a:p>
          <a:p xmlns:a="http://schemas.openxmlformats.org/drawingml/2006/main">
            <a:r>
              <a:t>    },</a:t>
            </a:r>
          </a:p>
          <a:p xmlns:a="http://schemas.openxmlformats.org/drawingml/2006/main">
            <a:r>
              <a:t>    {</a:t>
            </a:r>
          </a:p>
          <a:p xmlns:a="http://schemas.openxmlformats.org/drawingml/2006/main">
            <a:r>
              <a:t>      "month": "Sep",</a:t>
            </a:r>
          </a:p>
          <a:p xmlns:a="http://schemas.openxmlformats.org/drawingml/2006/main">
            <a:r>
              <a:t>      "days": 30,</a:t>
            </a:r>
          </a:p>
          <a:p xmlns:a="http://schemas.openxmlformats.org/drawingml/2006/main">
            <a:r>
              <a:t>      "G": 45.61666666666666,</a:t>
            </a:r>
          </a:p>
          <a:p xmlns:a="http://schemas.openxmlformats.org/drawingml/2006/main">
            <a:r>
              <a:t>      "direct": 40.35,</a:t>
            </a:r>
          </a:p>
          <a:p xmlns:a="http://schemas.openxmlformats.org/drawingml/2006/main">
            <a:r>
              <a:t>      "surplus": 5.266666666666659,</a:t>
            </a:r>
          </a:p>
          <a:p xmlns:a="http://schemas.openxmlformats.org/drawingml/2006/main">
            <a:r>
              <a:t>      "battery": 0,</a:t>
            </a:r>
          </a:p>
          <a:p xmlns:a="http://schemas.openxmlformats.org/drawingml/2006/main">
            <a:r>
              <a:t>      "imports": 1210.5,</a:t>
            </a:r>
          </a:p>
          <a:p xmlns:a="http://schemas.openxmlformats.org/drawingml/2006/main">
            <a:r>
              <a:t>      "base": 6867.22,</a:t>
            </a:r>
          </a:p>
          <a:p xmlns:a="http://schemas.openxmlformats.org/drawingml/2006/main">
            <a:r>
              <a:t>      "newbill": 3453.61,</a:t>
            </a:r>
          </a:p>
          <a:p xmlns:a="http://schemas.openxmlformats.org/drawingml/2006/main">
            <a:r>
              <a:t>      "saving": 3413.61</a:t>
            </a:r>
          </a:p>
          <a:p xmlns:a="http://schemas.openxmlformats.org/drawingml/2006/main">
            <a:r>
              <a:t>    },</a:t>
            </a:r>
          </a:p>
          <a:p xmlns:a="http://schemas.openxmlformats.org/drawingml/2006/main">
            <a:r>
              <a:t>    {</a:t>
            </a:r>
          </a:p>
          <a:p xmlns:a="http://schemas.openxmlformats.org/drawingml/2006/main">
            <a:r>
              <a:t>      "month": "Oct",</a:t>
            </a:r>
          </a:p>
          <a:p xmlns:a="http://schemas.openxmlformats.org/drawingml/2006/main">
            <a:r>
              <a:t>      "days": 31,</a:t>
            </a:r>
          </a:p>
          <a:p xmlns:a="http://schemas.openxmlformats.org/drawingml/2006/main">
            <a:r>
              <a:t>      "G": 42.37112903225807,</a:t>
            </a:r>
          </a:p>
          <a:p xmlns:a="http://schemas.openxmlformats.org/drawingml/2006/main">
            <a:r>
              <a:t>      "direct": 40.35,</a:t>
            </a:r>
          </a:p>
          <a:p xmlns:a="http://schemas.openxmlformats.org/drawingml/2006/main">
            <a:r>
              <a:t>      "surplus": 2.0211290322580666,</a:t>
            </a:r>
          </a:p>
          <a:p xmlns:a="http://schemas.openxmlformats.org/drawingml/2006/main">
            <a:r>
              <a:t>      "battery": 0,</a:t>
            </a:r>
          </a:p>
          <a:p xmlns:a="http://schemas.openxmlformats.org/drawingml/2006/main">
            <a:r>
              <a:t>      "imports": 1250.8500000000001,</a:t>
            </a:r>
          </a:p>
          <a:p xmlns:a="http://schemas.openxmlformats.org/drawingml/2006/main">
            <a:r>
              <a:t>      "base": 7094.794000000002,</a:t>
            </a:r>
          </a:p>
          <a:p xmlns:a="http://schemas.openxmlformats.org/drawingml/2006/main">
            <a:r>
              <a:t>      "newbill": 3567.397000000001,</a:t>
            </a:r>
          </a:p>
          <a:p xmlns:a="http://schemas.openxmlformats.org/drawingml/2006/main">
            <a:r>
              <a:t>      "saving": 3527.397000000001</a:t>
            </a:r>
          </a:p>
          <a:p xmlns:a="http://schemas.openxmlformats.org/drawingml/2006/main">
            <a:r>
              <a:t>    },</a:t>
            </a:r>
          </a:p>
          <a:p xmlns:a="http://schemas.openxmlformats.org/drawingml/2006/main">
            <a:r>
              <a:t>    {</a:t>
            </a:r>
          </a:p>
          <a:p xmlns:a="http://schemas.openxmlformats.org/drawingml/2006/main">
            <a:r>
              <a:t>      "month": "Nov",</a:t>
            </a:r>
          </a:p>
          <a:p xmlns:a="http://schemas.openxmlformats.org/drawingml/2006/main">
            <a:r>
              <a:t>      "days": 30,</a:t>
            </a:r>
          </a:p>
          <a:p xmlns:a="http://schemas.openxmlformats.org/drawingml/2006/main">
            <a:r>
              <a:t>      "G": 38.80816666666667,</a:t>
            </a:r>
          </a:p>
          <a:p xmlns:a="http://schemas.openxmlformats.org/drawingml/2006/main">
            <a:r>
              <a:t>      "direct": 38.80816666666667,</a:t>
            </a:r>
          </a:p>
          <a:p xmlns:a="http://schemas.openxmlformats.org/drawingml/2006/main">
            <a:r>
              <a:t>      "surplus": 0,</a:t>
            </a:r>
          </a:p>
          <a:p xmlns:a="http://schemas.openxmlformats.org/drawingml/2006/main">
            <a:r>
              <a:t>      "battery": 0,</a:t>
            </a:r>
          </a:p>
          <a:p xmlns:a="http://schemas.openxmlformats.org/drawingml/2006/main">
            <a:r>
              <a:t>      "imports": 1256.7549999999999,</a:t>
            </a:r>
          </a:p>
          <a:p xmlns:a="http://schemas.openxmlformats.org/drawingml/2006/main">
            <a:r>
              <a:t>      "base": 6867.22,</a:t>
            </a:r>
          </a:p>
          <a:p xmlns:a="http://schemas.openxmlformats.org/drawingml/2006/main">
            <a:r>
              <a:t>      "newbill": 3584.0490999999997,</a:t>
            </a:r>
          </a:p>
          <a:p xmlns:a="http://schemas.openxmlformats.org/drawingml/2006/main">
            <a:r>
              <a:t>      "saving": 3283.1709000000005</a:t>
            </a:r>
          </a:p>
          <a:p xmlns:a="http://schemas.openxmlformats.org/drawingml/2006/main">
            <a:r>
              <a:t>    },</a:t>
            </a:r>
          </a:p>
          <a:p xmlns:a="http://schemas.openxmlformats.org/drawingml/2006/main">
            <a:r>
              <a:t>    {</a:t>
            </a:r>
          </a:p>
          <a:p xmlns:a="http://schemas.openxmlformats.org/drawingml/2006/main">
            <a:r>
              <a:t>      "month": "Dec",</a:t>
            </a:r>
          </a:p>
          <a:p xmlns:a="http://schemas.openxmlformats.org/drawingml/2006/main">
            <a:r>
              <a:t>      "days": 31,</a:t>
            </a:r>
          </a:p>
          <a:p xmlns:a="http://schemas.openxmlformats.org/drawingml/2006/main">
            <a:r>
              <a:t>      "G": 35.75483870967742,</a:t>
            </a:r>
          </a:p>
          <a:p xmlns:a="http://schemas.openxmlformats.org/drawingml/2006/main">
            <a:r>
              <a:t>      "direct": 35.75483870967742,</a:t>
            </a:r>
          </a:p>
          <a:p xmlns:a="http://schemas.openxmlformats.org/drawingml/2006/main">
            <a:r>
              <a:t>      "surplus": 0,</a:t>
            </a:r>
          </a:p>
          <a:p xmlns:a="http://schemas.openxmlformats.org/drawingml/2006/main">
            <a:r>
              <a:t>      "battery": 0,</a:t>
            </a:r>
          </a:p>
          <a:p xmlns:a="http://schemas.openxmlformats.org/drawingml/2006/main">
            <a:r>
              <a:t>      "imports": 1393.3,</a:t>
            </a:r>
          </a:p>
          <a:p xmlns:a="http://schemas.openxmlformats.org/drawingml/2006/main">
            <a:r>
              <a:t>      "base": 7094.794000000002,</a:t>
            </a:r>
          </a:p>
          <a:p xmlns:a="http://schemas.openxmlformats.org/drawingml/2006/main">
            <a:r>
              <a:t>      "newbill": 3969.1059999999998,</a:t>
            </a:r>
          </a:p>
          <a:p xmlns:a="http://schemas.openxmlformats.org/drawingml/2006/main">
            <a:r>
              <a:t>      "saving": 3125.688000000002</a:t>
            </a:r>
          </a:p>
          <a:p xmlns:a="http://schemas.openxmlformats.org/drawingml/2006/main">
            <a:r>
              <a:t>    }</a:t>
            </a:r>
          </a:p>
          <a:p xmlns:a="http://schemas.openxmlformats.org/drawingml/2006/main">
            <a:r>
              <a:t>  ],</a:t>
            </a:r>
          </a:p>
          <a:p xmlns:a="http://schemas.openxmlformats.org/drawingml/2006/main">
            <a:r>
              <a:t>  "annualSaving": 40536.85140000001,</a:t>
            </a:r>
          </a:p>
          <a:p xmlns:a="http://schemas.openxmlformats.org/drawingml/2006/main">
            <a:r>
              <a:t>  "averageSaving": 3378.0709500000007,</a:t>
            </a:r>
          </a:p>
          <a:p xmlns:a="http://schemas.openxmlformats.org/drawingml/2006/main">
            <a:r>
              <a:t>  "payback": 3.4733827403279767,</a:t>
            </a:r>
          </a:p>
          <a:p xmlns:a="http://schemas.openxmlformats.org/drawingml/2006/main">
            <a:r>
              <a:t>  "annualImports": 15080.73</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Same assumptions and calculation basis as El_Mo3alem_Juice_Shop_Solar_BESS.pptx, reviewed 30 Sep 2026. Baseline80.7 kWh/day,50/50,PV mean4.98,DoD80%,storage efficiency95% applied once at output. Prices are historical selling-price assumptions. Battery220 EUR/kWh*62EGP/EUR=13640EGP/kWh from Home_Storage slide15. Tariff source https://www.egyptera.org/en/TarrifApril2026.aspx . PV source JRC PVGIS5.3: https://re.jrc.ec.europa.eu/api/v5_3/PVcalc?lat=30.0444&amp;lon=31.2357&amp;peakpower=1&amp;loss=14&amp;angle=30&amp;aspect=0&amp;pvtechchoice=crystSi&amp;mountingplace=free&amp;outputformat=json . SARAH3/ERA5 2005–2023. 30degree south-facing free-standing crystalline silicon,14% entered PV loss. Solar-only charging, zero export value. No maintenance, insurance, finance, replacement, degradation or price escalation. Annual3EGP stamp excluded equally. Monthly-average days rather than hourly dispatch, daily demand constant over365days. Unrounded values used, display rounding may differ. Billing-period30days assumed. Inverter and roof sizing provisional. Warranty10years,6000cycles@80%DoD from original source.</a:t>
            </a:r>
          </a:p>
          <a:p xmlns:a="http://schemas.openxmlformats.org/drawingml/2006/main">
            <a:r>
              <a:t>{</a:t>
            </a:r>
          </a:p>
          <a:p xmlns:a="http://schemas.openxmlformats.org/drawingml/2006/main">
            <a:r>
              <a:t>  "option": "A",</a:t>
            </a:r>
          </a:p>
          <a:p xmlns:a="http://schemas.openxmlformats.org/drawingml/2006/main">
            <a:r>
              <a:t>  "C": 0,</a:t>
            </a:r>
          </a:p>
          <a:p xmlns:a="http://schemas.openxmlformats.org/drawingml/2006/main">
            <a:r>
              <a:t>  "P": 8.5,</a:t>
            </a:r>
          </a:p>
          <a:p xmlns:a="http://schemas.openxmlformats.org/drawingml/2006/main">
            <a:r>
              <a:t>  "inv": 10,</a:t>
            </a:r>
          </a:p>
          <a:p xmlns:a="http://schemas.openxmlformats.org/drawingml/2006/main">
            <a:r>
              <a:t>  "price": 140800,</a:t>
            </a:r>
          </a:p>
          <a:p xmlns:a="http://schemas.openxmlformats.org/drawingml/2006/main">
            <a:r>
              <a:t>  "reference": {</a:t>
            </a:r>
          </a:p>
          <a:p xmlns:a="http://schemas.openxmlformats.org/drawingml/2006/main">
            <a:r>
              <a:t>    "G": 42.330000000000005,</a:t>
            </a:r>
          </a:p>
          <a:p xmlns:a="http://schemas.openxmlformats.org/drawingml/2006/main">
            <a:r>
              <a:t>    "direct": 40.35,</a:t>
            </a:r>
          </a:p>
          <a:p xmlns:a="http://schemas.openxmlformats.org/drawingml/2006/main">
            <a:r>
              <a:t>    "surplus": 1.980000000000004,</a:t>
            </a:r>
          </a:p>
          <a:p xmlns:a="http://schemas.openxmlformats.org/drawingml/2006/main">
            <a:r>
              <a:t>    "battery": 0,</a:t>
            </a:r>
          </a:p>
          <a:p xmlns:a="http://schemas.openxmlformats.org/drawingml/2006/main">
            <a:r>
              <a:t>    "imports": 1210.5,</a:t>
            </a:r>
          </a:p>
          <a:p xmlns:a="http://schemas.openxmlformats.org/drawingml/2006/main">
            <a:r>
              <a:t>    "base": 6867.22,</a:t>
            </a:r>
          </a:p>
          <a:p xmlns:a="http://schemas.openxmlformats.org/drawingml/2006/main">
            <a:r>
              <a:t>    "newbill": 3453.61,</a:t>
            </a:r>
          </a:p>
          <a:p xmlns:a="http://schemas.openxmlformats.org/drawingml/2006/main">
            <a:r>
              <a:t>    "saving": 3413.61</a:t>
            </a:r>
          </a:p>
          <a:p xmlns:a="http://schemas.openxmlformats.org/drawingml/2006/main">
            <a:r>
              <a:t>  },</a:t>
            </a:r>
          </a:p>
          <a:p xmlns:a="http://schemas.openxmlformats.org/drawingml/2006/main">
            <a:r>
              <a:t>  "monthly": [</a:t>
            </a:r>
          </a:p>
          <a:p xmlns:a="http://schemas.openxmlformats.org/drawingml/2006/main">
            <a:r>
              <a:t>    {</a:t>
            </a:r>
          </a:p>
          <a:p xmlns:a="http://schemas.openxmlformats.org/drawingml/2006/main">
            <a:r>
              <a:t>      "month": "Jan",</a:t>
            </a:r>
          </a:p>
          <a:p xmlns:a="http://schemas.openxmlformats.org/drawingml/2006/main">
            <a:r>
              <a:t>      "days": 31,</a:t>
            </a:r>
          </a:p>
          <a:p xmlns:a="http://schemas.openxmlformats.org/drawingml/2006/main">
            <a:r>
              <a:t>      "G": 36.00161290322581,</a:t>
            </a:r>
          </a:p>
          <a:p xmlns:a="http://schemas.openxmlformats.org/drawingml/2006/main">
            <a:r>
              <a:t>      "direct": 36.00161290322581,</a:t>
            </a:r>
          </a:p>
          <a:p xmlns:a="http://schemas.openxmlformats.org/drawingml/2006/main">
            <a:r>
              <a:t>      "surplus": 0,</a:t>
            </a:r>
          </a:p>
          <a:p xmlns:a="http://schemas.openxmlformats.org/drawingml/2006/main">
            <a:r>
              <a:t>      "battery": 0,</a:t>
            </a:r>
          </a:p>
          <a:p xmlns:a="http://schemas.openxmlformats.org/drawingml/2006/main">
            <a:r>
              <a:t>      "imports": 1385.6499999999999,</a:t>
            </a:r>
          </a:p>
          <a:p xmlns:a="http://schemas.openxmlformats.org/drawingml/2006/main">
            <a:r>
              <a:t>      "base": 7094.794000000002,</a:t>
            </a:r>
          </a:p>
          <a:p xmlns:a="http://schemas.openxmlformats.org/drawingml/2006/main">
            <a:r>
              <a:t>      "newbill": 3947.533,</a:t>
            </a:r>
          </a:p>
          <a:p xmlns:a="http://schemas.openxmlformats.org/drawingml/2006/main">
            <a:r>
              <a:t>      "saving": 3147.261000000002</a:t>
            </a:r>
          </a:p>
          <a:p xmlns:a="http://schemas.openxmlformats.org/drawingml/2006/main">
            <a:r>
              <a:t>    },</a:t>
            </a:r>
          </a:p>
          <a:p xmlns:a="http://schemas.openxmlformats.org/drawingml/2006/main">
            <a:r>
              <a:t>    {</a:t>
            </a:r>
          </a:p>
          <a:p xmlns:a="http://schemas.openxmlformats.org/drawingml/2006/main">
            <a:r>
              <a:t>      "month": "Feb",</a:t>
            </a:r>
          </a:p>
          <a:p xmlns:a="http://schemas.openxmlformats.org/drawingml/2006/main">
            <a:r>
              <a:t>      "days": 28,</a:t>
            </a:r>
          </a:p>
          <a:p xmlns:a="http://schemas.openxmlformats.org/drawingml/2006/main">
            <a:r>
              <a:t>      "G": 39.29732142857142,</a:t>
            </a:r>
          </a:p>
          <a:p xmlns:a="http://schemas.openxmlformats.org/drawingml/2006/main">
            <a:r>
              <a:t>      "direct": 39.29732142857142,</a:t>
            </a:r>
          </a:p>
          <a:p xmlns:a="http://schemas.openxmlformats.org/drawingml/2006/main">
            <a:r>
              <a:t>      "surplus": 0,</a:t>
            </a:r>
          </a:p>
          <a:p xmlns:a="http://schemas.openxmlformats.org/drawingml/2006/main">
            <a:r>
              <a:t>      "battery": 0,</a:t>
            </a:r>
          </a:p>
          <a:p xmlns:a="http://schemas.openxmlformats.org/drawingml/2006/main">
            <a:r>
              <a:t>      "imports": 1159.2750000000003,</a:t>
            </a:r>
          </a:p>
          <a:p xmlns:a="http://schemas.openxmlformats.org/drawingml/2006/main">
            <a:r>
              <a:t>      "base": 6412.071999999999,</a:t>
            </a:r>
          </a:p>
          <a:p xmlns:a="http://schemas.openxmlformats.org/drawingml/2006/main">
            <a:r>
              <a:t>      "newbill": 3309.1555000000008,</a:t>
            </a:r>
          </a:p>
          <a:p xmlns:a="http://schemas.openxmlformats.org/drawingml/2006/main">
            <a:r>
              <a:t>      "saving": 3102.9164999999985</a:t>
            </a:r>
          </a:p>
          <a:p xmlns:a="http://schemas.openxmlformats.org/drawingml/2006/main">
            <a:r>
              <a:t>    },</a:t>
            </a:r>
          </a:p>
          <a:p xmlns:a="http://schemas.openxmlformats.org/drawingml/2006/main">
            <a:r>
              <a:t>    {</a:t>
            </a:r>
          </a:p>
          <a:p xmlns:a="http://schemas.openxmlformats.org/drawingml/2006/main">
            <a:r>
              <a:t>      "month": "Mar",</a:t>
            </a:r>
          </a:p>
          <a:p xmlns:a="http://schemas.openxmlformats.org/drawingml/2006/main">
            <a:r>
              <a:t>      "days": 31,</a:t>
            </a:r>
          </a:p>
          <a:p xmlns:a="http://schemas.openxmlformats.org/drawingml/2006/main">
            <a:r>
              <a:t>      "G": 44.1616129032258,</a:t>
            </a:r>
          </a:p>
          <a:p xmlns:a="http://schemas.openxmlformats.org/drawingml/2006/main">
            <a:r>
              <a:t>      "direct": 40.35,</a:t>
            </a:r>
          </a:p>
          <a:p xmlns:a="http://schemas.openxmlformats.org/drawingml/2006/main">
            <a:r>
              <a:t>      "surplus": 3.8116129032258,</a:t>
            </a:r>
          </a:p>
          <a:p xmlns:a="http://schemas.openxmlformats.org/drawingml/2006/main">
            <a:r>
              <a:t>      "battery": 0,</a:t>
            </a:r>
          </a:p>
          <a:p xmlns:a="http://schemas.openxmlformats.org/drawingml/2006/main">
            <a:r>
              <a:t>      "imports": 1250.8500000000001,</a:t>
            </a:r>
          </a:p>
          <a:p xmlns:a="http://schemas.openxmlformats.org/drawingml/2006/main">
            <a:r>
              <a:t>      "base": 7094.794000000002,</a:t>
            </a:r>
          </a:p>
          <a:p xmlns:a="http://schemas.openxmlformats.org/drawingml/2006/main">
            <a:r>
              <a:t>      "newbill": 3567.397000000001,</a:t>
            </a:r>
          </a:p>
          <a:p xmlns:a="http://schemas.openxmlformats.org/drawingml/2006/main">
            <a:r>
              <a:t>      "saving": 3527.397000000001</a:t>
            </a:r>
          </a:p>
          <a:p xmlns:a="http://schemas.openxmlformats.org/drawingml/2006/main">
            <a:r>
              <a:t>    },</a:t>
            </a:r>
          </a:p>
          <a:p xmlns:a="http://schemas.openxmlformats.org/drawingml/2006/main">
            <a:r>
              <a:t>    {</a:t>
            </a:r>
          </a:p>
          <a:p xmlns:a="http://schemas.openxmlformats.org/drawingml/2006/main">
            <a:r>
              <a:t>      "month": "Apr",</a:t>
            </a:r>
          </a:p>
          <a:p xmlns:a="http://schemas.openxmlformats.org/drawingml/2006/main">
            <a:r>
              <a:t>      "days": 30,</a:t>
            </a:r>
          </a:p>
          <a:p xmlns:a="http://schemas.openxmlformats.org/drawingml/2006/main">
            <a:r>
              <a:t>      "G": 45.577,</a:t>
            </a:r>
          </a:p>
          <a:p xmlns:a="http://schemas.openxmlformats.org/drawingml/2006/main">
            <a:r>
              <a:t>      "direct": 40.35,</a:t>
            </a:r>
          </a:p>
          <a:p xmlns:a="http://schemas.openxmlformats.org/drawingml/2006/main">
            <a:r>
              <a:t>      "surplus": 5.226999999999997,</a:t>
            </a:r>
          </a:p>
          <a:p xmlns:a="http://schemas.openxmlformats.org/drawingml/2006/main">
            <a:r>
              <a:t>      "battery": 0,</a:t>
            </a:r>
          </a:p>
          <a:p xmlns:a="http://schemas.openxmlformats.org/drawingml/2006/main">
            <a:r>
              <a:t>      "imports": 1210.5,</a:t>
            </a:r>
          </a:p>
          <a:p xmlns:a="http://schemas.openxmlformats.org/drawingml/2006/main">
            <a:r>
              <a:t>      "base": 6867.22,</a:t>
            </a:r>
          </a:p>
          <a:p xmlns:a="http://schemas.openxmlformats.org/drawingml/2006/main">
            <a:r>
              <a:t>      "newbill": 3453.61,</a:t>
            </a:r>
          </a:p>
          <a:p xmlns:a="http://schemas.openxmlformats.org/drawingml/2006/main">
            <a:r>
              <a:t>      "saving": 3413.61</a:t>
            </a:r>
          </a:p>
          <a:p xmlns:a="http://schemas.openxmlformats.org/drawingml/2006/main">
            <a:r>
              <a:t>    },</a:t>
            </a:r>
          </a:p>
          <a:p xmlns:a="http://schemas.openxmlformats.org/drawingml/2006/main">
            <a:r>
              <a:t>    {</a:t>
            </a:r>
          </a:p>
          <a:p xmlns:a="http://schemas.openxmlformats.org/drawingml/2006/main">
            <a:r>
              <a:t>      "month": "May",</a:t>
            </a:r>
          </a:p>
          <a:p xmlns:a="http://schemas.openxmlformats.org/drawingml/2006/main">
            <a:r>
              <a:t>      "days": 31,</a:t>
            </a:r>
          </a:p>
          <a:p xmlns:a="http://schemas.openxmlformats.org/drawingml/2006/main">
            <a:r>
              <a:t>      "G": 44.61677419354839,</a:t>
            </a:r>
          </a:p>
          <a:p xmlns:a="http://schemas.openxmlformats.org/drawingml/2006/main">
            <a:r>
              <a:t>      "direct": 40.35,</a:t>
            </a:r>
          </a:p>
          <a:p xmlns:a="http://schemas.openxmlformats.org/drawingml/2006/main">
            <a:r>
              <a:t>      "surplus": 4.266774193548386,</a:t>
            </a:r>
          </a:p>
          <a:p xmlns:a="http://schemas.openxmlformats.org/drawingml/2006/main">
            <a:r>
              <a:t>      "battery": 0,</a:t>
            </a:r>
          </a:p>
          <a:p xmlns:a="http://schemas.openxmlformats.org/drawingml/2006/main">
            <a:r>
              <a:t>      "imports": 1250.8500000000001,</a:t>
            </a:r>
          </a:p>
          <a:p xmlns:a="http://schemas.openxmlformats.org/drawingml/2006/main">
            <a:r>
              <a:t>      "base": 7094.794000000002,</a:t>
            </a:r>
          </a:p>
          <a:p xmlns:a="http://schemas.openxmlformats.org/drawingml/2006/main">
            <a:r>
              <a:t>      "newbill": 3567.397000000001,</a:t>
            </a:r>
          </a:p>
          <a:p xmlns:a="http://schemas.openxmlformats.org/drawingml/2006/main">
            <a:r>
              <a:t>      "saving": 3527.397000000001</a:t>
            </a:r>
          </a:p>
          <a:p xmlns:a="http://schemas.openxmlformats.org/drawingml/2006/main">
            <a:r>
              <a:t>    },</a:t>
            </a:r>
          </a:p>
          <a:p xmlns:a="http://schemas.openxmlformats.org/drawingml/2006/main">
            <a:r>
              <a:t>    {</a:t>
            </a:r>
          </a:p>
          <a:p xmlns:a="http://schemas.openxmlformats.org/drawingml/2006/main">
            <a:r>
              <a:t>      "month": "Jun",</a:t>
            </a:r>
          </a:p>
          <a:p xmlns:a="http://schemas.openxmlformats.org/drawingml/2006/main">
            <a:r>
              <a:t>      "days": 30,</a:t>
            </a:r>
          </a:p>
          <a:p xmlns:a="http://schemas.openxmlformats.org/drawingml/2006/main">
            <a:r>
              <a:t>      "G": 44.94233333333334,</a:t>
            </a:r>
          </a:p>
          <a:p xmlns:a="http://schemas.openxmlformats.org/drawingml/2006/main">
            <a:r>
              <a:t>      "direct": 40.35,</a:t>
            </a:r>
          </a:p>
          <a:p xmlns:a="http://schemas.openxmlformats.org/drawingml/2006/main">
            <a:r>
              <a:t>      "surplus": 4.592333333333336,</a:t>
            </a:r>
          </a:p>
          <a:p xmlns:a="http://schemas.openxmlformats.org/drawingml/2006/main">
            <a:r>
              <a:t>      "battery": 0,</a:t>
            </a:r>
          </a:p>
          <a:p xmlns:a="http://schemas.openxmlformats.org/drawingml/2006/main">
            <a:r>
              <a:t>      "imports": 1210.5,</a:t>
            </a:r>
          </a:p>
          <a:p xmlns:a="http://schemas.openxmlformats.org/drawingml/2006/main">
            <a:r>
              <a:t>      "base": 6867.22,</a:t>
            </a:r>
          </a:p>
          <a:p xmlns:a="http://schemas.openxmlformats.org/drawingml/2006/main">
            <a:r>
              <a:t>      "newbill": 3453.61,</a:t>
            </a:r>
          </a:p>
          <a:p xmlns:a="http://schemas.openxmlformats.org/drawingml/2006/main">
            <a:r>
              <a:t>      "saving": 3413.61</a:t>
            </a:r>
          </a:p>
          <a:p xmlns:a="http://schemas.openxmlformats.org/drawingml/2006/main">
            <a:r>
              <a:t>    },</a:t>
            </a:r>
          </a:p>
          <a:p xmlns:a="http://schemas.openxmlformats.org/drawingml/2006/main">
            <a:r>
              <a:t>    {</a:t>
            </a:r>
          </a:p>
          <a:p xmlns:a="http://schemas.openxmlformats.org/drawingml/2006/main">
            <a:r>
              <a:t>      "month": "Jul",</a:t>
            </a:r>
          </a:p>
          <a:p xmlns:a="http://schemas.openxmlformats.org/drawingml/2006/main">
            <a:r>
              <a:t>      "days": 31,</a:t>
            </a:r>
          </a:p>
          <a:p xmlns:a="http://schemas.openxmlformats.org/drawingml/2006/main">
            <a:r>
              <a:t>      "G": 45.148709677419355,</a:t>
            </a:r>
          </a:p>
          <a:p xmlns:a="http://schemas.openxmlformats.org/drawingml/2006/main">
            <a:r>
              <a:t>      "direct": 40.35,</a:t>
            </a:r>
          </a:p>
          <a:p xmlns:a="http://schemas.openxmlformats.org/drawingml/2006/main">
            <a:r>
              <a:t>      "surplus": 4.798709677419353,</a:t>
            </a:r>
          </a:p>
          <a:p xmlns:a="http://schemas.openxmlformats.org/drawingml/2006/main">
            <a:r>
              <a:t>      "battery": 0,</a:t>
            </a:r>
          </a:p>
          <a:p xmlns:a="http://schemas.openxmlformats.org/drawingml/2006/main">
            <a:r>
              <a:t>      "imports": 1250.8500000000001,</a:t>
            </a:r>
          </a:p>
          <a:p xmlns:a="http://schemas.openxmlformats.org/drawingml/2006/main">
            <a:r>
              <a:t>      "base": 7094.794000000002,</a:t>
            </a:r>
          </a:p>
          <a:p xmlns:a="http://schemas.openxmlformats.org/drawingml/2006/main">
            <a:r>
              <a:t>      "newbill": 3567.397000000001,</a:t>
            </a:r>
          </a:p>
          <a:p xmlns:a="http://schemas.openxmlformats.org/drawingml/2006/main">
            <a:r>
              <a:t>      "saving": 3527.397000000001</a:t>
            </a:r>
          </a:p>
          <a:p xmlns:a="http://schemas.openxmlformats.org/drawingml/2006/main">
            <a:r>
              <a:t>    },</a:t>
            </a:r>
          </a:p>
          <a:p xmlns:a="http://schemas.openxmlformats.org/drawingml/2006/main">
            <a:r>
              <a:t>    {</a:t>
            </a:r>
          </a:p>
          <a:p xmlns:a="http://schemas.openxmlformats.org/drawingml/2006/main">
            <a:r>
              <a:t>      "month": "Aug",</a:t>
            </a:r>
          </a:p>
          <a:p xmlns:a="http://schemas.openxmlformats.org/drawingml/2006/main">
            <a:r>
              <a:t>      "days": 31,</a:t>
            </a:r>
          </a:p>
          <a:p xmlns:a="http://schemas.openxmlformats.org/drawingml/2006/main">
            <a:r>
              <a:t>      "G": 45.73548387096774,</a:t>
            </a:r>
          </a:p>
          <a:p xmlns:a="http://schemas.openxmlformats.org/drawingml/2006/main">
            <a:r>
              <a:t>      "direct": 40.35,</a:t>
            </a:r>
          </a:p>
          <a:p xmlns:a="http://schemas.openxmlformats.org/drawingml/2006/main">
            <a:r>
              <a:t>      "surplus": 5.3854838709677395,</a:t>
            </a:r>
          </a:p>
          <a:p xmlns:a="http://schemas.openxmlformats.org/drawingml/2006/main">
            <a:r>
              <a:t>      "battery": 0,</a:t>
            </a:r>
          </a:p>
          <a:p xmlns:a="http://schemas.openxmlformats.org/drawingml/2006/main">
            <a:r>
              <a:t>      "imports": 1250.8500000000001,</a:t>
            </a:r>
          </a:p>
          <a:p xmlns:a="http://schemas.openxmlformats.org/drawingml/2006/main">
            <a:r>
              <a:t>      "base": 7094.794000000002,</a:t>
            </a:r>
          </a:p>
          <a:p xmlns:a="http://schemas.openxmlformats.org/drawingml/2006/main">
            <a:r>
              <a:t>      "newbill": 3567.397000000001,</a:t>
            </a:r>
          </a:p>
          <a:p xmlns:a="http://schemas.openxmlformats.org/drawingml/2006/main">
            <a:r>
              <a:t>      "saving": 3527.397000000001</a:t>
            </a:r>
          </a:p>
          <a:p xmlns:a="http://schemas.openxmlformats.org/drawingml/2006/main">
            <a:r>
              <a:t>    },</a:t>
            </a:r>
          </a:p>
          <a:p xmlns:a="http://schemas.openxmlformats.org/drawingml/2006/main">
            <a:r>
              <a:t>    {</a:t>
            </a:r>
          </a:p>
          <a:p xmlns:a="http://schemas.openxmlformats.org/drawingml/2006/main">
            <a:r>
              <a:t>      "month": "Sep",</a:t>
            </a:r>
          </a:p>
          <a:p xmlns:a="http://schemas.openxmlformats.org/drawingml/2006/main">
            <a:r>
              <a:t>      "days": 30,</a:t>
            </a:r>
          </a:p>
          <a:p xmlns:a="http://schemas.openxmlformats.org/drawingml/2006/main">
            <a:r>
              <a:t>      "G": 45.61666666666666,</a:t>
            </a:r>
          </a:p>
          <a:p xmlns:a="http://schemas.openxmlformats.org/drawingml/2006/main">
            <a:r>
              <a:t>      "direct": 40.35,</a:t>
            </a:r>
          </a:p>
          <a:p xmlns:a="http://schemas.openxmlformats.org/drawingml/2006/main">
            <a:r>
              <a:t>      "surplus": 5.266666666666659,</a:t>
            </a:r>
          </a:p>
          <a:p xmlns:a="http://schemas.openxmlformats.org/drawingml/2006/main">
            <a:r>
              <a:t>      "battery": 0,</a:t>
            </a:r>
          </a:p>
          <a:p xmlns:a="http://schemas.openxmlformats.org/drawingml/2006/main">
            <a:r>
              <a:t>      "imports": 1210.5,</a:t>
            </a:r>
          </a:p>
          <a:p xmlns:a="http://schemas.openxmlformats.org/drawingml/2006/main">
            <a:r>
              <a:t>      "base": 6867.22,</a:t>
            </a:r>
          </a:p>
          <a:p xmlns:a="http://schemas.openxmlformats.org/drawingml/2006/main">
            <a:r>
              <a:t>      "newbill": 3453.61,</a:t>
            </a:r>
          </a:p>
          <a:p xmlns:a="http://schemas.openxmlformats.org/drawingml/2006/main">
            <a:r>
              <a:t>      "saving": 3413.61</a:t>
            </a:r>
          </a:p>
          <a:p xmlns:a="http://schemas.openxmlformats.org/drawingml/2006/main">
            <a:r>
              <a:t>    },</a:t>
            </a:r>
          </a:p>
          <a:p xmlns:a="http://schemas.openxmlformats.org/drawingml/2006/main">
            <a:r>
              <a:t>    {</a:t>
            </a:r>
          </a:p>
          <a:p xmlns:a="http://schemas.openxmlformats.org/drawingml/2006/main">
            <a:r>
              <a:t>      "month": "Oct",</a:t>
            </a:r>
          </a:p>
          <a:p xmlns:a="http://schemas.openxmlformats.org/drawingml/2006/main">
            <a:r>
              <a:t>      "days": 31,</a:t>
            </a:r>
          </a:p>
          <a:p xmlns:a="http://schemas.openxmlformats.org/drawingml/2006/main">
            <a:r>
              <a:t>      "G": 42.37112903225807,</a:t>
            </a:r>
          </a:p>
          <a:p xmlns:a="http://schemas.openxmlformats.org/drawingml/2006/main">
            <a:r>
              <a:t>      "direct": 40.35,</a:t>
            </a:r>
          </a:p>
          <a:p xmlns:a="http://schemas.openxmlformats.org/drawingml/2006/main">
            <a:r>
              <a:t>      "surplus": 2.0211290322580666,</a:t>
            </a:r>
          </a:p>
          <a:p xmlns:a="http://schemas.openxmlformats.org/drawingml/2006/main">
            <a:r>
              <a:t>      "battery": 0,</a:t>
            </a:r>
          </a:p>
          <a:p xmlns:a="http://schemas.openxmlformats.org/drawingml/2006/main">
            <a:r>
              <a:t>      "imports": 1250.8500000000001,</a:t>
            </a:r>
          </a:p>
          <a:p xmlns:a="http://schemas.openxmlformats.org/drawingml/2006/main">
            <a:r>
              <a:t>      "base": 7094.794000000002,</a:t>
            </a:r>
          </a:p>
          <a:p xmlns:a="http://schemas.openxmlformats.org/drawingml/2006/main">
            <a:r>
              <a:t>      "newbill": 3567.397000000001,</a:t>
            </a:r>
          </a:p>
          <a:p xmlns:a="http://schemas.openxmlformats.org/drawingml/2006/main">
            <a:r>
              <a:t>      "saving": 3527.397000000001</a:t>
            </a:r>
          </a:p>
          <a:p xmlns:a="http://schemas.openxmlformats.org/drawingml/2006/main">
            <a:r>
              <a:t>    },</a:t>
            </a:r>
          </a:p>
          <a:p xmlns:a="http://schemas.openxmlformats.org/drawingml/2006/main">
            <a:r>
              <a:t>    {</a:t>
            </a:r>
          </a:p>
          <a:p xmlns:a="http://schemas.openxmlformats.org/drawingml/2006/main">
            <a:r>
              <a:t>      "month": "Nov",</a:t>
            </a:r>
          </a:p>
          <a:p xmlns:a="http://schemas.openxmlformats.org/drawingml/2006/main">
            <a:r>
              <a:t>      "days": 30,</a:t>
            </a:r>
          </a:p>
          <a:p xmlns:a="http://schemas.openxmlformats.org/drawingml/2006/main">
            <a:r>
              <a:t>      "G": 38.80816666666667,</a:t>
            </a:r>
          </a:p>
          <a:p xmlns:a="http://schemas.openxmlformats.org/drawingml/2006/main">
            <a:r>
              <a:t>      "direct": 38.80816666666667,</a:t>
            </a:r>
          </a:p>
          <a:p xmlns:a="http://schemas.openxmlformats.org/drawingml/2006/main">
            <a:r>
              <a:t>      "surplus": 0,</a:t>
            </a:r>
          </a:p>
          <a:p xmlns:a="http://schemas.openxmlformats.org/drawingml/2006/main">
            <a:r>
              <a:t>      "battery": 0,</a:t>
            </a:r>
          </a:p>
          <a:p xmlns:a="http://schemas.openxmlformats.org/drawingml/2006/main">
            <a:r>
              <a:t>      "imports": 1256.7549999999999,</a:t>
            </a:r>
          </a:p>
          <a:p xmlns:a="http://schemas.openxmlformats.org/drawingml/2006/main">
            <a:r>
              <a:t>      "base": 6867.22,</a:t>
            </a:r>
          </a:p>
          <a:p xmlns:a="http://schemas.openxmlformats.org/drawingml/2006/main">
            <a:r>
              <a:t>      "newbill": 3584.0490999999997,</a:t>
            </a:r>
          </a:p>
          <a:p xmlns:a="http://schemas.openxmlformats.org/drawingml/2006/main">
            <a:r>
              <a:t>      "saving": 3283.1709000000005</a:t>
            </a:r>
          </a:p>
          <a:p xmlns:a="http://schemas.openxmlformats.org/drawingml/2006/main">
            <a:r>
              <a:t>    },</a:t>
            </a:r>
          </a:p>
          <a:p xmlns:a="http://schemas.openxmlformats.org/drawingml/2006/main">
            <a:r>
              <a:t>    {</a:t>
            </a:r>
          </a:p>
          <a:p xmlns:a="http://schemas.openxmlformats.org/drawingml/2006/main">
            <a:r>
              <a:t>      "month": "Dec",</a:t>
            </a:r>
          </a:p>
          <a:p xmlns:a="http://schemas.openxmlformats.org/drawingml/2006/main">
            <a:r>
              <a:t>      "days": 31,</a:t>
            </a:r>
          </a:p>
          <a:p xmlns:a="http://schemas.openxmlformats.org/drawingml/2006/main">
            <a:r>
              <a:t>      "G": 35.75483870967742,</a:t>
            </a:r>
          </a:p>
          <a:p xmlns:a="http://schemas.openxmlformats.org/drawingml/2006/main">
            <a:r>
              <a:t>      "direct": 35.75483870967742,</a:t>
            </a:r>
          </a:p>
          <a:p xmlns:a="http://schemas.openxmlformats.org/drawingml/2006/main">
            <a:r>
              <a:t>      "surplus": 0,</a:t>
            </a:r>
          </a:p>
          <a:p xmlns:a="http://schemas.openxmlformats.org/drawingml/2006/main">
            <a:r>
              <a:t>      "battery": 0,</a:t>
            </a:r>
          </a:p>
          <a:p xmlns:a="http://schemas.openxmlformats.org/drawingml/2006/main">
            <a:r>
              <a:t>      "imports": 1393.3,</a:t>
            </a:r>
          </a:p>
          <a:p xmlns:a="http://schemas.openxmlformats.org/drawingml/2006/main">
            <a:r>
              <a:t>      "base": 7094.794000000002,</a:t>
            </a:r>
          </a:p>
          <a:p xmlns:a="http://schemas.openxmlformats.org/drawingml/2006/main">
            <a:r>
              <a:t>      "newbill": 3969.1059999999998,</a:t>
            </a:r>
          </a:p>
          <a:p xmlns:a="http://schemas.openxmlformats.org/drawingml/2006/main">
            <a:r>
              <a:t>      "saving": 3125.688000000002</a:t>
            </a:r>
          </a:p>
          <a:p xmlns:a="http://schemas.openxmlformats.org/drawingml/2006/main">
            <a:r>
              <a:t>    }</a:t>
            </a:r>
          </a:p>
          <a:p xmlns:a="http://schemas.openxmlformats.org/drawingml/2006/main">
            <a:r>
              <a:t>  ],</a:t>
            </a:r>
          </a:p>
          <a:p xmlns:a="http://schemas.openxmlformats.org/drawingml/2006/main">
            <a:r>
              <a:t>  "annualSaving": 40536.85140000001,</a:t>
            </a:r>
          </a:p>
          <a:p xmlns:a="http://schemas.openxmlformats.org/drawingml/2006/main">
            <a:r>
              <a:t>  "averageSaving": 3378.0709500000007,</a:t>
            </a:r>
          </a:p>
          <a:p xmlns:a="http://schemas.openxmlformats.org/drawingml/2006/main">
            <a:r>
              <a:t>  "payback": 3.4733827403279767,</a:t>
            </a:r>
          </a:p>
          <a:p xmlns:a="http://schemas.openxmlformats.org/drawingml/2006/main">
            <a:r>
              <a:t>  "annualImports": 15080.73</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Same assumptions and calculation basis as El_Mo3alem_Juice_Shop_Solar_BESS.pptx, reviewed 30 Sep 2026. Baseline80.7 kWh/day,50/50,PV mean4.98,DoD80%,storage efficiency95% applied once at output. Prices are historical selling-price assumptions. Battery220 EUR/kWh*62EGP/EUR=13640EGP/kWh from Home_Storage slide15. Tariff source https://www.egyptera.org/en/TarrifApril2026.aspx . PV source JRC PVGIS5.3: https://re.jrc.ec.europa.eu/api/v5_3/PVcalc?lat=30.0444&amp;lon=31.2357&amp;peakpower=1&amp;loss=14&amp;angle=30&amp;aspect=0&amp;pvtechchoice=crystSi&amp;mountingplace=free&amp;outputformat=json . SARAH3/ERA5 2005–2023. 30degree south-facing free-standing crystalline silicon,14% entered PV loss. Solar-only charging, zero export value. No maintenance, insurance, finance, replacement, degradation or price escalation. Annual3EGP stamp excluded equally. Monthly-average days rather than hourly dispatch, daily demand constant over365days. Unrounded values used, display rounding may differ. Billing-period30days assumed. Inverter and roof sizing provisional. Warranty10years,6000cycles@80%DoD from original source.</a:t>
            </a:r>
          </a:p>
          <a:p xmlns:a="http://schemas.openxmlformats.org/drawingml/2006/main">
            <a:r>
              <a:t>{</a:t>
            </a:r>
          </a:p>
          <a:p xmlns:a="http://schemas.openxmlformats.org/drawingml/2006/main">
            <a:r>
              <a:t>  "option": "A",</a:t>
            </a:r>
          </a:p>
          <a:p xmlns:a="http://schemas.openxmlformats.org/drawingml/2006/main">
            <a:r>
              <a:t>  "C": 0,</a:t>
            </a:r>
          </a:p>
          <a:p xmlns:a="http://schemas.openxmlformats.org/drawingml/2006/main">
            <a:r>
              <a:t>  "P": 8.5,</a:t>
            </a:r>
          </a:p>
          <a:p xmlns:a="http://schemas.openxmlformats.org/drawingml/2006/main">
            <a:r>
              <a:t>  "inv": 10,</a:t>
            </a:r>
          </a:p>
          <a:p xmlns:a="http://schemas.openxmlformats.org/drawingml/2006/main">
            <a:r>
              <a:t>  "price": 140800,</a:t>
            </a:r>
          </a:p>
          <a:p xmlns:a="http://schemas.openxmlformats.org/drawingml/2006/main">
            <a:r>
              <a:t>  "reference": {</a:t>
            </a:r>
          </a:p>
          <a:p xmlns:a="http://schemas.openxmlformats.org/drawingml/2006/main">
            <a:r>
              <a:t>    "G": 42.330000000000005,</a:t>
            </a:r>
          </a:p>
          <a:p xmlns:a="http://schemas.openxmlformats.org/drawingml/2006/main">
            <a:r>
              <a:t>    "direct": 40.35,</a:t>
            </a:r>
          </a:p>
          <a:p xmlns:a="http://schemas.openxmlformats.org/drawingml/2006/main">
            <a:r>
              <a:t>    "surplus": 1.980000000000004,</a:t>
            </a:r>
          </a:p>
          <a:p xmlns:a="http://schemas.openxmlformats.org/drawingml/2006/main">
            <a:r>
              <a:t>    "battery": 0,</a:t>
            </a:r>
          </a:p>
          <a:p xmlns:a="http://schemas.openxmlformats.org/drawingml/2006/main">
            <a:r>
              <a:t>    "imports": 1210.5,</a:t>
            </a:r>
          </a:p>
          <a:p xmlns:a="http://schemas.openxmlformats.org/drawingml/2006/main">
            <a:r>
              <a:t>    "base": 6867.22,</a:t>
            </a:r>
          </a:p>
          <a:p xmlns:a="http://schemas.openxmlformats.org/drawingml/2006/main">
            <a:r>
              <a:t>    "newbill": 3453.61,</a:t>
            </a:r>
          </a:p>
          <a:p xmlns:a="http://schemas.openxmlformats.org/drawingml/2006/main">
            <a:r>
              <a:t>    "saving": 3413.61</a:t>
            </a:r>
          </a:p>
          <a:p xmlns:a="http://schemas.openxmlformats.org/drawingml/2006/main">
            <a:r>
              <a:t>  },</a:t>
            </a:r>
          </a:p>
          <a:p xmlns:a="http://schemas.openxmlformats.org/drawingml/2006/main">
            <a:r>
              <a:t>  "monthly": [</a:t>
            </a:r>
          </a:p>
          <a:p xmlns:a="http://schemas.openxmlformats.org/drawingml/2006/main">
            <a:r>
              <a:t>    {</a:t>
            </a:r>
          </a:p>
          <a:p xmlns:a="http://schemas.openxmlformats.org/drawingml/2006/main">
            <a:r>
              <a:t>      "month": "Jan",</a:t>
            </a:r>
          </a:p>
          <a:p xmlns:a="http://schemas.openxmlformats.org/drawingml/2006/main">
            <a:r>
              <a:t>      "days": 31,</a:t>
            </a:r>
          </a:p>
          <a:p xmlns:a="http://schemas.openxmlformats.org/drawingml/2006/main">
            <a:r>
              <a:t>      "G": 36.00161290322581,</a:t>
            </a:r>
          </a:p>
          <a:p xmlns:a="http://schemas.openxmlformats.org/drawingml/2006/main">
            <a:r>
              <a:t>      "direct": 36.00161290322581,</a:t>
            </a:r>
          </a:p>
          <a:p xmlns:a="http://schemas.openxmlformats.org/drawingml/2006/main">
            <a:r>
              <a:t>      "surplus": 0,</a:t>
            </a:r>
          </a:p>
          <a:p xmlns:a="http://schemas.openxmlformats.org/drawingml/2006/main">
            <a:r>
              <a:t>      "battery": 0,</a:t>
            </a:r>
          </a:p>
          <a:p xmlns:a="http://schemas.openxmlformats.org/drawingml/2006/main">
            <a:r>
              <a:t>      "imports": 1385.6499999999999,</a:t>
            </a:r>
          </a:p>
          <a:p xmlns:a="http://schemas.openxmlformats.org/drawingml/2006/main">
            <a:r>
              <a:t>      "base": 7094.794000000002,</a:t>
            </a:r>
          </a:p>
          <a:p xmlns:a="http://schemas.openxmlformats.org/drawingml/2006/main">
            <a:r>
              <a:t>      "newbill": 3947.533,</a:t>
            </a:r>
          </a:p>
          <a:p xmlns:a="http://schemas.openxmlformats.org/drawingml/2006/main">
            <a:r>
              <a:t>      "saving": 3147.261000000002</a:t>
            </a:r>
          </a:p>
          <a:p xmlns:a="http://schemas.openxmlformats.org/drawingml/2006/main">
            <a:r>
              <a:t>    },</a:t>
            </a:r>
          </a:p>
          <a:p xmlns:a="http://schemas.openxmlformats.org/drawingml/2006/main">
            <a:r>
              <a:t>    {</a:t>
            </a:r>
          </a:p>
          <a:p xmlns:a="http://schemas.openxmlformats.org/drawingml/2006/main">
            <a:r>
              <a:t>      "month": "Feb",</a:t>
            </a:r>
          </a:p>
          <a:p xmlns:a="http://schemas.openxmlformats.org/drawingml/2006/main">
            <a:r>
              <a:t>      "days": 28,</a:t>
            </a:r>
          </a:p>
          <a:p xmlns:a="http://schemas.openxmlformats.org/drawingml/2006/main">
            <a:r>
              <a:t>      "G": 39.29732142857142,</a:t>
            </a:r>
          </a:p>
          <a:p xmlns:a="http://schemas.openxmlformats.org/drawingml/2006/main">
            <a:r>
              <a:t>      "direct": 39.29732142857142,</a:t>
            </a:r>
          </a:p>
          <a:p xmlns:a="http://schemas.openxmlformats.org/drawingml/2006/main">
            <a:r>
              <a:t>      "surplus": 0,</a:t>
            </a:r>
          </a:p>
          <a:p xmlns:a="http://schemas.openxmlformats.org/drawingml/2006/main">
            <a:r>
              <a:t>      "battery": 0,</a:t>
            </a:r>
          </a:p>
          <a:p xmlns:a="http://schemas.openxmlformats.org/drawingml/2006/main">
            <a:r>
              <a:t>      "imports": 1159.2750000000003,</a:t>
            </a:r>
          </a:p>
          <a:p xmlns:a="http://schemas.openxmlformats.org/drawingml/2006/main">
            <a:r>
              <a:t>      "base": 6412.071999999999,</a:t>
            </a:r>
          </a:p>
          <a:p xmlns:a="http://schemas.openxmlformats.org/drawingml/2006/main">
            <a:r>
              <a:t>      "newbill": 3309.1555000000008,</a:t>
            </a:r>
          </a:p>
          <a:p xmlns:a="http://schemas.openxmlformats.org/drawingml/2006/main">
            <a:r>
              <a:t>      "saving": 3102.9164999999985</a:t>
            </a:r>
          </a:p>
          <a:p xmlns:a="http://schemas.openxmlformats.org/drawingml/2006/main">
            <a:r>
              <a:t>    },</a:t>
            </a:r>
          </a:p>
          <a:p xmlns:a="http://schemas.openxmlformats.org/drawingml/2006/main">
            <a:r>
              <a:t>    {</a:t>
            </a:r>
          </a:p>
          <a:p xmlns:a="http://schemas.openxmlformats.org/drawingml/2006/main">
            <a:r>
              <a:t>      "month": "Mar",</a:t>
            </a:r>
          </a:p>
          <a:p xmlns:a="http://schemas.openxmlformats.org/drawingml/2006/main">
            <a:r>
              <a:t>      "days": 31,</a:t>
            </a:r>
          </a:p>
          <a:p xmlns:a="http://schemas.openxmlformats.org/drawingml/2006/main">
            <a:r>
              <a:t>      "G": 44.1616129032258,</a:t>
            </a:r>
          </a:p>
          <a:p xmlns:a="http://schemas.openxmlformats.org/drawingml/2006/main">
            <a:r>
              <a:t>      "direct": 40.35,</a:t>
            </a:r>
          </a:p>
          <a:p xmlns:a="http://schemas.openxmlformats.org/drawingml/2006/main">
            <a:r>
              <a:t>      "surplus": 3.8116129032258,</a:t>
            </a:r>
          </a:p>
          <a:p xmlns:a="http://schemas.openxmlformats.org/drawingml/2006/main">
            <a:r>
              <a:t>      "battery": 0,</a:t>
            </a:r>
          </a:p>
          <a:p xmlns:a="http://schemas.openxmlformats.org/drawingml/2006/main">
            <a:r>
              <a:t>      "imports": 1250.8500000000001,</a:t>
            </a:r>
          </a:p>
          <a:p xmlns:a="http://schemas.openxmlformats.org/drawingml/2006/main">
            <a:r>
              <a:t>      "base": 7094.794000000002,</a:t>
            </a:r>
          </a:p>
          <a:p xmlns:a="http://schemas.openxmlformats.org/drawingml/2006/main">
            <a:r>
              <a:t>      "newbill": 3567.397000000001,</a:t>
            </a:r>
          </a:p>
          <a:p xmlns:a="http://schemas.openxmlformats.org/drawingml/2006/main">
            <a:r>
              <a:t>      "saving": 3527.397000000001</a:t>
            </a:r>
          </a:p>
          <a:p xmlns:a="http://schemas.openxmlformats.org/drawingml/2006/main">
            <a:r>
              <a:t>    },</a:t>
            </a:r>
          </a:p>
          <a:p xmlns:a="http://schemas.openxmlformats.org/drawingml/2006/main">
            <a:r>
              <a:t>    {</a:t>
            </a:r>
          </a:p>
          <a:p xmlns:a="http://schemas.openxmlformats.org/drawingml/2006/main">
            <a:r>
              <a:t>      "month": "Apr",</a:t>
            </a:r>
          </a:p>
          <a:p xmlns:a="http://schemas.openxmlformats.org/drawingml/2006/main">
            <a:r>
              <a:t>      "days": 30,</a:t>
            </a:r>
          </a:p>
          <a:p xmlns:a="http://schemas.openxmlformats.org/drawingml/2006/main">
            <a:r>
              <a:t>      "G": 45.577,</a:t>
            </a:r>
          </a:p>
          <a:p xmlns:a="http://schemas.openxmlformats.org/drawingml/2006/main">
            <a:r>
              <a:t>      "direct": 40.35,</a:t>
            </a:r>
          </a:p>
          <a:p xmlns:a="http://schemas.openxmlformats.org/drawingml/2006/main">
            <a:r>
              <a:t>      "surplus": 5.226999999999997,</a:t>
            </a:r>
          </a:p>
          <a:p xmlns:a="http://schemas.openxmlformats.org/drawingml/2006/main">
            <a:r>
              <a:t>      "battery": 0,</a:t>
            </a:r>
          </a:p>
          <a:p xmlns:a="http://schemas.openxmlformats.org/drawingml/2006/main">
            <a:r>
              <a:t>      "imports": 1210.5,</a:t>
            </a:r>
          </a:p>
          <a:p xmlns:a="http://schemas.openxmlformats.org/drawingml/2006/main">
            <a:r>
              <a:t>      "base": 6867.22,</a:t>
            </a:r>
          </a:p>
          <a:p xmlns:a="http://schemas.openxmlformats.org/drawingml/2006/main">
            <a:r>
              <a:t>      "newbill": 3453.61,</a:t>
            </a:r>
          </a:p>
          <a:p xmlns:a="http://schemas.openxmlformats.org/drawingml/2006/main">
            <a:r>
              <a:t>      "saving": 3413.61</a:t>
            </a:r>
          </a:p>
          <a:p xmlns:a="http://schemas.openxmlformats.org/drawingml/2006/main">
            <a:r>
              <a:t>    },</a:t>
            </a:r>
          </a:p>
          <a:p xmlns:a="http://schemas.openxmlformats.org/drawingml/2006/main">
            <a:r>
              <a:t>    {</a:t>
            </a:r>
          </a:p>
          <a:p xmlns:a="http://schemas.openxmlformats.org/drawingml/2006/main">
            <a:r>
              <a:t>      "month": "May",</a:t>
            </a:r>
          </a:p>
          <a:p xmlns:a="http://schemas.openxmlformats.org/drawingml/2006/main">
            <a:r>
              <a:t>      "days": 31,</a:t>
            </a:r>
          </a:p>
          <a:p xmlns:a="http://schemas.openxmlformats.org/drawingml/2006/main">
            <a:r>
              <a:t>      "G": 44.61677419354839,</a:t>
            </a:r>
          </a:p>
          <a:p xmlns:a="http://schemas.openxmlformats.org/drawingml/2006/main">
            <a:r>
              <a:t>      "direct": 40.35,</a:t>
            </a:r>
          </a:p>
          <a:p xmlns:a="http://schemas.openxmlformats.org/drawingml/2006/main">
            <a:r>
              <a:t>      "surplus": 4.266774193548386,</a:t>
            </a:r>
          </a:p>
          <a:p xmlns:a="http://schemas.openxmlformats.org/drawingml/2006/main">
            <a:r>
              <a:t>      "battery": 0,</a:t>
            </a:r>
          </a:p>
          <a:p xmlns:a="http://schemas.openxmlformats.org/drawingml/2006/main">
            <a:r>
              <a:t>      "imports": 1250.8500000000001,</a:t>
            </a:r>
          </a:p>
          <a:p xmlns:a="http://schemas.openxmlformats.org/drawingml/2006/main">
            <a:r>
              <a:t>      "base": 7094.794000000002,</a:t>
            </a:r>
          </a:p>
          <a:p xmlns:a="http://schemas.openxmlformats.org/drawingml/2006/main">
            <a:r>
              <a:t>      "newbill": 3567.397000000001,</a:t>
            </a:r>
          </a:p>
          <a:p xmlns:a="http://schemas.openxmlformats.org/drawingml/2006/main">
            <a:r>
              <a:t>      "saving": 3527.397000000001</a:t>
            </a:r>
          </a:p>
          <a:p xmlns:a="http://schemas.openxmlformats.org/drawingml/2006/main">
            <a:r>
              <a:t>    },</a:t>
            </a:r>
          </a:p>
          <a:p xmlns:a="http://schemas.openxmlformats.org/drawingml/2006/main">
            <a:r>
              <a:t>    {</a:t>
            </a:r>
          </a:p>
          <a:p xmlns:a="http://schemas.openxmlformats.org/drawingml/2006/main">
            <a:r>
              <a:t>      "month": "Jun",</a:t>
            </a:r>
          </a:p>
          <a:p xmlns:a="http://schemas.openxmlformats.org/drawingml/2006/main">
            <a:r>
              <a:t>      "days": 30,</a:t>
            </a:r>
          </a:p>
          <a:p xmlns:a="http://schemas.openxmlformats.org/drawingml/2006/main">
            <a:r>
              <a:t>      "G": 44.94233333333334,</a:t>
            </a:r>
          </a:p>
          <a:p xmlns:a="http://schemas.openxmlformats.org/drawingml/2006/main">
            <a:r>
              <a:t>      "direct": 40.35,</a:t>
            </a:r>
          </a:p>
          <a:p xmlns:a="http://schemas.openxmlformats.org/drawingml/2006/main">
            <a:r>
              <a:t>      "surplus": 4.592333333333336,</a:t>
            </a:r>
          </a:p>
          <a:p xmlns:a="http://schemas.openxmlformats.org/drawingml/2006/main">
            <a:r>
              <a:t>      "battery": 0,</a:t>
            </a:r>
          </a:p>
          <a:p xmlns:a="http://schemas.openxmlformats.org/drawingml/2006/main">
            <a:r>
              <a:t>      "imports": 1210.5,</a:t>
            </a:r>
          </a:p>
          <a:p xmlns:a="http://schemas.openxmlformats.org/drawingml/2006/main">
            <a:r>
              <a:t>      "base": 6867.22,</a:t>
            </a:r>
          </a:p>
          <a:p xmlns:a="http://schemas.openxmlformats.org/drawingml/2006/main">
            <a:r>
              <a:t>      "newbill": 3453.61,</a:t>
            </a:r>
          </a:p>
          <a:p xmlns:a="http://schemas.openxmlformats.org/drawingml/2006/main">
            <a:r>
              <a:t>      "saving": 3413.61</a:t>
            </a:r>
          </a:p>
          <a:p xmlns:a="http://schemas.openxmlformats.org/drawingml/2006/main">
            <a:r>
              <a:t>    },</a:t>
            </a:r>
          </a:p>
          <a:p xmlns:a="http://schemas.openxmlformats.org/drawingml/2006/main">
            <a:r>
              <a:t>    {</a:t>
            </a:r>
          </a:p>
          <a:p xmlns:a="http://schemas.openxmlformats.org/drawingml/2006/main">
            <a:r>
              <a:t>      "month": "Jul",</a:t>
            </a:r>
          </a:p>
          <a:p xmlns:a="http://schemas.openxmlformats.org/drawingml/2006/main">
            <a:r>
              <a:t>      "days": 31,</a:t>
            </a:r>
          </a:p>
          <a:p xmlns:a="http://schemas.openxmlformats.org/drawingml/2006/main">
            <a:r>
              <a:t>      "G": 45.148709677419355,</a:t>
            </a:r>
          </a:p>
          <a:p xmlns:a="http://schemas.openxmlformats.org/drawingml/2006/main">
            <a:r>
              <a:t>      "direct": 40.35,</a:t>
            </a:r>
          </a:p>
          <a:p xmlns:a="http://schemas.openxmlformats.org/drawingml/2006/main">
            <a:r>
              <a:t>      "surplus": 4.798709677419353,</a:t>
            </a:r>
          </a:p>
          <a:p xmlns:a="http://schemas.openxmlformats.org/drawingml/2006/main">
            <a:r>
              <a:t>      "battery": 0,</a:t>
            </a:r>
          </a:p>
          <a:p xmlns:a="http://schemas.openxmlformats.org/drawingml/2006/main">
            <a:r>
              <a:t>      "imports": 1250.8500000000001,</a:t>
            </a:r>
          </a:p>
          <a:p xmlns:a="http://schemas.openxmlformats.org/drawingml/2006/main">
            <a:r>
              <a:t>      "base": 7094.794000000002,</a:t>
            </a:r>
          </a:p>
          <a:p xmlns:a="http://schemas.openxmlformats.org/drawingml/2006/main">
            <a:r>
              <a:t>      "newbill": 3567.397000000001,</a:t>
            </a:r>
          </a:p>
          <a:p xmlns:a="http://schemas.openxmlformats.org/drawingml/2006/main">
            <a:r>
              <a:t>      "saving": 3527.397000000001</a:t>
            </a:r>
          </a:p>
          <a:p xmlns:a="http://schemas.openxmlformats.org/drawingml/2006/main">
            <a:r>
              <a:t>    },</a:t>
            </a:r>
          </a:p>
          <a:p xmlns:a="http://schemas.openxmlformats.org/drawingml/2006/main">
            <a:r>
              <a:t>    {</a:t>
            </a:r>
          </a:p>
          <a:p xmlns:a="http://schemas.openxmlformats.org/drawingml/2006/main">
            <a:r>
              <a:t>      "month": "Aug",</a:t>
            </a:r>
          </a:p>
          <a:p xmlns:a="http://schemas.openxmlformats.org/drawingml/2006/main">
            <a:r>
              <a:t>      "days": 31,</a:t>
            </a:r>
          </a:p>
          <a:p xmlns:a="http://schemas.openxmlformats.org/drawingml/2006/main">
            <a:r>
              <a:t>      "G": 45.73548387096774,</a:t>
            </a:r>
          </a:p>
          <a:p xmlns:a="http://schemas.openxmlformats.org/drawingml/2006/main">
            <a:r>
              <a:t>      "direct": 40.35,</a:t>
            </a:r>
          </a:p>
          <a:p xmlns:a="http://schemas.openxmlformats.org/drawingml/2006/main">
            <a:r>
              <a:t>      "surplus": 5.3854838709677395,</a:t>
            </a:r>
          </a:p>
          <a:p xmlns:a="http://schemas.openxmlformats.org/drawingml/2006/main">
            <a:r>
              <a:t>      "battery": 0,</a:t>
            </a:r>
          </a:p>
          <a:p xmlns:a="http://schemas.openxmlformats.org/drawingml/2006/main">
            <a:r>
              <a:t>      "imports": 1250.8500000000001,</a:t>
            </a:r>
          </a:p>
          <a:p xmlns:a="http://schemas.openxmlformats.org/drawingml/2006/main">
            <a:r>
              <a:t>      "base": 7094.794000000002,</a:t>
            </a:r>
          </a:p>
          <a:p xmlns:a="http://schemas.openxmlformats.org/drawingml/2006/main">
            <a:r>
              <a:t>      "newbill": 3567.397000000001,</a:t>
            </a:r>
          </a:p>
          <a:p xmlns:a="http://schemas.openxmlformats.org/drawingml/2006/main">
            <a:r>
              <a:t>      "saving": 3527.397000000001</a:t>
            </a:r>
          </a:p>
          <a:p xmlns:a="http://schemas.openxmlformats.org/drawingml/2006/main">
            <a:r>
              <a:t>    },</a:t>
            </a:r>
          </a:p>
          <a:p xmlns:a="http://schemas.openxmlformats.org/drawingml/2006/main">
            <a:r>
              <a:t>    {</a:t>
            </a:r>
          </a:p>
          <a:p xmlns:a="http://schemas.openxmlformats.org/drawingml/2006/main">
            <a:r>
              <a:t>      "month": "Sep",</a:t>
            </a:r>
          </a:p>
          <a:p xmlns:a="http://schemas.openxmlformats.org/drawingml/2006/main">
            <a:r>
              <a:t>      "days": 30,</a:t>
            </a:r>
          </a:p>
          <a:p xmlns:a="http://schemas.openxmlformats.org/drawingml/2006/main">
            <a:r>
              <a:t>      "G": 45.61666666666666,</a:t>
            </a:r>
          </a:p>
          <a:p xmlns:a="http://schemas.openxmlformats.org/drawingml/2006/main">
            <a:r>
              <a:t>      "direct": 40.35,</a:t>
            </a:r>
          </a:p>
          <a:p xmlns:a="http://schemas.openxmlformats.org/drawingml/2006/main">
            <a:r>
              <a:t>      "surplus": 5.266666666666659,</a:t>
            </a:r>
          </a:p>
          <a:p xmlns:a="http://schemas.openxmlformats.org/drawingml/2006/main">
            <a:r>
              <a:t>      "battery": 0,</a:t>
            </a:r>
          </a:p>
          <a:p xmlns:a="http://schemas.openxmlformats.org/drawingml/2006/main">
            <a:r>
              <a:t>      "imports": 1210.5,</a:t>
            </a:r>
          </a:p>
          <a:p xmlns:a="http://schemas.openxmlformats.org/drawingml/2006/main">
            <a:r>
              <a:t>      "base": 6867.22,</a:t>
            </a:r>
          </a:p>
          <a:p xmlns:a="http://schemas.openxmlformats.org/drawingml/2006/main">
            <a:r>
              <a:t>      "newbill": 3453.61,</a:t>
            </a:r>
          </a:p>
          <a:p xmlns:a="http://schemas.openxmlformats.org/drawingml/2006/main">
            <a:r>
              <a:t>      "saving": 3413.61</a:t>
            </a:r>
          </a:p>
          <a:p xmlns:a="http://schemas.openxmlformats.org/drawingml/2006/main">
            <a:r>
              <a:t>    },</a:t>
            </a:r>
          </a:p>
          <a:p xmlns:a="http://schemas.openxmlformats.org/drawingml/2006/main">
            <a:r>
              <a:t>    {</a:t>
            </a:r>
          </a:p>
          <a:p xmlns:a="http://schemas.openxmlformats.org/drawingml/2006/main">
            <a:r>
              <a:t>      "month": "Oct",</a:t>
            </a:r>
          </a:p>
          <a:p xmlns:a="http://schemas.openxmlformats.org/drawingml/2006/main">
            <a:r>
              <a:t>      "days": 31,</a:t>
            </a:r>
          </a:p>
          <a:p xmlns:a="http://schemas.openxmlformats.org/drawingml/2006/main">
            <a:r>
              <a:t>      "G": 42.37112903225807,</a:t>
            </a:r>
          </a:p>
          <a:p xmlns:a="http://schemas.openxmlformats.org/drawingml/2006/main">
            <a:r>
              <a:t>      "direct": 40.35,</a:t>
            </a:r>
          </a:p>
          <a:p xmlns:a="http://schemas.openxmlformats.org/drawingml/2006/main">
            <a:r>
              <a:t>      "surplus": 2.0211290322580666,</a:t>
            </a:r>
          </a:p>
          <a:p xmlns:a="http://schemas.openxmlformats.org/drawingml/2006/main">
            <a:r>
              <a:t>      "battery": 0,</a:t>
            </a:r>
          </a:p>
          <a:p xmlns:a="http://schemas.openxmlformats.org/drawingml/2006/main">
            <a:r>
              <a:t>      "imports": 1250.8500000000001,</a:t>
            </a:r>
          </a:p>
          <a:p xmlns:a="http://schemas.openxmlformats.org/drawingml/2006/main">
            <a:r>
              <a:t>      "base": 7094.794000000002,</a:t>
            </a:r>
          </a:p>
          <a:p xmlns:a="http://schemas.openxmlformats.org/drawingml/2006/main">
            <a:r>
              <a:t>      "newbill": 3567.397000000001,</a:t>
            </a:r>
          </a:p>
          <a:p xmlns:a="http://schemas.openxmlformats.org/drawingml/2006/main">
            <a:r>
              <a:t>      "saving": 3527.397000000001</a:t>
            </a:r>
          </a:p>
          <a:p xmlns:a="http://schemas.openxmlformats.org/drawingml/2006/main">
            <a:r>
              <a:t>    },</a:t>
            </a:r>
          </a:p>
          <a:p xmlns:a="http://schemas.openxmlformats.org/drawingml/2006/main">
            <a:r>
              <a:t>    {</a:t>
            </a:r>
          </a:p>
          <a:p xmlns:a="http://schemas.openxmlformats.org/drawingml/2006/main">
            <a:r>
              <a:t>      "month": "Nov",</a:t>
            </a:r>
          </a:p>
          <a:p xmlns:a="http://schemas.openxmlformats.org/drawingml/2006/main">
            <a:r>
              <a:t>      "days": 30,</a:t>
            </a:r>
          </a:p>
          <a:p xmlns:a="http://schemas.openxmlformats.org/drawingml/2006/main">
            <a:r>
              <a:t>      "G": 38.80816666666667,</a:t>
            </a:r>
          </a:p>
          <a:p xmlns:a="http://schemas.openxmlformats.org/drawingml/2006/main">
            <a:r>
              <a:t>      "direct": 38.80816666666667,</a:t>
            </a:r>
          </a:p>
          <a:p xmlns:a="http://schemas.openxmlformats.org/drawingml/2006/main">
            <a:r>
              <a:t>      "surplus": 0,</a:t>
            </a:r>
          </a:p>
          <a:p xmlns:a="http://schemas.openxmlformats.org/drawingml/2006/main">
            <a:r>
              <a:t>      "battery": 0,</a:t>
            </a:r>
          </a:p>
          <a:p xmlns:a="http://schemas.openxmlformats.org/drawingml/2006/main">
            <a:r>
              <a:t>      "imports": 1256.7549999999999,</a:t>
            </a:r>
          </a:p>
          <a:p xmlns:a="http://schemas.openxmlformats.org/drawingml/2006/main">
            <a:r>
              <a:t>      "base": 6867.22,</a:t>
            </a:r>
          </a:p>
          <a:p xmlns:a="http://schemas.openxmlformats.org/drawingml/2006/main">
            <a:r>
              <a:t>      "newbill": 3584.0490999999997,</a:t>
            </a:r>
          </a:p>
          <a:p xmlns:a="http://schemas.openxmlformats.org/drawingml/2006/main">
            <a:r>
              <a:t>      "saving": 3283.1709000000005</a:t>
            </a:r>
          </a:p>
          <a:p xmlns:a="http://schemas.openxmlformats.org/drawingml/2006/main">
            <a:r>
              <a:t>    },</a:t>
            </a:r>
          </a:p>
          <a:p xmlns:a="http://schemas.openxmlformats.org/drawingml/2006/main">
            <a:r>
              <a:t>    {</a:t>
            </a:r>
          </a:p>
          <a:p xmlns:a="http://schemas.openxmlformats.org/drawingml/2006/main">
            <a:r>
              <a:t>      "month": "Dec",</a:t>
            </a:r>
          </a:p>
          <a:p xmlns:a="http://schemas.openxmlformats.org/drawingml/2006/main">
            <a:r>
              <a:t>      "days": 31,</a:t>
            </a:r>
          </a:p>
          <a:p xmlns:a="http://schemas.openxmlformats.org/drawingml/2006/main">
            <a:r>
              <a:t>      "G": 35.75483870967742,</a:t>
            </a:r>
          </a:p>
          <a:p xmlns:a="http://schemas.openxmlformats.org/drawingml/2006/main">
            <a:r>
              <a:t>      "direct": 35.75483870967742,</a:t>
            </a:r>
          </a:p>
          <a:p xmlns:a="http://schemas.openxmlformats.org/drawingml/2006/main">
            <a:r>
              <a:t>      "surplus": 0,</a:t>
            </a:r>
          </a:p>
          <a:p xmlns:a="http://schemas.openxmlformats.org/drawingml/2006/main">
            <a:r>
              <a:t>      "battery": 0,</a:t>
            </a:r>
          </a:p>
          <a:p xmlns:a="http://schemas.openxmlformats.org/drawingml/2006/main">
            <a:r>
              <a:t>      "imports": 1393.3,</a:t>
            </a:r>
          </a:p>
          <a:p xmlns:a="http://schemas.openxmlformats.org/drawingml/2006/main">
            <a:r>
              <a:t>      "base": 7094.794000000002,</a:t>
            </a:r>
          </a:p>
          <a:p xmlns:a="http://schemas.openxmlformats.org/drawingml/2006/main">
            <a:r>
              <a:t>      "newbill": 3969.1059999999998,</a:t>
            </a:r>
          </a:p>
          <a:p xmlns:a="http://schemas.openxmlformats.org/drawingml/2006/main">
            <a:r>
              <a:t>      "saving": 3125.688000000002</a:t>
            </a:r>
          </a:p>
          <a:p xmlns:a="http://schemas.openxmlformats.org/drawingml/2006/main">
            <a:r>
              <a:t>    }</a:t>
            </a:r>
          </a:p>
          <a:p xmlns:a="http://schemas.openxmlformats.org/drawingml/2006/main">
            <a:r>
              <a:t>  ],</a:t>
            </a:r>
          </a:p>
          <a:p xmlns:a="http://schemas.openxmlformats.org/drawingml/2006/main">
            <a:r>
              <a:t>  "annualSaving": 40536.85140000001,</a:t>
            </a:r>
          </a:p>
          <a:p xmlns:a="http://schemas.openxmlformats.org/drawingml/2006/main">
            <a:r>
              <a:t>  "averageSaving": 3378.0709500000007,</a:t>
            </a:r>
          </a:p>
          <a:p xmlns:a="http://schemas.openxmlformats.org/drawingml/2006/main">
            <a:r>
              <a:t>  "payback": 3.4733827403279767,</a:t>
            </a:r>
          </a:p>
          <a:p xmlns:a="http://schemas.openxmlformats.org/drawingml/2006/main">
            <a:r>
              <a:t>  "annualImports": 15080.73</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Same assumptions and calculation basis as El_Mo3alem_Juice_Shop_Solar_BESS.pptx, reviewed 30 Sep 2026. Baseline80.7 kWh/day,50/50,PV mean4.98,DoD80%,storage efficiency95% applied once at output. Prices are historical selling-price assumptions. Battery220 EUR/kWh*62EGP/EUR=13640EGP/kWh from Home_Storage slide15. Tariff source https://www.egyptera.org/en/TarrifApril2026.aspx . PV source JRC PVGIS5.3: https://re.jrc.ec.europa.eu/api/v5_3/PVcalc?lat=30.0444&amp;lon=31.2357&amp;peakpower=1&amp;loss=14&amp;angle=30&amp;aspect=0&amp;pvtechchoice=crystSi&amp;mountingplace=free&amp;outputformat=json . SARAH3/ERA5 2005–2023. 30degree south-facing free-standing crystalline silicon,14% entered PV loss. Solar-only charging, zero export value. No maintenance, insurance, finance, replacement, degradation or price escalation. Annual3EGP stamp excluded equally. Monthly-average days rather than hourly dispatch, daily demand constant over365days. Unrounded values used, display rounding may differ. Billing-period30days assumed. Inverter and roof sizing provisional. Warranty10years,6000cycles@80%DoD from original source.</a:t>
            </a:r>
          </a:p>
          <a:p xmlns:a="http://schemas.openxmlformats.org/drawingml/2006/main">
            <a:r>
              <a:t>{</a:t>
            </a:r>
          </a:p>
          <a:p xmlns:a="http://schemas.openxmlformats.org/drawingml/2006/main">
            <a:r>
              <a:t>  "option": "A",</a:t>
            </a:r>
          </a:p>
          <a:p xmlns:a="http://schemas.openxmlformats.org/drawingml/2006/main">
            <a:r>
              <a:t>  "C": 0,</a:t>
            </a:r>
          </a:p>
          <a:p xmlns:a="http://schemas.openxmlformats.org/drawingml/2006/main">
            <a:r>
              <a:t>  "P": 8.5,</a:t>
            </a:r>
          </a:p>
          <a:p xmlns:a="http://schemas.openxmlformats.org/drawingml/2006/main">
            <a:r>
              <a:t>  "inv": 10,</a:t>
            </a:r>
          </a:p>
          <a:p xmlns:a="http://schemas.openxmlformats.org/drawingml/2006/main">
            <a:r>
              <a:t>  "price": 140800,</a:t>
            </a:r>
          </a:p>
          <a:p xmlns:a="http://schemas.openxmlformats.org/drawingml/2006/main">
            <a:r>
              <a:t>  "reference": {</a:t>
            </a:r>
          </a:p>
          <a:p xmlns:a="http://schemas.openxmlformats.org/drawingml/2006/main">
            <a:r>
              <a:t>    "G": 42.330000000000005,</a:t>
            </a:r>
          </a:p>
          <a:p xmlns:a="http://schemas.openxmlformats.org/drawingml/2006/main">
            <a:r>
              <a:t>    "direct": 40.35,</a:t>
            </a:r>
          </a:p>
          <a:p xmlns:a="http://schemas.openxmlformats.org/drawingml/2006/main">
            <a:r>
              <a:t>    "surplus": 1.980000000000004,</a:t>
            </a:r>
          </a:p>
          <a:p xmlns:a="http://schemas.openxmlformats.org/drawingml/2006/main">
            <a:r>
              <a:t>    "battery": 0,</a:t>
            </a:r>
          </a:p>
          <a:p xmlns:a="http://schemas.openxmlformats.org/drawingml/2006/main">
            <a:r>
              <a:t>    "imports": 1210.5,</a:t>
            </a:r>
          </a:p>
          <a:p xmlns:a="http://schemas.openxmlformats.org/drawingml/2006/main">
            <a:r>
              <a:t>    "base": 6867.22,</a:t>
            </a:r>
          </a:p>
          <a:p xmlns:a="http://schemas.openxmlformats.org/drawingml/2006/main">
            <a:r>
              <a:t>    "newbill": 3453.61,</a:t>
            </a:r>
          </a:p>
          <a:p xmlns:a="http://schemas.openxmlformats.org/drawingml/2006/main">
            <a:r>
              <a:t>    "saving": 3413.61</a:t>
            </a:r>
          </a:p>
          <a:p xmlns:a="http://schemas.openxmlformats.org/drawingml/2006/main">
            <a:r>
              <a:t>  },</a:t>
            </a:r>
          </a:p>
          <a:p xmlns:a="http://schemas.openxmlformats.org/drawingml/2006/main">
            <a:r>
              <a:t>  "monthly": [</a:t>
            </a:r>
          </a:p>
          <a:p xmlns:a="http://schemas.openxmlformats.org/drawingml/2006/main">
            <a:r>
              <a:t>    {</a:t>
            </a:r>
          </a:p>
          <a:p xmlns:a="http://schemas.openxmlformats.org/drawingml/2006/main">
            <a:r>
              <a:t>      "month": "Jan",</a:t>
            </a:r>
          </a:p>
          <a:p xmlns:a="http://schemas.openxmlformats.org/drawingml/2006/main">
            <a:r>
              <a:t>      "days": 31,</a:t>
            </a:r>
          </a:p>
          <a:p xmlns:a="http://schemas.openxmlformats.org/drawingml/2006/main">
            <a:r>
              <a:t>      "G": 36.00161290322581,</a:t>
            </a:r>
          </a:p>
          <a:p xmlns:a="http://schemas.openxmlformats.org/drawingml/2006/main">
            <a:r>
              <a:t>      "direct": 36.00161290322581,</a:t>
            </a:r>
          </a:p>
          <a:p xmlns:a="http://schemas.openxmlformats.org/drawingml/2006/main">
            <a:r>
              <a:t>      "surplus": 0,</a:t>
            </a:r>
          </a:p>
          <a:p xmlns:a="http://schemas.openxmlformats.org/drawingml/2006/main">
            <a:r>
              <a:t>      "battery": 0,</a:t>
            </a:r>
          </a:p>
          <a:p xmlns:a="http://schemas.openxmlformats.org/drawingml/2006/main">
            <a:r>
              <a:t>      "imports": 1385.6499999999999,</a:t>
            </a:r>
          </a:p>
          <a:p xmlns:a="http://schemas.openxmlformats.org/drawingml/2006/main">
            <a:r>
              <a:t>      "base": 7094.794000000002,</a:t>
            </a:r>
          </a:p>
          <a:p xmlns:a="http://schemas.openxmlformats.org/drawingml/2006/main">
            <a:r>
              <a:t>      "newbill": 3947.533,</a:t>
            </a:r>
          </a:p>
          <a:p xmlns:a="http://schemas.openxmlformats.org/drawingml/2006/main">
            <a:r>
              <a:t>      "saving": 3147.261000000002</a:t>
            </a:r>
          </a:p>
          <a:p xmlns:a="http://schemas.openxmlformats.org/drawingml/2006/main">
            <a:r>
              <a:t>    },</a:t>
            </a:r>
          </a:p>
          <a:p xmlns:a="http://schemas.openxmlformats.org/drawingml/2006/main">
            <a:r>
              <a:t>    {</a:t>
            </a:r>
          </a:p>
          <a:p xmlns:a="http://schemas.openxmlformats.org/drawingml/2006/main">
            <a:r>
              <a:t>      "month": "Feb",</a:t>
            </a:r>
          </a:p>
          <a:p xmlns:a="http://schemas.openxmlformats.org/drawingml/2006/main">
            <a:r>
              <a:t>      "days": 28,</a:t>
            </a:r>
          </a:p>
          <a:p xmlns:a="http://schemas.openxmlformats.org/drawingml/2006/main">
            <a:r>
              <a:t>      "G": 39.29732142857142,</a:t>
            </a:r>
          </a:p>
          <a:p xmlns:a="http://schemas.openxmlformats.org/drawingml/2006/main">
            <a:r>
              <a:t>      "direct": 39.29732142857142,</a:t>
            </a:r>
          </a:p>
          <a:p xmlns:a="http://schemas.openxmlformats.org/drawingml/2006/main">
            <a:r>
              <a:t>      "surplus": 0,</a:t>
            </a:r>
          </a:p>
          <a:p xmlns:a="http://schemas.openxmlformats.org/drawingml/2006/main">
            <a:r>
              <a:t>      "battery": 0,</a:t>
            </a:r>
          </a:p>
          <a:p xmlns:a="http://schemas.openxmlformats.org/drawingml/2006/main">
            <a:r>
              <a:t>      "imports": 1159.2750000000003,</a:t>
            </a:r>
          </a:p>
          <a:p xmlns:a="http://schemas.openxmlformats.org/drawingml/2006/main">
            <a:r>
              <a:t>      "base": 6412.071999999999,</a:t>
            </a:r>
          </a:p>
          <a:p xmlns:a="http://schemas.openxmlformats.org/drawingml/2006/main">
            <a:r>
              <a:t>      "newbill": 3309.1555000000008,</a:t>
            </a:r>
          </a:p>
          <a:p xmlns:a="http://schemas.openxmlformats.org/drawingml/2006/main">
            <a:r>
              <a:t>      "saving": 3102.9164999999985</a:t>
            </a:r>
          </a:p>
          <a:p xmlns:a="http://schemas.openxmlformats.org/drawingml/2006/main">
            <a:r>
              <a:t>    },</a:t>
            </a:r>
          </a:p>
          <a:p xmlns:a="http://schemas.openxmlformats.org/drawingml/2006/main">
            <a:r>
              <a:t>    {</a:t>
            </a:r>
          </a:p>
          <a:p xmlns:a="http://schemas.openxmlformats.org/drawingml/2006/main">
            <a:r>
              <a:t>      "month": "Mar",</a:t>
            </a:r>
          </a:p>
          <a:p xmlns:a="http://schemas.openxmlformats.org/drawingml/2006/main">
            <a:r>
              <a:t>      "days": 31,</a:t>
            </a:r>
          </a:p>
          <a:p xmlns:a="http://schemas.openxmlformats.org/drawingml/2006/main">
            <a:r>
              <a:t>      "G": 44.1616129032258,</a:t>
            </a:r>
          </a:p>
          <a:p xmlns:a="http://schemas.openxmlformats.org/drawingml/2006/main">
            <a:r>
              <a:t>      "direct": 40.35,</a:t>
            </a:r>
          </a:p>
          <a:p xmlns:a="http://schemas.openxmlformats.org/drawingml/2006/main">
            <a:r>
              <a:t>      "surplus": 3.8116129032258,</a:t>
            </a:r>
          </a:p>
          <a:p xmlns:a="http://schemas.openxmlformats.org/drawingml/2006/main">
            <a:r>
              <a:t>      "battery": 0,</a:t>
            </a:r>
          </a:p>
          <a:p xmlns:a="http://schemas.openxmlformats.org/drawingml/2006/main">
            <a:r>
              <a:t>      "imports": 1250.8500000000001,</a:t>
            </a:r>
          </a:p>
          <a:p xmlns:a="http://schemas.openxmlformats.org/drawingml/2006/main">
            <a:r>
              <a:t>      "base": 7094.794000000002,</a:t>
            </a:r>
          </a:p>
          <a:p xmlns:a="http://schemas.openxmlformats.org/drawingml/2006/main">
            <a:r>
              <a:t>      "newbill": 3567.397000000001,</a:t>
            </a:r>
          </a:p>
          <a:p xmlns:a="http://schemas.openxmlformats.org/drawingml/2006/main">
            <a:r>
              <a:t>      "saving": 3527.397000000001</a:t>
            </a:r>
          </a:p>
          <a:p xmlns:a="http://schemas.openxmlformats.org/drawingml/2006/main">
            <a:r>
              <a:t>    },</a:t>
            </a:r>
          </a:p>
          <a:p xmlns:a="http://schemas.openxmlformats.org/drawingml/2006/main">
            <a:r>
              <a:t>    {</a:t>
            </a:r>
          </a:p>
          <a:p xmlns:a="http://schemas.openxmlformats.org/drawingml/2006/main">
            <a:r>
              <a:t>      "month": "Apr",</a:t>
            </a:r>
          </a:p>
          <a:p xmlns:a="http://schemas.openxmlformats.org/drawingml/2006/main">
            <a:r>
              <a:t>      "days": 30,</a:t>
            </a:r>
          </a:p>
          <a:p xmlns:a="http://schemas.openxmlformats.org/drawingml/2006/main">
            <a:r>
              <a:t>      "G": 45.577,</a:t>
            </a:r>
          </a:p>
          <a:p xmlns:a="http://schemas.openxmlformats.org/drawingml/2006/main">
            <a:r>
              <a:t>      "direct": 40.35,</a:t>
            </a:r>
          </a:p>
          <a:p xmlns:a="http://schemas.openxmlformats.org/drawingml/2006/main">
            <a:r>
              <a:t>      "surplus": 5.226999999999997,</a:t>
            </a:r>
          </a:p>
          <a:p xmlns:a="http://schemas.openxmlformats.org/drawingml/2006/main">
            <a:r>
              <a:t>      "battery": 0,</a:t>
            </a:r>
          </a:p>
          <a:p xmlns:a="http://schemas.openxmlformats.org/drawingml/2006/main">
            <a:r>
              <a:t>      "imports": 1210.5,</a:t>
            </a:r>
          </a:p>
          <a:p xmlns:a="http://schemas.openxmlformats.org/drawingml/2006/main">
            <a:r>
              <a:t>      "base": 6867.22,</a:t>
            </a:r>
          </a:p>
          <a:p xmlns:a="http://schemas.openxmlformats.org/drawingml/2006/main">
            <a:r>
              <a:t>      "newbill": 3453.61,</a:t>
            </a:r>
          </a:p>
          <a:p xmlns:a="http://schemas.openxmlformats.org/drawingml/2006/main">
            <a:r>
              <a:t>      "saving": 3413.61</a:t>
            </a:r>
          </a:p>
          <a:p xmlns:a="http://schemas.openxmlformats.org/drawingml/2006/main">
            <a:r>
              <a:t>    },</a:t>
            </a:r>
          </a:p>
          <a:p xmlns:a="http://schemas.openxmlformats.org/drawingml/2006/main">
            <a:r>
              <a:t>    {</a:t>
            </a:r>
          </a:p>
          <a:p xmlns:a="http://schemas.openxmlformats.org/drawingml/2006/main">
            <a:r>
              <a:t>      "month": "May",</a:t>
            </a:r>
          </a:p>
          <a:p xmlns:a="http://schemas.openxmlformats.org/drawingml/2006/main">
            <a:r>
              <a:t>      "days": 31,</a:t>
            </a:r>
          </a:p>
          <a:p xmlns:a="http://schemas.openxmlformats.org/drawingml/2006/main">
            <a:r>
              <a:t>      "G": 44.61677419354839,</a:t>
            </a:r>
          </a:p>
          <a:p xmlns:a="http://schemas.openxmlformats.org/drawingml/2006/main">
            <a:r>
              <a:t>      "direct": 40.35,</a:t>
            </a:r>
          </a:p>
          <a:p xmlns:a="http://schemas.openxmlformats.org/drawingml/2006/main">
            <a:r>
              <a:t>      "surplus": 4.266774193548386,</a:t>
            </a:r>
          </a:p>
          <a:p xmlns:a="http://schemas.openxmlformats.org/drawingml/2006/main">
            <a:r>
              <a:t>      "battery": 0,</a:t>
            </a:r>
          </a:p>
          <a:p xmlns:a="http://schemas.openxmlformats.org/drawingml/2006/main">
            <a:r>
              <a:t>      "imports": 1250.8500000000001,</a:t>
            </a:r>
          </a:p>
          <a:p xmlns:a="http://schemas.openxmlformats.org/drawingml/2006/main">
            <a:r>
              <a:t>      "base": 7094.794000000002,</a:t>
            </a:r>
          </a:p>
          <a:p xmlns:a="http://schemas.openxmlformats.org/drawingml/2006/main">
            <a:r>
              <a:t>      "newbill": 3567.397000000001,</a:t>
            </a:r>
          </a:p>
          <a:p xmlns:a="http://schemas.openxmlformats.org/drawingml/2006/main">
            <a:r>
              <a:t>      "saving": 3527.397000000001</a:t>
            </a:r>
          </a:p>
          <a:p xmlns:a="http://schemas.openxmlformats.org/drawingml/2006/main">
            <a:r>
              <a:t>    },</a:t>
            </a:r>
          </a:p>
          <a:p xmlns:a="http://schemas.openxmlformats.org/drawingml/2006/main">
            <a:r>
              <a:t>    {</a:t>
            </a:r>
          </a:p>
          <a:p xmlns:a="http://schemas.openxmlformats.org/drawingml/2006/main">
            <a:r>
              <a:t>      "month": "Jun",</a:t>
            </a:r>
          </a:p>
          <a:p xmlns:a="http://schemas.openxmlformats.org/drawingml/2006/main">
            <a:r>
              <a:t>      "days": 30,</a:t>
            </a:r>
          </a:p>
          <a:p xmlns:a="http://schemas.openxmlformats.org/drawingml/2006/main">
            <a:r>
              <a:t>      "G": 44.94233333333334,</a:t>
            </a:r>
          </a:p>
          <a:p xmlns:a="http://schemas.openxmlformats.org/drawingml/2006/main">
            <a:r>
              <a:t>      "direct": 40.35,</a:t>
            </a:r>
          </a:p>
          <a:p xmlns:a="http://schemas.openxmlformats.org/drawingml/2006/main">
            <a:r>
              <a:t>      "surplus": 4.592333333333336,</a:t>
            </a:r>
          </a:p>
          <a:p xmlns:a="http://schemas.openxmlformats.org/drawingml/2006/main">
            <a:r>
              <a:t>      "battery": 0,</a:t>
            </a:r>
          </a:p>
          <a:p xmlns:a="http://schemas.openxmlformats.org/drawingml/2006/main">
            <a:r>
              <a:t>      "imports": 1210.5,</a:t>
            </a:r>
          </a:p>
          <a:p xmlns:a="http://schemas.openxmlformats.org/drawingml/2006/main">
            <a:r>
              <a:t>      "base": 6867.22,</a:t>
            </a:r>
          </a:p>
          <a:p xmlns:a="http://schemas.openxmlformats.org/drawingml/2006/main">
            <a:r>
              <a:t>      "newbill": 3453.61,</a:t>
            </a:r>
          </a:p>
          <a:p xmlns:a="http://schemas.openxmlformats.org/drawingml/2006/main">
            <a:r>
              <a:t>      "saving": 3413.61</a:t>
            </a:r>
          </a:p>
          <a:p xmlns:a="http://schemas.openxmlformats.org/drawingml/2006/main">
            <a:r>
              <a:t>    },</a:t>
            </a:r>
          </a:p>
          <a:p xmlns:a="http://schemas.openxmlformats.org/drawingml/2006/main">
            <a:r>
              <a:t>    {</a:t>
            </a:r>
          </a:p>
          <a:p xmlns:a="http://schemas.openxmlformats.org/drawingml/2006/main">
            <a:r>
              <a:t>      "month": "Jul",</a:t>
            </a:r>
          </a:p>
          <a:p xmlns:a="http://schemas.openxmlformats.org/drawingml/2006/main">
            <a:r>
              <a:t>      "days": 31,</a:t>
            </a:r>
          </a:p>
          <a:p xmlns:a="http://schemas.openxmlformats.org/drawingml/2006/main">
            <a:r>
              <a:t>      "G": 45.148709677419355,</a:t>
            </a:r>
          </a:p>
          <a:p xmlns:a="http://schemas.openxmlformats.org/drawingml/2006/main">
            <a:r>
              <a:t>      "direct": 40.35,</a:t>
            </a:r>
          </a:p>
          <a:p xmlns:a="http://schemas.openxmlformats.org/drawingml/2006/main">
            <a:r>
              <a:t>      "surplus": 4.798709677419353,</a:t>
            </a:r>
          </a:p>
          <a:p xmlns:a="http://schemas.openxmlformats.org/drawingml/2006/main">
            <a:r>
              <a:t>      "battery": 0,</a:t>
            </a:r>
          </a:p>
          <a:p xmlns:a="http://schemas.openxmlformats.org/drawingml/2006/main">
            <a:r>
              <a:t>      "imports": 1250.8500000000001,</a:t>
            </a:r>
          </a:p>
          <a:p xmlns:a="http://schemas.openxmlformats.org/drawingml/2006/main">
            <a:r>
              <a:t>      "base": 7094.794000000002,</a:t>
            </a:r>
          </a:p>
          <a:p xmlns:a="http://schemas.openxmlformats.org/drawingml/2006/main">
            <a:r>
              <a:t>      "newbill": 3567.397000000001,</a:t>
            </a:r>
          </a:p>
          <a:p xmlns:a="http://schemas.openxmlformats.org/drawingml/2006/main">
            <a:r>
              <a:t>      "saving": 3527.397000000001</a:t>
            </a:r>
          </a:p>
          <a:p xmlns:a="http://schemas.openxmlformats.org/drawingml/2006/main">
            <a:r>
              <a:t>    },</a:t>
            </a:r>
          </a:p>
          <a:p xmlns:a="http://schemas.openxmlformats.org/drawingml/2006/main">
            <a:r>
              <a:t>    {</a:t>
            </a:r>
          </a:p>
          <a:p xmlns:a="http://schemas.openxmlformats.org/drawingml/2006/main">
            <a:r>
              <a:t>      "month": "Aug",</a:t>
            </a:r>
          </a:p>
          <a:p xmlns:a="http://schemas.openxmlformats.org/drawingml/2006/main">
            <a:r>
              <a:t>      "days": 31,</a:t>
            </a:r>
          </a:p>
          <a:p xmlns:a="http://schemas.openxmlformats.org/drawingml/2006/main">
            <a:r>
              <a:t>      "G": 45.73548387096774,</a:t>
            </a:r>
          </a:p>
          <a:p xmlns:a="http://schemas.openxmlformats.org/drawingml/2006/main">
            <a:r>
              <a:t>      "direct": 40.35,</a:t>
            </a:r>
          </a:p>
          <a:p xmlns:a="http://schemas.openxmlformats.org/drawingml/2006/main">
            <a:r>
              <a:t>      "surplus": 5.3854838709677395,</a:t>
            </a:r>
          </a:p>
          <a:p xmlns:a="http://schemas.openxmlformats.org/drawingml/2006/main">
            <a:r>
              <a:t>      "battery": 0,</a:t>
            </a:r>
          </a:p>
          <a:p xmlns:a="http://schemas.openxmlformats.org/drawingml/2006/main">
            <a:r>
              <a:t>      "imports": 1250.8500000000001,</a:t>
            </a:r>
          </a:p>
          <a:p xmlns:a="http://schemas.openxmlformats.org/drawingml/2006/main">
            <a:r>
              <a:t>      "base": 7094.794000000002,</a:t>
            </a:r>
          </a:p>
          <a:p xmlns:a="http://schemas.openxmlformats.org/drawingml/2006/main">
            <a:r>
              <a:t>      "newbill": 3567.397000000001,</a:t>
            </a:r>
          </a:p>
          <a:p xmlns:a="http://schemas.openxmlformats.org/drawingml/2006/main">
            <a:r>
              <a:t>      "saving": 3527.397000000001</a:t>
            </a:r>
          </a:p>
          <a:p xmlns:a="http://schemas.openxmlformats.org/drawingml/2006/main">
            <a:r>
              <a:t>    },</a:t>
            </a:r>
          </a:p>
          <a:p xmlns:a="http://schemas.openxmlformats.org/drawingml/2006/main">
            <a:r>
              <a:t>    {</a:t>
            </a:r>
          </a:p>
          <a:p xmlns:a="http://schemas.openxmlformats.org/drawingml/2006/main">
            <a:r>
              <a:t>      "month": "Sep",</a:t>
            </a:r>
          </a:p>
          <a:p xmlns:a="http://schemas.openxmlformats.org/drawingml/2006/main">
            <a:r>
              <a:t>      "days": 30,</a:t>
            </a:r>
          </a:p>
          <a:p xmlns:a="http://schemas.openxmlformats.org/drawingml/2006/main">
            <a:r>
              <a:t>      "G": 45.61666666666666,</a:t>
            </a:r>
          </a:p>
          <a:p xmlns:a="http://schemas.openxmlformats.org/drawingml/2006/main">
            <a:r>
              <a:t>      "direct": 40.35,</a:t>
            </a:r>
          </a:p>
          <a:p xmlns:a="http://schemas.openxmlformats.org/drawingml/2006/main">
            <a:r>
              <a:t>      "surplus": 5.266666666666659,</a:t>
            </a:r>
          </a:p>
          <a:p xmlns:a="http://schemas.openxmlformats.org/drawingml/2006/main">
            <a:r>
              <a:t>      "battery": 0,</a:t>
            </a:r>
          </a:p>
          <a:p xmlns:a="http://schemas.openxmlformats.org/drawingml/2006/main">
            <a:r>
              <a:t>      "imports": 1210.5,</a:t>
            </a:r>
          </a:p>
          <a:p xmlns:a="http://schemas.openxmlformats.org/drawingml/2006/main">
            <a:r>
              <a:t>      "base": 6867.22,</a:t>
            </a:r>
          </a:p>
          <a:p xmlns:a="http://schemas.openxmlformats.org/drawingml/2006/main">
            <a:r>
              <a:t>      "newbill": 3453.61,</a:t>
            </a:r>
          </a:p>
          <a:p xmlns:a="http://schemas.openxmlformats.org/drawingml/2006/main">
            <a:r>
              <a:t>      "saving": 3413.61</a:t>
            </a:r>
          </a:p>
          <a:p xmlns:a="http://schemas.openxmlformats.org/drawingml/2006/main">
            <a:r>
              <a:t>    },</a:t>
            </a:r>
          </a:p>
          <a:p xmlns:a="http://schemas.openxmlformats.org/drawingml/2006/main">
            <a:r>
              <a:t>    {</a:t>
            </a:r>
          </a:p>
          <a:p xmlns:a="http://schemas.openxmlformats.org/drawingml/2006/main">
            <a:r>
              <a:t>      "month": "Oct",</a:t>
            </a:r>
          </a:p>
          <a:p xmlns:a="http://schemas.openxmlformats.org/drawingml/2006/main">
            <a:r>
              <a:t>      "days": 31,</a:t>
            </a:r>
          </a:p>
          <a:p xmlns:a="http://schemas.openxmlformats.org/drawingml/2006/main">
            <a:r>
              <a:t>      "G": 42.37112903225807,</a:t>
            </a:r>
          </a:p>
          <a:p xmlns:a="http://schemas.openxmlformats.org/drawingml/2006/main">
            <a:r>
              <a:t>      "direct": 40.35,</a:t>
            </a:r>
          </a:p>
          <a:p xmlns:a="http://schemas.openxmlformats.org/drawingml/2006/main">
            <a:r>
              <a:t>      "surplus": 2.0211290322580666,</a:t>
            </a:r>
          </a:p>
          <a:p xmlns:a="http://schemas.openxmlformats.org/drawingml/2006/main">
            <a:r>
              <a:t>      "battery": 0,</a:t>
            </a:r>
          </a:p>
          <a:p xmlns:a="http://schemas.openxmlformats.org/drawingml/2006/main">
            <a:r>
              <a:t>      "imports": 1250.8500000000001,</a:t>
            </a:r>
          </a:p>
          <a:p xmlns:a="http://schemas.openxmlformats.org/drawingml/2006/main">
            <a:r>
              <a:t>      "base": 7094.794000000002,</a:t>
            </a:r>
          </a:p>
          <a:p xmlns:a="http://schemas.openxmlformats.org/drawingml/2006/main">
            <a:r>
              <a:t>      "newbill": 3567.397000000001,</a:t>
            </a:r>
          </a:p>
          <a:p xmlns:a="http://schemas.openxmlformats.org/drawingml/2006/main">
            <a:r>
              <a:t>      "saving": 3527.397000000001</a:t>
            </a:r>
          </a:p>
          <a:p xmlns:a="http://schemas.openxmlformats.org/drawingml/2006/main">
            <a:r>
              <a:t>    },</a:t>
            </a:r>
          </a:p>
          <a:p xmlns:a="http://schemas.openxmlformats.org/drawingml/2006/main">
            <a:r>
              <a:t>    {</a:t>
            </a:r>
          </a:p>
          <a:p xmlns:a="http://schemas.openxmlformats.org/drawingml/2006/main">
            <a:r>
              <a:t>      "month": "Nov",</a:t>
            </a:r>
          </a:p>
          <a:p xmlns:a="http://schemas.openxmlformats.org/drawingml/2006/main">
            <a:r>
              <a:t>      "days": 30,</a:t>
            </a:r>
          </a:p>
          <a:p xmlns:a="http://schemas.openxmlformats.org/drawingml/2006/main">
            <a:r>
              <a:t>      "G": 38.80816666666667,</a:t>
            </a:r>
          </a:p>
          <a:p xmlns:a="http://schemas.openxmlformats.org/drawingml/2006/main">
            <a:r>
              <a:t>      "direct": 38.80816666666667,</a:t>
            </a:r>
          </a:p>
          <a:p xmlns:a="http://schemas.openxmlformats.org/drawingml/2006/main">
            <a:r>
              <a:t>      "surplus": 0,</a:t>
            </a:r>
          </a:p>
          <a:p xmlns:a="http://schemas.openxmlformats.org/drawingml/2006/main">
            <a:r>
              <a:t>      "battery": 0,</a:t>
            </a:r>
          </a:p>
          <a:p xmlns:a="http://schemas.openxmlformats.org/drawingml/2006/main">
            <a:r>
              <a:t>      "imports": 1256.7549999999999,</a:t>
            </a:r>
          </a:p>
          <a:p xmlns:a="http://schemas.openxmlformats.org/drawingml/2006/main">
            <a:r>
              <a:t>      "base": 6867.22,</a:t>
            </a:r>
          </a:p>
          <a:p xmlns:a="http://schemas.openxmlformats.org/drawingml/2006/main">
            <a:r>
              <a:t>      "newbill": 3584.0490999999997,</a:t>
            </a:r>
          </a:p>
          <a:p xmlns:a="http://schemas.openxmlformats.org/drawingml/2006/main">
            <a:r>
              <a:t>      "saving": 3283.1709000000005</a:t>
            </a:r>
          </a:p>
          <a:p xmlns:a="http://schemas.openxmlformats.org/drawingml/2006/main">
            <a:r>
              <a:t>    },</a:t>
            </a:r>
          </a:p>
          <a:p xmlns:a="http://schemas.openxmlformats.org/drawingml/2006/main">
            <a:r>
              <a:t>    {</a:t>
            </a:r>
          </a:p>
          <a:p xmlns:a="http://schemas.openxmlformats.org/drawingml/2006/main">
            <a:r>
              <a:t>      "month": "Dec",</a:t>
            </a:r>
          </a:p>
          <a:p xmlns:a="http://schemas.openxmlformats.org/drawingml/2006/main">
            <a:r>
              <a:t>      "days": 31,</a:t>
            </a:r>
          </a:p>
          <a:p xmlns:a="http://schemas.openxmlformats.org/drawingml/2006/main">
            <a:r>
              <a:t>      "G": 35.75483870967742,</a:t>
            </a:r>
          </a:p>
          <a:p xmlns:a="http://schemas.openxmlformats.org/drawingml/2006/main">
            <a:r>
              <a:t>      "direct": 35.75483870967742,</a:t>
            </a:r>
          </a:p>
          <a:p xmlns:a="http://schemas.openxmlformats.org/drawingml/2006/main">
            <a:r>
              <a:t>      "surplus": 0,</a:t>
            </a:r>
          </a:p>
          <a:p xmlns:a="http://schemas.openxmlformats.org/drawingml/2006/main">
            <a:r>
              <a:t>      "battery": 0,</a:t>
            </a:r>
          </a:p>
          <a:p xmlns:a="http://schemas.openxmlformats.org/drawingml/2006/main">
            <a:r>
              <a:t>      "imports": 1393.3,</a:t>
            </a:r>
          </a:p>
          <a:p xmlns:a="http://schemas.openxmlformats.org/drawingml/2006/main">
            <a:r>
              <a:t>      "base": 7094.794000000002,</a:t>
            </a:r>
          </a:p>
          <a:p xmlns:a="http://schemas.openxmlformats.org/drawingml/2006/main">
            <a:r>
              <a:t>      "newbill": 3969.1059999999998,</a:t>
            </a:r>
          </a:p>
          <a:p xmlns:a="http://schemas.openxmlformats.org/drawingml/2006/main">
            <a:r>
              <a:t>      "saving": 3125.688000000002</a:t>
            </a:r>
          </a:p>
          <a:p xmlns:a="http://schemas.openxmlformats.org/drawingml/2006/main">
            <a:r>
              <a:t>    }</a:t>
            </a:r>
          </a:p>
          <a:p xmlns:a="http://schemas.openxmlformats.org/drawingml/2006/main">
            <a:r>
              <a:t>  ],</a:t>
            </a:r>
          </a:p>
          <a:p xmlns:a="http://schemas.openxmlformats.org/drawingml/2006/main">
            <a:r>
              <a:t>  "annualSaving": 40536.85140000001,</a:t>
            </a:r>
          </a:p>
          <a:p xmlns:a="http://schemas.openxmlformats.org/drawingml/2006/main">
            <a:r>
              <a:t>  "averageSaving": 3378.0709500000007,</a:t>
            </a:r>
          </a:p>
          <a:p xmlns:a="http://schemas.openxmlformats.org/drawingml/2006/main">
            <a:r>
              <a:t>  "payback": 3.4733827403279767,</a:t>
            </a:r>
          </a:p>
          <a:p xmlns:a="http://schemas.openxmlformats.org/drawingml/2006/main">
            <a:r>
              <a:t>  "annualImports": 15080.73</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Same assumptions and calculation basis as El_Mo3alem_Juice_Shop_Solar_BESS.pptx, reviewed 30 Sep 2026. Baseline80.7 kWh/day,50/50,PV mean4.98,DoD80%,storage efficiency95% applied once at output. Prices are historical selling-price assumptions. Battery220 EUR/kWh*62EGP/EUR=13640EGP/kWh from Home_Storage slide15. Tariff source https://www.egyptera.org/en/TarrifApril2026.aspx . PV source JRC PVGIS5.3: https://re.jrc.ec.europa.eu/api/v5_3/PVcalc?lat=30.0444&amp;lon=31.2357&amp;peakpower=1&amp;loss=14&amp;angle=30&amp;aspect=0&amp;pvtechchoice=crystSi&amp;mountingplace=free&amp;outputformat=json . SARAH3/ERA5 2005–2023. 30degree south-facing free-standing crystalline silicon,14% entered PV loss. Solar-only charging, zero export value. No maintenance, insurance, finance, replacement, degradation or price escalation. Annual3EGP stamp excluded equally. Monthly-average days rather than hourly dispatch, daily demand constant over365days. Unrounded values used, display rounding may differ. Billing-period30days assumed. Inverter and roof sizing provisional. Warranty10years,6000cycles@80%DoD from original source.</a:t>
            </a:r>
          </a:p>
          <a:p xmlns:a="http://schemas.openxmlformats.org/drawingml/2006/main">
            <a:r>
              <a:t>{</a:t>
            </a:r>
          </a:p>
          <a:p xmlns:a="http://schemas.openxmlformats.org/drawingml/2006/main">
            <a:r>
              <a:t>  "option": "B",</a:t>
            </a:r>
          </a:p>
          <a:p xmlns:a="http://schemas.openxmlformats.org/drawingml/2006/main">
            <a:r>
              <a:t>  "C": 16,</a:t>
            </a:r>
          </a:p>
          <a:p xmlns:a="http://schemas.openxmlformats.org/drawingml/2006/main">
            <a:r>
              <a:t>  "P": 11,</a:t>
            </a:r>
          </a:p>
          <a:p xmlns:a="http://schemas.openxmlformats.org/drawingml/2006/main">
            <a:r>
              <a:t>  "inv": 12,</a:t>
            </a:r>
          </a:p>
          <a:p xmlns:a="http://schemas.openxmlformats.org/drawingml/2006/main">
            <a:r>
              <a:t>  "price": 394240,</a:t>
            </a:r>
          </a:p>
          <a:p xmlns:a="http://schemas.openxmlformats.org/drawingml/2006/main">
            <a:r>
              <a:t>  "reference": {</a:t>
            </a:r>
          </a:p>
          <a:p xmlns:a="http://schemas.openxmlformats.org/drawingml/2006/main">
            <a:r>
              <a:t>    "G": 54.78,</a:t>
            </a:r>
          </a:p>
          <a:p xmlns:a="http://schemas.openxmlformats.org/drawingml/2006/main">
            <a:r>
              <a:t>    "direct": 40.35,</a:t>
            </a:r>
          </a:p>
          <a:p xmlns:a="http://schemas.openxmlformats.org/drawingml/2006/main">
            <a:r>
              <a:t>    "surplus": 14.43,</a:t>
            </a:r>
          </a:p>
          <a:p xmlns:a="http://schemas.openxmlformats.org/drawingml/2006/main">
            <a:r>
              <a:t>    "battery": 12.16,</a:t>
            </a:r>
          </a:p>
          <a:p xmlns:a="http://schemas.openxmlformats.org/drawingml/2006/main">
            <a:r>
              <a:t>    "imports": 845.7,</a:t>
            </a:r>
          </a:p>
          <a:p xmlns:a="http://schemas.openxmlformats.org/drawingml/2006/main">
            <a:r>
              <a:t>    "base": 6867.22,</a:t>
            </a:r>
          </a:p>
          <a:p xmlns:a="http://schemas.openxmlformats.org/drawingml/2006/main">
            <a:r>
              <a:t>    "newbill": 2307.5890000000004,</a:t>
            </a:r>
          </a:p>
          <a:p xmlns:a="http://schemas.openxmlformats.org/drawingml/2006/main">
            <a:r>
              <a:t>    "saving": 4559.630999999999</a:t>
            </a:r>
          </a:p>
          <a:p xmlns:a="http://schemas.openxmlformats.org/drawingml/2006/main">
            <a:r>
              <a:t>  },</a:t>
            </a:r>
          </a:p>
          <a:p xmlns:a="http://schemas.openxmlformats.org/drawingml/2006/main">
            <a:r>
              <a:t>  "monthly": [</a:t>
            </a:r>
          </a:p>
          <a:p xmlns:a="http://schemas.openxmlformats.org/drawingml/2006/main">
            <a:r>
              <a:t>    {</a:t>
            </a:r>
          </a:p>
          <a:p xmlns:a="http://schemas.openxmlformats.org/drawingml/2006/main">
            <a:r>
              <a:t>      "month": "Jan",</a:t>
            </a:r>
          </a:p>
          <a:p xmlns:a="http://schemas.openxmlformats.org/drawingml/2006/main">
            <a:r>
              <a:t>      "days": 31,</a:t>
            </a:r>
          </a:p>
          <a:p xmlns:a="http://schemas.openxmlformats.org/drawingml/2006/main">
            <a:r>
              <a:t>      "G": 46.59032258064517,</a:t>
            </a:r>
          </a:p>
          <a:p xmlns:a="http://schemas.openxmlformats.org/drawingml/2006/main">
            <a:r>
              <a:t>      "direct": 40.35,</a:t>
            </a:r>
          </a:p>
          <a:p xmlns:a="http://schemas.openxmlformats.org/drawingml/2006/main">
            <a:r>
              <a:t>      "surplus": 6.24032258064517,</a:t>
            </a:r>
          </a:p>
          <a:p xmlns:a="http://schemas.openxmlformats.org/drawingml/2006/main">
            <a:r>
              <a:t>      "battery": 5.928306451612912,</a:t>
            </a:r>
          </a:p>
          <a:p xmlns:a="http://schemas.openxmlformats.org/drawingml/2006/main">
            <a:r>
              <a:t>      "imports": 1067.0724999999998,</a:t>
            </a:r>
          </a:p>
          <a:p xmlns:a="http://schemas.openxmlformats.org/drawingml/2006/main">
            <a:r>
              <a:t>      "base": 7094.794000000002,</a:t>
            </a:r>
          </a:p>
          <a:p xmlns:a="http://schemas.openxmlformats.org/drawingml/2006/main">
            <a:r>
              <a:t>      "newbill": 3049.1444499999993,</a:t>
            </a:r>
          </a:p>
          <a:p xmlns:a="http://schemas.openxmlformats.org/drawingml/2006/main">
            <a:r>
              <a:t>      "saving": 4045.6495500000024</a:t>
            </a:r>
          </a:p>
          <a:p xmlns:a="http://schemas.openxmlformats.org/drawingml/2006/main">
            <a:r>
              <a:t>    },</a:t>
            </a:r>
          </a:p>
          <a:p xmlns:a="http://schemas.openxmlformats.org/drawingml/2006/main">
            <a:r>
              <a:t>    {</a:t>
            </a:r>
          </a:p>
          <a:p xmlns:a="http://schemas.openxmlformats.org/drawingml/2006/main">
            <a:r>
              <a:t>      "month": "Feb",</a:t>
            </a:r>
          </a:p>
          <a:p xmlns:a="http://schemas.openxmlformats.org/drawingml/2006/main">
            <a:r>
              <a:t>      "days": 28,</a:t>
            </a:r>
          </a:p>
          <a:p xmlns:a="http://schemas.openxmlformats.org/drawingml/2006/main">
            <a:r>
              <a:t>      "G": 50.85535714285714,</a:t>
            </a:r>
          </a:p>
          <a:p xmlns:a="http://schemas.openxmlformats.org/drawingml/2006/main">
            <a:r>
              <a:t>      "direct": 40.35,</a:t>
            </a:r>
          </a:p>
          <a:p xmlns:a="http://schemas.openxmlformats.org/drawingml/2006/main">
            <a:r>
              <a:t>      "surplus": 10.505357142857136,</a:t>
            </a:r>
          </a:p>
          <a:p xmlns:a="http://schemas.openxmlformats.org/drawingml/2006/main">
            <a:r>
              <a:t>      "battery": 9.980089285714278,</a:t>
            </a:r>
          </a:p>
          <a:p xmlns:a="http://schemas.openxmlformats.org/drawingml/2006/main">
            <a:r>
              <a:t>      "imports": 850.3575000000003,</a:t>
            </a:r>
          </a:p>
          <a:p xmlns:a="http://schemas.openxmlformats.org/drawingml/2006/main">
            <a:r>
              <a:t>      "base": 6412.071999999999,</a:t>
            </a:r>
          </a:p>
          <a:p xmlns:a="http://schemas.openxmlformats.org/drawingml/2006/main">
            <a:r>
              <a:t>      "newbill": 2320.490275000001,</a:t>
            </a:r>
          </a:p>
          <a:p xmlns:a="http://schemas.openxmlformats.org/drawingml/2006/main">
            <a:r>
              <a:t>      "saving": 4091.581724999998</a:t>
            </a:r>
          </a:p>
          <a:p xmlns:a="http://schemas.openxmlformats.org/drawingml/2006/main">
            <a:r>
              <a:t>    },</a:t>
            </a:r>
          </a:p>
          <a:p xmlns:a="http://schemas.openxmlformats.org/drawingml/2006/main">
            <a:r>
              <a:t>    {</a:t>
            </a:r>
          </a:p>
          <a:p xmlns:a="http://schemas.openxmlformats.org/drawingml/2006/main">
            <a:r>
              <a:t>      "month": "Mar",</a:t>
            </a:r>
          </a:p>
          <a:p xmlns:a="http://schemas.openxmlformats.org/drawingml/2006/main">
            <a:r>
              <a:t>      "days": 31,</a:t>
            </a:r>
          </a:p>
          <a:p xmlns:a="http://schemas.openxmlformats.org/drawingml/2006/main">
            <a:r>
              <a:t>      "G": 57.15032258064516,</a:t>
            </a:r>
          </a:p>
          <a:p xmlns:a="http://schemas.openxmlformats.org/drawingml/2006/main">
            <a:r>
              <a:t>      "direct": 40.35,</a:t>
            </a:r>
          </a:p>
          <a:p xmlns:a="http://schemas.openxmlformats.org/drawingml/2006/main">
            <a:r>
              <a:t>      "surplus": 16.800322580645158,</a:t>
            </a:r>
          </a:p>
          <a:p xmlns:a="http://schemas.openxmlformats.org/drawingml/2006/main">
            <a:r>
              <a:t>      "battery": 12.16,</a:t>
            </a:r>
          </a:p>
          <a:p xmlns:a="http://schemas.openxmlformats.org/drawingml/2006/main">
            <a:r>
              <a:t>      "imports": 873.89,</a:t>
            </a:r>
          </a:p>
          <a:p xmlns:a="http://schemas.openxmlformats.org/drawingml/2006/main">
            <a:r>
              <a:t>      "base": 7094.794000000002,</a:t>
            </a:r>
          </a:p>
          <a:p xmlns:a="http://schemas.openxmlformats.org/drawingml/2006/main">
            <a:r>
              <a:t>      "newbill": 2385.6753,</a:t>
            </a:r>
          </a:p>
          <a:p xmlns:a="http://schemas.openxmlformats.org/drawingml/2006/main">
            <a:r>
              <a:t>      "saving": 4709.118700000002</a:t>
            </a:r>
          </a:p>
          <a:p xmlns:a="http://schemas.openxmlformats.org/drawingml/2006/main">
            <a:r>
              <a:t>    },</a:t>
            </a:r>
          </a:p>
          <a:p xmlns:a="http://schemas.openxmlformats.org/drawingml/2006/main">
            <a:r>
              <a:t>    {</a:t>
            </a:r>
          </a:p>
          <a:p xmlns:a="http://schemas.openxmlformats.org/drawingml/2006/main">
            <a:r>
              <a:t>      "month": "Apr",</a:t>
            </a:r>
          </a:p>
          <a:p xmlns:a="http://schemas.openxmlformats.org/drawingml/2006/main">
            <a:r>
              <a:t>      "days": 30,</a:t>
            </a:r>
          </a:p>
          <a:p xmlns:a="http://schemas.openxmlformats.org/drawingml/2006/main">
            <a:r>
              <a:t>      "G": 58.982,</a:t>
            </a:r>
          </a:p>
          <a:p xmlns:a="http://schemas.openxmlformats.org/drawingml/2006/main">
            <a:r>
              <a:t>      "direct": 40.35,</a:t>
            </a:r>
          </a:p>
          <a:p xmlns:a="http://schemas.openxmlformats.org/drawingml/2006/main">
            <a:r>
              <a:t>      "surplus": 18.631999999999998,</a:t>
            </a:r>
          </a:p>
          <a:p xmlns:a="http://schemas.openxmlformats.org/drawingml/2006/main">
            <a:r>
              <a:t>      "battery": 12.16,</a:t>
            </a:r>
          </a:p>
          <a:p xmlns:a="http://schemas.openxmlformats.org/drawingml/2006/main">
            <a:r>
              <a:t>      "imports": 845.7,</a:t>
            </a:r>
          </a:p>
          <a:p xmlns:a="http://schemas.openxmlformats.org/drawingml/2006/main">
            <a:r>
              <a:t>      "base": 6867.22,</a:t>
            </a:r>
          </a:p>
          <a:p xmlns:a="http://schemas.openxmlformats.org/drawingml/2006/main">
            <a:r>
              <a:t>      "newbill": 2307.5890000000004,</a:t>
            </a:r>
          </a:p>
          <a:p xmlns:a="http://schemas.openxmlformats.org/drawingml/2006/main">
            <a:r>
              <a:t>      "saving": 4559.630999999999</a:t>
            </a:r>
          </a:p>
          <a:p xmlns:a="http://schemas.openxmlformats.org/drawingml/2006/main">
            <a:r>
              <a:t>    },</a:t>
            </a:r>
          </a:p>
          <a:p xmlns:a="http://schemas.openxmlformats.org/drawingml/2006/main">
            <a:r>
              <a:t>    {</a:t>
            </a:r>
          </a:p>
          <a:p xmlns:a="http://schemas.openxmlformats.org/drawingml/2006/main">
            <a:r>
              <a:t>      "month": "May",</a:t>
            </a:r>
          </a:p>
          <a:p xmlns:a="http://schemas.openxmlformats.org/drawingml/2006/main">
            <a:r>
              <a:t>      "days": 31,</a:t>
            </a:r>
          </a:p>
          <a:p xmlns:a="http://schemas.openxmlformats.org/drawingml/2006/main">
            <a:r>
              <a:t>      "G": 57.73935483870968,</a:t>
            </a:r>
          </a:p>
          <a:p xmlns:a="http://schemas.openxmlformats.org/drawingml/2006/main">
            <a:r>
              <a:t>      "direct": 40.35,</a:t>
            </a:r>
          </a:p>
          <a:p xmlns:a="http://schemas.openxmlformats.org/drawingml/2006/main">
            <a:r>
              <a:t>      "surplus": 17.38935483870968,</a:t>
            </a:r>
          </a:p>
          <a:p xmlns:a="http://schemas.openxmlformats.org/drawingml/2006/main">
            <a:r>
              <a:t>      "battery": 12.16,</a:t>
            </a:r>
          </a:p>
          <a:p xmlns:a="http://schemas.openxmlformats.org/drawingml/2006/main">
            <a:r>
              <a:t>      "imports": 873.89,</a:t>
            </a:r>
          </a:p>
          <a:p xmlns:a="http://schemas.openxmlformats.org/drawingml/2006/main">
            <a:r>
              <a:t>      "base": 7094.794000000002,</a:t>
            </a:r>
          </a:p>
          <a:p xmlns:a="http://schemas.openxmlformats.org/drawingml/2006/main">
            <a:r>
              <a:t>      "newbill": 2385.6753,</a:t>
            </a:r>
          </a:p>
          <a:p xmlns:a="http://schemas.openxmlformats.org/drawingml/2006/main">
            <a:r>
              <a:t>      "saving": 4709.118700000002</a:t>
            </a:r>
          </a:p>
          <a:p xmlns:a="http://schemas.openxmlformats.org/drawingml/2006/main">
            <a:r>
              <a:t>    },</a:t>
            </a:r>
          </a:p>
          <a:p xmlns:a="http://schemas.openxmlformats.org/drawingml/2006/main">
            <a:r>
              <a:t>    {</a:t>
            </a:r>
          </a:p>
          <a:p xmlns:a="http://schemas.openxmlformats.org/drawingml/2006/main">
            <a:r>
              <a:t>      "month": "Jun",</a:t>
            </a:r>
          </a:p>
          <a:p xmlns:a="http://schemas.openxmlformats.org/drawingml/2006/main">
            <a:r>
              <a:t>      "days": 30,</a:t>
            </a:r>
          </a:p>
          <a:p xmlns:a="http://schemas.openxmlformats.org/drawingml/2006/main">
            <a:r>
              <a:t>      "G": 58.16066666666667,</a:t>
            </a:r>
          </a:p>
          <a:p xmlns:a="http://schemas.openxmlformats.org/drawingml/2006/main">
            <a:r>
              <a:t>      "direct": 40.35,</a:t>
            </a:r>
          </a:p>
          <a:p xmlns:a="http://schemas.openxmlformats.org/drawingml/2006/main">
            <a:r>
              <a:t>      "surplus": 17.81066666666667,</a:t>
            </a:r>
          </a:p>
          <a:p xmlns:a="http://schemas.openxmlformats.org/drawingml/2006/main">
            <a:r>
              <a:t>      "battery": 12.16,</a:t>
            </a:r>
          </a:p>
          <a:p xmlns:a="http://schemas.openxmlformats.org/drawingml/2006/main">
            <a:r>
              <a:t>      "imports": 845.7,</a:t>
            </a:r>
          </a:p>
          <a:p xmlns:a="http://schemas.openxmlformats.org/drawingml/2006/main">
            <a:r>
              <a:t>      "base": 6867.22,</a:t>
            </a:r>
          </a:p>
          <a:p xmlns:a="http://schemas.openxmlformats.org/drawingml/2006/main">
            <a:r>
              <a:t>      "newbill": 2307.5890000000004,</a:t>
            </a:r>
          </a:p>
          <a:p xmlns:a="http://schemas.openxmlformats.org/drawingml/2006/main">
            <a:r>
              <a:t>      "saving": 4559.630999999999</a:t>
            </a:r>
          </a:p>
          <a:p xmlns:a="http://schemas.openxmlformats.org/drawingml/2006/main">
            <a:r>
              <a:t>    },</a:t>
            </a:r>
          </a:p>
          <a:p xmlns:a="http://schemas.openxmlformats.org/drawingml/2006/main">
            <a:r>
              <a:t>    {</a:t>
            </a:r>
          </a:p>
          <a:p xmlns:a="http://schemas.openxmlformats.org/drawingml/2006/main">
            <a:r>
              <a:t>      "month": "Jul",</a:t>
            </a:r>
          </a:p>
          <a:p xmlns:a="http://schemas.openxmlformats.org/drawingml/2006/main">
            <a:r>
              <a:t>      "days": 31,</a:t>
            </a:r>
          </a:p>
          <a:p xmlns:a="http://schemas.openxmlformats.org/drawingml/2006/main">
            <a:r>
              <a:t>      "G": 58.42774193548387,</a:t>
            </a:r>
          </a:p>
          <a:p xmlns:a="http://schemas.openxmlformats.org/drawingml/2006/main">
            <a:r>
              <a:t>      "direct": 40.35,</a:t>
            </a:r>
          </a:p>
          <a:p xmlns:a="http://schemas.openxmlformats.org/drawingml/2006/main">
            <a:r>
              <a:t>      "surplus": 18.07774193548387,</a:t>
            </a:r>
          </a:p>
          <a:p xmlns:a="http://schemas.openxmlformats.org/drawingml/2006/main">
            <a:r>
              <a:t>      "battery": 12.16,</a:t>
            </a:r>
          </a:p>
          <a:p xmlns:a="http://schemas.openxmlformats.org/drawingml/2006/main">
            <a:r>
              <a:t>      "imports": 873.89,</a:t>
            </a:r>
          </a:p>
          <a:p xmlns:a="http://schemas.openxmlformats.org/drawingml/2006/main">
            <a:r>
              <a:t>      "base": 7094.794000000002,</a:t>
            </a:r>
          </a:p>
          <a:p xmlns:a="http://schemas.openxmlformats.org/drawingml/2006/main">
            <a:r>
              <a:t>      "newbill": 2385.6753,</a:t>
            </a:r>
          </a:p>
          <a:p xmlns:a="http://schemas.openxmlformats.org/drawingml/2006/main">
            <a:r>
              <a:t>      "saving": 4709.118700000002</a:t>
            </a:r>
          </a:p>
          <a:p xmlns:a="http://schemas.openxmlformats.org/drawingml/2006/main">
            <a:r>
              <a:t>    },</a:t>
            </a:r>
          </a:p>
          <a:p xmlns:a="http://schemas.openxmlformats.org/drawingml/2006/main">
            <a:r>
              <a:t>    {</a:t>
            </a:r>
          </a:p>
          <a:p xmlns:a="http://schemas.openxmlformats.org/drawingml/2006/main">
            <a:r>
              <a:t>      "month": "Aug",</a:t>
            </a:r>
          </a:p>
          <a:p xmlns:a="http://schemas.openxmlformats.org/drawingml/2006/main">
            <a:r>
              <a:t>      "days": 31,</a:t>
            </a:r>
          </a:p>
          <a:p xmlns:a="http://schemas.openxmlformats.org/drawingml/2006/main">
            <a:r>
              <a:t>      "G": 59.18709677419355,</a:t>
            </a:r>
          </a:p>
          <a:p xmlns:a="http://schemas.openxmlformats.org/drawingml/2006/main">
            <a:r>
              <a:t>      "direct": 40.35,</a:t>
            </a:r>
          </a:p>
          <a:p xmlns:a="http://schemas.openxmlformats.org/drawingml/2006/main">
            <a:r>
              <a:t>      "surplus": 18.837096774193547,</a:t>
            </a:r>
          </a:p>
          <a:p xmlns:a="http://schemas.openxmlformats.org/drawingml/2006/main">
            <a:r>
              <a:t>      "battery": 12.16,</a:t>
            </a:r>
          </a:p>
          <a:p xmlns:a="http://schemas.openxmlformats.org/drawingml/2006/main">
            <a:r>
              <a:t>      "imports": 873.89,</a:t>
            </a:r>
          </a:p>
          <a:p xmlns:a="http://schemas.openxmlformats.org/drawingml/2006/main">
            <a:r>
              <a:t>      "base": 7094.794000000002,</a:t>
            </a:r>
          </a:p>
          <a:p xmlns:a="http://schemas.openxmlformats.org/drawingml/2006/main">
            <a:r>
              <a:t>      "newbill": 2385.6753,</a:t>
            </a:r>
          </a:p>
          <a:p xmlns:a="http://schemas.openxmlformats.org/drawingml/2006/main">
            <a:r>
              <a:t>      "saving": 4709.118700000002</a:t>
            </a:r>
          </a:p>
          <a:p xmlns:a="http://schemas.openxmlformats.org/drawingml/2006/main">
            <a:r>
              <a:t>    },</a:t>
            </a:r>
          </a:p>
          <a:p xmlns:a="http://schemas.openxmlformats.org/drawingml/2006/main">
            <a:r>
              <a:t>    {</a:t>
            </a:r>
          </a:p>
          <a:p xmlns:a="http://schemas.openxmlformats.org/drawingml/2006/main">
            <a:r>
              <a:t>      "month": "Sep",</a:t>
            </a:r>
          </a:p>
          <a:p xmlns:a="http://schemas.openxmlformats.org/drawingml/2006/main">
            <a:r>
              <a:t>      "days": 30,</a:t>
            </a:r>
          </a:p>
          <a:p xmlns:a="http://schemas.openxmlformats.org/drawingml/2006/main">
            <a:r>
              <a:t>      "G": 59.03333333333333,</a:t>
            </a:r>
          </a:p>
          <a:p xmlns:a="http://schemas.openxmlformats.org/drawingml/2006/main">
            <a:r>
              <a:t>      "direct": 40.35,</a:t>
            </a:r>
          </a:p>
          <a:p xmlns:a="http://schemas.openxmlformats.org/drawingml/2006/main">
            <a:r>
              <a:t>      "surplus": 18.68333333333333,</a:t>
            </a:r>
          </a:p>
          <a:p xmlns:a="http://schemas.openxmlformats.org/drawingml/2006/main">
            <a:r>
              <a:t>      "battery": 12.16,</a:t>
            </a:r>
          </a:p>
          <a:p xmlns:a="http://schemas.openxmlformats.org/drawingml/2006/main">
            <a:r>
              <a:t>      "imports": 845.7,</a:t>
            </a:r>
          </a:p>
          <a:p xmlns:a="http://schemas.openxmlformats.org/drawingml/2006/main">
            <a:r>
              <a:t>      "base": 6867.22,</a:t>
            </a:r>
          </a:p>
          <a:p xmlns:a="http://schemas.openxmlformats.org/drawingml/2006/main">
            <a:r>
              <a:t>      "newbill": 2307.5890000000004,</a:t>
            </a:r>
          </a:p>
          <a:p xmlns:a="http://schemas.openxmlformats.org/drawingml/2006/main">
            <a:r>
              <a:t>      "saving": 4559.630999999999</a:t>
            </a:r>
          </a:p>
          <a:p xmlns:a="http://schemas.openxmlformats.org/drawingml/2006/main">
            <a:r>
              <a:t>    },</a:t>
            </a:r>
          </a:p>
          <a:p xmlns:a="http://schemas.openxmlformats.org/drawingml/2006/main">
            <a:r>
              <a:t>    {</a:t>
            </a:r>
          </a:p>
          <a:p xmlns:a="http://schemas.openxmlformats.org/drawingml/2006/main">
            <a:r>
              <a:t>      "month": "Oct",</a:t>
            </a:r>
          </a:p>
          <a:p xmlns:a="http://schemas.openxmlformats.org/drawingml/2006/main">
            <a:r>
              <a:t>      "days": 31,</a:t>
            </a:r>
          </a:p>
          <a:p xmlns:a="http://schemas.openxmlformats.org/drawingml/2006/main">
            <a:r>
              <a:t>      "G": 54.833225806451615,</a:t>
            </a:r>
          </a:p>
          <a:p xmlns:a="http://schemas.openxmlformats.org/drawingml/2006/main">
            <a:r>
              <a:t>      "direct": 40.35,</a:t>
            </a:r>
          </a:p>
          <a:p xmlns:a="http://schemas.openxmlformats.org/drawingml/2006/main">
            <a:r>
              <a:t>      "surplus": 14.483225806451614,</a:t>
            </a:r>
          </a:p>
          <a:p xmlns:a="http://schemas.openxmlformats.org/drawingml/2006/main">
            <a:r>
              <a:t>      "battery": 12.16,</a:t>
            </a:r>
          </a:p>
          <a:p xmlns:a="http://schemas.openxmlformats.org/drawingml/2006/main">
            <a:r>
              <a:t>      "imports": 873.89,</a:t>
            </a:r>
          </a:p>
          <a:p xmlns:a="http://schemas.openxmlformats.org/drawingml/2006/main">
            <a:r>
              <a:t>      "base": 7094.794000000002,</a:t>
            </a:r>
          </a:p>
          <a:p xmlns:a="http://schemas.openxmlformats.org/drawingml/2006/main">
            <a:r>
              <a:t>      "newbill": 2385.6753,</a:t>
            </a:r>
          </a:p>
          <a:p xmlns:a="http://schemas.openxmlformats.org/drawingml/2006/main">
            <a:r>
              <a:t>      "saving": 4709.118700000002</a:t>
            </a:r>
          </a:p>
          <a:p xmlns:a="http://schemas.openxmlformats.org/drawingml/2006/main">
            <a:r>
              <a:t>    },</a:t>
            </a:r>
          </a:p>
          <a:p xmlns:a="http://schemas.openxmlformats.org/drawingml/2006/main">
            <a:r>
              <a:t>    {</a:t>
            </a:r>
          </a:p>
          <a:p xmlns:a="http://schemas.openxmlformats.org/drawingml/2006/main">
            <a:r>
              <a:t>      "month": "Nov",</a:t>
            </a:r>
          </a:p>
          <a:p xmlns:a="http://schemas.openxmlformats.org/drawingml/2006/main">
            <a:r>
              <a:t>      "days": 30,</a:t>
            </a:r>
          </a:p>
          <a:p xmlns:a="http://schemas.openxmlformats.org/drawingml/2006/main">
            <a:r>
              <a:t>      "G": 50.22233333333334,</a:t>
            </a:r>
          </a:p>
          <a:p xmlns:a="http://schemas.openxmlformats.org/drawingml/2006/main">
            <a:r>
              <a:t>      "direct": 40.35,</a:t>
            </a:r>
          </a:p>
          <a:p xmlns:a="http://schemas.openxmlformats.org/drawingml/2006/main">
            <a:r>
              <a:t>      "surplus": 9.872333333333337,</a:t>
            </a:r>
          </a:p>
          <a:p xmlns:a="http://schemas.openxmlformats.org/drawingml/2006/main">
            <a:r>
              <a:t>      "battery": 9.37871666666667,</a:t>
            </a:r>
          </a:p>
          <a:p xmlns:a="http://schemas.openxmlformats.org/drawingml/2006/main">
            <a:r>
              <a:t>      "imports": 929.1385,</a:t>
            </a:r>
          </a:p>
          <a:p xmlns:a="http://schemas.openxmlformats.org/drawingml/2006/main">
            <a:r>
              <a:t>      "base": 6867.22,</a:t>
            </a:r>
          </a:p>
          <a:p xmlns:a="http://schemas.openxmlformats.org/drawingml/2006/main">
            <a:r>
              <a:t>      "newbill": 2538.7136450000003,</a:t>
            </a:r>
          </a:p>
          <a:p xmlns:a="http://schemas.openxmlformats.org/drawingml/2006/main">
            <a:r>
              <a:t>      "saving": 4328.5063549999995</a:t>
            </a:r>
          </a:p>
          <a:p xmlns:a="http://schemas.openxmlformats.org/drawingml/2006/main">
            <a:r>
              <a:t>    },</a:t>
            </a:r>
          </a:p>
          <a:p xmlns:a="http://schemas.openxmlformats.org/drawingml/2006/main">
            <a:r>
              <a:t>    {</a:t>
            </a:r>
          </a:p>
          <a:p xmlns:a="http://schemas.openxmlformats.org/drawingml/2006/main">
            <a:r>
              <a:t>      "month": "Dec",</a:t>
            </a:r>
          </a:p>
          <a:p xmlns:a="http://schemas.openxmlformats.org/drawingml/2006/main">
            <a:r>
              <a:t>      "days": 31,</a:t>
            </a:r>
          </a:p>
          <a:p xmlns:a="http://schemas.openxmlformats.org/drawingml/2006/main">
            <a:r>
              <a:t>      "G": 46.27096774193549,</a:t>
            </a:r>
          </a:p>
          <a:p xmlns:a="http://schemas.openxmlformats.org/drawingml/2006/main">
            <a:r>
              <a:t>      "direct": 40.35,</a:t>
            </a:r>
          </a:p>
          <a:p xmlns:a="http://schemas.openxmlformats.org/drawingml/2006/main">
            <a:r>
              <a:t>      "surplus": 5.920967741935492,</a:t>
            </a:r>
          </a:p>
          <a:p xmlns:a="http://schemas.openxmlformats.org/drawingml/2006/main">
            <a:r>
              <a:t>      "battery": 5.624919354838717,</a:t>
            </a:r>
          </a:p>
          <a:p xmlns:a="http://schemas.openxmlformats.org/drawingml/2006/main">
            <a:r>
              <a:t>      "imports": 1076.4774999999997,</a:t>
            </a:r>
          </a:p>
          <a:p xmlns:a="http://schemas.openxmlformats.org/drawingml/2006/main">
            <a:r>
              <a:t>      "base": 7094.794000000002,</a:t>
            </a:r>
          </a:p>
          <a:p xmlns:a="http://schemas.openxmlformats.org/drawingml/2006/main">
            <a:r>
              <a:t>      "newbill": 3075.666549999999,</a:t>
            </a:r>
          </a:p>
          <a:p xmlns:a="http://schemas.openxmlformats.org/drawingml/2006/main">
            <a:r>
              <a:t>      "saving": 4019.1274500000027</a:t>
            </a:r>
          </a:p>
          <a:p xmlns:a="http://schemas.openxmlformats.org/drawingml/2006/main">
            <a:r>
              <a:t>    }</a:t>
            </a:r>
          </a:p>
          <a:p xmlns:a="http://schemas.openxmlformats.org/drawingml/2006/main">
            <a:r>
              <a:t>  ],</a:t>
            </a:r>
          </a:p>
          <a:p xmlns:a="http://schemas.openxmlformats.org/drawingml/2006/main">
            <a:r>
              <a:t>  "annualSaving": 53709.35158,</a:t>
            </a:r>
          </a:p>
          <a:p xmlns:a="http://schemas.openxmlformats.org/drawingml/2006/main">
            <a:r>
              <a:t>  "averageSaving": 4475.779298333334,</a:t>
            </a:r>
          </a:p>
          <a:p xmlns:a="http://schemas.openxmlformats.org/drawingml/2006/main">
            <a:r>
              <a:t>  "payback": 7.340248735134701,</a:t>
            </a:r>
          </a:p>
          <a:p xmlns:a="http://schemas.openxmlformats.org/drawingml/2006/main">
            <a:r>
              <a:t>  "annualImports": 10829.596</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Same assumptions and calculation basis as El_Mo3alem_Juice_Shop_Solar_BESS.pptx, reviewed 30 Sep 2026. Baseline80.7 kWh/day,50/50,PV mean4.98,DoD80%,storage efficiency95% applied once at output. Prices are historical selling-price assumptions. Battery220 EUR/kWh*62EGP/EUR=13640EGP/kWh from Home_Storage slide15. Tariff source https://www.egyptera.org/en/TarrifApril2026.aspx . PV source JRC PVGIS5.3: https://re.jrc.ec.europa.eu/api/v5_3/PVcalc?lat=30.0444&amp;lon=31.2357&amp;peakpower=1&amp;loss=14&amp;angle=30&amp;aspect=0&amp;pvtechchoice=crystSi&amp;mountingplace=free&amp;outputformat=json . SARAH3/ERA5 2005–2023. 30degree south-facing free-standing crystalline silicon,14% entered PV loss. Solar-only charging, zero export value. No maintenance, insurance, finance, replacement, degradation or price escalation. Annual3EGP stamp excluded equally. Monthly-average days rather than hourly dispatch, daily demand constant over365days. Unrounded values used, display rounding may differ. Billing-period30days assumed. Inverter and roof sizing provisional. Warranty10years,6000cycles@80%DoD from original source.</a:t>
            </a:r>
          </a:p>
          <a:p xmlns:a="http://schemas.openxmlformats.org/drawingml/2006/main">
            <a:r>
              <a:t>{</a:t>
            </a:r>
          </a:p>
          <a:p xmlns:a="http://schemas.openxmlformats.org/drawingml/2006/main">
            <a:r>
              <a:t>  "option": "B",</a:t>
            </a:r>
          </a:p>
          <a:p xmlns:a="http://schemas.openxmlformats.org/drawingml/2006/main">
            <a:r>
              <a:t>  "C": 16,</a:t>
            </a:r>
          </a:p>
          <a:p xmlns:a="http://schemas.openxmlformats.org/drawingml/2006/main">
            <a:r>
              <a:t>  "P": 11,</a:t>
            </a:r>
          </a:p>
          <a:p xmlns:a="http://schemas.openxmlformats.org/drawingml/2006/main">
            <a:r>
              <a:t>  "inv": 12,</a:t>
            </a:r>
          </a:p>
          <a:p xmlns:a="http://schemas.openxmlformats.org/drawingml/2006/main">
            <a:r>
              <a:t>  "price": 394240,</a:t>
            </a:r>
          </a:p>
          <a:p xmlns:a="http://schemas.openxmlformats.org/drawingml/2006/main">
            <a:r>
              <a:t>  "reference": {</a:t>
            </a:r>
          </a:p>
          <a:p xmlns:a="http://schemas.openxmlformats.org/drawingml/2006/main">
            <a:r>
              <a:t>    "G": 54.78,</a:t>
            </a:r>
          </a:p>
          <a:p xmlns:a="http://schemas.openxmlformats.org/drawingml/2006/main">
            <a:r>
              <a:t>    "direct": 40.35,</a:t>
            </a:r>
          </a:p>
          <a:p xmlns:a="http://schemas.openxmlformats.org/drawingml/2006/main">
            <a:r>
              <a:t>    "surplus": 14.43,</a:t>
            </a:r>
          </a:p>
          <a:p xmlns:a="http://schemas.openxmlformats.org/drawingml/2006/main">
            <a:r>
              <a:t>    "battery": 12.16,</a:t>
            </a:r>
          </a:p>
          <a:p xmlns:a="http://schemas.openxmlformats.org/drawingml/2006/main">
            <a:r>
              <a:t>    "imports": 845.7,</a:t>
            </a:r>
          </a:p>
          <a:p xmlns:a="http://schemas.openxmlformats.org/drawingml/2006/main">
            <a:r>
              <a:t>    "base": 6867.22,</a:t>
            </a:r>
          </a:p>
          <a:p xmlns:a="http://schemas.openxmlformats.org/drawingml/2006/main">
            <a:r>
              <a:t>    "newbill": 2307.5890000000004,</a:t>
            </a:r>
          </a:p>
          <a:p xmlns:a="http://schemas.openxmlformats.org/drawingml/2006/main">
            <a:r>
              <a:t>    "saving": 4559.630999999999</a:t>
            </a:r>
          </a:p>
          <a:p xmlns:a="http://schemas.openxmlformats.org/drawingml/2006/main">
            <a:r>
              <a:t>  },</a:t>
            </a:r>
          </a:p>
          <a:p xmlns:a="http://schemas.openxmlformats.org/drawingml/2006/main">
            <a:r>
              <a:t>  "monthly": [</a:t>
            </a:r>
          </a:p>
          <a:p xmlns:a="http://schemas.openxmlformats.org/drawingml/2006/main">
            <a:r>
              <a:t>    {</a:t>
            </a:r>
          </a:p>
          <a:p xmlns:a="http://schemas.openxmlformats.org/drawingml/2006/main">
            <a:r>
              <a:t>      "month": "Jan",</a:t>
            </a:r>
          </a:p>
          <a:p xmlns:a="http://schemas.openxmlformats.org/drawingml/2006/main">
            <a:r>
              <a:t>      "days": 31,</a:t>
            </a:r>
          </a:p>
          <a:p xmlns:a="http://schemas.openxmlformats.org/drawingml/2006/main">
            <a:r>
              <a:t>      "G": 46.59032258064517,</a:t>
            </a:r>
          </a:p>
          <a:p xmlns:a="http://schemas.openxmlformats.org/drawingml/2006/main">
            <a:r>
              <a:t>      "direct": 40.35,</a:t>
            </a:r>
          </a:p>
          <a:p xmlns:a="http://schemas.openxmlformats.org/drawingml/2006/main">
            <a:r>
              <a:t>      "surplus": 6.24032258064517,</a:t>
            </a:r>
          </a:p>
          <a:p xmlns:a="http://schemas.openxmlformats.org/drawingml/2006/main">
            <a:r>
              <a:t>      "battery": 5.928306451612912,</a:t>
            </a:r>
          </a:p>
          <a:p xmlns:a="http://schemas.openxmlformats.org/drawingml/2006/main">
            <a:r>
              <a:t>      "imports": 1067.0724999999998,</a:t>
            </a:r>
          </a:p>
          <a:p xmlns:a="http://schemas.openxmlformats.org/drawingml/2006/main">
            <a:r>
              <a:t>      "base": 7094.794000000002,</a:t>
            </a:r>
          </a:p>
          <a:p xmlns:a="http://schemas.openxmlformats.org/drawingml/2006/main">
            <a:r>
              <a:t>      "newbill": 3049.1444499999993,</a:t>
            </a:r>
          </a:p>
          <a:p xmlns:a="http://schemas.openxmlformats.org/drawingml/2006/main">
            <a:r>
              <a:t>      "saving": 4045.6495500000024</a:t>
            </a:r>
          </a:p>
          <a:p xmlns:a="http://schemas.openxmlformats.org/drawingml/2006/main">
            <a:r>
              <a:t>    },</a:t>
            </a:r>
          </a:p>
          <a:p xmlns:a="http://schemas.openxmlformats.org/drawingml/2006/main">
            <a:r>
              <a:t>    {</a:t>
            </a:r>
          </a:p>
          <a:p xmlns:a="http://schemas.openxmlformats.org/drawingml/2006/main">
            <a:r>
              <a:t>      "month": "Feb",</a:t>
            </a:r>
          </a:p>
          <a:p xmlns:a="http://schemas.openxmlformats.org/drawingml/2006/main">
            <a:r>
              <a:t>      "days": 28,</a:t>
            </a:r>
          </a:p>
          <a:p xmlns:a="http://schemas.openxmlformats.org/drawingml/2006/main">
            <a:r>
              <a:t>      "G": 50.85535714285714,</a:t>
            </a:r>
          </a:p>
          <a:p xmlns:a="http://schemas.openxmlformats.org/drawingml/2006/main">
            <a:r>
              <a:t>      "direct": 40.35,</a:t>
            </a:r>
          </a:p>
          <a:p xmlns:a="http://schemas.openxmlformats.org/drawingml/2006/main">
            <a:r>
              <a:t>      "surplus": 10.505357142857136,</a:t>
            </a:r>
          </a:p>
          <a:p xmlns:a="http://schemas.openxmlformats.org/drawingml/2006/main">
            <a:r>
              <a:t>      "battery": 9.980089285714278,</a:t>
            </a:r>
          </a:p>
          <a:p xmlns:a="http://schemas.openxmlformats.org/drawingml/2006/main">
            <a:r>
              <a:t>      "imports": 850.3575000000003,</a:t>
            </a:r>
          </a:p>
          <a:p xmlns:a="http://schemas.openxmlformats.org/drawingml/2006/main">
            <a:r>
              <a:t>      "base": 6412.071999999999,</a:t>
            </a:r>
          </a:p>
          <a:p xmlns:a="http://schemas.openxmlformats.org/drawingml/2006/main">
            <a:r>
              <a:t>      "newbill": 2320.490275000001,</a:t>
            </a:r>
          </a:p>
          <a:p xmlns:a="http://schemas.openxmlformats.org/drawingml/2006/main">
            <a:r>
              <a:t>      "saving": 4091.581724999998</a:t>
            </a:r>
          </a:p>
          <a:p xmlns:a="http://schemas.openxmlformats.org/drawingml/2006/main">
            <a:r>
              <a:t>    },</a:t>
            </a:r>
          </a:p>
          <a:p xmlns:a="http://schemas.openxmlformats.org/drawingml/2006/main">
            <a:r>
              <a:t>    {</a:t>
            </a:r>
          </a:p>
          <a:p xmlns:a="http://schemas.openxmlformats.org/drawingml/2006/main">
            <a:r>
              <a:t>      "month": "Mar",</a:t>
            </a:r>
          </a:p>
          <a:p xmlns:a="http://schemas.openxmlformats.org/drawingml/2006/main">
            <a:r>
              <a:t>      "days": 31,</a:t>
            </a:r>
          </a:p>
          <a:p xmlns:a="http://schemas.openxmlformats.org/drawingml/2006/main">
            <a:r>
              <a:t>      "G": 57.15032258064516,</a:t>
            </a:r>
          </a:p>
          <a:p xmlns:a="http://schemas.openxmlformats.org/drawingml/2006/main">
            <a:r>
              <a:t>      "direct": 40.35,</a:t>
            </a:r>
          </a:p>
          <a:p xmlns:a="http://schemas.openxmlformats.org/drawingml/2006/main">
            <a:r>
              <a:t>      "surplus": 16.800322580645158,</a:t>
            </a:r>
          </a:p>
          <a:p xmlns:a="http://schemas.openxmlformats.org/drawingml/2006/main">
            <a:r>
              <a:t>      "battery": 12.16,</a:t>
            </a:r>
          </a:p>
          <a:p xmlns:a="http://schemas.openxmlformats.org/drawingml/2006/main">
            <a:r>
              <a:t>      "imports": 873.89,</a:t>
            </a:r>
          </a:p>
          <a:p xmlns:a="http://schemas.openxmlformats.org/drawingml/2006/main">
            <a:r>
              <a:t>      "base": 7094.794000000002,</a:t>
            </a:r>
          </a:p>
          <a:p xmlns:a="http://schemas.openxmlformats.org/drawingml/2006/main">
            <a:r>
              <a:t>      "newbill": 2385.6753,</a:t>
            </a:r>
          </a:p>
          <a:p xmlns:a="http://schemas.openxmlformats.org/drawingml/2006/main">
            <a:r>
              <a:t>      "saving": 4709.118700000002</a:t>
            </a:r>
          </a:p>
          <a:p xmlns:a="http://schemas.openxmlformats.org/drawingml/2006/main">
            <a:r>
              <a:t>    },</a:t>
            </a:r>
          </a:p>
          <a:p xmlns:a="http://schemas.openxmlformats.org/drawingml/2006/main">
            <a:r>
              <a:t>    {</a:t>
            </a:r>
          </a:p>
          <a:p xmlns:a="http://schemas.openxmlformats.org/drawingml/2006/main">
            <a:r>
              <a:t>      "month": "Apr",</a:t>
            </a:r>
          </a:p>
          <a:p xmlns:a="http://schemas.openxmlformats.org/drawingml/2006/main">
            <a:r>
              <a:t>      "days": 30,</a:t>
            </a:r>
          </a:p>
          <a:p xmlns:a="http://schemas.openxmlformats.org/drawingml/2006/main">
            <a:r>
              <a:t>      "G": 58.982,</a:t>
            </a:r>
          </a:p>
          <a:p xmlns:a="http://schemas.openxmlformats.org/drawingml/2006/main">
            <a:r>
              <a:t>      "direct": 40.35,</a:t>
            </a:r>
          </a:p>
          <a:p xmlns:a="http://schemas.openxmlformats.org/drawingml/2006/main">
            <a:r>
              <a:t>      "surplus": 18.631999999999998,</a:t>
            </a:r>
          </a:p>
          <a:p xmlns:a="http://schemas.openxmlformats.org/drawingml/2006/main">
            <a:r>
              <a:t>      "battery": 12.16,</a:t>
            </a:r>
          </a:p>
          <a:p xmlns:a="http://schemas.openxmlformats.org/drawingml/2006/main">
            <a:r>
              <a:t>      "imports": 845.7,</a:t>
            </a:r>
          </a:p>
          <a:p xmlns:a="http://schemas.openxmlformats.org/drawingml/2006/main">
            <a:r>
              <a:t>      "base": 6867.22,</a:t>
            </a:r>
          </a:p>
          <a:p xmlns:a="http://schemas.openxmlformats.org/drawingml/2006/main">
            <a:r>
              <a:t>      "newbill": 2307.5890000000004,</a:t>
            </a:r>
          </a:p>
          <a:p xmlns:a="http://schemas.openxmlformats.org/drawingml/2006/main">
            <a:r>
              <a:t>      "saving": 4559.630999999999</a:t>
            </a:r>
          </a:p>
          <a:p xmlns:a="http://schemas.openxmlformats.org/drawingml/2006/main">
            <a:r>
              <a:t>    },</a:t>
            </a:r>
          </a:p>
          <a:p xmlns:a="http://schemas.openxmlformats.org/drawingml/2006/main">
            <a:r>
              <a:t>    {</a:t>
            </a:r>
          </a:p>
          <a:p xmlns:a="http://schemas.openxmlformats.org/drawingml/2006/main">
            <a:r>
              <a:t>      "month": "May",</a:t>
            </a:r>
          </a:p>
          <a:p xmlns:a="http://schemas.openxmlformats.org/drawingml/2006/main">
            <a:r>
              <a:t>      "days": 31,</a:t>
            </a:r>
          </a:p>
          <a:p xmlns:a="http://schemas.openxmlformats.org/drawingml/2006/main">
            <a:r>
              <a:t>      "G": 57.73935483870968,</a:t>
            </a:r>
          </a:p>
          <a:p xmlns:a="http://schemas.openxmlformats.org/drawingml/2006/main">
            <a:r>
              <a:t>      "direct": 40.35,</a:t>
            </a:r>
          </a:p>
          <a:p xmlns:a="http://schemas.openxmlformats.org/drawingml/2006/main">
            <a:r>
              <a:t>      "surplus": 17.38935483870968,</a:t>
            </a:r>
          </a:p>
          <a:p xmlns:a="http://schemas.openxmlformats.org/drawingml/2006/main">
            <a:r>
              <a:t>      "battery": 12.16,</a:t>
            </a:r>
          </a:p>
          <a:p xmlns:a="http://schemas.openxmlformats.org/drawingml/2006/main">
            <a:r>
              <a:t>      "imports": 873.89,</a:t>
            </a:r>
          </a:p>
          <a:p xmlns:a="http://schemas.openxmlformats.org/drawingml/2006/main">
            <a:r>
              <a:t>      "base": 7094.794000000002,</a:t>
            </a:r>
          </a:p>
          <a:p xmlns:a="http://schemas.openxmlformats.org/drawingml/2006/main">
            <a:r>
              <a:t>      "newbill": 2385.6753,</a:t>
            </a:r>
          </a:p>
          <a:p xmlns:a="http://schemas.openxmlformats.org/drawingml/2006/main">
            <a:r>
              <a:t>      "saving": 4709.118700000002</a:t>
            </a:r>
          </a:p>
          <a:p xmlns:a="http://schemas.openxmlformats.org/drawingml/2006/main">
            <a:r>
              <a:t>    },</a:t>
            </a:r>
          </a:p>
          <a:p xmlns:a="http://schemas.openxmlformats.org/drawingml/2006/main">
            <a:r>
              <a:t>    {</a:t>
            </a:r>
          </a:p>
          <a:p xmlns:a="http://schemas.openxmlformats.org/drawingml/2006/main">
            <a:r>
              <a:t>      "month": "Jun",</a:t>
            </a:r>
          </a:p>
          <a:p xmlns:a="http://schemas.openxmlformats.org/drawingml/2006/main">
            <a:r>
              <a:t>      "days": 30,</a:t>
            </a:r>
          </a:p>
          <a:p xmlns:a="http://schemas.openxmlformats.org/drawingml/2006/main">
            <a:r>
              <a:t>      "G": 58.16066666666667,</a:t>
            </a:r>
          </a:p>
          <a:p xmlns:a="http://schemas.openxmlformats.org/drawingml/2006/main">
            <a:r>
              <a:t>      "direct": 40.35,</a:t>
            </a:r>
          </a:p>
          <a:p xmlns:a="http://schemas.openxmlformats.org/drawingml/2006/main">
            <a:r>
              <a:t>      "surplus": 17.81066666666667,</a:t>
            </a:r>
          </a:p>
          <a:p xmlns:a="http://schemas.openxmlformats.org/drawingml/2006/main">
            <a:r>
              <a:t>      "battery": 12.16,</a:t>
            </a:r>
          </a:p>
          <a:p xmlns:a="http://schemas.openxmlformats.org/drawingml/2006/main">
            <a:r>
              <a:t>      "imports": 845.7,</a:t>
            </a:r>
          </a:p>
          <a:p xmlns:a="http://schemas.openxmlformats.org/drawingml/2006/main">
            <a:r>
              <a:t>      "base": 6867.22,</a:t>
            </a:r>
          </a:p>
          <a:p xmlns:a="http://schemas.openxmlformats.org/drawingml/2006/main">
            <a:r>
              <a:t>      "newbill": 2307.5890000000004,</a:t>
            </a:r>
          </a:p>
          <a:p xmlns:a="http://schemas.openxmlformats.org/drawingml/2006/main">
            <a:r>
              <a:t>      "saving": 4559.630999999999</a:t>
            </a:r>
          </a:p>
          <a:p xmlns:a="http://schemas.openxmlformats.org/drawingml/2006/main">
            <a:r>
              <a:t>    },</a:t>
            </a:r>
          </a:p>
          <a:p xmlns:a="http://schemas.openxmlformats.org/drawingml/2006/main">
            <a:r>
              <a:t>    {</a:t>
            </a:r>
          </a:p>
          <a:p xmlns:a="http://schemas.openxmlformats.org/drawingml/2006/main">
            <a:r>
              <a:t>      "month": "Jul",</a:t>
            </a:r>
          </a:p>
          <a:p xmlns:a="http://schemas.openxmlformats.org/drawingml/2006/main">
            <a:r>
              <a:t>      "days": 31,</a:t>
            </a:r>
          </a:p>
          <a:p xmlns:a="http://schemas.openxmlformats.org/drawingml/2006/main">
            <a:r>
              <a:t>      "G": 58.42774193548387,</a:t>
            </a:r>
          </a:p>
          <a:p xmlns:a="http://schemas.openxmlformats.org/drawingml/2006/main">
            <a:r>
              <a:t>      "direct": 40.35,</a:t>
            </a:r>
          </a:p>
          <a:p xmlns:a="http://schemas.openxmlformats.org/drawingml/2006/main">
            <a:r>
              <a:t>      "surplus": 18.07774193548387,</a:t>
            </a:r>
          </a:p>
          <a:p xmlns:a="http://schemas.openxmlformats.org/drawingml/2006/main">
            <a:r>
              <a:t>      "battery": 12.16,</a:t>
            </a:r>
          </a:p>
          <a:p xmlns:a="http://schemas.openxmlformats.org/drawingml/2006/main">
            <a:r>
              <a:t>      "imports": 873.89,</a:t>
            </a:r>
          </a:p>
          <a:p xmlns:a="http://schemas.openxmlformats.org/drawingml/2006/main">
            <a:r>
              <a:t>      "base": 7094.794000000002,</a:t>
            </a:r>
          </a:p>
          <a:p xmlns:a="http://schemas.openxmlformats.org/drawingml/2006/main">
            <a:r>
              <a:t>      "newbill": 2385.6753,</a:t>
            </a:r>
          </a:p>
          <a:p xmlns:a="http://schemas.openxmlformats.org/drawingml/2006/main">
            <a:r>
              <a:t>      "saving": 4709.118700000002</a:t>
            </a:r>
          </a:p>
          <a:p xmlns:a="http://schemas.openxmlformats.org/drawingml/2006/main">
            <a:r>
              <a:t>    },</a:t>
            </a:r>
          </a:p>
          <a:p xmlns:a="http://schemas.openxmlformats.org/drawingml/2006/main">
            <a:r>
              <a:t>    {</a:t>
            </a:r>
          </a:p>
          <a:p xmlns:a="http://schemas.openxmlformats.org/drawingml/2006/main">
            <a:r>
              <a:t>      "month": "Aug",</a:t>
            </a:r>
          </a:p>
          <a:p xmlns:a="http://schemas.openxmlformats.org/drawingml/2006/main">
            <a:r>
              <a:t>      "days": 31,</a:t>
            </a:r>
          </a:p>
          <a:p xmlns:a="http://schemas.openxmlformats.org/drawingml/2006/main">
            <a:r>
              <a:t>      "G": 59.18709677419355,</a:t>
            </a:r>
          </a:p>
          <a:p xmlns:a="http://schemas.openxmlformats.org/drawingml/2006/main">
            <a:r>
              <a:t>      "direct": 40.35,</a:t>
            </a:r>
          </a:p>
          <a:p xmlns:a="http://schemas.openxmlformats.org/drawingml/2006/main">
            <a:r>
              <a:t>      "surplus": 18.837096774193547,</a:t>
            </a:r>
          </a:p>
          <a:p xmlns:a="http://schemas.openxmlformats.org/drawingml/2006/main">
            <a:r>
              <a:t>      "battery": 12.16,</a:t>
            </a:r>
          </a:p>
          <a:p xmlns:a="http://schemas.openxmlformats.org/drawingml/2006/main">
            <a:r>
              <a:t>      "imports": 873.89,</a:t>
            </a:r>
          </a:p>
          <a:p xmlns:a="http://schemas.openxmlformats.org/drawingml/2006/main">
            <a:r>
              <a:t>      "base": 7094.794000000002,</a:t>
            </a:r>
          </a:p>
          <a:p xmlns:a="http://schemas.openxmlformats.org/drawingml/2006/main">
            <a:r>
              <a:t>      "newbill": 2385.6753,</a:t>
            </a:r>
          </a:p>
          <a:p xmlns:a="http://schemas.openxmlformats.org/drawingml/2006/main">
            <a:r>
              <a:t>      "saving": 4709.118700000002</a:t>
            </a:r>
          </a:p>
          <a:p xmlns:a="http://schemas.openxmlformats.org/drawingml/2006/main">
            <a:r>
              <a:t>    },</a:t>
            </a:r>
          </a:p>
          <a:p xmlns:a="http://schemas.openxmlformats.org/drawingml/2006/main">
            <a:r>
              <a:t>    {</a:t>
            </a:r>
          </a:p>
          <a:p xmlns:a="http://schemas.openxmlformats.org/drawingml/2006/main">
            <a:r>
              <a:t>      "month": "Sep",</a:t>
            </a:r>
          </a:p>
          <a:p xmlns:a="http://schemas.openxmlformats.org/drawingml/2006/main">
            <a:r>
              <a:t>      "days": 30,</a:t>
            </a:r>
          </a:p>
          <a:p xmlns:a="http://schemas.openxmlformats.org/drawingml/2006/main">
            <a:r>
              <a:t>      "G": 59.03333333333333,</a:t>
            </a:r>
          </a:p>
          <a:p xmlns:a="http://schemas.openxmlformats.org/drawingml/2006/main">
            <a:r>
              <a:t>      "direct": 40.35,</a:t>
            </a:r>
          </a:p>
          <a:p xmlns:a="http://schemas.openxmlformats.org/drawingml/2006/main">
            <a:r>
              <a:t>      "surplus": 18.68333333333333,</a:t>
            </a:r>
          </a:p>
          <a:p xmlns:a="http://schemas.openxmlformats.org/drawingml/2006/main">
            <a:r>
              <a:t>      "battery": 12.16,</a:t>
            </a:r>
          </a:p>
          <a:p xmlns:a="http://schemas.openxmlformats.org/drawingml/2006/main">
            <a:r>
              <a:t>      "imports": 845.7,</a:t>
            </a:r>
          </a:p>
          <a:p xmlns:a="http://schemas.openxmlformats.org/drawingml/2006/main">
            <a:r>
              <a:t>      "base": 6867.22,</a:t>
            </a:r>
          </a:p>
          <a:p xmlns:a="http://schemas.openxmlformats.org/drawingml/2006/main">
            <a:r>
              <a:t>      "newbill": 2307.5890000000004,</a:t>
            </a:r>
          </a:p>
          <a:p xmlns:a="http://schemas.openxmlformats.org/drawingml/2006/main">
            <a:r>
              <a:t>      "saving": 4559.630999999999</a:t>
            </a:r>
          </a:p>
          <a:p xmlns:a="http://schemas.openxmlformats.org/drawingml/2006/main">
            <a:r>
              <a:t>    },</a:t>
            </a:r>
          </a:p>
          <a:p xmlns:a="http://schemas.openxmlformats.org/drawingml/2006/main">
            <a:r>
              <a:t>    {</a:t>
            </a:r>
          </a:p>
          <a:p xmlns:a="http://schemas.openxmlformats.org/drawingml/2006/main">
            <a:r>
              <a:t>      "month": "Oct",</a:t>
            </a:r>
          </a:p>
          <a:p xmlns:a="http://schemas.openxmlformats.org/drawingml/2006/main">
            <a:r>
              <a:t>      "days": 31,</a:t>
            </a:r>
          </a:p>
          <a:p xmlns:a="http://schemas.openxmlformats.org/drawingml/2006/main">
            <a:r>
              <a:t>      "G": 54.833225806451615,</a:t>
            </a:r>
          </a:p>
          <a:p xmlns:a="http://schemas.openxmlformats.org/drawingml/2006/main">
            <a:r>
              <a:t>      "direct": 40.35,</a:t>
            </a:r>
          </a:p>
          <a:p xmlns:a="http://schemas.openxmlformats.org/drawingml/2006/main">
            <a:r>
              <a:t>      "surplus": 14.483225806451614,</a:t>
            </a:r>
          </a:p>
          <a:p xmlns:a="http://schemas.openxmlformats.org/drawingml/2006/main">
            <a:r>
              <a:t>      "battery": 12.16,</a:t>
            </a:r>
          </a:p>
          <a:p xmlns:a="http://schemas.openxmlformats.org/drawingml/2006/main">
            <a:r>
              <a:t>      "imports": 873.89,</a:t>
            </a:r>
          </a:p>
          <a:p xmlns:a="http://schemas.openxmlformats.org/drawingml/2006/main">
            <a:r>
              <a:t>      "base": 7094.794000000002,</a:t>
            </a:r>
          </a:p>
          <a:p xmlns:a="http://schemas.openxmlformats.org/drawingml/2006/main">
            <a:r>
              <a:t>      "newbill": 2385.6753,</a:t>
            </a:r>
          </a:p>
          <a:p xmlns:a="http://schemas.openxmlformats.org/drawingml/2006/main">
            <a:r>
              <a:t>      "saving": 4709.118700000002</a:t>
            </a:r>
          </a:p>
          <a:p xmlns:a="http://schemas.openxmlformats.org/drawingml/2006/main">
            <a:r>
              <a:t>    },</a:t>
            </a:r>
          </a:p>
          <a:p xmlns:a="http://schemas.openxmlformats.org/drawingml/2006/main">
            <a:r>
              <a:t>    {</a:t>
            </a:r>
          </a:p>
          <a:p xmlns:a="http://schemas.openxmlformats.org/drawingml/2006/main">
            <a:r>
              <a:t>      "month": "Nov",</a:t>
            </a:r>
          </a:p>
          <a:p xmlns:a="http://schemas.openxmlformats.org/drawingml/2006/main">
            <a:r>
              <a:t>      "days": 30,</a:t>
            </a:r>
          </a:p>
          <a:p xmlns:a="http://schemas.openxmlformats.org/drawingml/2006/main">
            <a:r>
              <a:t>      "G": 50.22233333333334,</a:t>
            </a:r>
          </a:p>
          <a:p xmlns:a="http://schemas.openxmlformats.org/drawingml/2006/main">
            <a:r>
              <a:t>      "direct": 40.35,</a:t>
            </a:r>
          </a:p>
          <a:p xmlns:a="http://schemas.openxmlformats.org/drawingml/2006/main">
            <a:r>
              <a:t>      "surplus": 9.872333333333337,</a:t>
            </a:r>
          </a:p>
          <a:p xmlns:a="http://schemas.openxmlformats.org/drawingml/2006/main">
            <a:r>
              <a:t>      "battery": 9.37871666666667,</a:t>
            </a:r>
          </a:p>
          <a:p xmlns:a="http://schemas.openxmlformats.org/drawingml/2006/main">
            <a:r>
              <a:t>      "imports": 929.1385,</a:t>
            </a:r>
          </a:p>
          <a:p xmlns:a="http://schemas.openxmlformats.org/drawingml/2006/main">
            <a:r>
              <a:t>      "base": 6867.22,</a:t>
            </a:r>
          </a:p>
          <a:p xmlns:a="http://schemas.openxmlformats.org/drawingml/2006/main">
            <a:r>
              <a:t>      "newbill": 2538.7136450000003,</a:t>
            </a:r>
          </a:p>
          <a:p xmlns:a="http://schemas.openxmlformats.org/drawingml/2006/main">
            <a:r>
              <a:t>      "saving": 4328.5063549999995</a:t>
            </a:r>
          </a:p>
          <a:p xmlns:a="http://schemas.openxmlformats.org/drawingml/2006/main">
            <a:r>
              <a:t>    },</a:t>
            </a:r>
          </a:p>
          <a:p xmlns:a="http://schemas.openxmlformats.org/drawingml/2006/main">
            <a:r>
              <a:t>    {</a:t>
            </a:r>
          </a:p>
          <a:p xmlns:a="http://schemas.openxmlformats.org/drawingml/2006/main">
            <a:r>
              <a:t>      "month": "Dec",</a:t>
            </a:r>
          </a:p>
          <a:p xmlns:a="http://schemas.openxmlformats.org/drawingml/2006/main">
            <a:r>
              <a:t>      "days": 31,</a:t>
            </a:r>
          </a:p>
          <a:p xmlns:a="http://schemas.openxmlformats.org/drawingml/2006/main">
            <a:r>
              <a:t>      "G": 46.27096774193549,</a:t>
            </a:r>
          </a:p>
          <a:p xmlns:a="http://schemas.openxmlformats.org/drawingml/2006/main">
            <a:r>
              <a:t>      "direct": 40.35,</a:t>
            </a:r>
          </a:p>
          <a:p xmlns:a="http://schemas.openxmlformats.org/drawingml/2006/main">
            <a:r>
              <a:t>      "surplus": 5.920967741935492,</a:t>
            </a:r>
          </a:p>
          <a:p xmlns:a="http://schemas.openxmlformats.org/drawingml/2006/main">
            <a:r>
              <a:t>      "battery": 5.624919354838717,</a:t>
            </a:r>
          </a:p>
          <a:p xmlns:a="http://schemas.openxmlformats.org/drawingml/2006/main">
            <a:r>
              <a:t>      "imports": 1076.4774999999997,</a:t>
            </a:r>
          </a:p>
          <a:p xmlns:a="http://schemas.openxmlformats.org/drawingml/2006/main">
            <a:r>
              <a:t>      "base": 7094.794000000002,</a:t>
            </a:r>
          </a:p>
          <a:p xmlns:a="http://schemas.openxmlformats.org/drawingml/2006/main">
            <a:r>
              <a:t>      "newbill": 3075.666549999999,</a:t>
            </a:r>
          </a:p>
          <a:p xmlns:a="http://schemas.openxmlformats.org/drawingml/2006/main">
            <a:r>
              <a:t>      "saving": 4019.1274500000027</a:t>
            </a:r>
          </a:p>
          <a:p xmlns:a="http://schemas.openxmlformats.org/drawingml/2006/main">
            <a:r>
              <a:t>    }</a:t>
            </a:r>
          </a:p>
          <a:p xmlns:a="http://schemas.openxmlformats.org/drawingml/2006/main">
            <a:r>
              <a:t>  ],</a:t>
            </a:r>
          </a:p>
          <a:p xmlns:a="http://schemas.openxmlformats.org/drawingml/2006/main">
            <a:r>
              <a:t>  "annualSaving": 53709.35158,</a:t>
            </a:r>
          </a:p>
          <a:p xmlns:a="http://schemas.openxmlformats.org/drawingml/2006/main">
            <a:r>
              <a:t>  "averageSaving": 4475.779298333334,</a:t>
            </a:r>
          </a:p>
          <a:p xmlns:a="http://schemas.openxmlformats.org/drawingml/2006/main">
            <a:r>
              <a:t>  "payback": 7.340248735134701,</a:t>
            </a:r>
          </a:p>
          <a:p xmlns:a="http://schemas.openxmlformats.org/drawingml/2006/main">
            <a:r>
              <a:t>  "annualImports": 10829.596</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Same assumptions and calculation basis as El_Mo3alem_Juice_Shop_Solar_BESS.pptx, reviewed 30 Sep 2026. Baseline80.7 kWh/day,50/50,PV mean4.98,DoD80%,storage efficiency95% applied once at output. Prices are historical selling-price assumptions. Battery220 EUR/kWh*62EGP/EUR=13640EGP/kWh from Home_Storage slide15. Tariff source https://www.egyptera.org/en/TarrifApril2026.aspx . PV source JRC PVGIS5.3: https://re.jrc.ec.europa.eu/api/v5_3/PVcalc?lat=30.0444&amp;lon=31.2357&amp;peakpower=1&amp;loss=14&amp;angle=30&amp;aspect=0&amp;pvtechchoice=crystSi&amp;mountingplace=free&amp;outputformat=json . SARAH3/ERA5 2005–2023. 30degree south-facing free-standing crystalline silicon,14% entered PV loss. Solar-only charging, zero export value. No maintenance, insurance, finance, replacement, degradation or price escalation. Annual3EGP stamp excluded equally. Monthly-average days rather than hourly dispatch, daily demand constant over365days. Unrounded values used, display rounding may differ. Billing-period30days assumed. Inverter and roof sizing provisional. Warranty10years,6000cycles@80%DoD from original source.</a:t>
            </a:r>
          </a:p>
          <a:p xmlns:a="http://schemas.openxmlformats.org/drawingml/2006/main">
            <a:r>
              <a:t>{</a:t>
            </a:r>
          </a:p>
          <a:p xmlns:a="http://schemas.openxmlformats.org/drawingml/2006/main">
            <a:r>
              <a:t>  "option": "B",</a:t>
            </a:r>
          </a:p>
          <a:p xmlns:a="http://schemas.openxmlformats.org/drawingml/2006/main">
            <a:r>
              <a:t>  "C": 16,</a:t>
            </a:r>
          </a:p>
          <a:p xmlns:a="http://schemas.openxmlformats.org/drawingml/2006/main">
            <a:r>
              <a:t>  "P": 11,</a:t>
            </a:r>
          </a:p>
          <a:p xmlns:a="http://schemas.openxmlformats.org/drawingml/2006/main">
            <a:r>
              <a:t>  "inv": 12,</a:t>
            </a:r>
          </a:p>
          <a:p xmlns:a="http://schemas.openxmlformats.org/drawingml/2006/main">
            <a:r>
              <a:t>  "price": 394240,</a:t>
            </a:r>
          </a:p>
          <a:p xmlns:a="http://schemas.openxmlformats.org/drawingml/2006/main">
            <a:r>
              <a:t>  "reference": {</a:t>
            </a:r>
          </a:p>
          <a:p xmlns:a="http://schemas.openxmlformats.org/drawingml/2006/main">
            <a:r>
              <a:t>    "G": 54.78,</a:t>
            </a:r>
          </a:p>
          <a:p xmlns:a="http://schemas.openxmlformats.org/drawingml/2006/main">
            <a:r>
              <a:t>    "direct": 40.35,</a:t>
            </a:r>
          </a:p>
          <a:p xmlns:a="http://schemas.openxmlformats.org/drawingml/2006/main">
            <a:r>
              <a:t>    "surplus": 14.43,</a:t>
            </a:r>
          </a:p>
          <a:p xmlns:a="http://schemas.openxmlformats.org/drawingml/2006/main">
            <a:r>
              <a:t>    "battery": 12.16,</a:t>
            </a:r>
          </a:p>
          <a:p xmlns:a="http://schemas.openxmlformats.org/drawingml/2006/main">
            <a:r>
              <a:t>    "imports": 845.7,</a:t>
            </a:r>
          </a:p>
          <a:p xmlns:a="http://schemas.openxmlformats.org/drawingml/2006/main">
            <a:r>
              <a:t>    "base": 6867.22,</a:t>
            </a:r>
          </a:p>
          <a:p xmlns:a="http://schemas.openxmlformats.org/drawingml/2006/main">
            <a:r>
              <a:t>    "newbill": 2307.5890000000004,</a:t>
            </a:r>
          </a:p>
          <a:p xmlns:a="http://schemas.openxmlformats.org/drawingml/2006/main">
            <a:r>
              <a:t>    "saving": 4559.630999999999</a:t>
            </a:r>
          </a:p>
          <a:p xmlns:a="http://schemas.openxmlformats.org/drawingml/2006/main">
            <a:r>
              <a:t>  },</a:t>
            </a:r>
          </a:p>
          <a:p xmlns:a="http://schemas.openxmlformats.org/drawingml/2006/main">
            <a:r>
              <a:t>  "monthly": [</a:t>
            </a:r>
          </a:p>
          <a:p xmlns:a="http://schemas.openxmlformats.org/drawingml/2006/main">
            <a:r>
              <a:t>    {</a:t>
            </a:r>
          </a:p>
          <a:p xmlns:a="http://schemas.openxmlformats.org/drawingml/2006/main">
            <a:r>
              <a:t>      "month": "Jan",</a:t>
            </a:r>
          </a:p>
          <a:p xmlns:a="http://schemas.openxmlformats.org/drawingml/2006/main">
            <a:r>
              <a:t>      "days": 31,</a:t>
            </a:r>
          </a:p>
          <a:p xmlns:a="http://schemas.openxmlformats.org/drawingml/2006/main">
            <a:r>
              <a:t>      "G": 46.59032258064517,</a:t>
            </a:r>
          </a:p>
          <a:p xmlns:a="http://schemas.openxmlformats.org/drawingml/2006/main">
            <a:r>
              <a:t>      "direct": 40.35,</a:t>
            </a:r>
          </a:p>
          <a:p xmlns:a="http://schemas.openxmlformats.org/drawingml/2006/main">
            <a:r>
              <a:t>      "surplus": 6.24032258064517,</a:t>
            </a:r>
          </a:p>
          <a:p xmlns:a="http://schemas.openxmlformats.org/drawingml/2006/main">
            <a:r>
              <a:t>      "battery": 5.928306451612912,</a:t>
            </a:r>
          </a:p>
          <a:p xmlns:a="http://schemas.openxmlformats.org/drawingml/2006/main">
            <a:r>
              <a:t>      "imports": 1067.0724999999998,</a:t>
            </a:r>
          </a:p>
          <a:p xmlns:a="http://schemas.openxmlformats.org/drawingml/2006/main">
            <a:r>
              <a:t>      "base": 7094.794000000002,</a:t>
            </a:r>
          </a:p>
          <a:p xmlns:a="http://schemas.openxmlformats.org/drawingml/2006/main">
            <a:r>
              <a:t>      "newbill": 3049.1444499999993,</a:t>
            </a:r>
          </a:p>
          <a:p xmlns:a="http://schemas.openxmlformats.org/drawingml/2006/main">
            <a:r>
              <a:t>      "saving": 4045.6495500000024</a:t>
            </a:r>
          </a:p>
          <a:p xmlns:a="http://schemas.openxmlformats.org/drawingml/2006/main">
            <a:r>
              <a:t>    },</a:t>
            </a:r>
          </a:p>
          <a:p xmlns:a="http://schemas.openxmlformats.org/drawingml/2006/main">
            <a:r>
              <a:t>    {</a:t>
            </a:r>
          </a:p>
          <a:p xmlns:a="http://schemas.openxmlformats.org/drawingml/2006/main">
            <a:r>
              <a:t>      "month": "Feb",</a:t>
            </a:r>
          </a:p>
          <a:p xmlns:a="http://schemas.openxmlformats.org/drawingml/2006/main">
            <a:r>
              <a:t>      "days": 28,</a:t>
            </a:r>
          </a:p>
          <a:p xmlns:a="http://schemas.openxmlformats.org/drawingml/2006/main">
            <a:r>
              <a:t>      "G": 50.85535714285714,</a:t>
            </a:r>
          </a:p>
          <a:p xmlns:a="http://schemas.openxmlformats.org/drawingml/2006/main">
            <a:r>
              <a:t>      "direct": 40.35,</a:t>
            </a:r>
          </a:p>
          <a:p xmlns:a="http://schemas.openxmlformats.org/drawingml/2006/main">
            <a:r>
              <a:t>      "surplus": 10.505357142857136,</a:t>
            </a:r>
          </a:p>
          <a:p xmlns:a="http://schemas.openxmlformats.org/drawingml/2006/main">
            <a:r>
              <a:t>      "battery": 9.980089285714278,</a:t>
            </a:r>
          </a:p>
          <a:p xmlns:a="http://schemas.openxmlformats.org/drawingml/2006/main">
            <a:r>
              <a:t>      "imports": 850.3575000000003,</a:t>
            </a:r>
          </a:p>
          <a:p xmlns:a="http://schemas.openxmlformats.org/drawingml/2006/main">
            <a:r>
              <a:t>      "base": 6412.071999999999,</a:t>
            </a:r>
          </a:p>
          <a:p xmlns:a="http://schemas.openxmlformats.org/drawingml/2006/main">
            <a:r>
              <a:t>      "newbill": 2320.490275000001,</a:t>
            </a:r>
          </a:p>
          <a:p xmlns:a="http://schemas.openxmlformats.org/drawingml/2006/main">
            <a:r>
              <a:t>      "saving": 4091.581724999998</a:t>
            </a:r>
          </a:p>
          <a:p xmlns:a="http://schemas.openxmlformats.org/drawingml/2006/main">
            <a:r>
              <a:t>    },</a:t>
            </a:r>
          </a:p>
          <a:p xmlns:a="http://schemas.openxmlformats.org/drawingml/2006/main">
            <a:r>
              <a:t>    {</a:t>
            </a:r>
          </a:p>
          <a:p xmlns:a="http://schemas.openxmlformats.org/drawingml/2006/main">
            <a:r>
              <a:t>      "month": "Mar",</a:t>
            </a:r>
          </a:p>
          <a:p xmlns:a="http://schemas.openxmlformats.org/drawingml/2006/main">
            <a:r>
              <a:t>      "days": 31,</a:t>
            </a:r>
          </a:p>
          <a:p xmlns:a="http://schemas.openxmlformats.org/drawingml/2006/main">
            <a:r>
              <a:t>      "G": 57.15032258064516,</a:t>
            </a:r>
          </a:p>
          <a:p xmlns:a="http://schemas.openxmlformats.org/drawingml/2006/main">
            <a:r>
              <a:t>      "direct": 40.35,</a:t>
            </a:r>
          </a:p>
          <a:p xmlns:a="http://schemas.openxmlformats.org/drawingml/2006/main">
            <a:r>
              <a:t>      "surplus": 16.800322580645158,</a:t>
            </a:r>
          </a:p>
          <a:p xmlns:a="http://schemas.openxmlformats.org/drawingml/2006/main">
            <a:r>
              <a:t>      "battery": 12.16,</a:t>
            </a:r>
          </a:p>
          <a:p xmlns:a="http://schemas.openxmlformats.org/drawingml/2006/main">
            <a:r>
              <a:t>      "imports": 873.89,</a:t>
            </a:r>
          </a:p>
          <a:p xmlns:a="http://schemas.openxmlformats.org/drawingml/2006/main">
            <a:r>
              <a:t>      "base": 7094.794000000002,</a:t>
            </a:r>
          </a:p>
          <a:p xmlns:a="http://schemas.openxmlformats.org/drawingml/2006/main">
            <a:r>
              <a:t>      "newbill": 2385.6753,</a:t>
            </a:r>
          </a:p>
          <a:p xmlns:a="http://schemas.openxmlformats.org/drawingml/2006/main">
            <a:r>
              <a:t>      "saving": 4709.118700000002</a:t>
            </a:r>
          </a:p>
          <a:p xmlns:a="http://schemas.openxmlformats.org/drawingml/2006/main">
            <a:r>
              <a:t>    },</a:t>
            </a:r>
          </a:p>
          <a:p xmlns:a="http://schemas.openxmlformats.org/drawingml/2006/main">
            <a:r>
              <a:t>    {</a:t>
            </a:r>
          </a:p>
          <a:p xmlns:a="http://schemas.openxmlformats.org/drawingml/2006/main">
            <a:r>
              <a:t>      "month": "Apr",</a:t>
            </a:r>
          </a:p>
          <a:p xmlns:a="http://schemas.openxmlformats.org/drawingml/2006/main">
            <a:r>
              <a:t>      "days": 30,</a:t>
            </a:r>
          </a:p>
          <a:p xmlns:a="http://schemas.openxmlformats.org/drawingml/2006/main">
            <a:r>
              <a:t>      "G": 58.982,</a:t>
            </a:r>
          </a:p>
          <a:p xmlns:a="http://schemas.openxmlformats.org/drawingml/2006/main">
            <a:r>
              <a:t>      "direct": 40.35,</a:t>
            </a:r>
          </a:p>
          <a:p xmlns:a="http://schemas.openxmlformats.org/drawingml/2006/main">
            <a:r>
              <a:t>      "surplus": 18.631999999999998,</a:t>
            </a:r>
          </a:p>
          <a:p xmlns:a="http://schemas.openxmlformats.org/drawingml/2006/main">
            <a:r>
              <a:t>      "battery": 12.16,</a:t>
            </a:r>
          </a:p>
          <a:p xmlns:a="http://schemas.openxmlformats.org/drawingml/2006/main">
            <a:r>
              <a:t>      "imports": 845.7,</a:t>
            </a:r>
          </a:p>
          <a:p xmlns:a="http://schemas.openxmlformats.org/drawingml/2006/main">
            <a:r>
              <a:t>      "base": 6867.22,</a:t>
            </a:r>
          </a:p>
          <a:p xmlns:a="http://schemas.openxmlformats.org/drawingml/2006/main">
            <a:r>
              <a:t>      "newbill": 2307.5890000000004,</a:t>
            </a:r>
          </a:p>
          <a:p xmlns:a="http://schemas.openxmlformats.org/drawingml/2006/main">
            <a:r>
              <a:t>      "saving": 4559.630999999999</a:t>
            </a:r>
          </a:p>
          <a:p xmlns:a="http://schemas.openxmlformats.org/drawingml/2006/main">
            <a:r>
              <a:t>    },</a:t>
            </a:r>
          </a:p>
          <a:p xmlns:a="http://schemas.openxmlformats.org/drawingml/2006/main">
            <a:r>
              <a:t>    {</a:t>
            </a:r>
          </a:p>
          <a:p xmlns:a="http://schemas.openxmlformats.org/drawingml/2006/main">
            <a:r>
              <a:t>      "month": "May",</a:t>
            </a:r>
          </a:p>
          <a:p xmlns:a="http://schemas.openxmlformats.org/drawingml/2006/main">
            <a:r>
              <a:t>      "days": 31,</a:t>
            </a:r>
          </a:p>
          <a:p xmlns:a="http://schemas.openxmlformats.org/drawingml/2006/main">
            <a:r>
              <a:t>      "G": 57.73935483870968,</a:t>
            </a:r>
          </a:p>
          <a:p xmlns:a="http://schemas.openxmlformats.org/drawingml/2006/main">
            <a:r>
              <a:t>      "direct": 40.35,</a:t>
            </a:r>
          </a:p>
          <a:p xmlns:a="http://schemas.openxmlformats.org/drawingml/2006/main">
            <a:r>
              <a:t>      "surplus": 17.38935483870968,</a:t>
            </a:r>
          </a:p>
          <a:p xmlns:a="http://schemas.openxmlformats.org/drawingml/2006/main">
            <a:r>
              <a:t>      "battery": 12.16,</a:t>
            </a:r>
          </a:p>
          <a:p xmlns:a="http://schemas.openxmlformats.org/drawingml/2006/main">
            <a:r>
              <a:t>      "imports": 873.89,</a:t>
            </a:r>
          </a:p>
          <a:p xmlns:a="http://schemas.openxmlformats.org/drawingml/2006/main">
            <a:r>
              <a:t>      "base": 7094.794000000002,</a:t>
            </a:r>
          </a:p>
          <a:p xmlns:a="http://schemas.openxmlformats.org/drawingml/2006/main">
            <a:r>
              <a:t>      "newbill": 2385.6753,</a:t>
            </a:r>
          </a:p>
          <a:p xmlns:a="http://schemas.openxmlformats.org/drawingml/2006/main">
            <a:r>
              <a:t>      "saving": 4709.118700000002</a:t>
            </a:r>
          </a:p>
          <a:p xmlns:a="http://schemas.openxmlformats.org/drawingml/2006/main">
            <a:r>
              <a:t>    },</a:t>
            </a:r>
          </a:p>
          <a:p xmlns:a="http://schemas.openxmlformats.org/drawingml/2006/main">
            <a:r>
              <a:t>    {</a:t>
            </a:r>
          </a:p>
          <a:p xmlns:a="http://schemas.openxmlformats.org/drawingml/2006/main">
            <a:r>
              <a:t>      "month": "Jun",</a:t>
            </a:r>
          </a:p>
          <a:p xmlns:a="http://schemas.openxmlformats.org/drawingml/2006/main">
            <a:r>
              <a:t>      "days": 30,</a:t>
            </a:r>
          </a:p>
          <a:p xmlns:a="http://schemas.openxmlformats.org/drawingml/2006/main">
            <a:r>
              <a:t>      "G": 58.16066666666667,</a:t>
            </a:r>
          </a:p>
          <a:p xmlns:a="http://schemas.openxmlformats.org/drawingml/2006/main">
            <a:r>
              <a:t>      "direct": 40.35,</a:t>
            </a:r>
          </a:p>
          <a:p xmlns:a="http://schemas.openxmlformats.org/drawingml/2006/main">
            <a:r>
              <a:t>      "surplus": 17.81066666666667,</a:t>
            </a:r>
          </a:p>
          <a:p xmlns:a="http://schemas.openxmlformats.org/drawingml/2006/main">
            <a:r>
              <a:t>      "battery": 12.16,</a:t>
            </a:r>
          </a:p>
          <a:p xmlns:a="http://schemas.openxmlformats.org/drawingml/2006/main">
            <a:r>
              <a:t>      "imports": 845.7,</a:t>
            </a:r>
          </a:p>
          <a:p xmlns:a="http://schemas.openxmlformats.org/drawingml/2006/main">
            <a:r>
              <a:t>      "base": 6867.22,</a:t>
            </a:r>
          </a:p>
          <a:p xmlns:a="http://schemas.openxmlformats.org/drawingml/2006/main">
            <a:r>
              <a:t>      "newbill": 2307.5890000000004,</a:t>
            </a:r>
          </a:p>
          <a:p xmlns:a="http://schemas.openxmlformats.org/drawingml/2006/main">
            <a:r>
              <a:t>      "saving": 4559.630999999999</a:t>
            </a:r>
          </a:p>
          <a:p xmlns:a="http://schemas.openxmlformats.org/drawingml/2006/main">
            <a:r>
              <a:t>    },</a:t>
            </a:r>
          </a:p>
          <a:p xmlns:a="http://schemas.openxmlformats.org/drawingml/2006/main">
            <a:r>
              <a:t>    {</a:t>
            </a:r>
          </a:p>
          <a:p xmlns:a="http://schemas.openxmlformats.org/drawingml/2006/main">
            <a:r>
              <a:t>      "month": "Jul",</a:t>
            </a:r>
          </a:p>
          <a:p xmlns:a="http://schemas.openxmlformats.org/drawingml/2006/main">
            <a:r>
              <a:t>      "days": 31,</a:t>
            </a:r>
          </a:p>
          <a:p xmlns:a="http://schemas.openxmlformats.org/drawingml/2006/main">
            <a:r>
              <a:t>      "G": 58.42774193548387,</a:t>
            </a:r>
          </a:p>
          <a:p xmlns:a="http://schemas.openxmlformats.org/drawingml/2006/main">
            <a:r>
              <a:t>      "direct": 40.35,</a:t>
            </a:r>
          </a:p>
          <a:p xmlns:a="http://schemas.openxmlformats.org/drawingml/2006/main">
            <a:r>
              <a:t>      "surplus": 18.07774193548387,</a:t>
            </a:r>
          </a:p>
          <a:p xmlns:a="http://schemas.openxmlformats.org/drawingml/2006/main">
            <a:r>
              <a:t>      "battery": 12.16,</a:t>
            </a:r>
          </a:p>
          <a:p xmlns:a="http://schemas.openxmlformats.org/drawingml/2006/main">
            <a:r>
              <a:t>      "imports": 873.89,</a:t>
            </a:r>
          </a:p>
          <a:p xmlns:a="http://schemas.openxmlformats.org/drawingml/2006/main">
            <a:r>
              <a:t>      "base": 7094.794000000002,</a:t>
            </a:r>
          </a:p>
          <a:p xmlns:a="http://schemas.openxmlformats.org/drawingml/2006/main">
            <a:r>
              <a:t>      "newbill": 2385.6753,</a:t>
            </a:r>
          </a:p>
          <a:p xmlns:a="http://schemas.openxmlformats.org/drawingml/2006/main">
            <a:r>
              <a:t>      "saving": 4709.118700000002</a:t>
            </a:r>
          </a:p>
          <a:p xmlns:a="http://schemas.openxmlformats.org/drawingml/2006/main">
            <a:r>
              <a:t>    },</a:t>
            </a:r>
          </a:p>
          <a:p xmlns:a="http://schemas.openxmlformats.org/drawingml/2006/main">
            <a:r>
              <a:t>    {</a:t>
            </a:r>
          </a:p>
          <a:p xmlns:a="http://schemas.openxmlformats.org/drawingml/2006/main">
            <a:r>
              <a:t>      "month": "Aug",</a:t>
            </a:r>
          </a:p>
          <a:p xmlns:a="http://schemas.openxmlformats.org/drawingml/2006/main">
            <a:r>
              <a:t>      "days": 31,</a:t>
            </a:r>
          </a:p>
          <a:p xmlns:a="http://schemas.openxmlformats.org/drawingml/2006/main">
            <a:r>
              <a:t>      "G": 59.18709677419355,</a:t>
            </a:r>
          </a:p>
          <a:p xmlns:a="http://schemas.openxmlformats.org/drawingml/2006/main">
            <a:r>
              <a:t>      "direct": 40.35,</a:t>
            </a:r>
          </a:p>
          <a:p xmlns:a="http://schemas.openxmlformats.org/drawingml/2006/main">
            <a:r>
              <a:t>      "surplus": 18.837096774193547,</a:t>
            </a:r>
          </a:p>
          <a:p xmlns:a="http://schemas.openxmlformats.org/drawingml/2006/main">
            <a:r>
              <a:t>      "battery": 12.16,</a:t>
            </a:r>
          </a:p>
          <a:p xmlns:a="http://schemas.openxmlformats.org/drawingml/2006/main">
            <a:r>
              <a:t>      "imports": 873.89,</a:t>
            </a:r>
          </a:p>
          <a:p xmlns:a="http://schemas.openxmlformats.org/drawingml/2006/main">
            <a:r>
              <a:t>      "base": 7094.794000000002,</a:t>
            </a:r>
          </a:p>
          <a:p xmlns:a="http://schemas.openxmlformats.org/drawingml/2006/main">
            <a:r>
              <a:t>      "newbill": 2385.6753,</a:t>
            </a:r>
          </a:p>
          <a:p xmlns:a="http://schemas.openxmlformats.org/drawingml/2006/main">
            <a:r>
              <a:t>      "saving": 4709.118700000002</a:t>
            </a:r>
          </a:p>
          <a:p xmlns:a="http://schemas.openxmlformats.org/drawingml/2006/main">
            <a:r>
              <a:t>    },</a:t>
            </a:r>
          </a:p>
          <a:p xmlns:a="http://schemas.openxmlformats.org/drawingml/2006/main">
            <a:r>
              <a:t>    {</a:t>
            </a:r>
          </a:p>
          <a:p xmlns:a="http://schemas.openxmlformats.org/drawingml/2006/main">
            <a:r>
              <a:t>      "month": "Sep",</a:t>
            </a:r>
          </a:p>
          <a:p xmlns:a="http://schemas.openxmlformats.org/drawingml/2006/main">
            <a:r>
              <a:t>      "days": 30,</a:t>
            </a:r>
          </a:p>
          <a:p xmlns:a="http://schemas.openxmlformats.org/drawingml/2006/main">
            <a:r>
              <a:t>      "G": 59.03333333333333,</a:t>
            </a:r>
          </a:p>
          <a:p xmlns:a="http://schemas.openxmlformats.org/drawingml/2006/main">
            <a:r>
              <a:t>      "direct": 40.35,</a:t>
            </a:r>
          </a:p>
          <a:p xmlns:a="http://schemas.openxmlformats.org/drawingml/2006/main">
            <a:r>
              <a:t>      "surplus": 18.68333333333333,</a:t>
            </a:r>
          </a:p>
          <a:p xmlns:a="http://schemas.openxmlformats.org/drawingml/2006/main">
            <a:r>
              <a:t>      "battery": 12.16,</a:t>
            </a:r>
          </a:p>
          <a:p xmlns:a="http://schemas.openxmlformats.org/drawingml/2006/main">
            <a:r>
              <a:t>      "imports": 845.7,</a:t>
            </a:r>
          </a:p>
          <a:p xmlns:a="http://schemas.openxmlformats.org/drawingml/2006/main">
            <a:r>
              <a:t>      "base": 6867.22,</a:t>
            </a:r>
          </a:p>
          <a:p xmlns:a="http://schemas.openxmlformats.org/drawingml/2006/main">
            <a:r>
              <a:t>      "newbill": 2307.5890000000004,</a:t>
            </a:r>
          </a:p>
          <a:p xmlns:a="http://schemas.openxmlformats.org/drawingml/2006/main">
            <a:r>
              <a:t>      "saving": 4559.630999999999</a:t>
            </a:r>
          </a:p>
          <a:p xmlns:a="http://schemas.openxmlformats.org/drawingml/2006/main">
            <a:r>
              <a:t>    },</a:t>
            </a:r>
          </a:p>
          <a:p xmlns:a="http://schemas.openxmlformats.org/drawingml/2006/main">
            <a:r>
              <a:t>    {</a:t>
            </a:r>
          </a:p>
          <a:p xmlns:a="http://schemas.openxmlformats.org/drawingml/2006/main">
            <a:r>
              <a:t>      "month": "Oct",</a:t>
            </a:r>
          </a:p>
          <a:p xmlns:a="http://schemas.openxmlformats.org/drawingml/2006/main">
            <a:r>
              <a:t>      "days": 31,</a:t>
            </a:r>
          </a:p>
          <a:p xmlns:a="http://schemas.openxmlformats.org/drawingml/2006/main">
            <a:r>
              <a:t>      "G": 54.833225806451615,</a:t>
            </a:r>
          </a:p>
          <a:p xmlns:a="http://schemas.openxmlformats.org/drawingml/2006/main">
            <a:r>
              <a:t>      "direct": 40.35,</a:t>
            </a:r>
          </a:p>
          <a:p xmlns:a="http://schemas.openxmlformats.org/drawingml/2006/main">
            <a:r>
              <a:t>      "surplus": 14.483225806451614,</a:t>
            </a:r>
          </a:p>
          <a:p xmlns:a="http://schemas.openxmlformats.org/drawingml/2006/main">
            <a:r>
              <a:t>      "battery": 12.16,</a:t>
            </a:r>
          </a:p>
          <a:p xmlns:a="http://schemas.openxmlformats.org/drawingml/2006/main">
            <a:r>
              <a:t>      "imports": 873.89,</a:t>
            </a:r>
          </a:p>
          <a:p xmlns:a="http://schemas.openxmlformats.org/drawingml/2006/main">
            <a:r>
              <a:t>      "base": 7094.794000000002,</a:t>
            </a:r>
          </a:p>
          <a:p xmlns:a="http://schemas.openxmlformats.org/drawingml/2006/main">
            <a:r>
              <a:t>      "newbill": 2385.6753,</a:t>
            </a:r>
          </a:p>
          <a:p xmlns:a="http://schemas.openxmlformats.org/drawingml/2006/main">
            <a:r>
              <a:t>      "saving": 4709.118700000002</a:t>
            </a:r>
          </a:p>
          <a:p xmlns:a="http://schemas.openxmlformats.org/drawingml/2006/main">
            <a:r>
              <a:t>    },</a:t>
            </a:r>
          </a:p>
          <a:p xmlns:a="http://schemas.openxmlformats.org/drawingml/2006/main">
            <a:r>
              <a:t>    {</a:t>
            </a:r>
          </a:p>
          <a:p xmlns:a="http://schemas.openxmlformats.org/drawingml/2006/main">
            <a:r>
              <a:t>      "month": "Nov",</a:t>
            </a:r>
          </a:p>
          <a:p xmlns:a="http://schemas.openxmlformats.org/drawingml/2006/main">
            <a:r>
              <a:t>      "days": 30,</a:t>
            </a:r>
          </a:p>
          <a:p xmlns:a="http://schemas.openxmlformats.org/drawingml/2006/main">
            <a:r>
              <a:t>      "G": 50.22233333333334,</a:t>
            </a:r>
          </a:p>
          <a:p xmlns:a="http://schemas.openxmlformats.org/drawingml/2006/main">
            <a:r>
              <a:t>      "direct": 40.35,</a:t>
            </a:r>
          </a:p>
          <a:p xmlns:a="http://schemas.openxmlformats.org/drawingml/2006/main">
            <a:r>
              <a:t>      "surplus": 9.872333333333337,</a:t>
            </a:r>
          </a:p>
          <a:p xmlns:a="http://schemas.openxmlformats.org/drawingml/2006/main">
            <a:r>
              <a:t>      "battery": 9.37871666666667,</a:t>
            </a:r>
          </a:p>
          <a:p xmlns:a="http://schemas.openxmlformats.org/drawingml/2006/main">
            <a:r>
              <a:t>      "imports": 929.1385,</a:t>
            </a:r>
          </a:p>
          <a:p xmlns:a="http://schemas.openxmlformats.org/drawingml/2006/main">
            <a:r>
              <a:t>      "base": 6867.22,</a:t>
            </a:r>
          </a:p>
          <a:p xmlns:a="http://schemas.openxmlformats.org/drawingml/2006/main">
            <a:r>
              <a:t>      "newbill": 2538.7136450000003,</a:t>
            </a:r>
          </a:p>
          <a:p xmlns:a="http://schemas.openxmlformats.org/drawingml/2006/main">
            <a:r>
              <a:t>      "saving": 4328.5063549999995</a:t>
            </a:r>
          </a:p>
          <a:p xmlns:a="http://schemas.openxmlformats.org/drawingml/2006/main">
            <a:r>
              <a:t>    },</a:t>
            </a:r>
          </a:p>
          <a:p xmlns:a="http://schemas.openxmlformats.org/drawingml/2006/main">
            <a:r>
              <a:t>    {</a:t>
            </a:r>
          </a:p>
          <a:p xmlns:a="http://schemas.openxmlformats.org/drawingml/2006/main">
            <a:r>
              <a:t>      "month": "Dec",</a:t>
            </a:r>
          </a:p>
          <a:p xmlns:a="http://schemas.openxmlformats.org/drawingml/2006/main">
            <a:r>
              <a:t>      "days": 31,</a:t>
            </a:r>
          </a:p>
          <a:p xmlns:a="http://schemas.openxmlformats.org/drawingml/2006/main">
            <a:r>
              <a:t>      "G": 46.27096774193549,</a:t>
            </a:r>
          </a:p>
          <a:p xmlns:a="http://schemas.openxmlformats.org/drawingml/2006/main">
            <a:r>
              <a:t>      "direct": 40.35,</a:t>
            </a:r>
          </a:p>
          <a:p xmlns:a="http://schemas.openxmlformats.org/drawingml/2006/main">
            <a:r>
              <a:t>      "surplus": 5.920967741935492,</a:t>
            </a:r>
          </a:p>
          <a:p xmlns:a="http://schemas.openxmlformats.org/drawingml/2006/main">
            <a:r>
              <a:t>      "battery": 5.624919354838717,</a:t>
            </a:r>
          </a:p>
          <a:p xmlns:a="http://schemas.openxmlformats.org/drawingml/2006/main">
            <a:r>
              <a:t>      "imports": 1076.4774999999997,</a:t>
            </a:r>
          </a:p>
          <a:p xmlns:a="http://schemas.openxmlformats.org/drawingml/2006/main">
            <a:r>
              <a:t>      "base": 7094.794000000002,</a:t>
            </a:r>
          </a:p>
          <a:p xmlns:a="http://schemas.openxmlformats.org/drawingml/2006/main">
            <a:r>
              <a:t>      "newbill": 3075.666549999999,</a:t>
            </a:r>
          </a:p>
          <a:p xmlns:a="http://schemas.openxmlformats.org/drawingml/2006/main">
            <a:r>
              <a:t>      "saving": 4019.1274500000027</a:t>
            </a:r>
          </a:p>
          <a:p xmlns:a="http://schemas.openxmlformats.org/drawingml/2006/main">
            <a:r>
              <a:t>    }</a:t>
            </a:r>
          </a:p>
          <a:p xmlns:a="http://schemas.openxmlformats.org/drawingml/2006/main">
            <a:r>
              <a:t>  ],</a:t>
            </a:r>
          </a:p>
          <a:p xmlns:a="http://schemas.openxmlformats.org/drawingml/2006/main">
            <a:r>
              <a:t>  "annualSaving": 53709.35158,</a:t>
            </a:r>
          </a:p>
          <a:p xmlns:a="http://schemas.openxmlformats.org/drawingml/2006/main">
            <a:r>
              <a:t>  "averageSaving": 4475.779298333334,</a:t>
            </a:r>
          </a:p>
          <a:p xmlns:a="http://schemas.openxmlformats.org/drawingml/2006/main">
            <a:r>
              <a:t>  "payback": 7.340248735134701,</a:t>
            </a:r>
          </a:p>
          <a:p xmlns:a="http://schemas.openxmlformats.org/drawingml/2006/main">
            <a:r>
              <a:t>  "annualImports": 10829.596</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Same assumptions and calculation basis as El_Mo3alem_Juice_Shop_Solar_BESS.pptx, reviewed 30 Sep 2026. Baseline80.7 kWh/day,50/50,PV mean4.98,DoD80%,storage efficiency95% applied once at output. Prices are historical selling-price assumptions. Battery220 EUR/kWh*62EGP/EUR=13640EGP/kWh from Home_Storage slide15. Tariff source https://www.egyptera.org/en/TarrifApril2026.aspx . PV source JRC PVGIS5.3: https://re.jrc.ec.europa.eu/api/v5_3/PVcalc?lat=30.0444&amp;lon=31.2357&amp;peakpower=1&amp;loss=14&amp;angle=30&amp;aspect=0&amp;pvtechchoice=crystSi&amp;mountingplace=free&amp;outputformat=json . SARAH3/ERA5 2005–2023. 30degree south-facing free-standing crystalline silicon,14% entered PV loss. Solar-only charging, zero export value. No maintenance, insurance, finance, replacement, degradation or price escalation. Annual3EGP stamp excluded equally. Monthly-average days rather than hourly dispatch, daily demand constant over365days. Unrounded values used, display rounding may differ. Billing-period30days assumed. Inverter and roof sizing provisional. Warranty10years,6000cycles@80%DoD from original source.</a:t>
            </a:r>
          </a:p>
          <a:p xmlns:a="http://schemas.openxmlformats.org/drawingml/2006/main">
            <a:r>
              <a:t>{</a:t>
            </a:r>
          </a:p>
          <a:p xmlns:a="http://schemas.openxmlformats.org/drawingml/2006/main">
            <a:r>
              <a:t>  "option": "B",</a:t>
            </a:r>
          </a:p>
          <a:p xmlns:a="http://schemas.openxmlformats.org/drawingml/2006/main">
            <a:r>
              <a:t>  "C": 16,</a:t>
            </a:r>
          </a:p>
          <a:p xmlns:a="http://schemas.openxmlformats.org/drawingml/2006/main">
            <a:r>
              <a:t>  "P": 11,</a:t>
            </a:r>
          </a:p>
          <a:p xmlns:a="http://schemas.openxmlformats.org/drawingml/2006/main">
            <a:r>
              <a:t>  "inv": 12,</a:t>
            </a:r>
          </a:p>
          <a:p xmlns:a="http://schemas.openxmlformats.org/drawingml/2006/main">
            <a:r>
              <a:t>  "price": 394240,</a:t>
            </a:r>
          </a:p>
          <a:p xmlns:a="http://schemas.openxmlformats.org/drawingml/2006/main">
            <a:r>
              <a:t>  "reference": {</a:t>
            </a:r>
          </a:p>
          <a:p xmlns:a="http://schemas.openxmlformats.org/drawingml/2006/main">
            <a:r>
              <a:t>    "G": 54.78,</a:t>
            </a:r>
          </a:p>
          <a:p xmlns:a="http://schemas.openxmlformats.org/drawingml/2006/main">
            <a:r>
              <a:t>    "direct": 40.35,</a:t>
            </a:r>
          </a:p>
          <a:p xmlns:a="http://schemas.openxmlformats.org/drawingml/2006/main">
            <a:r>
              <a:t>    "surplus": 14.43,</a:t>
            </a:r>
          </a:p>
          <a:p xmlns:a="http://schemas.openxmlformats.org/drawingml/2006/main">
            <a:r>
              <a:t>    "battery": 12.16,</a:t>
            </a:r>
          </a:p>
          <a:p xmlns:a="http://schemas.openxmlformats.org/drawingml/2006/main">
            <a:r>
              <a:t>    "imports": 845.7,</a:t>
            </a:r>
          </a:p>
          <a:p xmlns:a="http://schemas.openxmlformats.org/drawingml/2006/main">
            <a:r>
              <a:t>    "base": 6867.22,</a:t>
            </a:r>
          </a:p>
          <a:p xmlns:a="http://schemas.openxmlformats.org/drawingml/2006/main">
            <a:r>
              <a:t>    "newbill": 2307.5890000000004,</a:t>
            </a:r>
          </a:p>
          <a:p xmlns:a="http://schemas.openxmlformats.org/drawingml/2006/main">
            <a:r>
              <a:t>    "saving": 4559.630999999999</a:t>
            </a:r>
          </a:p>
          <a:p xmlns:a="http://schemas.openxmlformats.org/drawingml/2006/main">
            <a:r>
              <a:t>  },</a:t>
            </a:r>
          </a:p>
          <a:p xmlns:a="http://schemas.openxmlformats.org/drawingml/2006/main">
            <a:r>
              <a:t>  "monthly": [</a:t>
            </a:r>
          </a:p>
          <a:p xmlns:a="http://schemas.openxmlformats.org/drawingml/2006/main">
            <a:r>
              <a:t>    {</a:t>
            </a:r>
          </a:p>
          <a:p xmlns:a="http://schemas.openxmlformats.org/drawingml/2006/main">
            <a:r>
              <a:t>      "month": "Jan",</a:t>
            </a:r>
          </a:p>
          <a:p xmlns:a="http://schemas.openxmlformats.org/drawingml/2006/main">
            <a:r>
              <a:t>      "days": 31,</a:t>
            </a:r>
          </a:p>
          <a:p xmlns:a="http://schemas.openxmlformats.org/drawingml/2006/main">
            <a:r>
              <a:t>      "G": 46.59032258064517,</a:t>
            </a:r>
          </a:p>
          <a:p xmlns:a="http://schemas.openxmlformats.org/drawingml/2006/main">
            <a:r>
              <a:t>      "direct": 40.35,</a:t>
            </a:r>
          </a:p>
          <a:p xmlns:a="http://schemas.openxmlformats.org/drawingml/2006/main">
            <a:r>
              <a:t>      "surplus": 6.24032258064517,</a:t>
            </a:r>
          </a:p>
          <a:p xmlns:a="http://schemas.openxmlformats.org/drawingml/2006/main">
            <a:r>
              <a:t>      "battery": 5.928306451612912,</a:t>
            </a:r>
          </a:p>
          <a:p xmlns:a="http://schemas.openxmlformats.org/drawingml/2006/main">
            <a:r>
              <a:t>      "imports": 1067.0724999999998,</a:t>
            </a:r>
          </a:p>
          <a:p xmlns:a="http://schemas.openxmlformats.org/drawingml/2006/main">
            <a:r>
              <a:t>      "base": 7094.794000000002,</a:t>
            </a:r>
          </a:p>
          <a:p xmlns:a="http://schemas.openxmlformats.org/drawingml/2006/main">
            <a:r>
              <a:t>      "newbill": 3049.1444499999993,</a:t>
            </a:r>
          </a:p>
          <a:p xmlns:a="http://schemas.openxmlformats.org/drawingml/2006/main">
            <a:r>
              <a:t>      "saving": 4045.6495500000024</a:t>
            </a:r>
          </a:p>
          <a:p xmlns:a="http://schemas.openxmlformats.org/drawingml/2006/main">
            <a:r>
              <a:t>    },</a:t>
            </a:r>
          </a:p>
          <a:p xmlns:a="http://schemas.openxmlformats.org/drawingml/2006/main">
            <a:r>
              <a:t>    {</a:t>
            </a:r>
          </a:p>
          <a:p xmlns:a="http://schemas.openxmlformats.org/drawingml/2006/main">
            <a:r>
              <a:t>      "month": "Feb",</a:t>
            </a:r>
          </a:p>
          <a:p xmlns:a="http://schemas.openxmlformats.org/drawingml/2006/main">
            <a:r>
              <a:t>      "days": 28,</a:t>
            </a:r>
          </a:p>
          <a:p xmlns:a="http://schemas.openxmlformats.org/drawingml/2006/main">
            <a:r>
              <a:t>      "G": 50.85535714285714,</a:t>
            </a:r>
          </a:p>
          <a:p xmlns:a="http://schemas.openxmlformats.org/drawingml/2006/main">
            <a:r>
              <a:t>      "direct": 40.35,</a:t>
            </a:r>
          </a:p>
          <a:p xmlns:a="http://schemas.openxmlformats.org/drawingml/2006/main">
            <a:r>
              <a:t>      "surplus": 10.505357142857136,</a:t>
            </a:r>
          </a:p>
          <a:p xmlns:a="http://schemas.openxmlformats.org/drawingml/2006/main">
            <a:r>
              <a:t>      "battery": 9.980089285714278,</a:t>
            </a:r>
          </a:p>
          <a:p xmlns:a="http://schemas.openxmlformats.org/drawingml/2006/main">
            <a:r>
              <a:t>      "imports": 850.3575000000003,</a:t>
            </a:r>
          </a:p>
          <a:p xmlns:a="http://schemas.openxmlformats.org/drawingml/2006/main">
            <a:r>
              <a:t>      "base": 6412.071999999999,</a:t>
            </a:r>
          </a:p>
          <a:p xmlns:a="http://schemas.openxmlformats.org/drawingml/2006/main">
            <a:r>
              <a:t>      "newbill": 2320.490275000001,</a:t>
            </a:r>
          </a:p>
          <a:p xmlns:a="http://schemas.openxmlformats.org/drawingml/2006/main">
            <a:r>
              <a:t>      "saving": 4091.581724999998</a:t>
            </a:r>
          </a:p>
          <a:p xmlns:a="http://schemas.openxmlformats.org/drawingml/2006/main">
            <a:r>
              <a:t>    },</a:t>
            </a:r>
          </a:p>
          <a:p xmlns:a="http://schemas.openxmlformats.org/drawingml/2006/main">
            <a:r>
              <a:t>    {</a:t>
            </a:r>
          </a:p>
          <a:p xmlns:a="http://schemas.openxmlformats.org/drawingml/2006/main">
            <a:r>
              <a:t>      "month": "Mar",</a:t>
            </a:r>
          </a:p>
          <a:p xmlns:a="http://schemas.openxmlformats.org/drawingml/2006/main">
            <a:r>
              <a:t>      "days": 31,</a:t>
            </a:r>
          </a:p>
          <a:p xmlns:a="http://schemas.openxmlformats.org/drawingml/2006/main">
            <a:r>
              <a:t>      "G": 57.15032258064516,</a:t>
            </a:r>
          </a:p>
          <a:p xmlns:a="http://schemas.openxmlformats.org/drawingml/2006/main">
            <a:r>
              <a:t>      "direct": 40.35,</a:t>
            </a:r>
          </a:p>
          <a:p xmlns:a="http://schemas.openxmlformats.org/drawingml/2006/main">
            <a:r>
              <a:t>      "surplus": 16.800322580645158,</a:t>
            </a:r>
          </a:p>
          <a:p xmlns:a="http://schemas.openxmlformats.org/drawingml/2006/main">
            <a:r>
              <a:t>      "battery": 12.16,</a:t>
            </a:r>
          </a:p>
          <a:p xmlns:a="http://schemas.openxmlformats.org/drawingml/2006/main">
            <a:r>
              <a:t>      "imports": 873.89,</a:t>
            </a:r>
          </a:p>
          <a:p xmlns:a="http://schemas.openxmlformats.org/drawingml/2006/main">
            <a:r>
              <a:t>      "base": 7094.794000000002,</a:t>
            </a:r>
          </a:p>
          <a:p xmlns:a="http://schemas.openxmlformats.org/drawingml/2006/main">
            <a:r>
              <a:t>      "newbill": 2385.6753,</a:t>
            </a:r>
          </a:p>
          <a:p xmlns:a="http://schemas.openxmlformats.org/drawingml/2006/main">
            <a:r>
              <a:t>      "saving": 4709.118700000002</a:t>
            </a:r>
          </a:p>
          <a:p xmlns:a="http://schemas.openxmlformats.org/drawingml/2006/main">
            <a:r>
              <a:t>    },</a:t>
            </a:r>
          </a:p>
          <a:p xmlns:a="http://schemas.openxmlformats.org/drawingml/2006/main">
            <a:r>
              <a:t>    {</a:t>
            </a:r>
          </a:p>
          <a:p xmlns:a="http://schemas.openxmlformats.org/drawingml/2006/main">
            <a:r>
              <a:t>      "month": "Apr",</a:t>
            </a:r>
          </a:p>
          <a:p xmlns:a="http://schemas.openxmlformats.org/drawingml/2006/main">
            <a:r>
              <a:t>      "days": 30,</a:t>
            </a:r>
          </a:p>
          <a:p xmlns:a="http://schemas.openxmlformats.org/drawingml/2006/main">
            <a:r>
              <a:t>      "G": 58.982,</a:t>
            </a:r>
          </a:p>
          <a:p xmlns:a="http://schemas.openxmlformats.org/drawingml/2006/main">
            <a:r>
              <a:t>      "direct": 40.35,</a:t>
            </a:r>
          </a:p>
          <a:p xmlns:a="http://schemas.openxmlformats.org/drawingml/2006/main">
            <a:r>
              <a:t>      "surplus": 18.631999999999998,</a:t>
            </a:r>
          </a:p>
          <a:p xmlns:a="http://schemas.openxmlformats.org/drawingml/2006/main">
            <a:r>
              <a:t>      "battery": 12.16,</a:t>
            </a:r>
          </a:p>
          <a:p xmlns:a="http://schemas.openxmlformats.org/drawingml/2006/main">
            <a:r>
              <a:t>      "imports": 845.7,</a:t>
            </a:r>
          </a:p>
          <a:p xmlns:a="http://schemas.openxmlformats.org/drawingml/2006/main">
            <a:r>
              <a:t>      "base": 6867.22,</a:t>
            </a:r>
          </a:p>
          <a:p xmlns:a="http://schemas.openxmlformats.org/drawingml/2006/main">
            <a:r>
              <a:t>      "newbill": 2307.5890000000004,</a:t>
            </a:r>
          </a:p>
          <a:p xmlns:a="http://schemas.openxmlformats.org/drawingml/2006/main">
            <a:r>
              <a:t>      "saving": 4559.630999999999</a:t>
            </a:r>
          </a:p>
          <a:p xmlns:a="http://schemas.openxmlformats.org/drawingml/2006/main">
            <a:r>
              <a:t>    },</a:t>
            </a:r>
          </a:p>
          <a:p xmlns:a="http://schemas.openxmlformats.org/drawingml/2006/main">
            <a:r>
              <a:t>    {</a:t>
            </a:r>
          </a:p>
          <a:p xmlns:a="http://schemas.openxmlformats.org/drawingml/2006/main">
            <a:r>
              <a:t>      "month": "May",</a:t>
            </a:r>
          </a:p>
          <a:p xmlns:a="http://schemas.openxmlformats.org/drawingml/2006/main">
            <a:r>
              <a:t>      "days": 31,</a:t>
            </a:r>
          </a:p>
          <a:p xmlns:a="http://schemas.openxmlformats.org/drawingml/2006/main">
            <a:r>
              <a:t>      "G": 57.73935483870968,</a:t>
            </a:r>
          </a:p>
          <a:p xmlns:a="http://schemas.openxmlformats.org/drawingml/2006/main">
            <a:r>
              <a:t>      "direct": 40.35,</a:t>
            </a:r>
          </a:p>
          <a:p xmlns:a="http://schemas.openxmlformats.org/drawingml/2006/main">
            <a:r>
              <a:t>      "surplus": 17.38935483870968,</a:t>
            </a:r>
          </a:p>
          <a:p xmlns:a="http://schemas.openxmlformats.org/drawingml/2006/main">
            <a:r>
              <a:t>      "battery": 12.16,</a:t>
            </a:r>
          </a:p>
          <a:p xmlns:a="http://schemas.openxmlformats.org/drawingml/2006/main">
            <a:r>
              <a:t>      "imports": 873.89,</a:t>
            </a:r>
          </a:p>
          <a:p xmlns:a="http://schemas.openxmlformats.org/drawingml/2006/main">
            <a:r>
              <a:t>      "base": 7094.794000000002,</a:t>
            </a:r>
          </a:p>
          <a:p xmlns:a="http://schemas.openxmlformats.org/drawingml/2006/main">
            <a:r>
              <a:t>      "newbill": 2385.6753,</a:t>
            </a:r>
          </a:p>
          <a:p xmlns:a="http://schemas.openxmlformats.org/drawingml/2006/main">
            <a:r>
              <a:t>      "saving": 4709.118700000002</a:t>
            </a:r>
          </a:p>
          <a:p xmlns:a="http://schemas.openxmlformats.org/drawingml/2006/main">
            <a:r>
              <a:t>    },</a:t>
            </a:r>
          </a:p>
          <a:p xmlns:a="http://schemas.openxmlformats.org/drawingml/2006/main">
            <a:r>
              <a:t>    {</a:t>
            </a:r>
          </a:p>
          <a:p xmlns:a="http://schemas.openxmlformats.org/drawingml/2006/main">
            <a:r>
              <a:t>      "month": "Jun",</a:t>
            </a:r>
          </a:p>
          <a:p xmlns:a="http://schemas.openxmlformats.org/drawingml/2006/main">
            <a:r>
              <a:t>      "days": 30,</a:t>
            </a:r>
          </a:p>
          <a:p xmlns:a="http://schemas.openxmlformats.org/drawingml/2006/main">
            <a:r>
              <a:t>      "G": 58.16066666666667,</a:t>
            </a:r>
          </a:p>
          <a:p xmlns:a="http://schemas.openxmlformats.org/drawingml/2006/main">
            <a:r>
              <a:t>      "direct": 40.35,</a:t>
            </a:r>
          </a:p>
          <a:p xmlns:a="http://schemas.openxmlformats.org/drawingml/2006/main">
            <a:r>
              <a:t>      "surplus": 17.81066666666667,</a:t>
            </a:r>
          </a:p>
          <a:p xmlns:a="http://schemas.openxmlformats.org/drawingml/2006/main">
            <a:r>
              <a:t>      "battery": 12.16,</a:t>
            </a:r>
          </a:p>
          <a:p xmlns:a="http://schemas.openxmlformats.org/drawingml/2006/main">
            <a:r>
              <a:t>      "imports": 845.7,</a:t>
            </a:r>
          </a:p>
          <a:p xmlns:a="http://schemas.openxmlformats.org/drawingml/2006/main">
            <a:r>
              <a:t>      "base": 6867.22,</a:t>
            </a:r>
          </a:p>
          <a:p xmlns:a="http://schemas.openxmlformats.org/drawingml/2006/main">
            <a:r>
              <a:t>      "newbill": 2307.5890000000004,</a:t>
            </a:r>
          </a:p>
          <a:p xmlns:a="http://schemas.openxmlformats.org/drawingml/2006/main">
            <a:r>
              <a:t>      "saving": 4559.630999999999</a:t>
            </a:r>
          </a:p>
          <a:p xmlns:a="http://schemas.openxmlformats.org/drawingml/2006/main">
            <a:r>
              <a:t>    },</a:t>
            </a:r>
          </a:p>
          <a:p xmlns:a="http://schemas.openxmlformats.org/drawingml/2006/main">
            <a:r>
              <a:t>    {</a:t>
            </a:r>
          </a:p>
          <a:p xmlns:a="http://schemas.openxmlformats.org/drawingml/2006/main">
            <a:r>
              <a:t>      "month": "Jul",</a:t>
            </a:r>
          </a:p>
          <a:p xmlns:a="http://schemas.openxmlformats.org/drawingml/2006/main">
            <a:r>
              <a:t>      "days": 31,</a:t>
            </a:r>
          </a:p>
          <a:p xmlns:a="http://schemas.openxmlformats.org/drawingml/2006/main">
            <a:r>
              <a:t>      "G": 58.42774193548387,</a:t>
            </a:r>
          </a:p>
          <a:p xmlns:a="http://schemas.openxmlformats.org/drawingml/2006/main">
            <a:r>
              <a:t>      "direct": 40.35,</a:t>
            </a:r>
          </a:p>
          <a:p xmlns:a="http://schemas.openxmlformats.org/drawingml/2006/main">
            <a:r>
              <a:t>      "surplus": 18.07774193548387,</a:t>
            </a:r>
          </a:p>
          <a:p xmlns:a="http://schemas.openxmlformats.org/drawingml/2006/main">
            <a:r>
              <a:t>      "battery": 12.16,</a:t>
            </a:r>
          </a:p>
          <a:p xmlns:a="http://schemas.openxmlformats.org/drawingml/2006/main">
            <a:r>
              <a:t>      "imports": 873.89,</a:t>
            </a:r>
          </a:p>
          <a:p xmlns:a="http://schemas.openxmlformats.org/drawingml/2006/main">
            <a:r>
              <a:t>      "base": 7094.794000000002,</a:t>
            </a:r>
          </a:p>
          <a:p xmlns:a="http://schemas.openxmlformats.org/drawingml/2006/main">
            <a:r>
              <a:t>      "newbill": 2385.6753,</a:t>
            </a:r>
          </a:p>
          <a:p xmlns:a="http://schemas.openxmlformats.org/drawingml/2006/main">
            <a:r>
              <a:t>      "saving": 4709.118700000002</a:t>
            </a:r>
          </a:p>
          <a:p xmlns:a="http://schemas.openxmlformats.org/drawingml/2006/main">
            <a:r>
              <a:t>    },</a:t>
            </a:r>
          </a:p>
          <a:p xmlns:a="http://schemas.openxmlformats.org/drawingml/2006/main">
            <a:r>
              <a:t>    {</a:t>
            </a:r>
          </a:p>
          <a:p xmlns:a="http://schemas.openxmlformats.org/drawingml/2006/main">
            <a:r>
              <a:t>      "month": "Aug",</a:t>
            </a:r>
          </a:p>
          <a:p xmlns:a="http://schemas.openxmlformats.org/drawingml/2006/main">
            <a:r>
              <a:t>      "days": 31,</a:t>
            </a:r>
          </a:p>
          <a:p xmlns:a="http://schemas.openxmlformats.org/drawingml/2006/main">
            <a:r>
              <a:t>      "G": 59.18709677419355,</a:t>
            </a:r>
          </a:p>
          <a:p xmlns:a="http://schemas.openxmlformats.org/drawingml/2006/main">
            <a:r>
              <a:t>      "direct": 40.35,</a:t>
            </a:r>
          </a:p>
          <a:p xmlns:a="http://schemas.openxmlformats.org/drawingml/2006/main">
            <a:r>
              <a:t>      "surplus": 18.837096774193547,</a:t>
            </a:r>
          </a:p>
          <a:p xmlns:a="http://schemas.openxmlformats.org/drawingml/2006/main">
            <a:r>
              <a:t>      "battery": 12.16,</a:t>
            </a:r>
          </a:p>
          <a:p xmlns:a="http://schemas.openxmlformats.org/drawingml/2006/main">
            <a:r>
              <a:t>      "imports": 873.89,</a:t>
            </a:r>
          </a:p>
          <a:p xmlns:a="http://schemas.openxmlformats.org/drawingml/2006/main">
            <a:r>
              <a:t>      "base": 7094.794000000002,</a:t>
            </a:r>
          </a:p>
          <a:p xmlns:a="http://schemas.openxmlformats.org/drawingml/2006/main">
            <a:r>
              <a:t>      "newbill": 2385.6753,</a:t>
            </a:r>
          </a:p>
          <a:p xmlns:a="http://schemas.openxmlformats.org/drawingml/2006/main">
            <a:r>
              <a:t>      "saving": 4709.118700000002</a:t>
            </a:r>
          </a:p>
          <a:p xmlns:a="http://schemas.openxmlformats.org/drawingml/2006/main">
            <a:r>
              <a:t>    },</a:t>
            </a:r>
          </a:p>
          <a:p xmlns:a="http://schemas.openxmlformats.org/drawingml/2006/main">
            <a:r>
              <a:t>    {</a:t>
            </a:r>
          </a:p>
          <a:p xmlns:a="http://schemas.openxmlformats.org/drawingml/2006/main">
            <a:r>
              <a:t>      "month": "Sep",</a:t>
            </a:r>
          </a:p>
          <a:p xmlns:a="http://schemas.openxmlformats.org/drawingml/2006/main">
            <a:r>
              <a:t>      "days": 30,</a:t>
            </a:r>
          </a:p>
          <a:p xmlns:a="http://schemas.openxmlformats.org/drawingml/2006/main">
            <a:r>
              <a:t>      "G": 59.03333333333333,</a:t>
            </a:r>
          </a:p>
          <a:p xmlns:a="http://schemas.openxmlformats.org/drawingml/2006/main">
            <a:r>
              <a:t>      "direct": 40.35,</a:t>
            </a:r>
          </a:p>
          <a:p xmlns:a="http://schemas.openxmlformats.org/drawingml/2006/main">
            <a:r>
              <a:t>      "surplus": 18.68333333333333,</a:t>
            </a:r>
          </a:p>
          <a:p xmlns:a="http://schemas.openxmlformats.org/drawingml/2006/main">
            <a:r>
              <a:t>      "battery": 12.16,</a:t>
            </a:r>
          </a:p>
          <a:p xmlns:a="http://schemas.openxmlformats.org/drawingml/2006/main">
            <a:r>
              <a:t>      "imports": 845.7,</a:t>
            </a:r>
          </a:p>
          <a:p xmlns:a="http://schemas.openxmlformats.org/drawingml/2006/main">
            <a:r>
              <a:t>      "base": 6867.22,</a:t>
            </a:r>
          </a:p>
          <a:p xmlns:a="http://schemas.openxmlformats.org/drawingml/2006/main">
            <a:r>
              <a:t>      "newbill": 2307.5890000000004,</a:t>
            </a:r>
          </a:p>
          <a:p xmlns:a="http://schemas.openxmlformats.org/drawingml/2006/main">
            <a:r>
              <a:t>      "saving": 4559.630999999999</a:t>
            </a:r>
          </a:p>
          <a:p xmlns:a="http://schemas.openxmlformats.org/drawingml/2006/main">
            <a:r>
              <a:t>    },</a:t>
            </a:r>
          </a:p>
          <a:p xmlns:a="http://schemas.openxmlformats.org/drawingml/2006/main">
            <a:r>
              <a:t>    {</a:t>
            </a:r>
          </a:p>
          <a:p xmlns:a="http://schemas.openxmlformats.org/drawingml/2006/main">
            <a:r>
              <a:t>      "month": "Oct",</a:t>
            </a:r>
          </a:p>
          <a:p xmlns:a="http://schemas.openxmlformats.org/drawingml/2006/main">
            <a:r>
              <a:t>      "days": 31,</a:t>
            </a:r>
          </a:p>
          <a:p xmlns:a="http://schemas.openxmlformats.org/drawingml/2006/main">
            <a:r>
              <a:t>      "G": 54.833225806451615,</a:t>
            </a:r>
          </a:p>
          <a:p xmlns:a="http://schemas.openxmlformats.org/drawingml/2006/main">
            <a:r>
              <a:t>      "direct": 40.35,</a:t>
            </a:r>
          </a:p>
          <a:p xmlns:a="http://schemas.openxmlformats.org/drawingml/2006/main">
            <a:r>
              <a:t>      "surplus": 14.483225806451614,</a:t>
            </a:r>
          </a:p>
          <a:p xmlns:a="http://schemas.openxmlformats.org/drawingml/2006/main">
            <a:r>
              <a:t>      "battery": 12.16,</a:t>
            </a:r>
          </a:p>
          <a:p xmlns:a="http://schemas.openxmlformats.org/drawingml/2006/main">
            <a:r>
              <a:t>      "imports": 873.89,</a:t>
            </a:r>
          </a:p>
          <a:p xmlns:a="http://schemas.openxmlformats.org/drawingml/2006/main">
            <a:r>
              <a:t>      "base": 7094.794000000002,</a:t>
            </a:r>
          </a:p>
          <a:p xmlns:a="http://schemas.openxmlformats.org/drawingml/2006/main">
            <a:r>
              <a:t>      "newbill": 2385.6753,</a:t>
            </a:r>
          </a:p>
          <a:p xmlns:a="http://schemas.openxmlformats.org/drawingml/2006/main">
            <a:r>
              <a:t>      "saving": 4709.118700000002</a:t>
            </a:r>
          </a:p>
          <a:p xmlns:a="http://schemas.openxmlformats.org/drawingml/2006/main">
            <a:r>
              <a:t>    },</a:t>
            </a:r>
          </a:p>
          <a:p xmlns:a="http://schemas.openxmlformats.org/drawingml/2006/main">
            <a:r>
              <a:t>    {</a:t>
            </a:r>
          </a:p>
          <a:p xmlns:a="http://schemas.openxmlformats.org/drawingml/2006/main">
            <a:r>
              <a:t>      "month": "Nov",</a:t>
            </a:r>
          </a:p>
          <a:p xmlns:a="http://schemas.openxmlformats.org/drawingml/2006/main">
            <a:r>
              <a:t>      "days": 30,</a:t>
            </a:r>
          </a:p>
          <a:p xmlns:a="http://schemas.openxmlformats.org/drawingml/2006/main">
            <a:r>
              <a:t>      "G": 50.22233333333334,</a:t>
            </a:r>
          </a:p>
          <a:p xmlns:a="http://schemas.openxmlformats.org/drawingml/2006/main">
            <a:r>
              <a:t>      "direct": 40.35,</a:t>
            </a:r>
          </a:p>
          <a:p xmlns:a="http://schemas.openxmlformats.org/drawingml/2006/main">
            <a:r>
              <a:t>      "surplus": 9.872333333333337,</a:t>
            </a:r>
          </a:p>
          <a:p xmlns:a="http://schemas.openxmlformats.org/drawingml/2006/main">
            <a:r>
              <a:t>      "battery": 9.37871666666667,</a:t>
            </a:r>
          </a:p>
          <a:p xmlns:a="http://schemas.openxmlformats.org/drawingml/2006/main">
            <a:r>
              <a:t>      "imports": 929.1385,</a:t>
            </a:r>
          </a:p>
          <a:p xmlns:a="http://schemas.openxmlformats.org/drawingml/2006/main">
            <a:r>
              <a:t>      "base": 6867.22,</a:t>
            </a:r>
          </a:p>
          <a:p xmlns:a="http://schemas.openxmlformats.org/drawingml/2006/main">
            <a:r>
              <a:t>      "newbill": 2538.7136450000003,</a:t>
            </a:r>
          </a:p>
          <a:p xmlns:a="http://schemas.openxmlformats.org/drawingml/2006/main">
            <a:r>
              <a:t>      "saving": 4328.5063549999995</a:t>
            </a:r>
          </a:p>
          <a:p xmlns:a="http://schemas.openxmlformats.org/drawingml/2006/main">
            <a:r>
              <a:t>    },</a:t>
            </a:r>
          </a:p>
          <a:p xmlns:a="http://schemas.openxmlformats.org/drawingml/2006/main">
            <a:r>
              <a:t>    {</a:t>
            </a:r>
          </a:p>
          <a:p xmlns:a="http://schemas.openxmlformats.org/drawingml/2006/main">
            <a:r>
              <a:t>      "month": "Dec",</a:t>
            </a:r>
          </a:p>
          <a:p xmlns:a="http://schemas.openxmlformats.org/drawingml/2006/main">
            <a:r>
              <a:t>      "days": 31,</a:t>
            </a:r>
          </a:p>
          <a:p xmlns:a="http://schemas.openxmlformats.org/drawingml/2006/main">
            <a:r>
              <a:t>      "G": 46.27096774193549,</a:t>
            </a:r>
          </a:p>
          <a:p xmlns:a="http://schemas.openxmlformats.org/drawingml/2006/main">
            <a:r>
              <a:t>      "direct": 40.35,</a:t>
            </a:r>
          </a:p>
          <a:p xmlns:a="http://schemas.openxmlformats.org/drawingml/2006/main">
            <a:r>
              <a:t>      "surplus": 5.920967741935492,</a:t>
            </a:r>
          </a:p>
          <a:p xmlns:a="http://schemas.openxmlformats.org/drawingml/2006/main">
            <a:r>
              <a:t>      "battery": 5.624919354838717,</a:t>
            </a:r>
          </a:p>
          <a:p xmlns:a="http://schemas.openxmlformats.org/drawingml/2006/main">
            <a:r>
              <a:t>      "imports": 1076.4774999999997,</a:t>
            </a:r>
          </a:p>
          <a:p xmlns:a="http://schemas.openxmlformats.org/drawingml/2006/main">
            <a:r>
              <a:t>      "base": 7094.794000000002,</a:t>
            </a:r>
          </a:p>
          <a:p xmlns:a="http://schemas.openxmlformats.org/drawingml/2006/main">
            <a:r>
              <a:t>      "newbill": 3075.666549999999,</a:t>
            </a:r>
          </a:p>
          <a:p xmlns:a="http://schemas.openxmlformats.org/drawingml/2006/main">
            <a:r>
              <a:t>      "saving": 4019.1274500000027</a:t>
            </a:r>
          </a:p>
          <a:p xmlns:a="http://schemas.openxmlformats.org/drawingml/2006/main">
            <a:r>
              <a:t>    }</a:t>
            </a:r>
          </a:p>
          <a:p xmlns:a="http://schemas.openxmlformats.org/drawingml/2006/main">
            <a:r>
              <a:t>  ],</a:t>
            </a:r>
          </a:p>
          <a:p xmlns:a="http://schemas.openxmlformats.org/drawingml/2006/main">
            <a:r>
              <a:t>  "annualSaving": 53709.35158,</a:t>
            </a:r>
          </a:p>
          <a:p xmlns:a="http://schemas.openxmlformats.org/drawingml/2006/main">
            <a:r>
              <a:t>  "averageSaving": 4475.779298333334,</a:t>
            </a:r>
          </a:p>
          <a:p xmlns:a="http://schemas.openxmlformats.org/drawingml/2006/main">
            <a:r>
              <a:t>  "payback": 7.340248735134701,</a:t>
            </a:r>
          </a:p>
          <a:p xmlns:a="http://schemas.openxmlformats.org/drawingml/2006/main">
            <a:r>
              <a:t>  "annualImports": 10829.596</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Same assumptions and calculation basis as El_Mo3alem_Juice_Shop_Solar_BESS.pptx, reviewed 30 Sep 2026. Baseline80.7 kWh/day,50/50,PV mean4.98,DoD80%,storage efficiency95% applied once at output. Prices are historical selling-price assumptions. Battery220 EUR/kWh*62EGP/EUR=13640EGP/kWh from Home_Storage slide15. Tariff source https://www.egyptera.org/en/TarrifApril2026.aspx . PV source JRC PVGIS5.3: https://re.jrc.ec.europa.eu/api/v5_3/PVcalc?lat=30.0444&amp;lon=31.2357&amp;peakpower=1&amp;loss=14&amp;angle=30&amp;aspect=0&amp;pvtechchoice=crystSi&amp;mountingplace=free&amp;outputformat=json . SARAH3/ERA5 2005–2023. 30degree south-facing free-standing crystalline silicon,14% entered PV loss. Solar-only charging, zero export value. No maintenance, insurance, finance, replacement, degradation or price escalation. Annual3EGP stamp excluded equally. Monthly-average days rather than hourly dispatch, daily demand constant over365days. Unrounded values used, display rounding may differ. Billing-period30days assumed. Inverter and roof sizing provisional. Warranty10years,6000cycles@80%DoD from original source.</a:t>
            </a:r>
          </a:p>
          <a:p xmlns:a="http://schemas.openxmlformats.org/drawingml/2006/main">
            <a:r>
              <a:t>{</a:t>
            </a:r>
          </a:p>
          <a:p xmlns:a="http://schemas.openxmlformats.org/drawingml/2006/main">
            <a:r>
              <a:t>  "option": "B",</a:t>
            </a:r>
          </a:p>
          <a:p xmlns:a="http://schemas.openxmlformats.org/drawingml/2006/main">
            <a:r>
              <a:t>  "C": 16,</a:t>
            </a:r>
          </a:p>
          <a:p xmlns:a="http://schemas.openxmlformats.org/drawingml/2006/main">
            <a:r>
              <a:t>  "P": 11,</a:t>
            </a:r>
          </a:p>
          <a:p xmlns:a="http://schemas.openxmlformats.org/drawingml/2006/main">
            <a:r>
              <a:t>  "inv": 12,</a:t>
            </a:r>
          </a:p>
          <a:p xmlns:a="http://schemas.openxmlformats.org/drawingml/2006/main">
            <a:r>
              <a:t>  "price": 394240,</a:t>
            </a:r>
          </a:p>
          <a:p xmlns:a="http://schemas.openxmlformats.org/drawingml/2006/main">
            <a:r>
              <a:t>  "reference": {</a:t>
            </a:r>
          </a:p>
          <a:p xmlns:a="http://schemas.openxmlformats.org/drawingml/2006/main">
            <a:r>
              <a:t>    "G": 54.78,</a:t>
            </a:r>
          </a:p>
          <a:p xmlns:a="http://schemas.openxmlformats.org/drawingml/2006/main">
            <a:r>
              <a:t>    "direct": 40.35,</a:t>
            </a:r>
          </a:p>
          <a:p xmlns:a="http://schemas.openxmlformats.org/drawingml/2006/main">
            <a:r>
              <a:t>    "surplus": 14.43,</a:t>
            </a:r>
          </a:p>
          <a:p xmlns:a="http://schemas.openxmlformats.org/drawingml/2006/main">
            <a:r>
              <a:t>    "battery": 12.16,</a:t>
            </a:r>
          </a:p>
          <a:p xmlns:a="http://schemas.openxmlformats.org/drawingml/2006/main">
            <a:r>
              <a:t>    "imports": 845.7,</a:t>
            </a:r>
          </a:p>
          <a:p xmlns:a="http://schemas.openxmlformats.org/drawingml/2006/main">
            <a:r>
              <a:t>    "base": 6867.22,</a:t>
            </a:r>
          </a:p>
          <a:p xmlns:a="http://schemas.openxmlformats.org/drawingml/2006/main">
            <a:r>
              <a:t>    "newbill": 2307.5890000000004,</a:t>
            </a:r>
          </a:p>
          <a:p xmlns:a="http://schemas.openxmlformats.org/drawingml/2006/main">
            <a:r>
              <a:t>    "saving": 4559.630999999999</a:t>
            </a:r>
          </a:p>
          <a:p xmlns:a="http://schemas.openxmlformats.org/drawingml/2006/main">
            <a:r>
              <a:t>  },</a:t>
            </a:r>
          </a:p>
          <a:p xmlns:a="http://schemas.openxmlformats.org/drawingml/2006/main">
            <a:r>
              <a:t>  "monthly": [</a:t>
            </a:r>
          </a:p>
          <a:p xmlns:a="http://schemas.openxmlformats.org/drawingml/2006/main">
            <a:r>
              <a:t>    {</a:t>
            </a:r>
          </a:p>
          <a:p xmlns:a="http://schemas.openxmlformats.org/drawingml/2006/main">
            <a:r>
              <a:t>      "month": "Jan",</a:t>
            </a:r>
          </a:p>
          <a:p xmlns:a="http://schemas.openxmlformats.org/drawingml/2006/main">
            <a:r>
              <a:t>      "days": 31,</a:t>
            </a:r>
          </a:p>
          <a:p xmlns:a="http://schemas.openxmlformats.org/drawingml/2006/main">
            <a:r>
              <a:t>      "G": 46.59032258064517,</a:t>
            </a:r>
          </a:p>
          <a:p xmlns:a="http://schemas.openxmlformats.org/drawingml/2006/main">
            <a:r>
              <a:t>      "direct": 40.35,</a:t>
            </a:r>
          </a:p>
          <a:p xmlns:a="http://schemas.openxmlformats.org/drawingml/2006/main">
            <a:r>
              <a:t>      "surplus": 6.24032258064517,</a:t>
            </a:r>
          </a:p>
          <a:p xmlns:a="http://schemas.openxmlformats.org/drawingml/2006/main">
            <a:r>
              <a:t>      "battery": 5.928306451612912,</a:t>
            </a:r>
          </a:p>
          <a:p xmlns:a="http://schemas.openxmlformats.org/drawingml/2006/main">
            <a:r>
              <a:t>      "imports": 1067.0724999999998,</a:t>
            </a:r>
          </a:p>
          <a:p xmlns:a="http://schemas.openxmlformats.org/drawingml/2006/main">
            <a:r>
              <a:t>      "base": 7094.794000000002,</a:t>
            </a:r>
          </a:p>
          <a:p xmlns:a="http://schemas.openxmlformats.org/drawingml/2006/main">
            <a:r>
              <a:t>      "newbill": 3049.1444499999993,</a:t>
            </a:r>
          </a:p>
          <a:p xmlns:a="http://schemas.openxmlformats.org/drawingml/2006/main">
            <a:r>
              <a:t>      "saving": 4045.6495500000024</a:t>
            </a:r>
          </a:p>
          <a:p xmlns:a="http://schemas.openxmlformats.org/drawingml/2006/main">
            <a:r>
              <a:t>    },</a:t>
            </a:r>
          </a:p>
          <a:p xmlns:a="http://schemas.openxmlformats.org/drawingml/2006/main">
            <a:r>
              <a:t>    {</a:t>
            </a:r>
          </a:p>
          <a:p xmlns:a="http://schemas.openxmlformats.org/drawingml/2006/main">
            <a:r>
              <a:t>      "month": "Feb",</a:t>
            </a:r>
          </a:p>
          <a:p xmlns:a="http://schemas.openxmlformats.org/drawingml/2006/main">
            <a:r>
              <a:t>      "days": 28,</a:t>
            </a:r>
          </a:p>
          <a:p xmlns:a="http://schemas.openxmlformats.org/drawingml/2006/main">
            <a:r>
              <a:t>      "G": 50.85535714285714,</a:t>
            </a:r>
          </a:p>
          <a:p xmlns:a="http://schemas.openxmlformats.org/drawingml/2006/main">
            <a:r>
              <a:t>      "direct": 40.35,</a:t>
            </a:r>
          </a:p>
          <a:p xmlns:a="http://schemas.openxmlformats.org/drawingml/2006/main">
            <a:r>
              <a:t>      "surplus": 10.505357142857136,</a:t>
            </a:r>
          </a:p>
          <a:p xmlns:a="http://schemas.openxmlformats.org/drawingml/2006/main">
            <a:r>
              <a:t>      "battery": 9.980089285714278,</a:t>
            </a:r>
          </a:p>
          <a:p xmlns:a="http://schemas.openxmlformats.org/drawingml/2006/main">
            <a:r>
              <a:t>      "imports": 850.3575000000003,</a:t>
            </a:r>
          </a:p>
          <a:p xmlns:a="http://schemas.openxmlformats.org/drawingml/2006/main">
            <a:r>
              <a:t>      "base": 6412.071999999999,</a:t>
            </a:r>
          </a:p>
          <a:p xmlns:a="http://schemas.openxmlformats.org/drawingml/2006/main">
            <a:r>
              <a:t>      "newbill": 2320.490275000001,</a:t>
            </a:r>
          </a:p>
          <a:p xmlns:a="http://schemas.openxmlformats.org/drawingml/2006/main">
            <a:r>
              <a:t>      "saving": 4091.581724999998</a:t>
            </a:r>
          </a:p>
          <a:p xmlns:a="http://schemas.openxmlformats.org/drawingml/2006/main">
            <a:r>
              <a:t>    },</a:t>
            </a:r>
          </a:p>
          <a:p xmlns:a="http://schemas.openxmlformats.org/drawingml/2006/main">
            <a:r>
              <a:t>    {</a:t>
            </a:r>
          </a:p>
          <a:p xmlns:a="http://schemas.openxmlformats.org/drawingml/2006/main">
            <a:r>
              <a:t>      "month": "Mar",</a:t>
            </a:r>
          </a:p>
          <a:p xmlns:a="http://schemas.openxmlformats.org/drawingml/2006/main">
            <a:r>
              <a:t>      "days": 31,</a:t>
            </a:r>
          </a:p>
          <a:p xmlns:a="http://schemas.openxmlformats.org/drawingml/2006/main">
            <a:r>
              <a:t>      "G": 57.15032258064516,</a:t>
            </a:r>
          </a:p>
          <a:p xmlns:a="http://schemas.openxmlformats.org/drawingml/2006/main">
            <a:r>
              <a:t>      "direct": 40.35,</a:t>
            </a:r>
          </a:p>
          <a:p xmlns:a="http://schemas.openxmlformats.org/drawingml/2006/main">
            <a:r>
              <a:t>      "surplus": 16.800322580645158,</a:t>
            </a:r>
          </a:p>
          <a:p xmlns:a="http://schemas.openxmlformats.org/drawingml/2006/main">
            <a:r>
              <a:t>      "battery": 12.16,</a:t>
            </a:r>
          </a:p>
          <a:p xmlns:a="http://schemas.openxmlformats.org/drawingml/2006/main">
            <a:r>
              <a:t>      "imports": 873.89,</a:t>
            </a:r>
          </a:p>
          <a:p xmlns:a="http://schemas.openxmlformats.org/drawingml/2006/main">
            <a:r>
              <a:t>      "base": 7094.794000000002,</a:t>
            </a:r>
          </a:p>
          <a:p xmlns:a="http://schemas.openxmlformats.org/drawingml/2006/main">
            <a:r>
              <a:t>      "newbill": 2385.6753,</a:t>
            </a:r>
          </a:p>
          <a:p xmlns:a="http://schemas.openxmlformats.org/drawingml/2006/main">
            <a:r>
              <a:t>      "saving": 4709.118700000002</a:t>
            </a:r>
          </a:p>
          <a:p xmlns:a="http://schemas.openxmlformats.org/drawingml/2006/main">
            <a:r>
              <a:t>    },</a:t>
            </a:r>
          </a:p>
          <a:p xmlns:a="http://schemas.openxmlformats.org/drawingml/2006/main">
            <a:r>
              <a:t>    {</a:t>
            </a:r>
          </a:p>
          <a:p xmlns:a="http://schemas.openxmlformats.org/drawingml/2006/main">
            <a:r>
              <a:t>      "month": "Apr",</a:t>
            </a:r>
          </a:p>
          <a:p xmlns:a="http://schemas.openxmlformats.org/drawingml/2006/main">
            <a:r>
              <a:t>      "days": 30,</a:t>
            </a:r>
          </a:p>
          <a:p xmlns:a="http://schemas.openxmlformats.org/drawingml/2006/main">
            <a:r>
              <a:t>      "G": 58.982,</a:t>
            </a:r>
          </a:p>
          <a:p xmlns:a="http://schemas.openxmlformats.org/drawingml/2006/main">
            <a:r>
              <a:t>      "direct": 40.35,</a:t>
            </a:r>
          </a:p>
          <a:p xmlns:a="http://schemas.openxmlformats.org/drawingml/2006/main">
            <a:r>
              <a:t>      "surplus": 18.631999999999998,</a:t>
            </a:r>
          </a:p>
          <a:p xmlns:a="http://schemas.openxmlformats.org/drawingml/2006/main">
            <a:r>
              <a:t>      "battery": 12.16,</a:t>
            </a:r>
          </a:p>
          <a:p xmlns:a="http://schemas.openxmlformats.org/drawingml/2006/main">
            <a:r>
              <a:t>      "imports": 845.7,</a:t>
            </a:r>
          </a:p>
          <a:p xmlns:a="http://schemas.openxmlformats.org/drawingml/2006/main">
            <a:r>
              <a:t>      "base": 6867.22,</a:t>
            </a:r>
          </a:p>
          <a:p xmlns:a="http://schemas.openxmlformats.org/drawingml/2006/main">
            <a:r>
              <a:t>      "newbill": 2307.5890000000004,</a:t>
            </a:r>
          </a:p>
          <a:p xmlns:a="http://schemas.openxmlformats.org/drawingml/2006/main">
            <a:r>
              <a:t>      "saving": 4559.630999999999</a:t>
            </a:r>
          </a:p>
          <a:p xmlns:a="http://schemas.openxmlformats.org/drawingml/2006/main">
            <a:r>
              <a:t>    },</a:t>
            </a:r>
          </a:p>
          <a:p xmlns:a="http://schemas.openxmlformats.org/drawingml/2006/main">
            <a:r>
              <a:t>    {</a:t>
            </a:r>
          </a:p>
          <a:p xmlns:a="http://schemas.openxmlformats.org/drawingml/2006/main">
            <a:r>
              <a:t>      "month": "May",</a:t>
            </a:r>
          </a:p>
          <a:p xmlns:a="http://schemas.openxmlformats.org/drawingml/2006/main">
            <a:r>
              <a:t>      "days": 31,</a:t>
            </a:r>
          </a:p>
          <a:p xmlns:a="http://schemas.openxmlformats.org/drawingml/2006/main">
            <a:r>
              <a:t>      "G": 57.73935483870968,</a:t>
            </a:r>
          </a:p>
          <a:p xmlns:a="http://schemas.openxmlformats.org/drawingml/2006/main">
            <a:r>
              <a:t>      "direct": 40.35,</a:t>
            </a:r>
          </a:p>
          <a:p xmlns:a="http://schemas.openxmlformats.org/drawingml/2006/main">
            <a:r>
              <a:t>      "surplus": 17.38935483870968,</a:t>
            </a:r>
          </a:p>
          <a:p xmlns:a="http://schemas.openxmlformats.org/drawingml/2006/main">
            <a:r>
              <a:t>      "battery": 12.16,</a:t>
            </a:r>
          </a:p>
          <a:p xmlns:a="http://schemas.openxmlformats.org/drawingml/2006/main">
            <a:r>
              <a:t>      "imports": 873.89,</a:t>
            </a:r>
          </a:p>
          <a:p xmlns:a="http://schemas.openxmlformats.org/drawingml/2006/main">
            <a:r>
              <a:t>      "base": 7094.794000000002,</a:t>
            </a:r>
          </a:p>
          <a:p xmlns:a="http://schemas.openxmlformats.org/drawingml/2006/main">
            <a:r>
              <a:t>      "newbill": 2385.6753,</a:t>
            </a:r>
          </a:p>
          <a:p xmlns:a="http://schemas.openxmlformats.org/drawingml/2006/main">
            <a:r>
              <a:t>      "saving": 4709.118700000002</a:t>
            </a:r>
          </a:p>
          <a:p xmlns:a="http://schemas.openxmlformats.org/drawingml/2006/main">
            <a:r>
              <a:t>    },</a:t>
            </a:r>
          </a:p>
          <a:p xmlns:a="http://schemas.openxmlformats.org/drawingml/2006/main">
            <a:r>
              <a:t>    {</a:t>
            </a:r>
          </a:p>
          <a:p xmlns:a="http://schemas.openxmlformats.org/drawingml/2006/main">
            <a:r>
              <a:t>      "month": "Jun",</a:t>
            </a:r>
          </a:p>
          <a:p xmlns:a="http://schemas.openxmlformats.org/drawingml/2006/main">
            <a:r>
              <a:t>      "days": 30,</a:t>
            </a:r>
          </a:p>
          <a:p xmlns:a="http://schemas.openxmlformats.org/drawingml/2006/main">
            <a:r>
              <a:t>      "G": 58.16066666666667,</a:t>
            </a:r>
          </a:p>
          <a:p xmlns:a="http://schemas.openxmlformats.org/drawingml/2006/main">
            <a:r>
              <a:t>      "direct": 40.35,</a:t>
            </a:r>
          </a:p>
          <a:p xmlns:a="http://schemas.openxmlformats.org/drawingml/2006/main">
            <a:r>
              <a:t>      "surplus": 17.81066666666667,</a:t>
            </a:r>
          </a:p>
          <a:p xmlns:a="http://schemas.openxmlformats.org/drawingml/2006/main">
            <a:r>
              <a:t>      "battery": 12.16,</a:t>
            </a:r>
          </a:p>
          <a:p xmlns:a="http://schemas.openxmlformats.org/drawingml/2006/main">
            <a:r>
              <a:t>      "imports": 845.7,</a:t>
            </a:r>
          </a:p>
          <a:p xmlns:a="http://schemas.openxmlformats.org/drawingml/2006/main">
            <a:r>
              <a:t>      "base": 6867.22,</a:t>
            </a:r>
          </a:p>
          <a:p xmlns:a="http://schemas.openxmlformats.org/drawingml/2006/main">
            <a:r>
              <a:t>      "newbill": 2307.5890000000004,</a:t>
            </a:r>
          </a:p>
          <a:p xmlns:a="http://schemas.openxmlformats.org/drawingml/2006/main">
            <a:r>
              <a:t>      "saving": 4559.630999999999</a:t>
            </a:r>
          </a:p>
          <a:p xmlns:a="http://schemas.openxmlformats.org/drawingml/2006/main">
            <a:r>
              <a:t>    },</a:t>
            </a:r>
          </a:p>
          <a:p xmlns:a="http://schemas.openxmlformats.org/drawingml/2006/main">
            <a:r>
              <a:t>    {</a:t>
            </a:r>
          </a:p>
          <a:p xmlns:a="http://schemas.openxmlformats.org/drawingml/2006/main">
            <a:r>
              <a:t>      "month": "Jul",</a:t>
            </a:r>
          </a:p>
          <a:p xmlns:a="http://schemas.openxmlformats.org/drawingml/2006/main">
            <a:r>
              <a:t>      "days": 31,</a:t>
            </a:r>
          </a:p>
          <a:p xmlns:a="http://schemas.openxmlformats.org/drawingml/2006/main">
            <a:r>
              <a:t>      "G": 58.42774193548387,</a:t>
            </a:r>
          </a:p>
          <a:p xmlns:a="http://schemas.openxmlformats.org/drawingml/2006/main">
            <a:r>
              <a:t>      "direct": 40.35,</a:t>
            </a:r>
          </a:p>
          <a:p xmlns:a="http://schemas.openxmlformats.org/drawingml/2006/main">
            <a:r>
              <a:t>      "surplus": 18.07774193548387,</a:t>
            </a:r>
          </a:p>
          <a:p xmlns:a="http://schemas.openxmlformats.org/drawingml/2006/main">
            <a:r>
              <a:t>      "battery": 12.16,</a:t>
            </a:r>
          </a:p>
          <a:p xmlns:a="http://schemas.openxmlformats.org/drawingml/2006/main">
            <a:r>
              <a:t>      "imports": 873.89,</a:t>
            </a:r>
          </a:p>
          <a:p xmlns:a="http://schemas.openxmlformats.org/drawingml/2006/main">
            <a:r>
              <a:t>      "base": 7094.794000000002,</a:t>
            </a:r>
          </a:p>
          <a:p xmlns:a="http://schemas.openxmlformats.org/drawingml/2006/main">
            <a:r>
              <a:t>      "newbill": 2385.6753,</a:t>
            </a:r>
          </a:p>
          <a:p xmlns:a="http://schemas.openxmlformats.org/drawingml/2006/main">
            <a:r>
              <a:t>      "saving": 4709.118700000002</a:t>
            </a:r>
          </a:p>
          <a:p xmlns:a="http://schemas.openxmlformats.org/drawingml/2006/main">
            <a:r>
              <a:t>    },</a:t>
            </a:r>
          </a:p>
          <a:p xmlns:a="http://schemas.openxmlformats.org/drawingml/2006/main">
            <a:r>
              <a:t>    {</a:t>
            </a:r>
          </a:p>
          <a:p xmlns:a="http://schemas.openxmlformats.org/drawingml/2006/main">
            <a:r>
              <a:t>      "month": "Aug",</a:t>
            </a:r>
          </a:p>
          <a:p xmlns:a="http://schemas.openxmlformats.org/drawingml/2006/main">
            <a:r>
              <a:t>      "days": 31,</a:t>
            </a:r>
          </a:p>
          <a:p xmlns:a="http://schemas.openxmlformats.org/drawingml/2006/main">
            <a:r>
              <a:t>      "G": 59.18709677419355,</a:t>
            </a:r>
          </a:p>
          <a:p xmlns:a="http://schemas.openxmlformats.org/drawingml/2006/main">
            <a:r>
              <a:t>      "direct": 40.35,</a:t>
            </a:r>
          </a:p>
          <a:p xmlns:a="http://schemas.openxmlformats.org/drawingml/2006/main">
            <a:r>
              <a:t>      "surplus": 18.837096774193547,</a:t>
            </a:r>
          </a:p>
          <a:p xmlns:a="http://schemas.openxmlformats.org/drawingml/2006/main">
            <a:r>
              <a:t>      "battery": 12.16,</a:t>
            </a:r>
          </a:p>
          <a:p xmlns:a="http://schemas.openxmlformats.org/drawingml/2006/main">
            <a:r>
              <a:t>      "imports": 873.89,</a:t>
            </a:r>
          </a:p>
          <a:p xmlns:a="http://schemas.openxmlformats.org/drawingml/2006/main">
            <a:r>
              <a:t>      "base": 7094.794000000002,</a:t>
            </a:r>
          </a:p>
          <a:p xmlns:a="http://schemas.openxmlformats.org/drawingml/2006/main">
            <a:r>
              <a:t>      "newbill": 2385.6753,</a:t>
            </a:r>
          </a:p>
          <a:p xmlns:a="http://schemas.openxmlformats.org/drawingml/2006/main">
            <a:r>
              <a:t>      "saving": 4709.118700000002</a:t>
            </a:r>
          </a:p>
          <a:p xmlns:a="http://schemas.openxmlformats.org/drawingml/2006/main">
            <a:r>
              <a:t>    },</a:t>
            </a:r>
          </a:p>
          <a:p xmlns:a="http://schemas.openxmlformats.org/drawingml/2006/main">
            <a:r>
              <a:t>    {</a:t>
            </a:r>
          </a:p>
          <a:p xmlns:a="http://schemas.openxmlformats.org/drawingml/2006/main">
            <a:r>
              <a:t>      "month": "Sep",</a:t>
            </a:r>
          </a:p>
          <a:p xmlns:a="http://schemas.openxmlformats.org/drawingml/2006/main">
            <a:r>
              <a:t>      "days": 30,</a:t>
            </a:r>
          </a:p>
          <a:p xmlns:a="http://schemas.openxmlformats.org/drawingml/2006/main">
            <a:r>
              <a:t>      "G": 59.03333333333333,</a:t>
            </a:r>
          </a:p>
          <a:p xmlns:a="http://schemas.openxmlformats.org/drawingml/2006/main">
            <a:r>
              <a:t>      "direct": 40.35,</a:t>
            </a:r>
          </a:p>
          <a:p xmlns:a="http://schemas.openxmlformats.org/drawingml/2006/main">
            <a:r>
              <a:t>      "surplus": 18.68333333333333,</a:t>
            </a:r>
          </a:p>
          <a:p xmlns:a="http://schemas.openxmlformats.org/drawingml/2006/main">
            <a:r>
              <a:t>      "battery": 12.16,</a:t>
            </a:r>
          </a:p>
          <a:p xmlns:a="http://schemas.openxmlformats.org/drawingml/2006/main">
            <a:r>
              <a:t>      "imports": 845.7,</a:t>
            </a:r>
          </a:p>
          <a:p xmlns:a="http://schemas.openxmlformats.org/drawingml/2006/main">
            <a:r>
              <a:t>      "base": 6867.22,</a:t>
            </a:r>
          </a:p>
          <a:p xmlns:a="http://schemas.openxmlformats.org/drawingml/2006/main">
            <a:r>
              <a:t>      "newbill": 2307.5890000000004,</a:t>
            </a:r>
          </a:p>
          <a:p xmlns:a="http://schemas.openxmlformats.org/drawingml/2006/main">
            <a:r>
              <a:t>      "saving": 4559.630999999999</a:t>
            </a:r>
          </a:p>
          <a:p xmlns:a="http://schemas.openxmlformats.org/drawingml/2006/main">
            <a:r>
              <a:t>    },</a:t>
            </a:r>
          </a:p>
          <a:p xmlns:a="http://schemas.openxmlformats.org/drawingml/2006/main">
            <a:r>
              <a:t>    {</a:t>
            </a:r>
          </a:p>
          <a:p xmlns:a="http://schemas.openxmlformats.org/drawingml/2006/main">
            <a:r>
              <a:t>      "month": "Oct",</a:t>
            </a:r>
          </a:p>
          <a:p xmlns:a="http://schemas.openxmlformats.org/drawingml/2006/main">
            <a:r>
              <a:t>      "days": 31,</a:t>
            </a:r>
          </a:p>
          <a:p xmlns:a="http://schemas.openxmlformats.org/drawingml/2006/main">
            <a:r>
              <a:t>      "G": 54.833225806451615,</a:t>
            </a:r>
          </a:p>
          <a:p xmlns:a="http://schemas.openxmlformats.org/drawingml/2006/main">
            <a:r>
              <a:t>      "direct": 40.35,</a:t>
            </a:r>
          </a:p>
          <a:p xmlns:a="http://schemas.openxmlformats.org/drawingml/2006/main">
            <a:r>
              <a:t>      "surplus": 14.483225806451614,</a:t>
            </a:r>
          </a:p>
          <a:p xmlns:a="http://schemas.openxmlformats.org/drawingml/2006/main">
            <a:r>
              <a:t>      "battery": 12.16,</a:t>
            </a:r>
          </a:p>
          <a:p xmlns:a="http://schemas.openxmlformats.org/drawingml/2006/main">
            <a:r>
              <a:t>      "imports": 873.89,</a:t>
            </a:r>
          </a:p>
          <a:p xmlns:a="http://schemas.openxmlformats.org/drawingml/2006/main">
            <a:r>
              <a:t>      "base": 7094.794000000002,</a:t>
            </a:r>
          </a:p>
          <a:p xmlns:a="http://schemas.openxmlformats.org/drawingml/2006/main">
            <a:r>
              <a:t>      "newbill": 2385.6753,</a:t>
            </a:r>
          </a:p>
          <a:p xmlns:a="http://schemas.openxmlformats.org/drawingml/2006/main">
            <a:r>
              <a:t>      "saving": 4709.118700000002</a:t>
            </a:r>
          </a:p>
          <a:p xmlns:a="http://schemas.openxmlformats.org/drawingml/2006/main">
            <a:r>
              <a:t>    },</a:t>
            </a:r>
          </a:p>
          <a:p xmlns:a="http://schemas.openxmlformats.org/drawingml/2006/main">
            <a:r>
              <a:t>    {</a:t>
            </a:r>
          </a:p>
          <a:p xmlns:a="http://schemas.openxmlformats.org/drawingml/2006/main">
            <a:r>
              <a:t>      "month": "Nov",</a:t>
            </a:r>
          </a:p>
          <a:p xmlns:a="http://schemas.openxmlformats.org/drawingml/2006/main">
            <a:r>
              <a:t>      "days": 30,</a:t>
            </a:r>
          </a:p>
          <a:p xmlns:a="http://schemas.openxmlformats.org/drawingml/2006/main">
            <a:r>
              <a:t>      "G": 50.22233333333334,</a:t>
            </a:r>
          </a:p>
          <a:p xmlns:a="http://schemas.openxmlformats.org/drawingml/2006/main">
            <a:r>
              <a:t>      "direct": 40.35,</a:t>
            </a:r>
          </a:p>
          <a:p xmlns:a="http://schemas.openxmlformats.org/drawingml/2006/main">
            <a:r>
              <a:t>      "surplus": 9.872333333333337,</a:t>
            </a:r>
          </a:p>
          <a:p xmlns:a="http://schemas.openxmlformats.org/drawingml/2006/main">
            <a:r>
              <a:t>      "battery": 9.37871666666667,</a:t>
            </a:r>
          </a:p>
          <a:p xmlns:a="http://schemas.openxmlformats.org/drawingml/2006/main">
            <a:r>
              <a:t>      "imports": 929.1385,</a:t>
            </a:r>
          </a:p>
          <a:p xmlns:a="http://schemas.openxmlformats.org/drawingml/2006/main">
            <a:r>
              <a:t>      "base": 6867.22,</a:t>
            </a:r>
          </a:p>
          <a:p xmlns:a="http://schemas.openxmlformats.org/drawingml/2006/main">
            <a:r>
              <a:t>      "newbill": 2538.7136450000003,</a:t>
            </a:r>
          </a:p>
          <a:p xmlns:a="http://schemas.openxmlformats.org/drawingml/2006/main">
            <a:r>
              <a:t>      "saving": 4328.5063549999995</a:t>
            </a:r>
          </a:p>
          <a:p xmlns:a="http://schemas.openxmlformats.org/drawingml/2006/main">
            <a:r>
              <a:t>    },</a:t>
            </a:r>
          </a:p>
          <a:p xmlns:a="http://schemas.openxmlformats.org/drawingml/2006/main">
            <a:r>
              <a:t>    {</a:t>
            </a:r>
          </a:p>
          <a:p xmlns:a="http://schemas.openxmlformats.org/drawingml/2006/main">
            <a:r>
              <a:t>      "month": "Dec",</a:t>
            </a:r>
          </a:p>
          <a:p xmlns:a="http://schemas.openxmlformats.org/drawingml/2006/main">
            <a:r>
              <a:t>      "days": 31,</a:t>
            </a:r>
          </a:p>
          <a:p xmlns:a="http://schemas.openxmlformats.org/drawingml/2006/main">
            <a:r>
              <a:t>      "G": 46.27096774193549,</a:t>
            </a:r>
          </a:p>
          <a:p xmlns:a="http://schemas.openxmlformats.org/drawingml/2006/main">
            <a:r>
              <a:t>      "direct": 40.35,</a:t>
            </a:r>
          </a:p>
          <a:p xmlns:a="http://schemas.openxmlformats.org/drawingml/2006/main">
            <a:r>
              <a:t>      "surplus": 5.920967741935492,</a:t>
            </a:r>
          </a:p>
          <a:p xmlns:a="http://schemas.openxmlformats.org/drawingml/2006/main">
            <a:r>
              <a:t>      "battery": 5.624919354838717,</a:t>
            </a:r>
          </a:p>
          <a:p xmlns:a="http://schemas.openxmlformats.org/drawingml/2006/main">
            <a:r>
              <a:t>      "imports": 1076.4774999999997,</a:t>
            </a:r>
          </a:p>
          <a:p xmlns:a="http://schemas.openxmlformats.org/drawingml/2006/main">
            <a:r>
              <a:t>      "base": 7094.794000000002,</a:t>
            </a:r>
          </a:p>
          <a:p xmlns:a="http://schemas.openxmlformats.org/drawingml/2006/main">
            <a:r>
              <a:t>      "newbill": 3075.666549999999,</a:t>
            </a:r>
          </a:p>
          <a:p xmlns:a="http://schemas.openxmlformats.org/drawingml/2006/main">
            <a:r>
              <a:t>      "saving": 4019.1274500000027</a:t>
            </a:r>
          </a:p>
          <a:p xmlns:a="http://schemas.openxmlformats.org/drawingml/2006/main">
            <a:r>
              <a:t>    }</a:t>
            </a:r>
          </a:p>
          <a:p xmlns:a="http://schemas.openxmlformats.org/drawingml/2006/main">
            <a:r>
              <a:t>  ],</a:t>
            </a:r>
          </a:p>
          <a:p xmlns:a="http://schemas.openxmlformats.org/drawingml/2006/main">
            <a:r>
              <a:t>  "annualSaving": 53709.35158,</a:t>
            </a:r>
          </a:p>
          <a:p xmlns:a="http://schemas.openxmlformats.org/drawingml/2006/main">
            <a:r>
              <a:t>  "averageSaving": 4475.779298333334,</a:t>
            </a:r>
          </a:p>
          <a:p xmlns:a="http://schemas.openxmlformats.org/drawingml/2006/main">
            <a:r>
              <a:t>  "payback": 7.340248735134701,</a:t>
            </a:r>
          </a:p>
          <a:p xmlns:a="http://schemas.openxmlformats.org/drawingml/2006/main">
            <a:r>
              <a:t>  "annualImports": 10829.596</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Same assumptions and calculation basis as El_Mo3alem_Juice_Shop_Solar_BESS.pptx, reviewed 30 Sep 2026. Baseline80.7 kWh/day,50/50,PV mean4.98,DoD80%,storage efficiency95% applied once at output. Prices are historical selling-price assumptions. Battery220 EUR/kWh*62EGP/EUR=13640EGP/kWh from Home_Storage slide15. Tariff source https://www.egyptera.org/en/TarrifApril2026.aspx . PV source JRC PVGIS5.3: https://re.jrc.ec.europa.eu/api/v5_3/PVcalc?lat=30.0444&amp;lon=31.2357&amp;peakpower=1&amp;loss=14&amp;angle=30&amp;aspect=0&amp;pvtechchoice=crystSi&amp;mountingplace=free&amp;outputformat=json . SARAH3/ERA5 2005–2023. 30degree south-facing free-standing crystalline silicon,14% entered PV loss. Solar-only charging, zero export value. No maintenance, insurance, finance, replacement, degradation or price escalation. Annual3EGP stamp excluded equally. Monthly-average days rather than hourly dispatch, daily demand constant over365days. Unrounded values used, display rounding may differ. Billing-period30days assumed. Inverter and roof sizing provisional. Warranty10years,6000cycles@80%DoD from original source.</a:t>
            </a:r>
          </a:p>
          <a:p xmlns:a="http://schemas.openxmlformats.org/drawingml/2006/main">
            <a:r>
              <a:t>{</a:t>
            </a:r>
          </a:p>
          <a:p xmlns:a="http://schemas.openxmlformats.org/drawingml/2006/main">
            <a:r>
              <a:t>  "option": "C",</a:t>
            </a:r>
          </a:p>
          <a:p xmlns:a="http://schemas.openxmlformats.org/drawingml/2006/main">
            <a:r>
              <a:t>  "C": 64,</a:t>
            </a:r>
          </a:p>
          <a:p xmlns:a="http://schemas.openxmlformats.org/drawingml/2006/main">
            <a:r>
              <a:t>  "P": 17,</a:t>
            </a:r>
          </a:p>
          <a:p xmlns:a="http://schemas.openxmlformats.org/drawingml/2006/main">
            <a:r>
              <a:t>  "inv": 20,</a:t>
            </a:r>
          </a:p>
          <a:p xmlns:a="http://schemas.openxmlformats.org/drawingml/2006/main">
            <a:r>
              <a:t>  "price": 1154560,</a:t>
            </a:r>
          </a:p>
          <a:p xmlns:a="http://schemas.openxmlformats.org/drawingml/2006/main">
            <a:r>
              <a:t>  "reference": {</a:t>
            </a:r>
          </a:p>
          <a:p xmlns:a="http://schemas.openxmlformats.org/drawingml/2006/main">
            <a:r>
              <a:t>    "G": 84.66000000000001,</a:t>
            </a:r>
          </a:p>
          <a:p xmlns:a="http://schemas.openxmlformats.org/drawingml/2006/main">
            <a:r>
              <a:t>    "direct": 40.35,</a:t>
            </a:r>
          </a:p>
          <a:p xmlns:a="http://schemas.openxmlformats.org/drawingml/2006/main">
            <a:r>
              <a:t>    "surplus": 44.31000000000001,</a:t>
            </a:r>
          </a:p>
          <a:p xmlns:a="http://schemas.openxmlformats.org/drawingml/2006/main">
            <a:r>
              <a:t>    "battery": 40.35,</a:t>
            </a:r>
          </a:p>
          <a:p xmlns:a="http://schemas.openxmlformats.org/drawingml/2006/main">
            <a:r>
              <a:t>    "imports": 0,</a:t>
            </a:r>
          </a:p>
          <a:p xmlns:a="http://schemas.openxmlformats.org/drawingml/2006/main">
            <a:r>
              <a:t>    "base": 6867.22,</a:t>
            </a:r>
          </a:p>
          <a:p xmlns:a="http://schemas.openxmlformats.org/drawingml/2006/main">
            <a:r>
              <a:t>    "newbill": 9,</a:t>
            </a:r>
          </a:p>
          <a:p xmlns:a="http://schemas.openxmlformats.org/drawingml/2006/main">
            <a:r>
              <a:t>    "saving": 6858.22</a:t>
            </a:r>
          </a:p>
          <a:p xmlns:a="http://schemas.openxmlformats.org/drawingml/2006/main">
            <a:r>
              <a:t>  },</a:t>
            </a:r>
          </a:p>
          <a:p xmlns:a="http://schemas.openxmlformats.org/drawingml/2006/main">
            <a:r>
              <a:t>  "monthly": [</a:t>
            </a:r>
          </a:p>
          <a:p xmlns:a="http://schemas.openxmlformats.org/drawingml/2006/main">
            <a:r>
              <a:t>    {</a:t>
            </a:r>
          </a:p>
          <a:p xmlns:a="http://schemas.openxmlformats.org/drawingml/2006/main">
            <a:r>
              <a:t>      "month": "Jan",</a:t>
            </a:r>
          </a:p>
          <a:p xmlns:a="http://schemas.openxmlformats.org/drawingml/2006/main">
            <a:r>
              <a:t>      "days": 31,</a:t>
            </a:r>
          </a:p>
          <a:p xmlns:a="http://schemas.openxmlformats.org/drawingml/2006/main">
            <a:r>
              <a:t>      "G": 72.00322580645162,</a:t>
            </a:r>
          </a:p>
          <a:p xmlns:a="http://schemas.openxmlformats.org/drawingml/2006/main">
            <a:r>
              <a:t>      "direct": 40.35,</a:t>
            </a:r>
          </a:p>
          <a:p xmlns:a="http://schemas.openxmlformats.org/drawingml/2006/main">
            <a:r>
              <a:t>      "surplus": 31.653225806451623,</a:t>
            </a:r>
          </a:p>
          <a:p xmlns:a="http://schemas.openxmlformats.org/drawingml/2006/main">
            <a:r>
              <a:t>      "battery": 30.07056451612904,</a:t>
            </a:r>
          </a:p>
          <a:p xmlns:a="http://schemas.openxmlformats.org/drawingml/2006/main">
            <a:r>
              <a:t>      "imports": 318.66249999999985,</a:t>
            </a:r>
          </a:p>
          <a:p xmlns:a="http://schemas.openxmlformats.org/drawingml/2006/main">
            <a:r>
              <a:t>      "base": 7094.794000000002,</a:t>
            </a:r>
          </a:p>
          <a:p xmlns:a="http://schemas.openxmlformats.org/drawingml/2006/main">
            <a:r>
              <a:t>      "newbill": 870.8288749999997,</a:t>
            </a:r>
          </a:p>
          <a:p xmlns:a="http://schemas.openxmlformats.org/drawingml/2006/main">
            <a:r>
              <a:t>      "saving": 6223.965125000002</a:t>
            </a:r>
          </a:p>
          <a:p xmlns:a="http://schemas.openxmlformats.org/drawingml/2006/main">
            <a:r>
              <a:t>    },</a:t>
            </a:r>
          </a:p>
          <a:p xmlns:a="http://schemas.openxmlformats.org/drawingml/2006/main">
            <a:r>
              <a:t>    {</a:t>
            </a:r>
          </a:p>
          <a:p xmlns:a="http://schemas.openxmlformats.org/drawingml/2006/main">
            <a:r>
              <a:t>      "month": "Feb",</a:t>
            </a:r>
          </a:p>
          <a:p xmlns:a="http://schemas.openxmlformats.org/drawingml/2006/main">
            <a:r>
              <a:t>      "days": 28,</a:t>
            </a:r>
          </a:p>
          <a:p xmlns:a="http://schemas.openxmlformats.org/drawingml/2006/main">
            <a:r>
              <a:t>      "G": 78.59464285714284,</a:t>
            </a:r>
          </a:p>
          <a:p xmlns:a="http://schemas.openxmlformats.org/drawingml/2006/main">
            <a:r>
              <a:t>      "direct": 40.35,</a:t>
            </a:r>
          </a:p>
          <a:p xmlns:a="http://schemas.openxmlformats.org/drawingml/2006/main">
            <a:r>
              <a:t>      "surplus": 38.24464285714284,</a:t>
            </a:r>
          </a:p>
          <a:p xmlns:a="http://schemas.openxmlformats.org/drawingml/2006/main">
            <a:r>
              <a:t>      "battery": 36.3324107142857,</a:t>
            </a:r>
          </a:p>
          <a:p xmlns:a="http://schemas.openxmlformats.org/drawingml/2006/main">
            <a:r>
              <a:t>      "imports": 112.49250000000043,</a:t>
            </a:r>
          </a:p>
          <a:p xmlns:a="http://schemas.openxmlformats.org/drawingml/2006/main">
            <a:r>
              <a:t>      "base": 6412.071999999999,</a:t>
            </a:r>
          </a:p>
          <a:p xmlns:a="http://schemas.openxmlformats.org/drawingml/2006/main">
            <a:r>
              <a:t>      "newbill": 261.35857500000094,</a:t>
            </a:r>
          </a:p>
          <a:p xmlns:a="http://schemas.openxmlformats.org/drawingml/2006/main">
            <a:r>
              <a:t>      "saving": 6150.713424999998</a:t>
            </a:r>
          </a:p>
          <a:p xmlns:a="http://schemas.openxmlformats.org/drawingml/2006/main">
            <a:r>
              <a:t>    },</a:t>
            </a:r>
          </a:p>
          <a:p xmlns:a="http://schemas.openxmlformats.org/drawingml/2006/main">
            <a:r>
              <a:t>    {</a:t>
            </a:r>
          </a:p>
          <a:p xmlns:a="http://schemas.openxmlformats.org/drawingml/2006/main">
            <a:r>
              <a:t>      "month": "Mar",</a:t>
            </a:r>
          </a:p>
          <a:p xmlns:a="http://schemas.openxmlformats.org/drawingml/2006/main">
            <a:r>
              <a:t>      "days": 31,</a:t>
            </a:r>
          </a:p>
          <a:p xmlns:a="http://schemas.openxmlformats.org/drawingml/2006/main">
            <a:r>
              <a:t>      "G": 88.3232258064516,</a:t>
            </a:r>
          </a:p>
          <a:p xmlns:a="http://schemas.openxmlformats.org/drawingml/2006/main">
            <a:r>
              <a:t>      "direct": 40.35,</a:t>
            </a:r>
          </a:p>
          <a:p xmlns:a="http://schemas.openxmlformats.org/drawingml/2006/main">
            <a:r>
              <a:t>      "surplus": 47.9732258064516,</a:t>
            </a:r>
          </a:p>
          <a:p xmlns:a="http://schemas.openxmlformats.org/drawingml/2006/main">
            <a:r>
              <a:t>      "battery": 40.35,</a:t>
            </a:r>
          </a:p>
          <a:p xmlns:a="http://schemas.openxmlformats.org/drawingml/2006/main">
            <a:r>
              <a:t>      "imports": 0,</a:t>
            </a:r>
          </a:p>
          <a:p xmlns:a="http://schemas.openxmlformats.org/drawingml/2006/main">
            <a:r>
              <a:t>      "base": 7094.794000000002,</a:t>
            </a:r>
          </a:p>
          <a:p xmlns:a="http://schemas.openxmlformats.org/drawingml/2006/main">
            <a:r>
              <a:t>      "newbill": 9,</a:t>
            </a:r>
          </a:p>
          <a:p xmlns:a="http://schemas.openxmlformats.org/drawingml/2006/main">
            <a:r>
              <a:t>      "saving": 7085.794000000002</a:t>
            </a:r>
          </a:p>
          <a:p xmlns:a="http://schemas.openxmlformats.org/drawingml/2006/main">
            <a:r>
              <a:t>    },</a:t>
            </a:r>
          </a:p>
          <a:p xmlns:a="http://schemas.openxmlformats.org/drawingml/2006/main">
            <a:r>
              <a:t>    {</a:t>
            </a:r>
          </a:p>
          <a:p xmlns:a="http://schemas.openxmlformats.org/drawingml/2006/main">
            <a:r>
              <a:t>      "month": "Apr",</a:t>
            </a:r>
          </a:p>
          <a:p xmlns:a="http://schemas.openxmlformats.org/drawingml/2006/main">
            <a:r>
              <a:t>      "days": 30,</a:t>
            </a:r>
          </a:p>
          <a:p xmlns:a="http://schemas.openxmlformats.org/drawingml/2006/main">
            <a:r>
              <a:t>      "G": 91.154,</a:t>
            </a:r>
          </a:p>
          <a:p xmlns:a="http://schemas.openxmlformats.org/drawingml/2006/main">
            <a:r>
              <a:t>      "direct": 40.35,</a:t>
            </a:r>
          </a:p>
          <a:p xmlns:a="http://schemas.openxmlformats.org/drawingml/2006/main">
            <a:r>
              <a:t>      "surplus": 50.803999999999995,</a:t>
            </a:r>
          </a:p>
          <a:p xmlns:a="http://schemas.openxmlformats.org/drawingml/2006/main">
            <a:r>
              <a:t>      "battery": 40.35,</a:t>
            </a:r>
          </a:p>
          <a:p xmlns:a="http://schemas.openxmlformats.org/drawingml/2006/main">
            <a:r>
              <a:t>      "imports": 0,</a:t>
            </a:r>
          </a:p>
          <a:p xmlns:a="http://schemas.openxmlformats.org/drawingml/2006/main">
            <a:r>
              <a:t>      "base": 6867.22,</a:t>
            </a:r>
          </a:p>
          <a:p xmlns:a="http://schemas.openxmlformats.org/drawingml/2006/main">
            <a:r>
              <a:t>      "newbill": 9,</a:t>
            </a:r>
          </a:p>
          <a:p xmlns:a="http://schemas.openxmlformats.org/drawingml/2006/main">
            <a:r>
              <a:t>      "saving": 6858.22</a:t>
            </a:r>
          </a:p>
          <a:p xmlns:a="http://schemas.openxmlformats.org/drawingml/2006/main">
            <a:r>
              <a:t>    },</a:t>
            </a:r>
          </a:p>
          <a:p xmlns:a="http://schemas.openxmlformats.org/drawingml/2006/main">
            <a:r>
              <a:t>    {</a:t>
            </a:r>
          </a:p>
          <a:p xmlns:a="http://schemas.openxmlformats.org/drawingml/2006/main">
            <a:r>
              <a:t>      "month": "May",</a:t>
            </a:r>
          </a:p>
          <a:p xmlns:a="http://schemas.openxmlformats.org/drawingml/2006/main">
            <a:r>
              <a:t>      "days": 31,</a:t>
            </a:r>
          </a:p>
          <a:p xmlns:a="http://schemas.openxmlformats.org/drawingml/2006/main">
            <a:r>
              <a:t>      "G": 89.23354838709677,</a:t>
            </a:r>
          </a:p>
          <a:p xmlns:a="http://schemas.openxmlformats.org/drawingml/2006/main">
            <a:r>
              <a:t>      "direct": 40.35,</a:t>
            </a:r>
          </a:p>
          <a:p xmlns:a="http://schemas.openxmlformats.org/drawingml/2006/main">
            <a:r>
              <a:t>      "surplus": 48.88354838709677,</a:t>
            </a:r>
          </a:p>
          <a:p xmlns:a="http://schemas.openxmlformats.org/drawingml/2006/main">
            <a:r>
              <a:t>      "battery": 40.35,</a:t>
            </a:r>
          </a:p>
          <a:p xmlns:a="http://schemas.openxmlformats.org/drawingml/2006/main">
            <a:r>
              <a:t>      "imports": 0,</a:t>
            </a:r>
          </a:p>
          <a:p xmlns:a="http://schemas.openxmlformats.org/drawingml/2006/main">
            <a:r>
              <a:t>      "base": 7094.794000000002,</a:t>
            </a:r>
          </a:p>
          <a:p xmlns:a="http://schemas.openxmlformats.org/drawingml/2006/main">
            <a:r>
              <a:t>      "newbill": 9,</a:t>
            </a:r>
          </a:p>
          <a:p xmlns:a="http://schemas.openxmlformats.org/drawingml/2006/main">
            <a:r>
              <a:t>      "saving": 7085.794000000002</a:t>
            </a:r>
          </a:p>
          <a:p xmlns:a="http://schemas.openxmlformats.org/drawingml/2006/main">
            <a:r>
              <a:t>    },</a:t>
            </a:r>
          </a:p>
          <a:p xmlns:a="http://schemas.openxmlformats.org/drawingml/2006/main">
            <a:r>
              <a:t>    {</a:t>
            </a:r>
          </a:p>
          <a:p xmlns:a="http://schemas.openxmlformats.org/drawingml/2006/main">
            <a:r>
              <a:t>      "month": "Jun",</a:t>
            </a:r>
          </a:p>
          <a:p xmlns:a="http://schemas.openxmlformats.org/drawingml/2006/main">
            <a:r>
              <a:t>      "days": 30,</a:t>
            </a:r>
          </a:p>
          <a:p xmlns:a="http://schemas.openxmlformats.org/drawingml/2006/main">
            <a:r>
              <a:t>      "G": 89.88466666666667,</a:t>
            </a:r>
          </a:p>
          <a:p xmlns:a="http://schemas.openxmlformats.org/drawingml/2006/main">
            <a:r>
              <a:t>      "direct": 40.35,</a:t>
            </a:r>
          </a:p>
          <a:p xmlns:a="http://schemas.openxmlformats.org/drawingml/2006/main">
            <a:r>
              <a:t>      "surplus": 49.53466666666667,</a:t>
            </a:r>
          </a:p>
          <a:p xmlns:a="http://schemas.openxmlformats.org/drawingml/2006/main">
            <a:r>
              <a:t>      "battery": 40.35,</a:t>
            </a:r>
          </a:p>
          <a:p xmlns:a="http://schemas.openxmlformats.org/drawingml/2006/main">
            <a:r>
              <a:t>      "imports": 0,</a:t>
            </a:r>
          </a:p>
          <a:p xmlns:a="http://schemas.openxmlformats.org/drawingml/2006/main">
            <a:r>
              <a:t>      "base": 6867.22,</a:t>
            </a:r>
          </a:p>
          <a:p xmlns:a="http://schemas.openxmlformats.org/drawingml/2006/main">
            <a:r>
              <a:t>      "newbill": 9,</a:t>
            </a:r>
          </a:p>
          <a:p xmlns:a="http://schemas.openxmlformats.org/drawingml/2006/main">
            <a:r>
              <a:t>      "saving": 6858.22</a:t>
            </a:r>
          </a:p>
          <a:p xmlns:a="http://schemas.openxmlformats.org/drawingml/2006/main">
            <a:r>
              <a:t>    },</a:t>
            </a:r>
          </a:p>
          <a:p xmlns:a="http://schemas.openxmlformats.org/drawingml/2006/main">
            <a:r>
              <a:t>    {</a:t>
            </a:r>
          </a:p>
          <a:p xmlns:a="http://schemas.openxmlformats.org/drawingml/2006/main">
            <a:r>
              <a:t>      "month": "Jul",</a:t>
            </a:r>
          </a:p>
          <a:p xmlns:a="http://schemas.openxmlformats.org/drawingml/2006/main">
            <a:r>
              <a:t>      "days": 31,</a:t>
            </a:r>
          </a:p>
          <a:p xmlns:a="http://schemas.openxmlformats.org/drawingml/2006/main">
            <a:r>
              <a:t>      "G": 90.29741935483871,</a:t>
            </a:r>
          </a:p>
          <a:p xmlns:a="http://schemas.openxmlformats.org/drawingml/2006/main">
            <a:r>
              <a:t>      "direct": 40.35,</a:t>
            </a:r>
          </a:p>
          <a:p xmlns:a="http://schemas.openxmlformats.org/drawingml/2006/main">
            <a:r>
              <a:t>      "surplus": 49.94741935483871,</a:t>
            </a:r>
          </a:p>
          <a:p xmlns:a="http://schemas.openxmlformats.org/drawingml/2006/main">
            <a:r>
              <a:t>      "battery": 40.35,</a:t>
            </a:r>
          </a:p>
          <a:p xmlns:a="http://schemas.openxmlformats.org/drawingml/2006/main">
            <a:r>
              <a:t>      "imports": 0,</a:t>
            </a:r>
          </a:p>
          <a:p xmlns:a="http://schemas.openxmlformats.org/drawingml/2006/main">
            <a:r>
              <a:t>      "base": 7094.794000000002,</a:t>
            </a:r>
          </a:p>
          <a:p xmlns:a="http://schemas.openxmlformats.org/drawingml/2006/main">
            <a:r>
              <a:t>      "newbill": 9,</a:t>
            </a:r>
          </a:p>
          <a:p xmlns:a="http://schemas.openxmlformats.org/drawingml/2006/main">
            <a:r>
              <a:t>      "saving": 7085.794000000002</a:t>
            </a:r>
          </a:p>
          <a:p xmlns:a="http://schemas.openxmlformats.org/drawingml/2006/main">
            <a:r>
              <a:t>    },</a:t>
            </a:r>
          </a:p>
          <a:p xmlns:a="http://schemas.openxmlformats.org/drawingml/2006/main">
            <a:r>
              <a:t>    {</a:t>
            </a:r>
          </a:p>
          <a:p xmlns:a="http://schemas.openxmlformats.org/drawingml/2006/main">
            <a:r>
              <a:t>      "month": "Aug",</a:t>
            </a:r>
          </a:p>
          <a:p xmlns:a="http://schemas.openxmlformats.org/drawingml/2006/main">
            <a:r>
              <a:t>      "days": 31,</a:t>
            </a:r>
          </a:p>
          <a:p xmlns:a="http://schemas.openxmlformats.org/drawingml/2006/main">
            <a:r>
              <a:t>      "G": 91.47096774193548,</a:t>
            </a:r>
          </a:p>
          <a:p xmlns:a="http://schemas.openxmlformats.org/drawingml/2006/main">
            <a:r>
              <a:t>      "direct": 40.35,</a:t>
            </a:r>
          </a:p>
          <a:p xmlns:a="http://schemas.openxmlformats.org/drawingml/2006/main">
            <a:r>
              <a:t>      "surplus": 51.12096774193548,</a:t>
            </a:r>
          </a:p>
          <a:p xmlns:a="http://schemas.openxmlformats.org/drawingml/2006/main">
            <a:r>
              <a:t>      "battery": 40.35,</a:t>
            </a:r>
          </a:p>
          <a:p xmlns:a="http://schemas.openxmlformats.org/drawingml/2006/main">
            <a:r>
              <a:t>      "imports": 0,</a:t>
            </a:r>
          </a:p>
          <a:p xmlns:a="http://schemas.openxmlformats.org/drawingml/2006/main">
            <a:r>
              <a:t>      "base": 7094.794000000002,</a:t>
            </a:r>
          </a:p>
          <a:p xmlns:a="http://schemas.openxmlformats.org/drawingml/2006/main">
            <a:r>
              <a:t>      "newbill": 9,</a:t>
            </a:r>
          </a:p>
          <a:p xmlns:a="http://schemas.openxmlformats.org/drawingml/2006/main">
            <a:r>
              <a:t>      "saving": 7085.794000000002</a:t>
            </a:r>
          </a:p>
          <a:p xmlns:a="http://schemas.openxmlformats.org/drawingml/2006/main">
            <a:r>
              <a:t>    },</a:t>
            </a:r>
          </a:p>
          <a:p xmlns:a="http://schemas.openxmlformats.org/drawingml/2006/main">
            <a:r>
              <a:t>    {</a:t>
            </a:r>
          </a:p>
          <a:p xmlns:a="http://schemas.openxmlformats.org/drawingml/2006/main">
            <a:r>
              <a:t>      "month": "Sep",</a:t>
            </a:r>
          </a:p>
          <a:p xmlns:a="http://schemas.openxmlformats.org/drawingml/2006/main">
            <a:r>
              <a:t>      "days": 30,</a:t>
            </a:r>
          </a:p>
          <a:p xmlns:a="http://schemas.openxmlformats.org/drawingml/2006/main">
            <a:r>
              <a:t>      "G": 91.23333333333332,</a:t>
            </a:r>
          </a:p>
          <a:p xmlns:a="http://schemas.openxmlformats.org/drawingml/2006/main">
            <a:r>
              <a:t>      "direct": 40.35,</a:t>
            </a:r>
          </a:p>
          <a:p xmlns:a="http://schemas.openxmlformats.org/drawingml/2006/main">
            <a:r>
              <a:t>      "surplus": 50.88333333333332,</a:t>
            </a:r>
          </a:p>
          <a:p xmlns:a="http://schemas.openxmlformats.org/drawingml/2006/main">
            <a:r>
              <a:t>      "battery": 40.35,</a:t>
            </a:r>
          </a:p>
          <a:p xmlns:a="http://schemas.openxmlformats.org/drawingml/2006/main">
            <a:r>
              <a:t>      "imports": 0,</a:t>
            </a:r>
          </a:p>
          <a:p xmlns:a="http://schemas.openxmlformats.org/drawingml/2006/main">
            <a:r>
              <a:t>      "base": 6867.22,</a:t>
            </a:r>
          </a:p>
          <a:p xmlns:a="http://schemas.openxmlformats.org/drawingml/2006/main">
            <a:r>
              <a:t>      "newbill": 9,</a:t>
            </a:r>
          </a:p>
          <a:p xmlns:a="http://schemas.openxmlformats.org/drawingml/2006/main">
            <a:r>
              <a:t>      "saving": 6858.22</a:t>
            </a:r>
          </a:p>
          <a:p xmlns:a="http://schemas.openxmlformats.org/drawingml/2006/main">
            <a:r>
              <a:t>    },</a:t>
            </a:r>
          </a:p>
          <a:p xmlns:a="http://schemas.openxmlformats.org/drawingml/2006/main">
            <a:r>
              <a:t>    {</a:t>
            </a:r>
          </a:p>
          <a:p xmlns:a="http://schemas.openxmlformats.org/drawingml/2006/main">
            <a:r>
              <a:t>      "month": "Oct",</a:t>
            </a:r>
          </a:p>
          <a:p xmlns:a="http://schemas.openxmlformats.org/drawingml/2006/main">
            <a:r>
              <a:t>      "days": 31,</a:t>
            </a:r>
          </a:p>
          <a:p xmlns:a="http://schemas.openxmlformats.org/drawingml/2006/main">
            <a:r>
              <a:t>      "G": 84.74225806451614,</a:t>
            </a:r>
          </a:p>
          <a:p xmlns:a="http://schemas.openxmlformats.org/drawingml/2006/main">
            <a:r>
              <a:t>      "direct": 40.35,</a:t>
            </a:r>
          </a:p>
          <a:p xmlns:a="http://schemas.openxmlformats.org/drawingml/2006/main">
            <a:r>
              <a:t>      "surplus": 44.392258064516135,</a:t>
            </a:r>
          </a:p>
          <a:p xmlns:a="http://schemas.openxmlformats.org/drawingml/2006/main">
            <a:r>
              <a:t>      "battery": 40.35,</a:t>
            </a:r>
          </a:p>
          <a:p xmlns:a="http://schemas.openxmlformats.org/drawingml/2006/main">
            <a:r>
              <a:t>      "imports": 0,</a:t>
            </a:r>
          </a:p>
          <a:p xmlns:a="http://schemas.openxmlformats.org/drawingml/2006/main">
            <a:r>
              <a:t>      "base": 7094.794000000002,</a:t>
            </a:r>
          </a:p>
          <a:p xmlns:a="http://schemas.openxmlformats.org/drawingml/2006/main">
            <a:r>
              <a:t>      "newbill": 9,</a:t>
            </a:r>
          </a:p>
          <a:p xmlns:a="http://schemas.openxmlformats.org/drawingml/2006/main">
            <a:r>
              <a:t>      "saving": 7085.794000000002</a:t>
            </a:r>
          </a:p>
          <a:p xmlns:a="http://schemas.openxmlformats.org/drawingml/2006/main">
            <a:r>
              <a:t>    },</a:t>
            </a:r>
          </a:p>
          <a:p xmlns:a="http://schemas.openxmlformats.org/drawingml/2006/main">
            <a:r>
              <a:t>    {</a:t>
            </a:r>
          </a:p>
          <a:p xmlns:a="http://schemas.openxmlformats.org/drawingml/2006/main">
            <a:r>
              <a:t>      "month": "Nov",</a:t>
            </a:r>
          </a:p>
          <a:p xmlns:a="http://schemas.openxmlformats.org/drawingml/2006/main">
            <a:r>
              <a:t>      "days": 30,</a:t>
            </a:r>
          </a:p>
          <a:p xmlns:a="http://schemas.openxmlformats.org/drawingml/2006/main">
            <a:r>
              <a:t>      "G": 77.61633333333334,</a:t>
            </a:r>
          </a:p>
          <a:p xmlns:a="http://schemas.openxmlformats.org/drawingml/2006/main">
            <a:r>
              <a:t>      "direct": 40.35,</a:t>
            </a:r>
          </a:p>
          <a:p xmlns:a="http://schemas.openxmlformats.org/drawingml/2006/main">
            <a:r>
              <a:t>      "surplus": 37.26633333333334,</a:t>
            </a:r>
          </a:p>
          <a:p xmlns:a="http://schemas.openxmlformats.org/drawingml/2006/main">
            <a:r>
              <a:t>      "battery": 35.40301666666667,</a:t>
            </a:r>
          </a:p>
          <a:p xmlns:a="http://schemas.openxmlformats.org/drawingml/2006/main">
            <a:r>
              <a:t>      "imports": 148.40949999999987,</a:t>
            </a:r>
          </a:p>
          <a:p xmlns:a="http://schemas.openxmlformats.org/drawingml/2006/main">
            <a:r>
              <a:t>      "base": 6867.22,</a:t>
            </a:r>
          </a:p>
          <a:p xmlns:a="http://schemas.openxmlformats.org/drawingml/2006/main">
            <a:r>
              <a:t>      "newbill": 340.01680499999975,</a:t>
            </a:r>
          </a:p>
          <a:p xmlns:a="http://schemas.openxmlformats.org/drawingml/2006/main">
            <a:r>
              <a:t>      "saving": 6527.203195</a:t>
            </a:r>
          </a:p>
          <a:p xmlns:a="http://schemas.openxmlformats.org/drawingml/2006/main">
            <a:r>
              <a:t>    },</a:t>
            </a:r>
          </a:p>
          <a:p xmlns:a="http://schemas.openxmlformats.org/drawingml/2006/main">
            <a:r>
              <a:t>    {</a:t>
            </a:r>
          </a:p>
          <a:p xmlns:a="http://schemas.openxmlformats.org/drawingml/2006/main">
            <a:r>
              <a:t>      "month": "Dec",</a:t>
            </a:r>
          </a:p>
          <a:p xmlns:a="http://schemas.openxmlformats.org/drawingml/2006/main">
            <a:r>
              <a:t>      "days": 31,</a:t>
            </a:r>
          </a:p>
          <a:p xmlns:a="http://schemas.openxmlformats.org/drawingml/2006/main">
            <a:r>
              <a:t>      "G": 71.50967741935484,</a:t>
            </a:r>
          </a:p>
          <a:p xmlns:a="http://schemas.openxmlformats.org/drawingml/2006/main">
            <a:r>
              <a:t>      "direct": 40.35,</a:t>
            </a:r>
          </a:p>
          <a:p xmlns:a="http://schemas.openxmlformats.org/drawingml/2006/main">
            <a:r>
              <a:t>      "surplus": 31.159677419354843,</a:t>
            </a:r>
          </a:p>
          <a:p xmlns:a="http://schemas.openxmlformats.org/drawingml/2006/main">
            <a:r>
              <a:t>      "battery": 29.6016935483871,</a:t>
            </a:r>
          </a:p>
          <a:p xmlns:a="http://schemas.openxmlformats.org/drawingml/2006/main">
            <a:r>
              <a:t>      "imports": 333.19749999999993,</a:t>
            </a:r>
          </a:p>
          <a:p xmlns:a="http://schemas.openxmlformats.org/drawingml/2006/main">
            <a:r>
              <a:t>      "base": 7094.794000000002,</a:t>
            </a:r>
          </a:p>
          <a:p xmlns:a="http://schemas.openxmlformats.org/drawingml/2006/main">
            <a:r>
              <a:t>      "newbill": 909.6373249999998,</a:t>
            </a:r>
          </a:p>
          <a:p xmlns:a="http://schemas.openxmlformats.org/drawingml/2006/main">
            <a:r>
              <a:t>      "saving": 6185.156675000002</a:t>
            </a:r>
          </a:p>
          <a:p xmlns:a="http://schemas.openxmlformats.org/drawingml/2006/main">
            <a:r>
              <a:t>    }</a:t>
            </a:r>
          </a:p>
          <a:p xmlns:a="http://schemas.openxmlformats.org/drawingml/2006/main">
            <a:r>
              <a:t>  ],</a:t>
            </a:r>
          </a:p>
          <a:p xmlns:a="http://schemas.openxmlformats.org/drawingml/2006/main">
            <a:r>
              <a:t>  "annualSaving": 81090.66842000002,</a:t>
            </a:r>
          </a:p>
          <a:p xmlns:a="http://schemas.openxmlformats.org/drawingml/2006/main">
            <a:r>
              <a:t>  "averageSaving": 6757.555701666668,</a:t>
            </a:r>
          </a:p>
          <a:p xmlns:a="http://schemas.openxmlformats.org/drawingml/2006/main">
            <a:r>
              <a:t>  "payback": 14.237889790476089,</a:t>
            </a:r>
          </a:p>
          <a:p xmlns:a="http://schemas.openxmlformats.org/drawingml/2006/main">
            <a:r>
              <a:t>  "annualImports": 912.7620000000002</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Same assumptions and calculation basis as El_Mo3alem_Juice_Shop_Solar_BESS.pptx, reviewed 30 Sep 2026. Baseline80.7 kWh/day,50/50,PV mean4.98,DoD80%,storage efficiency95% applied once at output. Prices are historical selling-price assumptions. Battery220 EUR/kWh*62EGP/EUR=13640EGP/kWh from Home_Storage slide15. Tariff source https://www.egyptera.org/en/TarrifApril2026.aspx . PV source JRC PVGIS5.3: https://re.jrc.ec.europa.eu/api/v5_3/PVcalc?lat=30.0444&amp;lon=31.2357&amp;peakpower=1&amp;loss=14&amp;angle=30&amp;aspect=0&amp;pvtechchoice=crystSi&amp;mountingplace=free&amp;outputformat=json . SARAH3/ERA5 2005–2023. 30degree south-facing free-standing crystalline silicon,14% entered PV loss. Solar-only charging, zero export value. No maintenance, insurance, finance, replacement, degradation or price escalation. Annual3EGP stamp excluded equally. Monthly-average days rather than hourly dispatch, daily demand constant over365days. Unrounded values used, display rounding may differ. Billing-period30days assumed. Inverter and roof sizing provisional. Warranty10years,6000cycles@80%DoD from original source.</a:t>
            </a:r>
          </a:p>
          <a:p xmlns:a="http://schemas.openxmlformats.org/drawingml/2006/main">
            <a:r>
              <a:t>{</a:t>
            </a:r>
          </a:p>
          <a:p xmlns:a="http://schemas.openxmlformats.org/drawingml/2006/main">
            <a:r>
              <a:t>  "option": "C",</a:t>
            </a:r>
          </a:p>
          <a:p xmlns:a="http://schemas.openxmlformats.org/drawingml/2006/main">
            <a:r>
              <a:t>  "C": 64,</a:t>
            </a:r>
          </a:p>
          <a:p xmlns:a="http://schemas.openxmlformats.org/drawingml/2006/main">
            <a:r>
              <a:t>  "P": 17,</a:t>
            </a:r>
          </a:p>
          <a:p xmlns:a="http://schemas.openxmlformats.org/drawingml/2006/main">
            <a:r>
              <a:t>  "inv": 20,</a:t>
            </a:r>
          </a:p>
          <a:p xmlns:a="http://schemas.openxmlformats.org/drawingml/2006/main">
            <a:r>
              <a:t>  "price": 1154560,</a:t>
            </a:r>
          </a:p>
          <a:p xmlns:a="http://schemas.openxmlformats.org/drawingml/2006/main">
            <a:r>
              <a:t>  "reference": {</a:t>
            </a:r>
          </a:p>
          <a:p xmlns:a="http://schemas.openxmlformats.org/drawingml/2006/main">
            <a:r>
              <a:t>    "G": 84.66000000000001,</a:t>
            </a:r>
          </a:p>
          <a:p xmlns:a="http://schemas.openxmlformats.org/drawingml/2006/main">
            <a:r>
              <a:t>    "direct": 40.35,</a:t>
            </a:r>
          </a:p>
          <a:p xmlns:a="http://schemas.openxmlformats.org/drawingml/2006/main">
            <a:r>
              <a:t>    "surplus": 44.31000000000001,</a:t>
            </a:r>
          </a:p>
          <a:p xmlns:a="http://schemas.openxmlformats.org/drawingml/2006/main">
            <a:r>
              <a:t>    "battery": 40.35,</a:t>
            </a:r>
          </a:p>
          <a:p xmlns:a="http://schemas.openxmlformats.org/drawingml/2006/main">
            <a:r>
              <a:t>    "imports": 0,</a:t>
            </a:r>
          </a:p>
          <a:p xmlns:a="http://schemas.openxmlformats.org/drawingml/2006/main">
            <a:r>
              <a:t>    "base": 6867.22,</a:t>
            </a:r>
          </a:p>
          <a:p xmlns:a="http://schemas.openxmlformats.org/drawingml/2006/main">
            <a:r>
              <a:t>    "newbill": 9,</a:t>
            </a:r>
          </a:p>
          <a:p xmlns:a="http://schemas.openxmlformats.org/drawingml/2006/main">
            <a:r>
              <a:t>    "saving": 6858.22</a:t>
            </a:r>
          </a:p>
          <a:p xmlns:a="http://schemas.openxmlformats.org/drawingml/2006/main">
            <a:r>
              <a:t>  },</a:t>
            </a:r>
          </a:p>
          <a:p xmlns:a="http://schemas.openxmlformats.org/drawingml/2006/main">
            <a:r>
              <a:t>  "monthly": [</a:t>
            </a:r>
          </a:p>
          <a:p xmlns:a="http://schemas.openxmlformats.org/drawingml/2006/main">
            <a:r>
              <a:t>    {</a:t>
            </a:r>
          </a:p>
          <a:p xmlns:a="http://schemas.openxmlformats.org/drawingml/2006/main">
            <a:r>
              <a:t>      "month": "Jan",</a:t>
            </a:r>
          </a:p>
          <a:p xmlns:a="http://schemas.openxmlformats.org/drawingml/2006/main">
            <a:r>
              <a:t>      "days": 31,</a:t>
            </a:r>
          </a:p>
          <a:p xmlns:a="http://schemas.openxmlformats.org/drawingml/2006/main">
            <a:r>
              <a:t>      "G": 72.00322580645162,</a:t>
            </a:r>
          </a:p>
          <a:p xmlns:a="http://schemas.openxmlformats.org/drawingml/2006/main">
            <a:r>
              <a:t>      "direct": 40.35,</a:t>
            </a:r>
          </a:p>
          <a:p xmlns:a="http://schemas.openxmlformats.org/drawingml/2006/main">
            <a:r>
              <a:t>      "surplus": 31.653225806451623,</a:t>
            </a:r>
          </a:p>
          <a:p xmlns:a="http://schemas.openxmlformats.org/drawingml/2006/main">
            <a:r>
              <a:t>      "battery": 30.07056451612904,</a:t>
            </a:r>
          </a:p>
          <a:p xmlns:a="http://schemas.openxmlformats.org/drawingml/2006/main">
            <a:r>
              <a:t>      "imports": 318.66249999999985,</a:t>
            </a:r>
          </a:p>
          <a:p xmlns:a="http://schemas.openxmlformats.org/drawingml/2006/main">
            <a:r>
              <a:t>      "base": 7094.794000000002,</a:t>
            </a:r>
          </a:p>
          <a:p xmlns:a="http://schemas.openxmlformats.org/drawingml/2006/main">
            <a:r>
              <a:t>      "newbill": 870.8288749999997,</a:t>
            </a:r>
          </a:p>
          <a:p xmlns:a="http://schemas.openxmlformats.org/drawingml/2006/main">
            <a:r>
              <a:t>      "saving": 6223.965125000002</a:t>
            </a:r>
          </a:p>
          <a:p xmlns:a="http://schemas.openxmlformats.org/drawingml/2006/main">
            <a:r>
              <a:t>    },</a:t>
            </a:r>
          </a:p>
          <a:p xmlns:a="http://schemas.openxmlformats.org/drawingml/2006/main">
            <a:r>
              <a:t>    {</a:t>
            </a:r>
          </a:p>
          <a:p xmlns:a="http://schemas.openxmlformats.org/drawingml/2006/main">
            <a:r>
              <a:t>      "month": "Feb",</a:t>
            </a:r>
          </a:p>
          <a:p xmlns:a="http://schemas.openxmlformats.org/drawingml/2006/main">
            <a:r>
              <a:t>      "days": 28,</a:t>
            </a:r>
          </a:p>
          <a:p xmlns:a="http://schemas.openxmlformats.org/drawingml/2006/main">
            <a:r>
              <a:t>      "G": 78.59464285714284,</a:t>
            </a:r>
          </a:p>
          <a:p xmlns:a="http://schemas.openxmlformats.org/drawingml/2006/main">
            <a:r>
              <a:t>      "direct": 40.35,</a:t>
            </a:r>
          </a:p>
          <a:p xmlns:a="http://schemas.openxmlformats.org/drawingml/2006/main">
            <a:r>
              <a:t>      "surplus": 38.24464285714284,</a:t>
            </a:r>
          </a:p>
          <a:p xmlns:a="http://schemas.openxmlformats.org/drawingml/2006/main">
            <a:r>
              <a:t>      "battery": 36.3324107142857,</a:t>
            </a:r>
          </a:p>
          <a:p xmlns:a="http://schemas.openxmlformats.org/drawingml/2006/main">
            <a:r>
              <a:t>      "imports": 112.49250000000043,</a:t>
            </a:r>
          </a:p>
          <a:p xmlns:a="http://schemas.openxmlformats.org/drawingml/2006/main">
            <a:r>
              <a:t>      "base": 6412.071999999999,</a:t>
            </a:r>
          </a:p>
          <a:p xmlns:a="http://schemas.openxmlformats.org/drawingml/2006/main">
            <a:r>
              <a:t>      "newbill": 261.35857500000094,</a:t>
            </a:r>
          </a:p>
          <a:p xmlns:a="http://schemas.openxmlformats.org/drawingml/2006/main">
            <a:r>
              <a:t>      "saving": 6150.713424999998</a:t>
            </a:r>
          </a:p>
          <a:p xmlns:a="http://schemas.openxmlformats.org/drawingml/2006/main">
            <a:r>
              <a:t>    },</a:t>
            </a:r>
          </a:p>
          <a:p xmlns:a="http://schemas.openxmlformats.org/drawingml/2006/main">
            <a:r>
              <a:t>    {</a:t>
            </a:r>
          </a:p>
          <a:p xmlns:a="http://schemas.openxmlformats.org/drawingml/2006/main">
            <a:r>
              <a:t>      "month": "Mar",</a:t>
            </a:r>
          </a:p>
          <a:p xmlns:a="http://schemas.openxmlformats.org/drawingml/2006/main">
            <a:r>
              <a:t>      "days": 31,</a:t>
            </a:r>
          </a:p>
          <a:p xmlns:a="http://schemas.openxmlformats.org/drawingml/2006/main">
            <a:r>
              <a:t>      "G": 88.3232258064516,</a:t>
            </a:r>
          </a:p>
          <a:p xmlns:a="http://schemas.openxmlformats.org/drawingml/2006/main">
            <a:r>
              <a:t>      "direct": 40.35,</a:t>
            </a:r>
          </a:p>
          <a:p xmlns:a="http://schemas.openxmlformats.org/drawingml/2006/main">
            <a:r>
              <a:t>      "surplus": 47.9732258064516,</a:t>
            </a:r>
          </a:p>
          <a:p xmlns:a="http://schemas.openxmlformats.org/drawingml/2006/main">
            <a:r>
              <a:t>      "battery": 40.35,</a:t>
            </a:r>
          </a:p>
          <a:p xmlns:a="http://schemas.openxmlformats.org/drawingml/2006/main">
            <a:r>
              <a:t>      "imports": 0,</a:t>
            </a:r>
          </a:p>
          <a:p xmlns:a="http://schemas.openxmlformats.org/drawingml/2006/main">
            <a:r>
              <a:t>      "base": 7094.794000000002,</a:t>
            </a:r>
          </a:p>
          <a:p xmlns:a="http://schemas.openxmlformats.org/drawingml/2006/main">
            <a:r>
              <a:t>      "newbill": 9,</a:t>
            </a:r>
          </a:p>
          <a:p xmlns:a="http://schemas.openxmlformats.org/drawingml/2006/main">
            <a:r>
              <a:t>      "saving": 7085.794000000002</a:t>
            </a:r>
          </a:p>
          <a:p xmlns:a="http://schemas.openxmlformats.org/drawingml/2006/main">
            <a:r>
              <a:t>    },</a:t>
            </a:r>
          </a:p>
          <a:p xmlns:a="http://schemas.openxmlformats.org/drawingml/2006/main">
            <a:r>
              <a:t>    {</a:t>
            </a:r>
          </a:p>
          <a:p xmlns:a="http://schemas.openxmlformats.org/drawingml/2006/main">
            <a:r>
              <a:t>      "month": "Apr",</a:t>
            </a:r>
          </a:p>
          <a:p xmlns:a="http://schemas.openxmlformats.org/drawingml/2006/main">
            <a:r>
              <a:t>      "days": 30,</a:t>
            </a:r>
          </a:p>
          <a:p xmlns:a="http://schemas.openxmlformats.org/drawingml/2006/main">
            <a:r>
              <a:t>      "G": 91.154,</a:t>
            </a:r>
          </a:p>
          <a:p xmlns:a="http://schemas.openxmlformats.org/drawingml/2006/main">
            <a:r>
              <a:t>      "direct": 40.35,</a:t>
            </a:r>
          </a:p>
          <a:p xmlns:a="http://schemas.openxmlformats.org/drawingml/2006/main">
            <a:r>
              <a:t>      "surplus": 50.803999999999995,</a:t>
            </a:r>
          </a:p>
          <a:p xmlns:a="http://schemas.openxmlformats.org/drawingml/2006/main">
            <a:r>
              <a:t>      "battery": 40.35,</a:t>
            </a:r>
          </a:p>
          <a:p xmlns:a="http://schemas.openxmlformats.org/drawingml/2006/main">
            <a:r>
              <a:t>      "imports": 0,</a:t>
            </a:r>
          </a:p>
          <a:p xmlns:a="http://schemas.openxmlformats.org/drawingml/2006/main">
            <a:r>
              <a:t>      "base": 6867.22,</a:t>
            </a:r>
          </a:p>
          <a:p xmlns:a="http://schemas.openxmlformats.org/drawingml/2006/main">
            <a:r>
              <a:t>      "newbill": 9,</a:t>
            </a:r>
          </a:p>
          <a:p xmlns:a="http://schemas.openxmlformats.org/drawingml/2006/main">
            <a:r>
              <a:t>      "saving": 6858.22</a:t>
            </a:r>
          </a:p>
          <a:p xmlns:a="http://schemas.openxmlformats.org/drawingml/2006/main">
            <a:r>
              <a:t>    },</a:t>
            </a:r>
          </a:p>
          <a:p xmlns:a="http://schemas.openxmlformats.org/drawingml/2006/main">
            <a:r>
              <a:t>    {</a:t>
            </a:r>
          </a:p>
          <a:p xmlns:a="http://schemas.openxmlformats.org/drawingml/2006/main">
            <a:r>
              <a:t>      "month": "May",</a:t>
            </a:r>
          </a:p>
          <a:p xmlns:a="http://schemas.openxmlformats.org/drawingml/2006/main">
            <a:r>
              <a:t>      "days": 31,</a:t>
            </a:r>
          </a:p>
          <a:p xmlns:a="http://schemas.openxmlformats.org/drawingml/2006/main">
            <a:r>
              <a:t>      "G": 89.23354838709677,</a:t>
            </a:r>
          </a:p>
          <a:p xmlns:a="http://schemas.openxmlformats.org/drawingml/2006/main">
            <a:r>
              <a:t>      "direct": 40.35,</a:t>
            </a:r>
          </a:p>
          <a:p xmlns:a="http://schemas.openxmlformats.org/drawingml/2006/main">
            <a:r>
              <a:t>      "surplus": 48.88354838709677,</a:t>
            </a:r>
          </a:p>
          <a:p xmlns:a="http://schemas.openxmlformats.org/drawingml/2006/main">
            <a:r>
              <a:t>      "battery": 40.35,</a:t>
            </a:r>
          </a:p>
          <a:p xmlns:a="http://schemas.openxmlformats.org/drawingml/2006/main">
            <a:r>
              <a:t>      "imports": 0,</a:t>
            </a:r>
          </a:p>
          <a:p xmlns:a="http://schemas.openxmlformats.org/drawingml/2006/main">
            <a:r>
              <a:t>      "base": 7094.794000000002,</a:t>
            </a:r>
          </a:p>
          <a:p xmlns:a="http://schemas.openxmlformats.org/drawingml/2006/main">
            <a:r>
              <a:t>      "newbill": 9,</a:t>
            </a:r>
          </a:p>
          <a:p xmlns:a="http://schemas.openxmlformats.org/drawingml/2006/main">
            <a:r>
              <a:t>      "saving": 7085.794000000002</a:t>
            </a:r>
          </a:p>
          <a:p xmlns:a="http://schemas.openxmlformats.org/drawingml/2006/main">
            <a:r>
              <a:t>    },</a:t>
            </a:r>
          </a:p>
          <a:p xmlns:a="http://schemas.openxmlformats.org/drawingml/2006/main">
            <a:r>
              <a:t>    {</a:t>
            </a:r>
          </a:p>
          <a:p xmlns:a="http://schemas.openxmlformats.org/drawingml/2006/main">
            <a:r>
              <a:t>      "month": "Jun",</a:t>
            </a:r>
          </a:p>
          <a:p xmlns:a="http://schemas.openxmlformats.org/drawingml/2006/main">
            <a:r>
              <a:t>      "days": 30,</a:t>
            </a:r>
          </a:p>
          <a:p xmlns:a="http://schemas.openxmlformats.org/drawingml/2006/main">
            <a:r>
              <a:t>      "G": 89.88466666666667,</a:t>
            </a:r>
          </a:p>
          <a:p xmlns:a="http://schemas.openxmlformats.org/drawingml/2006/main">
            <a:r>
              <a:t>      "direct": 40.35,</a:t>
            </a:r>
          </a:p>
          <a:p xmlns:a="http://schemas.openxmlformats.org/drawingml/2006/main">
            <a:r>
              <a:t>      "surplus": 49.53466666666667,</a:t>
            </a:r>
          </a:p>
          <a:p xmlns:a="http://schemas.openxmlformats.org/drawingml/2006/main">
            <a:r>
              <a:t>      "battery": 40.35,</a:t>
            </a:r>
          </a:p>
          <a:p xmlns:a="http://schemas.openxmlformats.org/drawingml/2006/main">
            <a:r>
              <a:t>      "imports": 0,</a:t>
            </a:r>
          </a:p>
          <a:p xmlns:a="http://schemas.openxmlformats.org/drawingml/2006/main">
            <a:r>
              <a:t>      "base": 6867.22,</a:t>
            </a:r>
          </a:p>
          <a:p xmlns:a="http://schemas.openxmlformats.org/drawingml/2006/main">
            <a:r>
              <a:t>      "newbill": 9,</a:t>
            </a:r>
          </a:p>
          <a:p xmlns:a="http://schemas.openxmlformats.org/drawingml/2006/main">
            <a:r>
              <a:t>      "saving": 6858.22</a:t>
            </a:r>
          </a:p>
          <a:p xmlns:a="http://schemas.openxmlformats.org/drawingml/2006/main">
            <a:r>
              <a:t>    },</a:t>
            </a:r>
          </a:p>
          <a:p xmlns:a="http://schemas.openxmlformats.org/drawingml/2006/main">
            <a:r>
              <a:t>    {</a:t>
            </a:r>
          </a:p>
          <a:p xmlns:a="http://schemas.openxmlformats.org/drawingml/2006/main">
            <a:r>
              <a:t>      "month": "Jul",</a:t>
            </a:r>
          </a:p>
          <a:p xmlns:a="http://schemas.openxmlformats.org/drawingml/2006/main">
            <a:r>
              <a:t>      "days": 31,</a:t>
            </a:r>
          </a:p>
          <a:p xmlns:a="http://schemas.openxmlformats.org/drawingml/2006/main">
            <a:r>
              <a:t>      "G": 90.29741935483871,</a:t>
            </a:r>
          </a:p>
          <a:p xmlns:a="http://schemas.openxmlformats.org/drawingml/2006/main">
            <a:r>
              <a:t>      "direct": 40.35,</a:t>
            </a:r>
          </a:p>
          <a:p xmlns:a="http://schemas.openxmlformats.org/drawingml/2006/main">
            <a:r>
              <a:t>      "surplus": 49.94741935483871,</a:t>
            </a:r>
          </a:p>
          <a:p xmlns:a="http://schemas.openxmlformats.org/drawingml/2006/main">
            <a:r>
              <a:t>      "battery": 40.35,</a:t>
            </a:r>
          </a:p>
          <a:p xmlns:a="http://schemas.openxmlformats.org/drawingml/2006/main">
            <a:r>
              <a:t>      "imports": 0,</a:t>
            </a:r>
          </a:p>
          <a:p xmlns:a="http://schemas.openxmlformats.org/drawingml/2006/main">
            <a:r>
              <a:t>      "base": 7094.794000000002,</a:t>
            </a:r>
          </a:p>
          <a:p xmlns:a="http://schemas.openxmlformats.org/drawingml/2006/main">
            <a:r>
              <a:t>      "newbill": 9,</a:t>
            </a:r>
          </a:p>
          <a:p xmlns:a="http://schemas.openxmlformats.org/drawingml/2006/main">
            <a:r>
              <a:t>      "saving": 7085.794000000002</a:t>
            </a:r>
          </a:p>
          <a:p xmlns:a="http://schemas.openxmlformats.org/drawingml/2006/main">
            <a:r>
              <a:t>    },</a:t>
            </a:r>
          </a:p>
          <a:p xmlns:a="http://schemas.openxmlformats.org/drawingml/2006/main">
            <a:r>
              <a:t>    {</a:t>
            </a:r>
          </a:p>
          <a:p xmlns:a="http://schemas.openxmlformats.org/drawingml/2006/main">
            <a:r>
              <a:t>      "month": "Aug",</a:t>
            </a:r>
          </a:p>
          <a:p xmlns:a="http://schemas.openxmlformats.org/drawingml/2006/main">
            <a:r>
              <a:t>      "days": 31,</a:t>
            </a:r>
          </a:p>
          <a:p xmlns:a="http://schemas.openxmlformats.org/drawingml/2006/main">
            <a:r>
              <a:t>      "G": 91.47096774193548,</a:t>
            </a:r>
          </a:p>
          <a:p xmlns:a="http://schemas.openxmlformats.org/drawingml/2006/main">
            <a:r>
              <a:t>      "direct": 40.35,</a:t>
            </a:r>
          </a:p>
          <a:p xmlns:a="http://schemas.openxmlformats.org/drawingml/2006/main">
            <a:r>
              <a:t>      "surplus": 51.12096774193548,</a:t>
            </a:r>
          </a:p>
          <a:p xmlns:a="http://schemas.openxmlformats.org/drawingml/2006/main">
            <a:r>
              <a:t>      "battery": 40.35,</a:t>
            </a:r>
          </a:p>
          <a:p xmlns:a="http://schemas.openxmlformats.org/drawingml/2006/main">
            <a:r>
              <a:t>      "imports": 0,</a:t>
            </a:r>
          </a:p>
          <a:p xmlns:a="http://schemas.openxmlformats.org/drawingml/2006/main">
            <a:r>
              <a:t>      "base": 7094.794000000002,</a:t>
            </a:r>
          </a:p>
          <a:p xmlns:a="http://schemas.openxmlformats.org/drawingml/2006/main">
            <a:r>
              <a:t>      "newbill": 9,</a:t>
            </a:r>
          </a:p>
          <a:p xmlns:a="http://schemas.openxmlformats.org/drawingml/2006/main">
            <a:r>
              <a:t>      "saving": 7085.794000000002</a:t>
            </a:r>
          </a:p>
          <a:p xmlns:a="http://schemas.openxmlformats.org/drawingml/2006/main">
            <a:r>
              <a:t>    },</a:t>
            </a:r>
          </a:p>
          <a:p xmlns:a="http://schemas.openxmlformats.org/drawingml/2006/main">
            <a:r>
              <a:t>    {</a:t>
            </a:r>
          </a:p>
          <a:p xmlns:a="http://schemas.openxmlformats.org/drawingml/2006/main">
            <a:r>
              <a:t>      "month": "Sep",</a:t>
            </a:r>
          </a:p>
          <a:p xmlns:a="http://schemas.openxmlformats.org/drawingml/2006/main">
            <a:r>
              <a:t>      "days": 30,</a:t>
            </a:r>
          </a:p>
          <a:p xmlns:a="http://schemas.openxmlformats.org/drawingml/2006/main">
            <a:r>
              <a:t>      "G": 91.23333333333332,</a:t>
            </a:r>
          </a:p>
          <a:p xmlns:a="http://schemas.openxmlformats.org/drawingml/2006/main">
            <a:r>
              <a:t>      "direct": 40.35,</a:t>
            </a:r>
          </a:p>
          <a:p xmlns:a="http://schemas.openxmlformats.org/drawingml/2006/main">
            <a:r>
              <a:t>      "surplus": 50.88333333333332,</a:t>
            </a:r>
          </a:p>
          <a:p xmlns:a="http://schemas.openxmlformats.org/drawingml/2006/main">
            <a:r>
              <a:t>      "battery": 40.35,</a:t>
            </a:r>
          </a:p>
          <a:p xmlns:a="http://schemas.openxmlformats.org/drawingml/2006/main">
            <a:r>
              <a:t>      "imports": 0,</a:t>
            </a:r>
          </a:p>
          <a:p xmlns:a="http://schemas.openxmlformats.org/drawingml/2006/main">
            <a:r>
              <a:t>      "base": 6867.22,</a:t>
            </a:r>
          </a:p>
          <a:p xmlns:a="http://schemas.openxmlformats.org/drawingml/2006/main">
            <a:r>
              <a:t>      "newbill": 9,</a:t>
            </a:r>
          </a:p>
          <a:p xmlns:a="http://schemas.openxmlformats.org/drawingml/2006/main">
            <a:r>
              <a:t>      "saving": 6858.22</a:t>
            </a:r>
          </a:p>
          <a:p xmlns:a="http://schemas.openxmlformats.org/drawingml/2006/main">
            <a:r>
              <a:t>    },</a:t>
            </a:r>
          </a:p>
          <a:p xmlns:a="http://schemas.openxmlformats.org/drawingml/2006/main">
            <a:r>
              <a:t>    {</a:t>
            </a:r>
          </a:p>
          <a:p xmlns:a="http://schemas.openxmlformats.org/drawingml/2006/main">
            <a:r>
              <a:t>      "month": "Oct",</a:t>
            </a:r>
          </a:p>
          <a:p xmlns:a="http://schemas.openxmlformats.org/drawingml/2006/main">
            <a:r>
              <a:t>      "days": 31,</a:t>
            </a:r>
          </a:p>
          <a:p xmlns:a="http://schemas.openxmlformats.org/drawingml/2006/main">
            <a:r>
              <a:t>      "G": 84.74225806451614,</a:t>
            </a:r>
          </a:p>
          <a:p xmlns:a="http://schemas.openxmlformats.org/drawingml/2006/main">
            <a:r>
              <a:t>      "direct": 40.35,</a:t>
            </a:r>
          </a:p>
          <a:p xmlns:a="http://schemas.openxmlformats.org/drawingml/2006/main">
            <a:r>
              <a:t>      "surplus": 44.392258064516135,</a:t>
            </a:r>
          </a:p>
          <a:p xmlns:a="http://schemas.openxmlformats.org/drawingml/2006/main">
            <a:r>
              <a:t>      "battery": 40.35,</a:t>
            </a:r>
          </a:p>
          <a:p xmlns:a="http://schemas.openxmlformats.org/drawingml/2006/main">
            <a:r>
              <a:t>      "imports": 0,</a:t>
            </a:r>
          </a:p>
          <a:p xmlns:a="http://schemas.openxmlformats.org/drawingml/2006/main">
            <a:r>
              <a:t>      "base": 7094.794000000002,</a:t>
            </a:r>
          </a:p>
          <a:p xmlns:a="http://schemas.openxmlformats.org/drawingml/2006/main">
            <a:r>
              <a:t>      "newbill": 9,</a:t>
            </a:r>
          </a:p>
          <a:p xmlns:a="http://schemas.openxmlformats.org/drawingml/2006/main">
            <a:r>
              <a:t>      "saving": 7085.794000000002</a:t>
            </a:r>
          </a:p>
          <a:p xmlns:a="http://schemas.openxmlformats.org/drawingml/2006/main">
            <a:r>
              <a:t>    },</a:t>
            </a:r>
          </a:p>
          <a:p xmlns:a="http://schemas.openxmlformats.org/drawingml/2006/main">
            <a:r>
              <a:t>    {</a:t>
            </a:r>
          </a:p>
          <a:p xmlns:a="http://schemas.openxmlformats.org/drawingml/2006/main">
            <a:r>
              <a:t>      "month": "Nov",</a:t>
            </a:r>
          </a:p>
          <a:p xmlns:a="http://schemas.openxmlformats.org/drawingml/2006/main">
            <a:r>
              <a:t>      "days": 30,</a:t>
            </a:r>
          </a:p>
          <a:p xmlns:a="http://schemas.openxmlformats.org/drawingml/2006/main">
            <a:r>
              <a:t>      "G": 77.61633333333334,</a:t>
            </a:r>
          </a:p>
          <a:p xmlns:a="http://schemas.openxmlformats.org/drawingml/2006/main">
            <a:r>
              <a:t>      "direct": 40.35,</a:t>
            </a:r>
          </a:p>
          <a:p xmlns:a="http://schemas.openxmlformats.org/drawingml/2006/main">
            <a:r>
              <a:t>      "surplus": 37.26633333333334,</a:t>
            </a:r>
          </a:p>
          <a:p xmlns:a="http://schemas.openxmlformats.org/drawingml/2006/main">
            <a:r>
              <a:t>      "battery": 35.40301666666667,</a:t>
            </a:r>
          </a:p>
          <a:p xmlns:a="http://schemas.openxmlformats.org/drawingml/2006/main">
            <a:r>
              <a:t>      "imports": 148.40949999999987,</a:t>
            </a:r>
          </a:p>
          <a:p xmlns:a="http://schemas.openxmlformats.org/drawingml/2006/main">
            <a:r>
              <a:t>      "base": 6867.22,</a:t>
            </a:r>
          </a:p>
          <a:p xmlns:a="http://schemas.openxmlformats.org/drawingml/2006/main">
            <a:r>
              <a:t>      "newbill": 340.01680499999975,</a:t>
            </a:r>
          </a:p>
          <a:p xmlns:a="http://schemas.openxmlformats.org/drawingml/2006/main">
            <a:r>
              <a:t>      "saving": 6527.203195</a:t>
            </a:r>
          </a:p>
          <a:p xmlns:a="http://schemas.openxmlformats.org/drawingml/2006/main">
            <a:r>
              <a:t>    },</a:t>
            </a:r>
          </a:p>
          <a:p xmlns:a="http://schemas.openxmlformats.org/drawingml/2006/main">
            <a:r>
              <a:t>    {</a:t>
            </a:r>
          </a:p>
          <a:p xmlns:a="http://schemas.openxmlformats.org/drawingml/2006/main">
            <a:r>
              <a:t>      "month": "Dec",</a:t>
            </a:r>
          </a:p>
          <a:p xmlns:a="http://schemas.openxmlformats.org/drawingml/2006/main">
            <a:r>
              <a:t>      "days": 31,</a:t>
            </a:r>
          </a:p>
          <a:p xmlns:a="http://schemas.openxmlformats.org/drawingml/2006/main">
            <a:r>
              <a:t>      "G": 71.50967741935484,</a:t>
            </a:r>
          </a:p>
          <a:p xmlns:a="http://schemas.openxmlformats.org/drawingml/2006/main">
            <a:r>
              <a:t>      "direct": 40.35,</a:t>
            </a:r>
          </a:p>
          <a:p xmlns:a="http://schemas.openxmlformats.org/drawingml/2006/main">
            <a:r>
              <a:t>      "surplus": 31.159677419354843,</a:t>
            </a:r>
          </a:p>
          <a:p xmlns:a="http://schemas.openxmlformats.org/drawingml/2006/main">
            <a:r>
              <a:t>      "battery": 29.6016935483871,</a:t>
            </a:r>
          </a:p>
          <a:p xmlns:a="http://schemas.openxmlformats.org/drawingml/2006/main">
            <a:r>
              <a:t>      "imports": 333.19749999999993,</a:t>
            </a:r>
          </a:p>
          <a:p xmlns:a="http://schemas.openxmlformats.org/drawingml/2006/main">
            <a:r>
              <a:t>      "base": 7094.794000000002,</a:t>
            </a:r>
          </a:p>
          <a:p xmlns:a="http://schemas.openxmlformats.org/drawingml/2006/main">
            <a:r>
              <a:t>      "newbill": 909.6373249999998,</a:t>
            </a:r>
          </a:p>
          <a:p xmlns:a="http://schemas.openxmlformats.org/drawingml/2006/main">
            <a:r>
              <a:t>      "saving": 6185.156675000002</a:t>
            </a:r>
          </a:p>
          <a:p xmlns:a="http://schemas.openxmlformats.org/drawingml/2006/main">
            <a:r>
              <a:t>    }</a:t>
            </a:r>
          </a:p>
          <a:p xmlns:a="http://schemas.openxmlformats.org/drawingml/2006/main">
            <a:r>
              <a:t>  ],</a:t>
            </a:r>
          </a:p>
          <a:p xmlns:a="http://schemas.openxmlformats.org/drawingml/2006/main">
            <a:r>
              <a:t>  "annualSaving": 81090.66842000002,</a:t>
            </a:r>
          </a:p>
          <a:p xmlns:a="http://schemas.openxmlformats.org/drawingml/2006/main">
            <a:r>
              <a:t>  "averageSaving": 6757.555701666668,</a:t>
            </a:r>
          </a:p>
          <a:p xmlns:a="http://schemas.openxmlformats.org/drawingml/2006/main">
            <a:r>
              <a:t>  "payback": 14.237889790476089,</a:t>
            </a:r>
          </a:p>
          <a:p xmlns:a="http://schemas.openxmlformats.org/drawingml/2006/main">
            <a:r>
              <a:t>  "annualImports": 912.7620000000002</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Same assumptions and calculation basis as El_Mo3alem_Juice_Shop_Solar_BESS.pptx, reviewed 30 Sep 2026. Baseline80.7 kWh/day,50/50,PV mean4.98,DoD80%,storage efficiency95% applied once at output. Prices are historical selling-price assumptions. Battery220 EUR/kWh*62EGP/EUR=13640EGP/kWh from Home_Storage slide15. Tariff source https://www.egyptera.org/en/TarrifApril2026.aspx . PV source JRC PVGIS5.3: https://re.jrc.ec.europa.eu/api/v5_3/PVcalc?lat=30.0444&amp;lon=31.2357&amp;peakpower=1&amp;loss=14&amp;angle=30&amp;aspect=0&amp;pvtechchoice=crystSi&amp;mountingplace=free&amp;outputformat=json . SARAH3/ERA5 2005–2023. 30degree south-facing free-standing crystalline silicon,14% entered PV loss. Solar-only charging, zero export value. No maintenance, insurance, finance, replacement, degradation or price escalation. Annual3EGP stamp excluded equally. Monthly-average days rather than hourly dispatch, daily demand constant over365days. Unrounded values used, display rounding may differ. Billing-period30days assumed. Inverter and roof sizing provisional. Warranty10years,6000cycles@80%DoD from original source.</a:t>
            </a:r>
          </a:p>
          <a:p xmlns:a="http://schemas.openxmlformats.org/drawingml/2006/main">
            <a:r>
              <a:t>{</a:t>
            </a:r>
          </a:p>
          <a:p xmlns:a="http://schemas.openxmlformats.org/drawingml/2006/main">
            <a:r>
              <a:t>  "option": "C",</a:t>
            </a:r>
          </a:p>
          <a:p xmlns:a="http://schemas.openxmlformats.org/drawingml/2006/main">
            <a:r>
              <a:t>  "C": 64,</a:t>
            </a:r>
          </a:p>
          <a:p xmlns:a="http://schemas.openxmlformats.org/drawingml/2006/main">
            <a:r>
              <a:t>  "P": 17,</a:t>
            </a:r>
          </a:p>
          <a:p xmlns:a="http://schemas.openxmlformats.org/drawingml/2006/main">
            <a:r>
              <a:t>  "inv": 20,</a:t>
            </a:r>
          </a:p>
          <a:p xmlns:a="http://schemas.openxmlformats.org/drawingml/2006/main">
            <a:r>
              <a:t>  "price": 1154560,</a:t>
            </a:r>
          </a:p>
          <a:p xmlns:a="http://schemas.openxmlformats.org/drawingml/2006/main">
            <a:r>
              <a:t>  "reference": {</a:t>
            </a:r>
          </a:p>
          <a:p xmlns:a="http://schemas.openxmlformats.org/drawingml/2006/main">
            <a:r>
              <a:t>    "G": 84.66000000000001,</a:t>
            </a:r>
          </a:p>
          <a:p xmlns:a="http://schemas.openxmlformats.org/drawingml/2006/main">
            <a:r>
              <a:t>    "direct": 40.35,</a:t>
            </a:r>
          </a:p>
          <a:p xmlns:a="http://schemas.openxmlformats.org/drawingml/2006/main">
            <a:r>
              <a:t>    "surplus": 44.31000000000001,</a:t>
            </a:r>
          </a:p>
          <a:p xmlns:a="http://schemas.openxmlformats.org/drawingml/2006/main">
            <a:r>
              <a:t>    "battery": 40.35,</a:t>
            </a:r>
          </a:p>
          <a:p xmlns:a="http://schemas.openxmlformats.org/drawingml/2006/main">
            <a:r>
              <a:t>    "imports": 0,</a:t>
            </a:r>
          </a:p>
          <a:p xmlns:a="http://schemas.openxmlformats.org/drawingml/2006/main">
            <a:r>
              <a:t>    "base": 6867.22,</a:t>
            </a:r>
          </a:p>
          <a:p xmlns:a="http://schemas.openxmlformats.org/drawingml/2006/main">
            <a:r>
              <a:t>    "newbill": 9,</a:t>
            </a:r>
          </a:p>
          <a:p xmlns:a="http://schemas.openxmlformats.org/drawingml/2006/main">
            <a:r>
              <a:t>    "saving": 6858.22</a:t>
            </a:r>
          </a:p>
          <a:p xmlns:a="http://schemas.openxmlformats.org/drawingml/2006/main">
            <a:r>
              <a:t>  },</a:t>
            </a:r>
          </a:p>
          <a:p xmlns:a="http://schemas.openxmlformats.org/drawingml/2006/main">
            <a:r>
              <a:t>  "monthly": [</a:t>
            </a:r>
          </a:p>
          <a:p xmlns:a="http://schemas.openxmlformats.org/drawingml/2006/main">
            <a:r>
              <a:t>    {</a:t>
            </a:r>
          </a:p>
          <a:p xmlns:a="http://schemas.openxmlformats.org/drawingml/2006/main">
            <a:r>
              <a:t>      "month": "Jan",</a:t>
            </a:r>
          </a:p>
          <a:p xmlns:a="http://schemas.openxmlformats.org/drawingml/2006/main">
            <a:r>
              <a:t>      "days": 31,</a:t>
            </a:r>
          </a:p>
          <a:p xmlns:a="http://schemas.openxmlformats.org/drawingml/2006/main">
            <a:r>
              <a:t>      "G": 72.00322580645162,</a:t>
            </a:r>
          </a:p>
          <a:p xmlns:a="http://schemas.openxmlformats.org/drawingml/2006/main">
            <a:r>
              <a:t>      "direct": 40.35,</a:t>
            </a:r>
          </a:p>
          <a:p xmlns:a="http://schemas.openxmlformats.org/drawingml/2006/main">
            <a:r>
              <a:t>      "surplus": 31.653225806451623,</a:t>
            </a:r>
          </a:p>
          <a:p xmlns:a="http://schemas.openxmlformats.org/drawingml/2006/main">
            <a:r>
              <a:t>      "battery": 30.07056451612904,</a:t>
            </a:r>
          </a:p>
          <a:p xmlns:a="http://schemas.openxmlformats.org/drawingml/2006/main">
            <a:r>
              <a:t>      "imports": 318.66249999999985,</a:t>
            </a:r>
          </a:p>
          <a:p xmlns:a="http://schemas.openxmlformats.org/drawingml/2006/main">
            <a:r>
              <a:t>      "base": 7094.794000000002,</a:t>
            </a:r>
          </a:p>
          <a:p xmlns:a="http://schemas.openxmlformats.org/drawingml/2006/main">
            <a:r>
              <a:t>      "newbill": 870.8288749999997,</a:t>
            </a:r>
          </a:p>
          <a:p xmlns:a="http://schemas.openxmlformats.org/drawingml/2006/main">
            <a:r>
              <a:t>      "saving": 6223.965125000002</a:t>
            </a:r>
          </a:p>
          <a:p xmlns:a="http://schemas.openxmlformats.org/drawingml/2006/main">
            <a:r>
              <a:t>    },</a:t>
            </a:r>
          </a:p>
          <a:p xmlns:a="http://schemas.openxmlformats.org/drawingml/2006/main">
            <a:r>
              <a:t>    {</a:t>
            </a:r>
          </a:p>
          <a:p xmlns:a="http://schemas.openxmlformats.org/drawingml/2006/main">
            <a:r>
              <a:t>      "month": "Feb",</a:t>
            </a:r>
          </a:p>
          <a:p xmlns:a="http://schemas.openxmlformats.org/drawingml/2006/main">
            <a:r>
              <a:t>      "days": 28,</a:t>
            </a:r>
          </a:p>
          <a:p xmlns:a="http://schemas.openxmlformats.org/drawingml/2006/main">
            <a:r>
              <a:t>      "G": 78.59464285714284,</a:t>
            </a:r>
          </a:p>
          <a:p xmlns:a="http://schemas.openxmlformats.org/drawingml/2006/main">
            <a:r>
              <a:t>      "direct": 40.35,</a:t>
            </a:r>
          </a:p>
          <a:p xmlns:a="http://schemas.openxmlformats.org/drawingml/2006/main">
            <a:r>
              <a:t>      "surplus": 38.24464285714284,</a:t>
            </a:r>
          </a:p>
          <a:p xmlns:a="http://schemas.openxmlformats.org/drawingml/2006/main">
            <a:r>
              <a:t>      "battery": 36.3324107142857,</a:t>
            </a:r>
          </a:p>
          <a:p xmlns:a="http://schemas.openxmlformats.org/drawingml/2006/main">
            <a:r>
              <a:t>      "imports": 112.49250000000043,</a:t>
            </a:r>
          </a:p>
          <a:p xmlns:a="http://schemas.openxmlformats.org/drawingml/2006/main">
            <a:r>
              <a:t>      "base": 6412.071999999999,</a:t>
            </a:r>
          </a:p>
          <a:p xmlns:a="http://schemas.openxmlformats.org/drawingml/2006/main">
            <a:r>
              <a:t>      "newbill": 261.35857500000094,</a:t>
            </a:r>
          </a:p>
          <a:p xmlns:a="http://schemas.openxmlformats.org/drawingml/2006/main">
            <a:r>
              <a:t>      "saving": 6150.713424999998</a:t>
            </a:r>
          </a:p>
          <a:p xmlns:a="http://schemas.openxmlformats.org/drawingml/2006/main">
            <a:r>
              <a:t>    },</a:t>
            </a:r>
          </a:p>
          <a:p xmlns:a="http://schemas.openxmlformats.org/drawingml/2006/main">
            <a:r>
              <a:t>    {</a:t>
            </a:r>
          </a:p>
          <a:p xmlns:a="http://schemas.openxmlformats.org/drawingml/2006/main">
            <a:r>
              <a:t>      "month": "Mar",</a:t>
            </a:r>
          </a:p>
          <a:p xmlns:a="http://schemas.openxmlformats.org/drawingml/2006/main">
            <a:r>
              <a:t>      "days": 31,</a:t>
            </a:r>
          </a:p>
          <a:p xmlns:a="http://schemas.openxmlformats.org/drawingml/2006/main">
            <a:r>
              <a:t>      "G": 88.3232258064516,</a:t>
            </a:r>
          </a:p>
          <a:p xmlns:a="http://schemas.openxmlformats.org/drawingml/2006/main">
            <a:r>
              <a:t>      "direct": 40.35,</a:t>
            </a:r>
          </a:p>
          <a:p xmlns:a="http://schemas.openxmlformats.org/drawingml/2006/main">
            <a:r>
              <a:t>      "surplus": 47.9732258064516,</a:t>
            </a:r>
          </a:p>
          <a:p xmlns:a="http://schemas.openxmlformats.org/drawingml/2006/main">
            <a:r>
              <a:t>      "battery": 40.35,</a:t>
            </a:r>
          </a:p>
          <a:p xmlns:a="http://schemas.openxmlformats.org/drawingml/2006/main">
            <a:r>
              <a:t>      "imports": 0,</a:t>
            </a:r>
          </a:p>
          <a:p xmlns:a="http://schemas.openxmlformats.org/drawingml/2006/main">
            <a:r>
              <a:t>      "base": 7094.794000000002,</a:t>
            </a:r>
          </a:p>
          <a:p xmlns:a="http://schemas.openxmlformats.org/drawingml/2006/main">
            <a:r>
              <a:t>      "newbill": 9,</a:t>
            </a:r>
          </a:p>
          <a:p xmlns:a="http://schemas.openxmlformats.org/drawingml/2006/main">
            <a:r>
              <a:t>      "saving": 7085.794000000002</a:t>
            </a:r>
          </a:p>
          <a:p xmlns:a="http://schemas.openxmlformats.org/drawingml/2006/main">
            <a:r>
              <a:t>    },</a:t>
            </a:r>
          </a:p>
          <a:p xmlns:a="http://schemas.openxmlformats.org/drawingml/2006/main">
            <a:r>
              <a:t>    {</a:t>
            </a:r>
          </a:p>
          <a:p xmlns:a="http://schemas.openxmlformats.org/drawingml/2006/main">
            <a:r>
              <a:t>      "month": "Apr",</a:t>
            </a:r>
          </a:p>
          <a:p xmlns:a="http://schemas.openxmlformats.org/drawingml/2006/main">
            <a:r>
              <a:t>      "days": 30,</a:t>
            </a:r>
          </a:p>
          <a:p xmlns:a="http://schemas.openxmlformats.org/drawingml/2006/main">
            <a:r>
              <a:t>      "G": 91.154,</a:t>
            </a:r>
          </a:p>
          <a:p xmlns:a="http://schemas.openxmlformats.org/drawingml/2006/main">
            <a:r>
              <a:t>      "direct": 40.35,</a:t>
            </a:r>
          </a:p>
          <a:p xmlns:a="http://schemas.openxmlformats.org/drawingml/2006/main">
            <a:r>
              <a:t>      "surplus": 50.803999999999995,</a:t>
            </a:r>
          </a:p>
          <a:p xmlns:a="http://schemas.openxmlformats.org/drawingml/2006/main">
            <a:r>
              <a:t>      "battery": 40.35,</a:t>
            </a:r>
          </a:p>
          <a:p xmlns:a="http://schemas.openxmlformats.org/drawingml/2006/main">
            <a:r>
              <a:t>      "imports": 0,</a:t>
            </a:r>
          </a:p>
          <a:p xmlns:a="http://schemas.openxmlformats.org/drawingml/2006/main">
            <a:r>
              <a:t>      "base": 6867.22,</a:t>
            </a:r>
          </a:p>
          <a:p xmlns:a="http://schemas.openxmlformats.org/drawingml/2006/main">
            <a:r>
              <a:t>      "newbill": 9,</a:t>
            </a:r>
          </a:p>
          <a:p xmlns:a="http://schemas.openxmlformats.org/drawingml/2006/main">
            <a:r>
              <a:t>      "saving": 6858.22</a:t>
            </a:r>
          </a:p>
          <a:p xmlns:a="http://schemas.openxmlformats.org/drawingml/2006/main">
            <a:r>
              <a:t>    },</a:t>
            </a:r>
          </a:p>
          <a:p xmlns:a="http://schemas.openxmlformats.org/drawingml/2006/main">
            <a:r>
              <a:t>    {</a:t>
            </a:r>
          </a:p>
          <a:p xmlns:a="http://schemas.openxmlformats.org/drawingml/2006/main">
            <a:r>
              <a:t>      "month": "May",</a:t>
            </a:r>
          </a:p>
          <a:p xmlns:a="http://schemas.openxmlformats.org/drawingml/2006/main">
            <a:r>
              <a:t>      "days": 31,</a:t>
            </a:r>
          </a:p>
          <a:p xmlns:a="http://schemas.openxmlformats.org/drawingml/2006/main">
            <a:r>
              <a:t>      "G": 89.23354838709677,</a:t>
            </a:r>
          </a:p>
          <a:p xmlns:a="http://schemas.openxmlformats.org/drawingml/2006/main">
            <a:r>
              <a:t>      "direct": 40.35,</a:t>
            </a:r>
          </a:p>
          <a:p xmlns:a="http://schemas.openxmlformats.org/drawingml/2006/main">
            <a:r>
              <a:t>      "surplus": 48.88354838709677,</a:t>
            </a:r>
          </a:p>
          <a:p xmlns:a="http://schemas.openxmlformats.org/drawingml/2006/main">
            <a:r>
              <a:t>      "battery": 40.35,</a:t>
            </a:r>
          </a:p>
          <a:p xmlns:a="http://schemas.openxmlformats.org/drawingml/2006/main">
            <a:r>
              <a:t>      "imports": 0,</a:t>
            </a:r>
          </a:p>
          <a:p xmlns:a="http://schemas.openxmlformats.org/drawingml/2006/main">
            <a:r>
              <a:t>      "base": 7094.794000000002,</a:t>
            </a:r>
          </a:p>
          <a:p xmlns:a="http://schemas.openxmlformats.org/drawingml/2006/main">
            <a:r>
              <a:t>      "newbill": 9,</a:t>
            </a:r>
          </a:p>
          <a:p xmlns:a="http://schemas.openxmlformats.org/drawingml/2006/main">
            <a:r>
              <a:t>      "saving": 7085.794000000002</a:t>
            </a:r>
          </a:p>
          <a:p xmlns:a="http://schemas.openxmlformats.org/drawingml/2006/main">
            <a:r>
              <a:t>    },</a:t>
            </a:r>
          </a:p>
          <a:p xmlns:a="http://schemas.openxmlformats.org/drawingml/2006/main">
            <a:r>
              <a:t>    {</a:t>
            </a:r>
          </a:p>
          <a:p xmlns:a="http://schemas.openxmlformats.org/drawingml/2006/main">
            <a:r>
              <a:t>      "month": "Jun",</a:t>
            </a:r>
          </a:p>
          <a:p xmlns:a="http://schemas.openxmlformats.org/drawingml/2006/main">
            <a:r>
              <a:t>      "days": 30,</a:t>
            </a:r>
          </a:p>
          <a:p xmlns:a="http://schemas.openxmlformats.org/drawingml/2006/main">
            <a:r>
              <a:t>      "G": 89.88466666666667,</a:t>
            </a:r>
          </a:p>
          <a:p xmlns:a="http://schemas.openxmlformats.org/drawingml/2006/main">
            <a:r>
              <a:t>      "direct": 40.35,</a:t>
            </a:r>
          </a:p>
          <a:p xmlns:a="http://schemas.openxmlformats.org/drawingml/2006/main">
            <a:r>
              <a:t>      "surplus": 49.53466666666667,</a:t>
            </a:r>
          </a:p>
          <a:p xmlns:a="http://schemas.openxmlformats.org/drawingml/2006/main">
            <a:r>
              <a:t>      "battery": 40.35,</a:t>
            </a:r>
          </a:p>
          <a:p xmlns:a="http://schemas.openxmlformats.org/drawingml/2006/main">
            <a:r>
              <a:t>      "imports": 0,</a:t>
            </a:r>
          </a:p>
          <a:p xmlns:a="http://schemas.openxmlformats.org/drawingml/2006/main">
            <a:r>
              <a:t>      "base": 6867.22,</a:t>
            </a:r>
          </a:p>
          <a:p xmlns:a="http://schemas.openxmlformats.org/drawingml/2006/main">
            <a:r>
              <a:t>      "newbill": 9,</a:t>
            </a:r>
          </a:p>
          <a:p xmlns:a="http://schemas.openxmlformats.org/drawingml/2006/main">
            <a:r>
              <a:t>      "saving": 6858.22</a:t>
            </a:r>
          </a:p>
          <a:p xmlns:a="http://schemas.openxmlformats.org/drawingml/2006/main">
            <a:r>
              <a:t>    },</a:t>
            </a:r>
          </a:p>
          <a:p xmlns:a="http://schemas.openxmlformats.org/drawingml/2006/main">
            <a:r>
              <a:t>    {</a:t>
            </a:r>
          </a:p>
          <a:p xmlns:a="http://schemas.openxmlformats.org/drawingml/2006/main">
            <a:r>
              <a:t>      "month": "Jul",</a:t>
            </a:r>
          </a:p>
          <a:p xmlns:a="http://schemas.openxmlformats.org/drawingml/2006/main">
            <a:r>
              <a:t>      "days": 31,</a:t>
            </a:r>
          </a:p>
          <a:p xmlns:a="http://schemas.openxmlformats.org/drawingml/2006/main">
            <a:r>
              <a:t>      "G": 90.29741935483871,</a:t>
            </a:r>
          </a:p>
          <a:p xmlns:a="http://schemas.openxmlformats.org/drawingml/2006/main">
            <a:r>
              <a:t>      "direct": 40.35,</a:t>
            </a:r>
          </a:p>
          <a:p xmlns:a="http://schemas.openxmlformats.org/drawingml/2006/main">
            <a:r>
              <a:t>      "surplus": 49.94741935483871,</a:t>
            </a:r>
          </a:p>
          <a:p xmlns:a="http://schemas.openxmlformats.org/drawingml/2006/main">
            <a:r>
              <a:t>      "battery": 40.35,</a:t>
            </a:r>
          </a:p>
          <a:p xmlns:a="http://schemas.openxmlformats.org/drawingml/2006/main">
            <a:r>
              <a:t>      "imports": 0,</a:t>
            </a:r>
          </a:p>
          <a:p xmlns:a="http://schemas.openxmlformats.org/drawingml/2006/main">
            <a:r>
              <a:t>      "base": 7094.794000000002,</a:t>
            </a:r>
          </a:p>
          <a:p xmlns:a="http://schemas.openxmlformats.org/drawingml/2006/main">
            <a:r>
              <a:t>      "newbill": 9,</a:t>
            </a:r>
          </a:p>
          <a:p xmlns:a="http://schemas.openxmlformats.org/drawingml/2006/main">
            <a:r>
              <a:t>      "saving": 7085.794000000002</a:t>
            </a:r>
          </a:p>
          <a:p xmlns:a="http://schemas.openxmlformats.org/drawingml/2006/main">
            <a:r>
              <a:t>    },</a:t>
            </a:r>
          </a:p>
          <a:p xmlns:a="http://schemas.openxmlformats.org/drawingml/2006/main">
            <a:r>
              <a:t>    {</a:t>
            </a:r>
          </a:p>
          <a:p xmlns:a="http://schemas.openxmlformats.org/drawingml/2006/main">
            <a:r>
              <a:t>      "month": "Aug",</a:t>
            </a:r>
          </a:p>
          <a:p xmlns:a="http://schemas.openxmlformats.org/drawingml/2006/main">
            <a:r>
              <a:t>      "days": 31,</a:t>
            </a:r>
          </a:p>
          <a:p xmlns:a="http://schemas.openxmlformats.org/drawingml/2006/main">
            <a:r>
              <a:t>      "G": 91.47096774193548,</a:t>
            </a:r>
          </a:p>
          <a:p xmlns:a="http://schemas.openxmlformats.org/drawingml/2006/main">
            <a:r>
              <a:t>      "direct": 40.35,</a:t>
            </a:r>
          </a:p>
          <a:p xmlns:a="http://schemas.openxmlformats.org/drawingml/2006/main">
            <a:r>
              <a:t>      "surplus": 51.12096774193548,</a:t>
            </a:r>
          </a:p>
          <a:p xmlns:a="http://schemas.openxmlformats.org/drawingml/2006/main">
            <a:r>
              <a:t>      "battery": 40.35,</a:t>
            </a:r>
          </a:p>
          <a:p xmlns:a="http://schemas.openxmlformats.org/drawingml/2006/main">
            <a:r>
              <a:t>      "imports": 0,</a:t>
            </a:r>
          </a:p>
          <a:p xmlns:a="http://schemas.openxmlformats.org/drawingml/2006/main">
            <a:r>
              <a:t>      "base": 7094.794000000002,</a:t>
            </a:r>
          </a:p>
          <a:p xmlns:a="http://schemas.openxmlformats.org/drawingml/2006/main">
            <a:r>
              <a:t>      "newbill": 9,</a:t>
            </a:r>
          </a:p>
          <a:p xmlns:a="http://schemas.openxmlformats.org/drawingml/2006/main">
            <a:r>
              <a:t>      "saving": 7085.794000000002</a:t>
            </a:r>
          </a:p>
          <a:p xmlns:a="http://schemas.openxmlformats.org/drawingml/2006/main">
            <a:r>
              <a:t>    },</a:t>
            </a:r>
          </a:p>
          <a:p xmlns:a="http://schemas.openxmlformats.org/drawingml/2006/main">
            <a:r>
              <a:t>    {</a:t>
            </a:r>
          </a:p>
          <a:p xmlns:a="http://schemas.openxmlformats.org/drawingml/2006/main">
            <a:r>
              <a:t>      "month": "Sep",</a:t>
            </a:r>
          </a:p>
          <a:p xmlns:a="http://schemas.openxmlformats.org/drawingml/2006/main">
            <a:r>
              <a:t>      "days": 30,</a:t>
            </a:r>
          </a:p>
          <a:p xmlns:a="http://schemas.openxmlformats.org/drawingml/2006/main">
            <a:r>
              <a:t>      "G": 91.23333333333332,</a:t>
            </a:r>
          </a:p>
          <a:p xmlns:a="http://schemas.openxmlformats.org/drawingml/2006/main">
            <a:r>
              <a:t>      "direct": 40.35,</a:t>
            </a:r>
          </a:p>
          <a:p xmlns:a="http://schemas.openxmlformats.org/drawingml/2006/main">
            <a:r>
              <a:t>      "surplus": 50.88333333333332,</a:t>
            </a:r>
          </a:p>
          <a:p xmlns:a="http://schemas.openxmlformats.org/drawingml/2006/main">
            <a:r>
              <a:t>      "battery": 40.35,</a:t>
            </a:r>
          </a:p>
          <a:p xmlns:a="http://schemas.openxmlformats.org/drawingml/2006/main">
            <a:r>
              <a:t>      "imports": 0,</a:t>
            </a:r>
          </a:p>
          <a:p xmlns:a="http://schemas.openxmlformats.org/drawingml/2006/main">
            <a:r>
              <a:t>      "base": 6867.22,</a:t>
            </a:r>
          </a:p>
          <a:p xmlns:a="http://schemas.openxmlformats.org/drawingml/2006/main">
            <a:r>
              <a:t>      "newbill": 9,</a:t>
            </a:r>
          </a:p>
          <a:p xmlns:a="http://schemas.openxmlformats.org/drawingml/2006/main">
            <a:r>
              <a:t>      "saving": 6858.22</a:t>
            </a:r>
          </a:p>
          <a:p xmlns:a="http://schemas.openxmlformats.org/drawingml/2006/main">
            <a:r>
              <a:t>    },</a:t>
            </a:r>
          </a:p>
          <a:p xmlns:a="http://schemas.openxmlformats.org/drawingml/2006/main">
            <a:r>
              <a:t>    {</a:t>
            </a:r>
          </a:p>
          <a:p xmlns:a="http://schemas.openxmlformats.org/drawingml/2006/main">
            <a:r>
              <a:t>      "month": "Oct",</a:t>
            </a:r>
          </a:p>
          <a:p xmlns:a="http://schemas.openxmlformats.org/drawingml/2006/main">
            <a:r>
              <a:t>      "days": 31,</a:t>
            </a:r>
          </a:p>
          <a:p xmlns:a="http://schemas.openxmlformats.org/drawingml/2006/main">
            <a:r>
              <a:t>      "G": 84.74225806451614,</a:t>
            </a:r>
          </a:p>
          <a:p xmlns:a="http://schemas.openxmlformats.org/drawingml/2006/main">
            <a:r>
              <a:t>      "direct": 40.35,</a:t>
            </a:r>
          </a:p>
          <a:p xmlns:a="http://schemas.openxmlformats.org/drawingml/2006/main">
            <a:r>
              <a:t>      "surplus": 44.392258064516135,</a:t>
            </a:r>
          </a:p>
          <a:p xmlns:a="http://schemas.openxmlformats.org/drawingml/2006/main">
            <a:r>
              <a:t>      "battery": 40.35,</a:t>
            </a:r>
          </a:p>
          <a:p xmlns:a="http://schemas.openxmlformats.org/drawingml/2006/main">
            <a:r>
              <a:t>      "imports": 0,</a:t>
            </a:r>
          </a:p>
          <a:p xmlns:a="http://schemas.openxmlformats.org/drawingml/2006/main">
            <a:r>
              <a:t>      "base": 7094.794000000002,</a:t>
            </a:r>
          </a:p>
          <a:p xmlns:a="http://schemas.openxmlformats.org/drawingml/2006/main">
            <a:r>
              <a:t>      "newbill": 9,</a:t>
            </a:r>
          </a:p>
          <a:p xmlns:a="http://schemas.openxmlformats.org/drawingml/2006/main">
            <a:r>
              <a:t>      "saving": 7085.794000000002</a:t>
            </a:r>
          </a:p>
          <a:p xmlns:a="http://schemas.openxmlformats.org/drawingml/2006/main">
            <a:r>
              <a:t>    },</a:t>
            </a:r>
          </a:p>
          <a:p xmlns:a="http://schemas.openxmlformats.org/drawingml/2006/main">
            <a:r>
              <a:t>    {</a:t>
            </a:r>
          </a:p>
          <a:p xmlns:a="http://schemas.openxmlformats.org/drawingml/2006/main">
            <a:r>
              <a:t>      "month": "Nov",</a:t>
            </a:r>
          </a:p>
          <a:p xmlns:a="http://schemas.openxmlformats.org/drawingml/2006/main">
            <a:r>
              <a:t>      "days": 30,</a:t>
            </a:r>
          </a:p>
          <a:p xmlns:a="http://schemas.openxmlformats.org/drawingml/2006/main">
            <a:r>
              <a:t>      "G": 77.61633333333334,</a:t>
            </a:r>
          </a:p>
          <a:p xmlns:a="http://schemas.openxmlformats.org/drawingml/2006/main">
            <a:r>
              <a:t>      "direct": 40.35,</a:t>
            </a:r>
          </a:p>
          <a:p xmlns:a="http://schemas.openxmlformats.org/drawingml/2006/main">
            <a:r>
              <a:t>      "surplus": 37.26633333333334,</a:t>
            </a:r>
          </a:p>
          <a:p xmlns:a="http://schemas.openxmlformats.org/drawingml/2006/main">
            <a:r>
              <a:t>      "battery": 35.40301666666667,</a:t>
            </a:r>
          </a:p>
          <a:p xmlns:a="http://schemas.openxmlformats.org/drawingml/2006/main">
            <a:r>
              <a:t>      "imports": 148.40949999999987,</a:t>
            </a:r>
          </a:p>
          <a:p xmlns:a="http://schemas.openxmlformats.org/drawingml/2006/main">
            <a:r>
              <a:t>      "base": 6867.22,</a:t>
            </a:r>
          </a:p>
          <a:p xmlns:a="http://schemas.openxmlformats.org/drawingml/2006/main">
            <a:r>
              <a:t>      "newbill": 340.01680499999975,</a:t>
            </a:r>
          </a:p>
          <a:p xmlns:a="http://schemas.openxmlformats.org/drawingml/2006/main">
            <a:r>
              <a:t>      "saving": 6527.203195</a:t>
            </a:r>
          </a:p>
          <a:p xmlns:a="http://schemas.openxmlformats.org/drawingml/2006/main">
            <a:r>
              <a:t>    },</a:t>
            </a:r>
          </a:p>
          <a:p xmlns:a="http://schemas.openxmlformats.org/drawingml/2006/main">
            <a:r>
              <a:t>    {</a:t>
            </a:r>
          </a:p>
          <a:p xmlns:a="http://schemas.openxmlformats.org/drawingml/2006/main">
            <a:r>
              <a:t>      "month": "Dec",</a:t>
            </a:r>
          </a:p>
          <a:p xmlns:a="http://schemas.openxmlformats.org/drawingml/2006/main">
            <a:r>
              <a:t>      "days": 31,</a:t>
            </a:r>
          </a:p>
          <a:p xmlns:a="http://schemas.openxmlformats.org/drawingml/2006/main">
            <a:r>
              <a:t>      "G": 71.50967741935484,</a:t>
            </a:r>
          </a:p>
          <a:p xmlns:a="http://schemas.openxmlformats.org/drawingml/2006/main">
            <a:r>
              <a:t>      "direct": 40.35,</a:t>
            </a:r>
          </a:p>
          <a:p xmlns:a="http://schemas.openxmlformats.org/drawingml/2006/main">
            <a:r>
              <a:t>      "surplus": 31.159677419354843,</a:t>
            </a:r>
          </a:p>
          <a:p xmlns:a="http://schemas.openxmlformats.org/drawingml/2006/main">
            <a:r>
              <a:t>      "battery": 29.6016935483871,</a:t>
            </a:r>
          </a:p>
          <a:p xmlns:a="http://schemas.openxmlformats.org/drawingml/2006/main">
            <a:r>
              <a:t>      "imports": 333.19749999999993,</a:t>
            </a:r>
          </a:p>
          <a:p xmlns:a="http://schemas.openxmlformats.org/drawingml/2006/main">
            <a:r>
              <a:t>      "base": 7094.794000000002,</a:t>
            </a:r>
          </a:p>
          <a:p xmlns:a="http://schemas.openxmlformats.org/drawingml/2006/main">
            <a:r>
              <a:t>      "newbill": 909.6373249999998,</a:t>
            </a:r>
          </a:p>
          <a:p xmlns:a="http://schemas.openxmlformats.org/drawingml/2006/main">
            <a:r>
              <a:t>      "saving": 6185.156675000002</a:t>
            </a:r>
          </a:p>
          <a:p xmlns:a="http://schemas.openxmlformats.org/drawingml/2006/main">
            <a:r>
              <a:t>    }</a:t>
            </a:r>
          </a:p>
          <a:p xmlns:a="http://schemas.openxmlformats.org/drawingml/2006/main">
            <a:r>
              <a:t>  ],</a:t>
            </a:r>
          </a:p>
          <a:p xmlns:a="http://schemas.openxmlformats.org/drawingml/2006/main">
            <a:r>
              <a:t>  "annualSaving": 81090.66842000002,</a:t>
            </a:r>
          </a:p>
          <a:p xmlns:a="http://schemas.openxmlformats.org/drawingml/2006/main">
            <a:r>
              <a:t>  "averageSaving": 6757.555701666668,</a:t>
            </a:r>
          </a:p>
          <a:p xmlns:a="http://schemas.openxmlformats.org/drawingml/2006/main">
            <a:r>
              <a:t>  "payback": 14.237889790476089,</a:t>
            </a:r>
          </a:p>
          <a:p xmlns:a="http://schemas.openxmlformats.org/drawingml/2006/main">
            <a:r>
              <a:t>  "annualImports": 912.7620000000002</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Same assumptions and calculation basis as El_Mo3alem_Juice_Shop_Solar_BESS.pptx, reviewed 30 Sep 2026. Baseline80.7 kWh/day,50/50,PV mean4.98,DoD80%,storage efficiency95% applied once at output. Prices are historical selling-price assumptions. Battery220 EUR/kWh*62EGP/EUR=13640EGP/kWh from Home_Storage slide15. Tariff source https://www.egyptera.org/en/TarrifApril2026.aspx . PV source JRC PVGIS5.3: https://re.jrc.ec.europa.eu/api/v5_3/PVcalc?lat=30.0444&amp;lon=31.2357&amp;peakpower=1&amp;loss=14&amp;angle=30&amp;aspect=0&amp;pvtechchoice=crystSi&amp;mountingplace=free&amp;outputformat=json . SARAH3/ERA5 2005–2023. 30degree south-facing free-standing crystalline silicon,14% entered PV loss. Solar-only charging, zero export value. No maintenance, insurance, finance, replacement, degradation or price escalation. Annual3EGP stamp excluded equally. Monthly-average days rather than hourly dispatch, daily demand constant over365days. Unrounded values used, display rounding may differ. Billing-period30days assumed. Inverter and roof sizing provisional. Warranty10years,6000cycles@80%DoD from original source.</a:t>
            </a:r>
          </a:p>
          <a:p xmlns:a="http://schemas.openxmlformats.org/drawingml/2006/main">
            <a:r>
              <a:t>{</a:t>
            </a:r>
          </a:p>
          <a:p xmlns:a="http://schemas.openxmlformats.org/drawingml/2006/main">
            <a:r>
              <a:t>  "option": "C",</a:t>
            </a:r>
          </a:p>
          <a:p xmlns:a="http://schemas.openxmlformats.org/drawingml/2006/main">
            <a:r>
              <a:t>  "C": 64,</a:t>
            </a:r>
          </a:p>
          <a:p xmlns:a="http://schemas.openxmlformats.org/drawingml/2006/main">
            <a:r>
              <a:t>  "P": 17,</a:t>
            </a:r>
          </a:p>
          <a:p xmlns:a="http://schemas.openxmlformats.org/drawingml/2006/main">
            <a:r>
              <a:t>  "inv": 20,</a:t>
            </a:r>
          </a:p>
          <a:p xmlns:a="http://schemas.openxmlformats.org/drawingml/2006/main">
            <a:r>
              <a:t>  "price": 1154560,</a:t>
            </a:r>
          </a:p>
          <a:p xmlns:a="http://schemas.openxmlformats.org/drawingml/2006/main">
            <a:r>
              <a:t>  "reference": {</a:t>
            </a:r>
          </a:p>
          <a:p xmlns:a="http://schemas.openxmlformats.org/drawingml/2006/main">
            <a:r>
              <a:t>    "G": 84.66000000000001,</a:t>
            </a:r>
          </a:p>
          <a:p xmlns:a="http://schemas.openxmlformats.org/drawingml/2006/main">
            <a:r>
              <a:t>    "direct": 40.35,</a:t>
            </a:r>
          </a:p>
          <a:p xmlns:a="http://schemas.openxmlformats.org/drawingml/2006/main">
            <a:r>
              <a:t>    "surplus": 44.31000000000001,</a:t>
            </a:r>
          </a:p>
          <a:p xmlns:a="http://schemas.openxmlformats.org/drawingml/2006/main">
            <a:r>
              <a:t>    "battery": 40.35,</a:t>
            </a:r>
          </a:p>
          <a:p xmlns:a="http://schemas.openxmlformats.org/drawingml/2006/main">
            <a:r>
              <a:t>    "imports": 0,</a:t>
            </a:r>
          </a:p>
          <a:p xmlns:a="http://schemas.openxmlformats.org/drawingml/2006/main">
            <a:r>
              <a:t>    "base": 6867.22,</a:t>
            </a:r>
          </a:p>
          <a:p xmlns:a="http://schemas.openxmlformats.org/drawingml/2006/main">
            <a:r>
              <a:t>    "newbill": 9,</a:t>
            </a:r>
          </a:p>
          <a:p xmlns:a="http://schemas.openxmlformats.org/drawingml/2006/main">
            <a:r>
              <a:t>    "saving": 6858.22</a:t>
            </a:r>
          </a:p>
          <a:p xmlns:a="http://schemas.openxmlformats.org/drawingml/2006/main">
            <a:r>
              <a:t>  },</a:t>
            </a:r>
          </a:p>
          <a:p xmlns:a="http://schemas.openxmlformats.org/drawingml/2006/main">
            <a:r>
              <a:t>  "monthly": [</a:t>
            </a:r>
          </a:p>
          <a:p xmlns:a="http://schemas.openxmlformats.org/drawingml/2006/main">
            <a:r>
              <a:t>    {</a:t>
            </a:r>
          </a:p>
          <a:p xmlns:a="http://schemas.openxmlformats.org/drawingml/2006/main">
            <a:r>
              <a:t>      "month": "Jan",</a:t>
            </a:r>
          </a:p>
          <a:p xmlns:a="http://schemas.openxmlformats.org/drawingml/2006/main">
            <a:r>
              <a:t>      "days": 31,</a:t>
            </a:r>
          </a:p>
          <a:p xmlns:a="http://schemas.openxmlformats.org/drawingml/2006/main">
            <a:r>
              <a:t>      "G": 72.00322580645162,</a:t>
            </a:r>
          </a:p>
          <a:p xmlns:a="http://schemas.openxmlformats.org/drawingml/2006/main">
            <a:r>
              <a:t>      "direct": 40.35,</a:t>
            </a:r>
          </a:p>
          <a:p xmlns:a="http://schemas.openxmlformats.org/drawingml/2006/main">
            <a:r>
              <a:t>      "surplus": 31.653225806451623,</a:t>
            </a:r>
          </a:p>
          <a:p xmlns:a="http://schemas.openxmlformats.org/drawingml/2006/main">
            <a:r>
              <a:t>      "battery": 30.07056451612904,</a:t>
            </a:r>
          </a:p>
          <a:p xmlns:a="http://schemas.openxmlformats.org/drawingml/2006/main">
            <a:r>
              <a:t>      "imports": 318.66249999999985,</a:t>
            </a:r>
          </a:p>
          <a:p xmlns:a="http://schemas.openxmlformats.org/drawingml/2006/main">
            <a:r>
              <a:t>      "base": 7094.794000000002,</a:t>
            </a:r>
          </a:p>
          <a:p xmlns:a="http://schemas.openxmlformats.org/drawingml/2006/main">
            <a:r>
              <a:t>      "newbill": 870.8288749999997,</a:t>
            </a:r>
          </a:p>
          <a:p xmlns:a="http://schemas.openxmlformats.org/drawingml/2006/main">
            <a:r>
              <a:t>      "saving": 6223.965125000002</a:t>
            </a:r>
          </a:p>
          <a:p xmlns:a="http://schemas.openxmlformats.org/drawingml/2006/main">
            <a:r>
              <a:t>    },</a:t>
            </a:r>
          </a:p>
          <a:p xmlns:a="http://schemas.openxmlformats.org/drawingml/2006/main">
            <a:r>
              <a:t>    {</a:t>
            </a:r>
          </a:p>
          <a:p xmlns:a="http://schemas.openxmlformats.org/drawingml/2006/main">
            <a:r>
              <a:t>      "month": "Feb",</a:t>
            </a:r>
          </a:p>
          <a:p xmlns:a="http://schemas.openxmlformats.org/drawingml/2006/main">
            <a:r>
              <a:t>      "days": 28,</a:t>
            </a:r>
          </a:p>
          <a:p xmlns:a="http://schemas.openxmlformats.org/drawingml/2006/main">
            <a:r>
              <a:t>      "G": 78.59464285714284,</a:t>
            </a:r>
          </a:p>
          <a:p xmlns:a="http://schemas.openxmlformats.org/drawingml/2006/main">
            <a:r>
              <a:t>      "direct": 40.35,</a:t>
            </a:r>
          </a:p>
          <a:p xmlns:a="http://schemas.openxmlformats.org/drawingml/2006/main">
            <a:r>
              <a:t>      "surplus": 38.24464285714284,</a:t>
            </a:r>
          </a:p>
          <a:p xmlns:a="http://schemas.openxmlformats.org/drawingml/2006/main">
            <a:r>
              <a:t>      "battery": 36.3324107142857,</a:t>
            </a:r>
          </a:p>
          <a:p xmlns:a="http://schemas.openxmlformats.org/drawingml/2006/main">
            <a:r>
              <a:t>      "imports": 112.49250000000043,</a:t>
            </a:r>
          </a:p>
          <a:p xmlns:a="http://schemas.openxmlformats.org/drawingml/2006/main">
            <a:r>
              <a:t>      "base": 6412.071999999999,</a:t>
            </a:r>
          </a:p>
          <a:p xmlns:a="http://schemas.openxmlformats.org/drawingml/2006/main">
            <a:r>
              <a:t>      "newbill": 261.35857500000094,</a:t>
            </a:r>
          </a:p>
          <a:p xmlns:a="http://schemas.openxmlformats.org/drawingml/2006/main">
            <a:r>
              <a:t>      "saving": 6150.713424999998</a:t>
            </a:r>
          </a:p>
          <a:p xmlns:a="http://schemas.openxmlformats.org/drawingml/2006/main">
            <a:r>
              <a:t>    },</a:t>
            </a:r>
          </a:p>
          <a:p xmlns:a="http://schemas.openxmlformats.org/drawingml/2006/main">
            <a:r>
              <a:t>    {</a:t>
            </a:r>
          </a:p>
          <a:p xmlns:a="http://schemas.openxmlformats.org/drawingml/2006/main">
            <a:r>
              <a:t>      "month": "Mar",</a:t>
            </a:r>
          </a:p>
          <a:p xmlns:a="http://schemas.openxmlformats.org/drawingml/2006/main">
            <a:r>
              <a:t>      "days": 31,</a:t>
            </a:r>
          </a:p>
          <a:p xmlns:a="http://schemas.openxmlformats.org/drawingml/2006/main">
            <a:r>
              <a:t>      "G": 88.3232258064516,</a:t>
            </a:r>
          </a:p>
          <a:p xmlns:a="http://schemas.openxmlformats.org/drawingml/2006/main">
            <a:r>
              <a:t>      "direct": 40.35,</a:t>
            </a:r>
          </a:p>
          <a:p xmlns:a="http://schemas.openxmlformats.org/drawingml/2006/main">
            <a:r>
              <a:t>      "surplus": 47.9732258064516,</a:t>
            </a:r>
          </a:p>
          <a:p xmlns:a="http://schemas.openxmlformats.org/drawingml/2006/main">
            <a:r>
              <a:t>      "battery": 40.35,</a:t>
            </a:r>
          </a:p>
          <a:p xmlns:a="http://schemas.openxmlformats.org/drawingml/2006/main">
            <a:r>
              <a:t>      "imports": 0,</a:t>
            </a:r>
          </a:p>
          <a:p xmlns:a="http://schemas.openxmlformats.org/drawingml/2006/main">
            <a:r>
              <a:t>      "base": 7094.794000000002,</a:t>
            </a:r>
          </a:p>
          <a:p xmlns:a="http://schemas.openxmlformats.org/drawingml/2006/main">
            <a:r>
              <a:t>      "newbill": 9,</a:t>
            </a:r>
          </a:p>
          <a:p xmlns:a="http://schemas.openxmlformats.org/drawingml/2006/main">
            <a:r>
              <a:t>      "saving": 7085.794000000002</a:t>
            </a:r>
          </a:p>
          <a:p xmlns:a="http://schemas.openxmlformats.org/drawingml/2006/main">
            <a:r>
              <a:t>    },</a:t>
            </a:r>
          </a:p>
          <a:p xmlns:a="http://schemas.openxmlformats.org/drawingml/2006/main">
            <a:r>
              <a:t>    {</a:t>
            </a:r>
          </a:p>
          <a:p xmlns:a="http://schemas.openxmlformats.org/drawingml/2006/main">
            <a:r>
              <a:t>      "month": "Apr",</a:t>
            </a:r>
          </a:p>
          <a:p xmlns:a="http://schemas.openxmlformats.org/drawingml/2006/main">
            <a:r>
              <a:t>      "days": 30,</a:t>
            </a:r>
          </a:p>
          <a:p xmlns:a="http://schemas.openxmlformats.org/drawingml/2006/main">
            <a:r>
              <a:t>      "G": 91.154,</a:t>
            </a:r>
          </a:p>
          <a:p xmlns:a="http://schemas.openxmlformats.org/drawingml/2006/main">
            <a:r>
              <a:t>      "direct": 40.35,</a:t>
            </a:r>
          </a:p>
          <a:p xmlns:a="http://schemas.openxmlformats.org/drawingml/2006/main">
            <a:r>
              <a:t>      "surplus": 50.803999999999995,</a:t>
            </a:r>
          </a:p>
          <a:p xmlns:a="http://schemas.openxmlformats.org/drawingml/2006/main">
            <a:r>
              <a:t>      "battery": 40.35,</a:t>
            </a:r>
          </a:p>
          <a:p xmlns:a="http://schemas.openxmlformats.org/drawingml/2006/main">
            <a:r>
              <a:t>      "imports": 0,</a:t>
            </a:r>
          </a:p>
          <a:p xmlns:a="http://schemas.openxmlformats.org/drawingml/2006/main">
            <a:r>
              <a:t>      "base": 6867.22,</a:t>
            </a:r>
          </a:p>
          <a:p xmlns:a="http://schemas.openxmlformats.org/drawingml/2006/main">
            <a:r>
              <a:t>      "newbill": 9,</a:t>
            </a:r>
          </a:p>
          <a:p xmlns:a="http://schemas.openxmlformats.org/drawingml/2006/main">
            <a:r>
              <a:t>      "saving": 6858.22</a:t>
            </a:r>
          </a:p>
          <a:p xmlns:a="http://schemas.openxmlformats.org/drawingml/2006/main">
            <a:r>
              <a:t>    },</a:t>
            </a:r>
          </a:p>
          <a:p xmlns:a="http://schemas.openxmlformats.org/drawingml/2006/main">
            <a:r>
              <a:t>    {</a:t>
            </a:r>
          </a:p>
          <a:p xmlns:a="http://schemas.openxmlformats.org/drawingml/2006/main">
            <a:r>
              <a:t>      "month": "May",</a:t>
            </a:r>
          </a:p>
          <a:p xmlns:a="http://schemas.openxmlformats.org/drawingml/2006/main">
            <a:r>
              <a:t>      "days": 31,</a:t>
            </a:r>
          </a:p>
          <a:p xmlns:a="http://schemas.openxmlformats.org/drawingml/2006/main">
            <a:r>
              <a:t>      "G": 89.23354838709677,</a:t>
            </a:r>
          </a:p>
          <a:p xmlns:a="http://schemas.openxmlformats.org/drawingml/2006/main">
            <a:r>
              <a:t>      "direct": 40.35,</a:t>
            </a:r>
          </a:p>
          <a:p xmlns:a="http://schemas.openxmlformats.org/drawingml/2006/main">
            <a:r>
              <a:t>      "surplus": 48.88354838709677,</a:t>
            </a:r>
          </a:p>
          <a:p xmlns:a="http://schemas.openxmlformats.org/drawingml/2006/main">
            <a:r>
              <a:t>      "battery": 40.35,</a:t>
            </a:r>
          </a:p>
          <a:p xmlns:a="http://schemas.openxmlformats.org/drawingml/2006/main">
            <a:r>
              <a:t>      "imports": 0,</a:t>
            </a:r>
          </a:p>
          <a:p xmlns:a="http://schemas.openxmlformats.org/drawingml/2006/main">
            <a:r>
              <a:t>      "base": 7094.794000000002,</a:t>
            </a:r>
          </a:p>
          <a:p xmlns:a="http://schemas.openxmlformats.org/drawingml/2006/main">
            <a:r>
              <a:t>      "newbill": 9,</a:t>
            </a:r>
          </a:p>
          <a:p xmlns:a="http://schemas.openxmlformats.org/drawingml/2006/main">
            <a:r>
              <a:t>      "saving": 7085.794000000002</a:t>
            </a:r>
          </a:p>
          <a:p xmlns:a="http://schemas.openxmlformats.org/drawingml/2006/main">
            <a:r>
              <a:t>    },</a:t>
            </a:r>
          </a:p>
          <a:p xmlns:a="http://schemas.openxmlformats.org/drawingml/2006/main">
            <a:r>
              <a:t>    {</a:t>
            </a:r>
          </a:p>
          <a:p xmlns:a="http://schemas.openxmlformats.org/drawingml/2006/main">
            <a:r>
              <a:t>      "month": "Jun",</a:t>
            </a:r>
          </a:p>
          <a:p xmlns:a="http://schemas.openxmlformats.org/drawingml/2006/main">
            <a:r>
              <a:t>      "days": 30,</a:t>
            </a:r>
          </a:p>
          <a:p xmlns:a="http://schemas.openxmlformats.org/drawingml/2006/main">
            <a:r>
              <a:t>      "G": 89.88466666666667,</a:t>
            </a:r>
          </a:p>
          <a:p xmlns:a="http://schemas.openxmlformats.org/drawingml/2006/main">
            <a:r>
              <a:t>      "direct": 40.35,</a:t>
            </a:r>
          </a:p>
          <a:p xmlns:a="http://schemas.openxmlformats.org/drawingml/2006/main">
            <a:r>
              <a:t>      "surplus": 49.53466666666667,</a:t>
            </a:r>
          </a:p>
          <a:p xmlns:a="http://schemas.openxmlformats.org/drawingml/2006/main">
            <a:r>
              <a:t>      "battery": 40.35,</a:t>
            </a:r>
          </a:p>
          <a:p xmlns:a="http://schemas.openxmlformats.org/drawingml/2006/main">
            <a:r>
              <a:t>      "imports": 0,</a:t>
            </a:r>
          </a:p>
          <a:p xmlns:a="http://schemas.openxmlformats.org/drawingml/2006/main">
            <a:r>
              <a:t>      "base": 6867.22,</a:t>
            </a:r>
          </a:p>
          <a:p xmlns:a="http://schemas.openxmlformats.org/drawingml/2006/main">
            <a:r>
              <a:t>      "newbill": 9,</a:t>
            </a:r>
          </a:p>
          <a:p xmlns:a="http://schemas.openxmlformats.org/drawingml/2006/main">
            <a:r>
              <a:t>      "saving": 6858.22</a:t>
            </a:r>
          </a:p>
          <a:p xmlns:a="http://schemas.openxmlformats.org/drawingml/2006/main">
            <a:r>
              <a:t>    },</a:t>
            </a:r>
          </a:p>
          <a:p xmlns:a="http://schemas.openxmlformats.org/drawingml/2006/main">
            <a:r>
              <a:t>    {</a:t>
            </a:r>
          </a:p>
          <a:p xmlns:a="http://schemas.openxmlformats.org/drawingml/2006/main">
            <a:r>
              <a:t>      "month": "Jul",</a:t>
            </a:r>
          </a:p>
          <a:p xmlns:a="http://schemas.openxmlformats.org/drawingml/2006/main">
            <a:r>
              <a:t>      "days": 31,</a:t>
            </a:r>
          </a:p>
          <a:p xmlns:a="http://schemas.openxmlformats.org/drawingml/2006/main">
            <a:r>
              <a:t>      "G": 90.29741935483871,</a:t>
            </a:r>
          </a:p>
          <a:p xmlns:a="http://schemas.openxmlformats.org/drawingml/2006/main">
            <a:r>
              <a:t>      "direct": 40.35,</a:t>
            </a:r>
          </a:p>
          <a:p xmlns:a="http://schemas.openxmlformats.org/drawingml/2006/main">
            <a:r>
              <a:t>      "surplus": 49.94741935483871,</a:t>
            </a:r>
          </a:p>
          <a:p xmlns:a="http://schemas.openxmlformats.org/drawingml/2006/main">
            <a:r>
              <a:t>      "battery": 40.35,</a:t>
            </a:r>
          </a:p>
          <a:p xmlns:a="http://schemas.openxmlformats.org/drawingml/2006/main">
            <a:r>
              <a:t>      "imports": 0,</a:t>
            </a:r>
          </a:p>
          <a:p xmlns:a="http://schemas.openxmlformats.org/drawingml/2006/main">
            <a:r>
              <a:t>      "base": 7094.794000000002,</a:t>
            </a:r>
          </a:p>
          <a:p xmlns:a="http://schemas.openxmlformats.org/drawingml/2006/main">
            <a:r>
              <a:t>      "newbill": 9,</a:t>
            </a:r>
          </a:p>
          <a:p xmlns:a="http://schemas.openxmlformats.org/drawingml/2006/main">
            <a:r>
              <a:t>      "saving": 7085.794000000002</a:t>
            </a:r>
          </a:p>
          <a:p xmlns:a="http://schemas.openxmlformats.org/drawingml/2006/main">
            <a:r>
              <a:t>    },</a:t>
            </a:r>
          </a:p>
          <a:p xmlns:a="http://schemas.openxmlformats.org/drawingml/2006/main">
            <a:r>
              <a:t>    {</a:t>
            </a:r>
          </a:p>
          <a:p xmlns:a="http://schemas.openxmlformats.org/drawingml/2006/main">
            <a:r>
              <a:t>      "month": "Aug",</a:t>
            </a:r>
          </a:p>
          <a:p xmlns:a="http://schemas.openxmlformats.org/drawingml/2006/main">
            <a:r>
              <a:t>      "days": 31,</a:t>
            </a:r>
          </a:p>
          <a:p xmlns:a="http://schemas.openxmlformats.org/drawingml/2006/main">
            <a:r>
              <a:t>      "G": 91.47096774193548,</a:t>
            </a:r>
          </a:p>
          <a:p xmlns:a="http://schemas.openxmlformats.org/drawingml/2006/main">
            <a:r>
              <a:t>      "direct": 40.35,</a:t>
            </a:r>
          </a:p>
          <a:p xmlns:a="http://schemas.openxmlformats.org/drawingml/2006/main">
            <a:r>
              <a:t>      "surplus": 51.12096774193548,</a:t>
            </a:r>
          </a:p>
          <a:p xmlns:a="http://schemas.openxmlformats.org/drawingml/2006/main">
            <a:r>
              <a:t>      "battery": 40.35,</a:t>
            </a:r>
          </a:p>
          <a:p xmlns:a="http://schemas.openxmlformats.org/drawingml/2006/main">
            <a:r>
              <a:t>      "imports": 0,</a:t>
            </a:r>
          </a:p>
          <a:p xmlns:a="http://schemas.openxmlformats.org/drawingml/2006/main">
            <a:r>
              <a:t>      "base": 7094.794000000002,</a:t>
            </a:r>
          </a:p>
          <a:p xmlns:a="http://schemas.openxmlformats.org/drawingml/2006/main">
            <a:r>
              <a:t>      "newbill": 9,</a:t>
            </a:r>
          </a:p>
          <a:p xmlns:a="http://schemas.openxmlformats.org/drawingml/2006/main">
            <a:r>
              <a:t>      "saving": 7085.794000000002</a:t>
            </a:r>
          </a:p>
          <a:p xmlns:a="http://schemas.openxmlformats.org/drawingml/2006/main">
            <a:r>
              <a:t>    },</a:t>
            </a:r>
          </a:p>
          <a:p xmlns:a="http://schemas.openxmlformats.org/drawingml/2006/main">
            <a:r>
              <a:t>    {</a:t>
            </a:r>
          </a:p>
          <a:p xmlns:a="http://schemas.openxmlformats.org/drawingml/2006/main">
            <a:r>
              <a:t>      "month": "Sep",</a:t>
            </a:r>
          </a:p>
          <a:p xmlns:a="http://schemas.openxmlformats.org/drawingml/2006/main">
            <a:r>
              <a:t>      "days": 30,</a:t>
            </a:r>
          </a:p>
          <a:p xmlns:a="http://schemas.openxmlformats.org/drawingml/2006/main">
            <a:r>
              <a:t>      "G": 91.23333333333332,</a:t>
            </a:r>
          </a:p>
          <a:p xmlns:a="http://schemas.openxmlformats.org/drawingml/2006/main">
            <a:r>
              <a:t>      "direct": 40.35,</a:t>
            </a:r>
          </a:p>
          <a:p xmlns:a="http://schemas.openxmlformats.org/drawingml/2006/main">
            <a:r>
              <a:t>      "surplus": 50.88333333333332,</a:t>
            </a:r>
          </a:p>
          <a:p xmlns:a="http://schemas.openxmlformats.org/drawingml/2006/main">
            <a:r>
              <a:t>      "battery": 40.35,</a:t>
            </a:r>
          </a:p>
          <a:p xmlns:a="http://schemas.openxmlformats.org/drawingml/2006/main">
            <a:r>
              <a:t>      "imports": 0,</a:t>
            </a:r>
          </a:p>
          <a:p xmlns:a="http://schemas.openxmlformats.org/drawingml/2006/main">
            <a:r>
              <a:t>      "base": 6867.22,</a:t>
            </a:r>
          </a:p>
          <a:p xmlns:a="http://schemas.openxmlformats.org/drawingml/2006/main">
            <a:r>
              <a:t>      "newbill": 9,</a:t>
            </a:r>
          </a:p>
          <a:p xmlns:a="http://schemas.openxmlformats.org/drawingml/2006/main">
            <a:r>
              <a:t>      "saving": 6858.22</a:t>
            </a:r>
          </a:p>
          <a:p xmlns:a="http://schemas.openxmlformats.org/drawingml/2006/main">
            <a:r>
              <a:t>    },</a:t>
            </a:r>
          </a:p>
          <a:p xmlns:a="http://schemas.openxmlformats.org/drawingml/2006/main">
            <a:r>
              <a:t>    {</a:t>
            </a:r>
          </a:p>
          <a:p xmlns:a="http://schemas.openxmlformats.org/drawingml/2006/main">
            <a:r>
              <a:t>      "month": "Oct",</a:t>
            </a:r>
          </a:p>
          <a:p xmlns:a="http://schemas.openxmlformats.org/drawingml/2006/main">
            <a:r>
              <a:t>      "days": 31,</a:t>
            </a:r>
          </a:p>
          <a:p xmlns:a="http://schemas.openxmlformats.org/drawingml/2006/main">
            <a:r>
              <a:t>      "G": 84.74225806451614,</a:t>
            </a:r>
          </a:p>
          <a:p xmlns:a="http://schemas.openxmlformats.org/drawingml/2006/main">
            <a:r>
              <a:t>      "direct": 40.35,</a:t>
            </a:r>
          </a:p>
          <a:p xmlns:a="http://schemas.openxmlformats.org/drawingml/2006/main">
            <a:r>
              <a:t>      "surplus": 44.392258064516135,</a:t>
            </a:r>
          </a:p>
          <a:p xmlns:a="http://schemas.openxmlformats.org/drawingml/2006/main">
            <a:r>
              <a:t>      "battery": 40.35,</a:t>
            </a:r>
          </a:p>
          <a:p xmlns:a="http://schemas.openxmlformats.org/drawingml/2006/main">
            <a:r>
              <a:t>      "imports": 0,</a:t>
            </a:r>
          </a:p>
          <a:p xmlns:a="http://schemas.openxmlformats.org/drawingml/2006/main">
            <a:r>
              <a:t>      "base": 7094.794000000002,</a:t>
            </a:r>
          </a:p>
          <a:p xmlns:a="http://schemas.openxmlformats.org/drawingml/2006/main">
            <a:r>
              <a:t>      "newbill": 9,</a:t>
            </a:r>
          </a:p>
          <a:p xmlns:a="http://schemas.openxmlformats.org/drawingml/2006/main">
            <a:r>
              <a:t>      "saving": 7085.794000000002</a:t>
            </a:r>
          </a:p>
          <a:p xmlns:a="http://schemas.openxmlformats.org/drawingml/2006/main">
            <a:r>
              <a:t>    },</a:t>
            </a:r>
          </a:p>
          <a:p xmlns:a="http://schemas.openxmlformats.org/drawingml/2006/main">
            <a:r>
              <a:t>    {</a:t>
            </a:r>
          </a:p>
          <a:p xmlns:a="http://schemas.openxmlformats.org/drawingml/2006/main">
            <a:r>
              <a:t>      "month": "Nov",</a:t>
            </a:r>
          </a:p>
          <a:p xmlns:a="http://schemas.openxmlformats.org/drawingml/2006/main">
            <a:r>
              <a:t>      "days": 30,</a:t>
            </a:r>
          </a:p>
          <a:p xmlns:a="http://schemas.openxmlformats.org/drawingml/2006/main">
            <a:r>
              <a:t>      "G": 77.61633333333334,</a:t>
            </a:r>
          </a:p>
          <a:p xmlns:a="http://schemas.openxmlformats.org/drawingml/2006/main">
            <a:r>
              <a:t>      "direct": 40.35,</a:t>
            </a:r>
          </a:p>
          <a:p xmlns:a="http://schemas.openxmlformats.org/drawingml/2006/main">
            <a:r>
              <a:t>      "surplus": 37.26633333333334,</a:t>
            </a:r>
          </a:p>
          <a:p xmlns:a="http://schemas.openxmlformats.org/drawingml/2006/main">
            <a:r>
              <a:t>      "battery": 35.40301666666667,</a:t>
            </a:r>
          </a:p>
          <a:p xmlns:a="http://schemas.openxmlformats.org/drawingml/2006/main">
            <a:r>
              <a:t>      "imports": 148.40949999999987,</a:t>
            </a:r>
          </a:p>
          <a:p xmlns:a="http://schemas.openxmlformats.org/drawingml/2006/main">
            <a:r>
              <a:t>      "base": 6867.22,</a:t>
            </a:r>
          </a:p>
          <a:p xmlns:a="http://schemas.openxmlformats.org/drawingml/2006/main">
            <a:r>
              <a:t>      "newbill": 340.01680499999975,</a:t>
            </a:r>
          </a:p>
          <a:p xmlns:a="http://schemas.openxmlformats.org/drawingml/2006/main">
            <a:r>
              <a:t>      "saving": 6527.203195</a:t>
            </a:r>
          </a:p>
          <a:p xmlns:a="http://schemas.openxmlformats.org/drawingml/2006/main">
            <a:r>
              <a:t>    },</a:t>
            </a:r>
          </a:p>
          <a:p xmlns:a="http://schemas.openxmlformats.org/drawingml/2006/main">
            <a:r>
              <a:t>    {</a:t>
            </a:r>
          </a:p>
          <a:p xmlns:a="http://schemas.openxmlformats.org/drawingml/2006/main">
            <a:r>
              <a:t>      "month": "Dec",</a:t>
            </a:r>
          </a:p>
          <a:p xmlns:a="http://schemas.openxmlformats.org/drawingml/2006/main">
            <a:r>
              <a:t>      "days": 31,</a:t>
            </a:r>
          </a:p>
          <a:p xmlns:a="http://schemas.openxmlformats.org/drawingml/2006/main">
            <a:r>
              <a:t>      "G": 71.50967741935484,</a:t>
            </a:r>
          </a:p>
          <a:p xmlns:a="http://schemas.openxmlformats.org/drawingml/2006/main">
            <a:r>
              <a:t>      "direct": 40.35,</a:t>
            </a:r>
          </a:p>
          <a:p xmlns:a="http://schemas.openxmlformats.org/drawingml/2006/main">
            <a:r>
              <a:t>      "surplus": 31.159677419354843,</a:t>
            </a:r>
          </a:p>
          <a:p xmlns:a="http://schemas.openxmlformats.org/drawingml/2006/main">
            <a:r>
              <a:t>      "battery": 29.6016935483871,</a:t>
            </a:r>
          </a:p>
          <a:p xmlns:a="http://schemas.openxmlformats.org/drawingml/2006/main">
            <a:r>
              <a:t>      "imports": 333.19749999999993,</a:t>
            </a:r>
          </a:p>
          <a:p xmlns:a="http://schemas.openxmlformats.org/drawingml/2006/main">
            <a:r>
              <a:t>      "base": 7094.794000000002,</a:t>
            </a:r>
          </a:p>
          <a:p xmlns:a="http://schemas.openxmlformats.org/drawingml/2006/main">
            <a:r>
              <a:t>      "newbill": 909.6373249999998,</a:t>
            </a:r>
          </a:p>
          <a:p xmlns:a="http://schemas.openxmlformats.org/drawingml/2006/main">
            <a:r>
              <a:t>      "saving": 6185.156675000002</a:t>
            </a:r>
          </a:p>
          <a:p xmlns:a="http://schemas.openxmlformats.org/drawingml/2006/main">
            <a:r>
              <a:t>    }</a:t>
            </a:r>
          </a:p>
          <a:p xmlns:a="http://schemas.openxmlformats.org/drawingml/2006/main">
            <a:r>
              <a:t>  ],</a:t>
            </a:r>
          </a:p>
          <a:p xmlns:a="http://schemas.openxmlformats.org/drawingml/2006/main">
            <a:r>
              <a:t>  "annualSaving": 81090.66842000002,</a:t>
            </a:r>
          </a:p>
          <a:p xmlns:a="http://schemas.openxmlformats.org/drawingml/2006/main">
            <a:r>
              <a:t>  "averageSaving": 6757.555701666668,</a:t>
            </a:r>
          </a:p>
          <a:p xmlns:a="http://schemas.openxmlformats.org/drawingml/2006/main">
            <a:r>
              <a:t>  "payback": 14.237889790476089,</a:t>
            </a:r>
          </a:p>
          <a:p xmlns:a="http://schemas.openxmlformats.org/drawingml/2006/main">
            <a:r>
              <a:t>  "annualImports": 912.7620000000002</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Same assumptions and calculation basis as El_Mo3alem_Juice_Shop_Solar_BESS.pptx, reviewed 30 Sep 2026. Baseline80.7 kWh/day,50/50,PV mean4.98,DoD80%,storage efficiency95% applied once at output. Prices are historical selling-price assumptions. Battery220 EUR/kWh*62EGP/EUR=13640EGP/kWh from Home_Storage slide15. Tariff source https://www.egyptera.org/en/TarrifApril2026.aspx . PV source JRC PVGIS5.3: https://re.jrc.ec.europa.eu/api/v5_3/PVcalc?lat=30.0444&amp;lon=31.2357&amp;peakpower=1&amp;loss=14&amp;angle=30&amp;aspect=0&amp;pvtechchoice=crystSi&amp;mountingplace=free&amp;outputformat=json . SARAH3/ERA5 2005–2023. 30degree south-facing free-standing crystalline silicon,14% entered PV loss. Solar-only charging, zero export value. No maintenance, insurance, finance, replacement, degradation or price escalation. Annual3EGP stamp excluded equally. Monthly-average days rather than hourly dispatch, daily demand constant over365days. Unrounded values used, display rounding may differ. Billing-period30days assumed. Inverter and roof sizing provisional. Warranty10years,6000cycles@80%DoD from original source.</a:t>
            </a:r>
          </a:p>
          <a:p xmlns:a="http://schemas.openxmlformats.org/drawingml/2006/main">
            <a:r>
              <a:t>{</a:t>
            </a:r>
          </a:p>
          <a:p xmlns:a="http://schemas.openxmlformats.org/drawingml/2006/main">
            <a:r>
              <a:t>  "option": "C",</a:t>
            </a:r>
          </a:p>
          <a:p xmlns:a="http://schemas.openxmlformats.org/drawingml/2006/main">
            <a:r>
              <a:t>  "C": 64,</a:t>
            </a:r>
          </a:p>
          <a:p xmlns:a="http://schemas.openxmlformats.org/drawingml/2006/main">
            <a:r>
              <a:t>  "P": 17,</a:t>
            </a:r>
          </a:p>
          <a:p xmlns:a="http://schemas.openxmlformats.org/drawingml/2006/main">
            <a:r>
              <a:t>  "inv": 20,</a:t>
            </a:r>
          </a:p>
          <a:p xmlns:a="http://schemas.openxmlformats.org/drawingml/2006/main">
            <a:r>
              <a:t>  "price": 1154560,</a:t>
            </a:r>
          </a:p>
          <a:p xmlns:a="http://schemas.openxmlformats.org/drawingml/2006/main">
            <a:r>
              <a:t>  "reference": {</a:t>
            </a:r>
          </a:p>
          <a:p xmlns:a="http://schemas.openxmlformats.org/drawingml/2006/main">
            <a:r>
              <a:t>    "G": 84.66000000000001,</a:t>
            </a:r>
          </a:p>
          <a:p xmlns:a="http://schemas.openxmlformats.org/drawingml/2006/main">
            <a:r>
              <a:t>    "direct": 40.35,</a:t>
            </a:r>
          </a:p>
          <a:p xmlns:a="http://schemas.openxmlformats.org/drawingml/2006/main">
            <a:r>
              <a:t>    "surplus": 44.31000000000001,</a:t>
            </a:r>
          </a:p>
          <a:p xmlns:a="http://schemas.openxmlformats.org/drawingml/2006/main">
            <a:r>
              <a:t>    "battery": 40.35,</a:t>
            </a:r>
          </a:p>
          <a:p xmlns:a="http://schemas.openxmlformats.org/drawingml/2006/main">
            <a:r>
              <a:t>    "imports": 0,</a:t>
            </a:r>
          </a:p>
          <a:p xmlns:a="http://schemas.openxmlformats.org/drawingml/2006/main">
            <a:r>
              <a:t>    "base": 6867.22,</a:t>
            </a:r>
          </a:p>
          <a:p xmlns:a="http://schemas.openxmlformats.org/drawingml/2006/main">
            <a:r>
              <a:t>    "newbill": 9,</a:t>
            </a:r>
          </a:p>
          <a:p xmlns:a="http://schemas.openxmlformats.org/drawingml/2006/main">
            <a:r>
              <a:t>    "saving": 6858.22</a:t>
            </a:r>
          </a:p>
          <a:p xmlns:a="http://schemas.openxmlformats.org/drawingml/2006/main">
            <a:r>
              <a:t>  },</a:t>
            </a:r>
          </a:p>
          <a:p xmlns:a="http://schemas.openxmlformats.org/drawingml/2006/main">
            <a:r>
              <a:t>  "monthly": [</a:t>
            </a:r>
          </a:p>
          <a:p xmlns:a="http://schemas.openxmlformats.org/drawingml/2006/main">
            <a:r>
              <a:t>    {</a:t>
            </a:r>
          </a:p>
          <a:p xmlns:a="http://schemas.openxmlformats.org/drawingml/2006/main">
            <a:r>
              <a:t>      "month": "Jan",</a:t>
            </a:r>
          </a:p>
          <a:p xmlns:a="http://schemas.openxmlformats.org/drawingml/2006/main">
            <a:r>
              <a:t>      "days": 31,</a:t>
            </a:r>
          </a:p>
          <a:p xmlns:a="http://schemas.openxmlformats.org/drawingml/2006/main">
            <a:r>
              <a:t>      "G": 72.00322580645162,</a:t>
            </a:r>
          </a:p>
          <a:p xmlns:a="http://schemas.openxmlformats.org/drawingml/2006/main">
            <a:r>
              <a:t>      "direct": 40.35,</a:t>
            </a:r>
          </a:p>
          <a:p xmlns:a="http://schemas.openxmlformats.org/drawingml/2006/main">
            <a:r>
              <a:t>      "surplus": 31.653225806451623,</a:t>
            </a:r>
          </a:p>
          <a:p xmlns:a="http://schemas.openxmlformats.org/drawingml/2006/main">
            <a:r>
              <a:t>      "battery": 30.07056451612904,</a:t>
            </a:r>
          </a:p>
          <a:p xmlns:a="http://schemas.openxmlformats.org/drawingml/2006/main">
            <a:r>
              <a:t>      "imports": 318.66249999999985,</a:t>
            </a:r>
          </a:p>
          <a:p xmlns:a="http://schemas.openxmlformats.org/drawingml/2006/main">
            <a:r>
              <a:t>      "base": 7094.794000000002,</a:t>
            </a:r>
          </a:p>
          <a:p xmlns:a="http://schemas.openxmlformats.org/drawingml/2006/main">
            <a:r>
              <a:t>      "newbill": 870.8288749999997,</a:t>
            </a:r>
          </a:p>
          <a:p xmlns:a="http://schemas.openxmlformats.org/drawingml/2006/main">
            <a:r>
              <a:t>      "saving": 6223.965125000002</a:t>
            </a:r>
          </a:p>
          <a:p xmlns:a="http://schemas.openxmlformats.org/drawingml/2006/main">
            <a:r>
              <a:t>    },</a:t>
            </a:r>
          </a:p>
          <a:p xmlns:a="http://schemas.openxmlformats.org/drawingml/2006/main">
            <a:r>
              <a:t>    {</a:t>
            </a:r>
          </a:p>
          <a:p xmlns:a="http://schemas.openxmlformats.org/drawingml/2006/main">
            <a:r>
              <a:t>      "month": "Feb",</a:t>
            </a:r>
          </a:p>
          <a:p xmlns:a="http://schemas.openxmlformats.org/drawingml/2006/main">
            <a:r>
              <a:t>      "days": 28,</a:t>
            </a:r>
          </a:p>
          <a:p xmlns:a="http://schemas.openxmlformats.org/drawingml/2006/main">
            <a:r>
              <a:t>      "G": 78.59464285714284,</a:t>
            </a:r>
          </a:p>
          <a:p xmlns:a="http://schemas.openxmlformats.org/drawingml/2006/main">
            <a:r>
              <a:t>      "direct": 40.35,</a:t>
            </a:r>
          </a:p>
          <a:p xmlns:a="http://schemas.openxmlformats.org/drawingml/2006/main">
            <a:r>
              <a:t>      "surplus": 38.24464285714284,</a:t>
            </a:r>
          </a:p>
          <a:p xmlns:a="http://schemas.openxmlformats.org/drawingml/2006/main">
            <a:r>
              <a:t>      "battery": 36.3324107142857,</a:t>
            </a:r>
          </a:p>
          <a:p xmlns:a="http://schemas.openxmlformats.org/drawingml/2006/main">
            <a:r>
              <a:t>      "imports": 112.49250000000043,</a:t>
            </a:r>
          </a:p>
          <a:p xmlns:a="http://schemas.openxmlformats.org/drawingml/2006/main">
            <a:r>
              <a:t>      "base": 6412.071999999999,</a:t>
            </a:r>
          </a:p>
          <a:p xmlns:a="http://schemas.openxmlformats.org/drawingml/2006/main">
            <a:r>
              <a:t>      "newbill": 261.35857500000094,</a:t>
            </a:r>
          </a:p>
          <a:p xmlns:a="http://schemas.openxmlformats.org/drawingml/2006/main">
            <a:r>
              <a:t>      "saving": 6150.713424999998</a:t>
            </a:r>
          </a:p>
          <a:p xmlns:a="http://schemas.openxmlformats.org/drawingml/2006/main">
            <a:r>
              <a:t>    },</a:t>
            </a:r>
          </a:p>
          <a:p xmlns:a="http://schemas.openxmlformats.org/drawingml/2006/main">
            <a:r>
              <a:t>    {</a:t>
            </a:r>
          </a:p>
          <a:p xmlns:a="http://schemas.openxmlformats.org/drawingml/2006/main">
            <a:r>
              <a:t>      "month": "Mar",</a:t>
            </a:r>
          </a:p>
          <a:p xmlns:a="http://schemas.openxmlformats.org/drawingml/2006/main">
            <a:r>
              <a:t>      "days": 31,</a:t>
            </a:r>
          </a:p>
          <a:p xmlns:a="http://schemas.openxmlformats.org/drawingml/2006/main">
            <a:r>
              <a:t>      "G": 88.3232258064516,</a:t>
            </a:r>
          </a:p>
          <a:p xmlns:a="http://schemas.openxmlformats.org/drawingml/2006/main">
            <a:r>
              <a:t>      "direct": 40.35,</a:t>
            </a:r>
          </a:p>
          <a:p xmlns:a="http://schemas.openxmlformats.org/drawingml/2006/main">
            <a:r>
              <a:t>      "surplus": 47.9732258064516,</a:t>
            </a:r>
          </a:p>
          <a:p xmlns:a="http://schemas.openxmlformats.org/drawingml/2006/main">
            <a:r>
              <a:t>      "battery": 40.35,</a:t>
            </a:r>
          </a:p>
          <a:p xmlns:a="http://schemas.openxmlformats.org/drawingml/2006/main">
            <a:r>
              <a:t>      "imports": 0,</a:t>
            </a:r>
          </a:p>
          <a:p xmlns:a="http://schemas.openxmlformats.org/drawingml/2006/main">
            <a:r>
              <a:t>      "base": 7094.794000000002,</a:t>
            </a:r>
          </a:p>
          <a:p xmlns:a="http://schemas.openxmlformats.org/drawingml/2006/main">
            <a:r>
              <a:t>      "newbill": 9,</a:t>
            </a:r>
          </a:p>
          <a:p xmlns:a="http://schemas.openxmlformats.org/drawingml/2006/main">
            <a:r>
              <a:t>      "saving": 7085.794000000002</a:t>
            </a:r>
          </a:p>
          <a:p xmlns:a="http://schemas.openxmlformats.org/drawingml/2006/main">
            <a:r>
              <a:t>    },</a:t>
            </a:r>
          </a:p>
          <a:p xmlns:a="http://schemas.openxmlformats.org/drawingml/2006/main">
            <a:r>
              <a:t>    {</a:t>
            </a:r>
          </a:p>
          <a:p xmlns:a="http://schemas.openxmlformats.org/drawingml/2006/main">
            <a:r>
              <a:t>      "month": "Apr",</a:t>
            </a:r>
          </a:p>
          <a:p xmlns:a="http://schemas.openxmlformats.org/drawingml/2006/main">
            <a:r>
              <a:t>      "days": 30,</a:t>
            </a:r>
          </a:p>
          <a:p xmlns:a="http://schemas.openxmlformats.org/drawingml/2006/main">
            <a:r>
              <a:t>      "G": 91.154,</a:t>
            </a:r>
          </a:p>
          <a:p xmlns:a="http://schemas.openxmlformats.org/drawingml/2006/main">
            <a:r>
              <a:t>      "direct": 40.35,</a:t>
            </a:r>
          </a:p>
          <a:p xmlns:a="http://schemas.openxmlformats.org/drawingml/2006/main">
            <a:r>
              <a:t>      "surplus": 50.803999999999995,</a:t>
            </a:r>
          </a:p>
          <a:p xmlns:a="http://schemas.openxmlformats.org/drawingml/2006/main">
            <a:r>
              <a:t>      "battery": 40.35,</a:t>
            </a:r>
          </a:p>
          <a:p xmlns:a="http://schemas.openxmlformats.org/drawingml/2006/main">
            <a:r>
              <a:t>      "imports": 0,</a:t>
            </a:r>
          </a:p>
          <a:p xmlns:a="http://schemas.openxmlformats.org/drawingml/2006/main">
            <a:r>
              <a:t>      "base": 6867.22,</a:t>
            </a:r>
          </a:p>
          <a:p xmlns:a="http://schemas.openxmlformats.org/drawingml/2006/main">
            <a:r>
              <a:t>      "newbill": 9,</a:t>
            </a:r>
          </a:p>
          <a:p xmlns:a="http://schemas.openxmlformats.org/drawingml/2006/main">
            <a:r>
              <a:t>      "saving": 6858.22</a:t>
            </a:r>
          </a:p>
          <a:p xmlns:a="http://schemas.openxmlformats.org/drawingml/2006/main">
            <a:r>
              <a:t>    },</a:t>
            </a:r>
          </a:p>
          <a:p xmlns:a="http://schemas.openxmlformats.org/drawingml/2006/main">
            <a:r>
              <a:t>    {</a:t>
            </a:r>
          </a:p>
          <a:p xmlns:a="http://schemas.openxmlformats.org/drawingml/2006/main">
            <a:r>
              <a:t>      "month": "May",</a:t>
            </a:r>
          </a:p>
          <a:p xmlns:a="http://schemas.openxmlformats.org/drawingml/2006/main">
            <a:r>
              <a:t>      "days": 31,</a:t>
            </a:r>
          </a:p>
          <a:p xmlns:a="http://schemas.openxmlformats.org/drawingml/2006/main">
            <a:r>
              <a:t>      "G": 89.23354838709677,</a:t>
            </a:r>
          </a:p>
          <a:p xmlns:a="http://schemas.openxmlformats.org/drawingml/2006/main">
            <a:r>
              <a:t>      "direct": 40.35,</a:t>
            </a:r>
          </a:p>
          <a:p xmlns:a="http://schemas.openxmlformats.org/drawingml/2006/main">
            <a:r>
              <a:t>      "surplus": 48.88354838709677,</a:t>
            </a:r>
          </a:p>
          <a:p xmlns:a="http://schemas.openxmlformats.org/drawingml/2006/main">
            <a:r>
              <a:t>      "battery": 40.35,</a:t>
            </a:r>
          </a:p>
          <a:p xmlns:a="http://schemas.openxmlformats.org/drawingml/2006/main">
            <a:r>
              <a:t>      "imports": 0,</a:t>
            </a:r>
          </a:p>
          <a:p xmlns:a="http://schemas.openxmlformats.org/drawingml/2006/main">
            <a:r>
              <a:t>      "base": 7094.794000000002,</a:t>
            </a:r>
          </a:p>
          <a:p xmlns:a="http://schemas.openxmlformats.org/drawingml/2006/main">
            <a:r>
              <a:t>      "newbill": 9,</a:t>
            </a:r>
          </a:p>
          <a:p xmlns:a="http://schemas.openxmlformats.org/drawingml/2006/main">
            <a:r>
              <a:t>      "saving": 7085.794000000002</a:t>
            </a:r>
          </a:p>
          <a:p xmlns:a="http://schemas.openxmlformats.org/drawingml/2006/main">
            <a:r>
              <a:t>    },</a:t>
            </a:r>
          </a:p>
          <a:p xmlns:a="http://schemas.openxmlformats.org/drawingml/2006/main">
            <a:r>
              <a:t>    {</a:t>
            </a:r>
          </a:p>
          <a:p xmlns:a="http://schemas.openxmlformats.org/drawingml/2006/main">
            <a:r>
              <a:t>      "month": "Jun",</a:t>
            </a:r>
          </a:p>
          <a:p xmlns:a="http://schemas.openxmlformats.org/drawingml/2006/main">
            <a:r>
              <a:t>      "days": 30,</a:t>
            </a:r>
          </a:p>
          <a:p xmlns:a="http://schemas.openxmlformats.org/drawingml/2006/main">
            <a:r>
              <a:t>      "G": 89.88466666666667,</a:t>
            </a:r>
          </a:p>
          <a:p xmlns:a="http://schemas.openxmlformats.org/drawingml/2006/main">
            <a:r>
              <a:t>      "direct": 40.35,</a:t>
            </a:r>
          </a:p>
          <a:p xmlns:a="http://schemas.openxmlformats.org/drawingml/2006/main">
            <a:r>
              <a:t>      "surplus": 49.53466666666667,</a:t>
            </a:r>
          </a:p>
          <a:p xmlns:a="http://schemas.openxmlformats.org/drawingml/2006/main">
            <a:r>
              <a:t>      "battery": 40.35,</a:t>
            </a:r>
          </a:p>
          <a:p xmlns:a="http://schemas.openxmlformats.org/drawingml/2006/main">
            <a:r>
              <a:t>      "imports": 0,</a:t>
            </a:r>
          </a:p>
          <a:p xmlns:a="http://schemas.openxmlformats.org/drawingml/2006/main">
            <a:r>
              <a:t>      "base": 6867.22,</a:t>
            </a:r>
          </a:p>
          <a:p xmlns:a="http://schemas.openxmlformats.org/drawingml/2006/main">
            <a:r>
              <a:t>      "newbill": 9,</a:t>
            </a:r>
          </a:p>
          <a:p xmlns:a="http://schemas.openxmlformats.org/drawingml/2006/main">
            <a:r>
              <a:t>      "saving": 6858.22</a:t>
            </a:r>
          </a:p>
          <a:p xmlns:a="http://schemas.openxmlformats.org/drawingml/2006/main">
            <a:r>
              <a:t>    },</a:t>
            </a:r>
          </a:p>
          <a:p xmlns:a="http://schemas.openxmlformats.org/drawingml/2006/main">
            <a:r>
              <a:t>    {</a:t>
            </a:r>
          </a:p>
          <a:p xmlns:a="http://schemas.openxmlformats.org/drawingml/2006/main">
            <a:r>
              <a:t>      "month": "Jul",</a:t>
            </a:r>
          </a:p>
          <a:p xmlns:a="http://schemas.openxmlformats.org/drawingml/2006/main">
            <a:r>
              <a:t>      "days": 31,</a:t>
            </a:r>
          </a:p>
          <a:p xmlns:a="http://schemas.openxmlformats.org/drawingml/2006/main">
            <a:r>
              <a:t>      "G": 90.29741935483871,</a:t>
            </a:r>
          </a:p>
          <a:p xmlns:a="http://schemas.openxmlformats.org/drawingml/2006/main">
            <a:r>
              <a:t>      "direct": 40.35,</a:t>
            </a:r>
          </a:p>
          <a:p xmlns:a="http://schemas.openxmlformats.org/drawingml/2006/main">
            <a:r>
              <a:t>      "surplus": 49.94741935483871,</a:t>
            </a:r>
          </a:p>
          <a:p xmlns:a="http://schemas.openxmlformats.org/drawingml/2006/main">
            <a:r>
              <a:t>      "battery": 40.35,</a:t>
            </a:r>
          </a:p>
          <a:p xmlns:a="http://schemas.openxmlformats.org/drawingml/2006/main">
            <a:r>
              <a:t>      "imports": 0,</a:t>
            </a:r>
          </a:p>
          <a:p xmlns:a="http://schemas.openxmlformats.org/drawingml/2006/main">
            <a:r>
              <a:t>      "base": 7094.794000000002,</a:t>
            </a:r>
          </a:p>
          <a:p xmlns:a="http://schemas.openxmlformats.org/drawingml/2006/main">
            <a:r>
              <a:t>      "newbill": 9,</a:t>
            </a:r>
          </a:p>
          <a:p xmlns:a="http://schemas.openxmlformats.org/drawingml/2006/main">
            <a:r>
              <a:t>      "saving": 7085.794000000002</a:t>
            </a:r>
          </a:p>
          <a:p xmlns:a="http://schemas.openxmlformats.org/drawingml/2006/main">
            <a:r>
              <a:t>    },</a:t>
            </a:r>
          </a:p>
          <a:p xmlns:a="http://schemas.openxmlformats.org/drawingml/2006/main">
            <a:r>
              <a:t>    {</a:t>
            </a:r>
          </a:p>
          <a:p xmlns:a="http://schemas.openxmlformats.org/drawingml/2006/main">
            <a:r>
              <a:t>      "month": "Aug",</a:t>
            </a:r>
          </a:p>
          <a:p xmlns:a="http://schemas.openxmlformats.org/drawingml/2006/main">
            <a:r>
              <a:t>      "days": 31,</a:t>
            </a:r>
          </a:p>
          <a:p xmlns:a="http://schemas.openxmlformats.org/drawingml/2006/main">
            <a:r>
              <a:t>      "G": 91.47096774193548,</a:t>
            </a:r>
          </a:p>
          <a:p xmlns:a="http://schemas.openxmlformats.org/drawingml/2006/main">
            <a:r>
              <a:t>      "direct": 40.35,</a:t>
            </a:r>
          </a:p>
          <a:p xmlns:a="http://schemas.openxmlformats.org/drawingml/2006/main">
            <a:r>
              <a:t>      "surplus": 51.12096774193548,</a:t>
            </a:r>
          </a:p>
          <a:p xmlns:a="http://schemas.openxmlformats.org/drawingml/2006/main">
            <a:r>
              <a:t>      "battery": 40.35,</a:t>
            </a:r>
          </a:p>
          <a:p xmlns:a="http://schemas.openxmlformats.org/drawingml/2006/main">
            <a:r>
              <a:t>      "imports": 0,</a:t>
            </a:r>
          </a:p>
          <a:p xmlns:a="http://schemas.openxmlformats.org/drawingml/2006/main">
            <a:r>
              <a:t>      "base": 7094.794000000002,</a:t>
            </a:r>
          </a:p>
          <a:p xmlns:a="http://schemas.openxmlformats.org/drawingml/2006/main">
            <a:r>
              <a:t>      "newbill": 9,</a:t>
            </a:r>
          </a:p>
          <a:p xmlns:a="http://schemas.openxmlformats.org/drawingml/2006/main">
            <a:r>
              <a:t>      "saving": 7085.794000000002</a:t>
            </a:r>
          </a:p>
          <a:p xmlns:a="http://schemas.openxmlformats.org/drawingml/2006/main">
            <a:r>
              <a:t>    },</a:t>
            </a:r>
          </a:p>
          <a:p xmlns:a="http://schemas.openxmlformats.org/drawingml/2006/main">
            <a:r>
              <a:t>    {</a:t>
            </a:r>
          </a:p>
          <a:p xmlns:a="http://schemas.openxmlformats.org/drawingml/2006/main">
            <a:r>
              <a:t>      "month": "Sep",</a:t>
            </a:r>
          </a:p>
          <a:p xmlns:a="http://schemas.openxmlformats.org/drawingml/2006/main">
            <a:r>
              <a:t>      "days": 30,</a:t>
            </a:r>
          </a:p>
          <a:p xmlns:a="http://schemas.openxmlformats.org/drawingml/2006/main">
            <a:r>
              <a:t>      "G": 91.23333333333332,</a:t>
            </a:r>
          </a:p>
          <a:p xmlns:a="http://schemas.openxmlformats.org/drawingml/2006/main">
            <a:r>
              <a:t>      "direct": 40.35,</a:t>
            </a:r>
          </a:p>
          <a:p xmlns:a="http://schemas.openxmlformats.org/drawingml/2006/main">
            <a:r>
              <a:t>      "surplus": 50.88333333333332,</a:t>
            </a:r>
          </a:p>
          <a:p xmlns:a="http://schemas.openxmlformats.org/drawingml/2006/main">
            <a:r>
              <a:t>      "battery": 40.35,</a:t>
            </a:r>
          </a:p>
          <a:p xmlns:a="http://schemas.openxmlformats.org/drawingml/2006/main">
            <a:r>
              <a:t>      "imports": 0,</a:t>
            </a:r>
          </a:p>
          <a:p xmlns:a="http://schemas.openxmlformats.org/drawingml/2006/main">
            <a:r>
              <a:t>      "base": 6867.22,</a:t>
            </a:r>
          </a:p>
          <a:p xmlns:a="http://schemas.openxmlformats.org/drawingml/2006/main">
            <a:r>
              <a:t>      "newbill": 9,</a:t>
            </a:r>
          </a:p>
          <a:p xmlns:a="http://schemas.openxmlformats.org/drawingml/2006/main">
            <a:r>
              <a:t>      "saving": 6858.22</a:t>
            </a:r>
          </a:p>
          <a:p xmlns:a="http://schemas.openxmlformats.org/drawingml/2006/main">
            <a:r>
              <a:t>    },</a:t>
            </a:r>
          </a:p>
          <a:p xmlns:a="http://schemas.openxmlformats.org/drawingml/2006/main">
            <a:r>
              <a:t>    {</a:t>
            </a:r>
          </a:p>
          <a:p xmlns:a="http://schemas.openxmlformats.org/drawingml/2006/main">
            <a:r>
              <a:t>      "month": "Oct",</a:t>
            </a:r>
          </a:p>
          <a:p xmlns:a="http://schemas.openxmlformats.org/drawingml/2006/main">
            <a:r>
              <a:t>      "days": 31,</a:t>
            </a:r>
          </a:p>
          <a:p xmlns:a="http://schemas.openxmlformats.org/drawingml/2006/main">
            <a:r>
              <a:t>      "G": 84.74225806451614,</a:t>
            </a:r>
          </a:p>
          <a:p xmlns:a="http://schemas.openxmlformats.org/drawingml/2006/main">
            <a:r>
              <a:t>      "direct": 40.35,</a:t>
            </a:r>
          </a:p>
          <a:p xmlns:a="http://schemas.openxmlformats.org/drawingml/2006/main">
            <a:r>
              <a:t>      "surplus": 44.392258064516135,</a:t>
            </a:r>
          </a:p>
          <a:p xmlns:a="http://schemas.openxmlformats.org/drawingml/2006/main">
            <a:r>
              <a:t>      "battery": 40.35,</a:t>
            </a:r>
          </a:p>
          <a:p xmlns:a="http://schemas.openxmlformats.org/drawingml/2006/main">
            <a:r>
              <a:t>      "imports": 0,</a:t>
            </a:r>
          </a:p>
          <a:p xmlns:a="http://schemas.openxmlformats.org/drawingml/2006/main">
            <a:r>
              <a:t>      "base": 7094.794000000002,</a:t>
            </a:r>
          </a:p>
          <a:p xmlns:a="http://schemas.openxmlformats.org/drawingml/2006/main">
            <a:r>
              <a:t>      "newbill": 9,</a:t>
            </a:r>
          </a:p>
          <a:p xmlns:a="http://schemas.openxmlformats.org/drawingml/2006/main">
            <a:r>
              <a:t>      "saving": 7085.794000000002</a:t>
            </a:r>
          </a:p>
          <a:p xmlns:a="http://schemas.openxmlformats.org/drawingml/2006/main">
            <a:r>
              <a:t>    },</a:t>
            </a:r>
          </a:p>
          <a:p xmlns:a="http://schemas.openxmlformats.org/drawingml/2006/main">
            <a:r>
              <a:t>    {</a:t>
            </a:r>
          </a:p>
          <a:p xmlns:a="http://schemas.openxmlformats.org/drawingml/2006/main">
            <a:r>
              <a:t>      "month": "Nov",</a:t>
            </a:r>
          </a:p>
          <a:p xmlns:a="http://schemas.openxmlformats.org/drawingml/2006/main">
            <a:r>
              <a:t>      "days": 30,</a:t>
            </a:r>
          </a:p>
          <a:p xmlns:a="http://schemas.openxmlformats.org/drawingml/2006/main">
            <a:r>
              <a:t>      "G": 77.61633333333334,</a:t>
            </a:r>
          </a:p>
          <a:p xmlns:a="http://schemas.openxmlformats.org/drawingml/2006/main">
            <a:r>
              <a:t>      "direct": 40.35,</a:t>
            </a:r>
          </a:p>
          <a:p xmlns:a="http://schemas.openxmlformats.org/drawingml/2006/main">
            <a:r>
              <a:t>      "surplus": 37.26633333333334,</a:t>
            </a:r>
          </a:p>
          <a:p xmlns:a="http://schemas.openxmlformats.org/drawingml/2006/main">
            <a:r>
              <a:t>      "battery": 35.40301666666667,</a:t>
            </a:r>
          </a:p>
          <a:p xmlns:a="http://schemas.openxmlformats.org/drawingml/2006/main">
            <a:r>
              <a:t>      "imports": 148.40949999999987,</a:t>
            </a:r>
          </a:p>
          <a:p xmlns:a="http://schemas.openxmlformats.org/drawingml/2006/main">
            <a:r>
              <a:t>      "base": 6867.22,</a:t>
            </a:r>
          </a:p>
          <a:p xmlns:a="http://schemas.openxmlformats.org/drawingml/2006/main">
            <a:r>
              <a:t>      "newbill": 340.01680499999975,</a:t>
            </a:r>
          </a:p>
          <a:p xmlns:a="http://schemas.openxmlformats.org/drawingml/2006/main">
            <a:r>
              <a:t>      "saving": 6527.203195</a:t>
            </a:r>
          </a:p>
          <a:p xmlns:a="http://schemas.openxmlformats.org/drawingml/2006/main">
            <a:r>
              <a:t>    },</a:t>
            </a:r>
          </a:p>
          <a:p xmlns:a="http://schemas.openxmlformats.org/drawingml/2006/main">
            <a:r>
              <a:t>    {</a:t>
            </a:r>
          </a:p>
          <a:p xmlns:a="http://schemas.openxmlformats.org/drawingml/2006/main">
            <a:r>
              <a:t>      "month": "Dec",</a:t>
            </a:r>
          </a:p>
          <a:p xmlns:a="http://schemas.openxmlformats.org/drawingml/2006/main">
            <a:r>
              <a:t>      "days": 31,</a:t>
            </a:r>
          </a:p>
          <a:p xmlns:a="http://schemas.openxmlformats.org/drawingml/2006/main">
            <a:r>
              <a:t>      "G": 71.50967741935484,</a:t>
            </a:r>
          </a:p>
          <a:p xmlns:a="http://schemas.openxmlformats.org/drawingml/2006/main">
            <a:r>
              <a:t>      "direct": 40.35,</a:t>
            </a:r>
          </a:p>
          <a:p xmlns:a="http://schemas.openxmlformats.org/drawingml/2006/main">
            <a:r>
              <a:t>      "surplus": 31.159677419354843,</a:t>
            </a:r>
          </a:p>
          <a:p xmlns:a="http://schemas.openxmlformats.org/drawingml/2006/main">
            <a:r>
              <a:t>      "battery": 29.6016935483871,</a:t>
            </a:r>
          </a:p>
          <a:p xmlns:a="http://schemas.openxmlformats.org/drawingml/2006/main">
            <a:r>
              <a:t>      "imports": 333.19749999999993,</a:t>
            </a:r>
          </a:p>
          <a:p xmlns:a="http://schemas.openxmlformats.org/drawingml/2006/main">
            <a:r>
              <a:t>      "base": 7094.794000000002,</a:t>
            </a:r>
          </a:p>
          <a:p xmlns:a="http://schemas.openxmlformats.org/drawingml/2006/main">
            <a:r>
              <a:t>      "newbill": 909.6373249999998,</a:t>
            </a:r>
          </a:p>
          <a:p xmlns:a="http://schemas.openxmlformats.org/drawingml/2006/main">
            <a:r>
              <a:t>      "saving": 6185.156675000002</a:t>
            </a:r>
          </a:p>
          <a:p xmlns:a="http://schemas.openxmlformats.org/drawingml/2006/main">
            <a:r>
              <a:t>    }</a:t>
            </a:r>
          </a:p>
          <a:p xmlns:a="http://schemas.openxmlformats.org/drawingml/2006/main">
            <a:r>
              <a:t>  ],</a:t>
            </a:r>
          </a:p>
          <a:p xmlns:a="http://schemas.openxmlformats.org/drawingml/2006/main">
            <a:r>
              <a:t>  "annualSaving": 81090.66842000002,</a:t>
            </a:r>
          </a:p>
          <a:p xmlns:a="http://schemas.openxmlformats.org/drawingml/2006/main">
            <a:r>
              <a:t>  "averageSaving": 6757.555701666668,</a:t>
            </a:r>
          </a:p>
          <a:p xmlns:a="http://schemas.openxmlformats.org/drawingml/2006/main">
            <a:r>
              <a:t>  "payback": 14.237889790476089,</a:t>
            </a:r>
          </a:p>
          <a:p xmlns:a="http://schemas.openxmlformats.org/drawingml/2006/main">
            <a:r>
              <a:t>  "annualImports": 912.7620000000002</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Same assumptions and calculation basis as El_Mo3alem_Juice_Shop_Solar_BESS.pptx, reviewed 30 Sep 2026. Baseline80.7 kWh/day,50/50,PV mean4.98,DoD80%,storage efficiency95% applied once at output. Prices are historical selling-price assumptions. Battery220 EUR/kWh*62EGP/EUR=13640EGP/kWh from Home_Storage slide15. Tariff source https://www.egyptera.org/en/TarrifApril2026.aspx . PV source JRC PVGIS5.3: https://re.jrc.ec.europa.eu/api/v5_3/PVcalc?lat=30.0444&amp;lon=31.2357&amp;peakpower=1&amp;loss=14&amp;angle=30&amp;aspect=0&amp;pvtechchoice=crystSi&amp;mountingplace=free&amp;outputformat=json . SARAH3/ERA5 2005–2023. 30degree south-facing free-standing crystalline silicon,14% entered PV loss. Solar-only charging, zero export value. No maintenance, insurance, finance, replacement, degradation or price escalation. Annual3EGP stamp excluded equally. Monthly-average days rather than hourly dispatch, daily demand constant over365days. Unrounded values used, display rounding may differ. Billing-period30days assumed. Inverter and roof sizing provisional. Warranty10years,6000cycles@80%DoD from original source.</a:t>
            </a:r>
          </a:p>
          <a:p xmlns:a="http://schemas.openxmlformats.org/drawingml/2006/main">
            <a:r>
              <a:t>[</a:t>
            </a:r>
          </a:p>
          <a:p xmlns:a="http://schemas.openxmlformats.org/drawingml/2006/main">
            <a:r>
              <a:t>  {</a:t>
            </a:r>
          </a:p>
          <a:p xmlns:a="http://schemas.openxmlformats.org/drawingml/2006/main">
            <a:r>
              <a:t>    "option": "A",</a:t>
            </a:r>
          </a:p>
          <a:p xmlns:a="http://schemas.openxmlformats.org/drawingml/2006/main">
            <a:r>
              <a:t>    "C": 0,</a:t>
            </a:r>
          </a:p>
          <a:p xmlns:a="http://schemas.openxmlformats.org/drawingml/2006/main">
            <a:r>
              <a:t>    "P": 8.5,</a:t>
            </a:r>
          </a:p>
          <a:p xmlns:a="http://schemas.openxmlformats.org/drawingml/2006/main">
            <a:r>
              <a:t>    "inv": 10,</a:t>
            </a:r>
          </a:p>
          <a:p xmlns:a="http://schemas.openxmlformats.org/drawingml/2006/main">
            <a:r>
              <a:t>    "price": 140800,</a:t>
            </a:r>
          </a:p>
          <a:p xmlns:a="http://schemas.openxmlformats.org/drawingml/2006/main">
            <a:r>
              <a:t>    "reference": {</a:t>
            </a:r>
          </a:p>
          <a:p xmlns:a="http://schemas.openxmlformats.org/drawingml/2006/main">
            <a:r>
              <a:t>      "G": 42.330000000000005,</a:t>
            </a:r>
          </a:p>
          <a:p xmlns:a="http://schemas.openxmlformats.org/drawingml/2006/main">
            <a:r>
              <a:t>      "direct": 40.35,</a:t>
            </a:r>
          </a:p>
          <a:p xmlns:a="http://schemas.openxmlformats.org/drawingml/2006/main">
            <a:r>
              <a:t>      "surplus": 1.980000000000004,</a:t>
            </a:r>
          </a:p>
          <a:p xmlns:a="http://schemas.openxmlformats.org/drawingml/2006/main">
            <a:r>
              <a:t>      "battery": 0,</a:t>
            </a:r>
          </a:p>
          <a:p xmlns:a="http://schemas.openxmlformats.org/drawingml/2006/main">
            <a:r>
              <a:t>      "imports": 1210.5,</a:t>
            </a:r>
          </a:p>
          <a:p xmlns:a="http://schemas.openxmlformats.org/drawingml/2006/main">
            <a:r>
              <a:t>      "base": 6867.22,</a:t>
            </a:r>
          </a:p>
          <a:p xmlns:a="http://schemas.openxmlformats.org/drawingml/2006/main">
            <a:r>
              <a:t>      "newbill": 3453.61,</a:t>
            </a:r>
          </a:p>
          <a:p xmlns:a="http://schemas.openxmlformats.org/drawingml/2006/main">
            <a:r>
              <a:t>      "saving": 3413.61</a:t>
            </a:r>
          </a:p>
          <a:p xmlns:a="http://schemas.openxmlformats.org/drawingml/2006/main">
            <a:r>
              <a:t>    },</a:t>
            </a:r>
          </a:p>
          <a:p xmlns:a="http://schemas.openxmlformats.org/drawingml/2006/main">
            <a:r>
              <a:t>    "monthly": [</a:t>
            </a:r>
          </a:p>
          <a:p xmlns:a="http://schemas.openxmlformats.org/drawingml/2006/main">
            <a:r>
              <a:t>      {</a:t>
            </a:r>
          </a:p>
          <a:p xmlns:a="http://schemas.openxmlformats.org/drawingml/2006/main">
            <a:r>
              <a:t>        "month": "Jan",</a:t>
            </a:r>
          </a:p>
          <a:p xmlns:a="http://schemas.openxmlformats.org/drawingml/2006/main">
            <a:r>
              <a:t>        "days": 31,</a:t>
            </a:r>
          </a:p>
          <a:p xmlns:a="http://schemas.openxmlformats.org/drawingml/2006/main">
            <a:r>
              <a:t>        "G": 36.00161290322581,</a:t>
            </a:r>
          </a:p>
          <a:p xmlns:a="http://schemas.openxmlformats.org/drawingml/2006/main">
            <a:r>
              <a:t>        "direct": 36.00161290322581,</a:t>
            </a:r>
          </a:p>
          <a:p xmlns:a="http://schemas.openxmlformats.org/drawingml/2006/main">
            <a:r>
              <a:t>        "surplus": 0,</a:t>
            </a:r>
          </a:p>
          <a:p xmlns:a="http://schemas.openxmlformats.org/drawingml/2006/main">
            <a:r>
              <a:t>        "battery": 0,</a:t>
            </a:r>
          </a:p>
          <a:p xmlns:a="http://schemas.openxmlformats.org/drawingml/2006/main">
            <a:r>
              <a:t>        "imports": 1385.6499999999999,</a:t>
            </a:r>
          </a:p>
          <a:p xmlns:a="http://schemas.openxmlformats.org/drawingml/2006/main">
            <a:r>
              <a:t>        "base": 7094.794000000002,</a:t>
            </a:r>
          </a:p>
          <a:p xmlns:a="http://schemas.openxmlformats.org/drawingml/2006/main">
            <a:r>
              <a:t>        "newbill": 3947.533,</a:t>
            </a:r>
          </a:p>
          <a:p xmlns:a="http://schemas.openxmlformats.org/drawingml/2006/main">
            <a:r>
              <a:t>        "saving": 3147.261000000002</a:t>
            </a:r>
          </a:p>
          <a:p xmlns:a="http://schemas.openxmlformats.org/drawingml/2006/main">
            <a:r>
              <a:t>      },</a:t>
            </a:r>
          </a:p>
          <a:p xmlns:a="http://schemas.openxmlformats.org/drawingml/2006/main">
            <a:r>
              <a:t>      {</a:t>
            </a:r>
          </a:p>
          <a:p xmlns:a="http://schemas.openxmlformats.org/drawingml/2006/main">
            <a:r>
              <a:t>        "month": "Feb",</a:t>
            </a:r>
          </a:p>
          <a:p xmlns:a="http://schemas.openxmlformats.org/drawingml/2006/main">
            <a:r>
              <a:t>        "days": 28,</a:t>
            </a:r>
          </a:p>
          <a:p xmlns:a="http://schemas.openxmlformats.org/drawingml/2006/main">
            <a:r>
              <a:t>        "G": 39.29732142857142,</a:t>
            </a:r>
          </a:p>
          <a:p xmlns:a="http://schemas.openxmlformats.org/drawingml/2006/main">
            <a:r>
              <a:t>        "direct": 39.29732142857142,</a:t>
            </a:r>
          </a:p>
          <a:p xmlns:a="http://schemas.openxmlformats.org/drawingml/2006/main">
            <a:r>
              <a:t>        "surplus": 0,</a:t>
            </a:r>
          </a:p>
          <a:p xmlns:a="http://schemas.openxmlformats.org/drawingml/2006/main">
            <a:r>
              <a:t>        "battery": 0,</a:t>
            </a:r>
          </a:p>
          <a:p xmlns:a="http://schemas.openxmlformats.org/drawingml/2006/main">
            <a:r>
              <a:t>        "imports": 1159.2750000000003,</a:t>
            </a:r>
          </a:p>
          <a:p xmlns:a="http://schemas.openxmlformats.org/drawingml/2006/main">
            <a:r>
              <a:t>        "base": 6412.071999999999,</a:t>
            </a:r>
          </a:p>
          <a:p xmlns:a="http://schemas.openxmlformats.org/drawingml/2006/main">
            <a:r>
              <a:t>        "newbill": 3309.1555000000008,</a:t>
            </a:r>
          </a:p>
          <a:p xmlns:a="http://schemas.openxmlformats.org/drawingml/2006/main">
            <a:r>
              <a:t>        "saving": 3102.9164999999985</a:t>
            </a:r>
          </a:p>
          <a:p xmlns:a="http://schemas.openxmlformats.org/drawingml/2006/main">
            <a:r>
              <a:t>      },</a:t>
            </a:r>
          </a:p>
          <a:p xmlns:a="http://schemas.openxmlformats.org/drawingml/2006/main">
            <a:r>
              <a:t>      {</a:t>
            </a:r>
          </a:p>
          <a:p xmlns:a="http://schemas.openxmlformats.org/drawingml/2006/main">
            <a:r>
              <a:t>        "month": "Mar",</a:t>
            </a:r>
          </a:p>
          <a:p xmlns:a="http://schemas.openxmlformats.org/drawingml/2006/main">
            <a:r>
              <a:t>        "days": 31,</a:t>
            </a:r>
          </a:p>
          <a:p xmlns:a="http://schemas.openxmlformats.org/drawingml/2006/main">
            <a:r>
              <a:t>        "G": 44.1616129032258,</a:t>
            </a:r>
          </a:p>
          <a:p xmlns:a="http://schemas.openxmlformats.org/drawingml/2006/main">
            <a:r>
              <a:t>        "direct": 40.35,</a:t>
            </a:r>
          </a:p>
          <a:p xmlns:a="http://schemas.openxmlformats.org/drawingml/2006/main">
            <a:r>
              <a:t>        "surplus": 3.8116129032258,</a:t>
            </a:r>
          </a:p>
          <a:p xmlns:a="http://schemas.openxmlformats.org/drawingml/2006/main">
            <a:r>
              <a:t>        "battery": 0,</a:t>
            </a:r>
          </a:p>
          <a:p xmlns:a="http://schemas.openxmlformats.org/drawingml/2006/main">
            <a:r>
              <a:t>        "imports": 1250.8500000000001,</a:t>
            </a:r>
          </a:p>
          <a:p xmlns:a="http://schemas.openxmlformats.org/drawingml/2006/main">
            <a:r>
              <a:t>        "base": 7094.794000000002,</a:t>
            </a:r>
          </a:p>
          <a:p xmlns:a="http://schemas.openxmlformats.org/drawingml/2006/main">
            <a:r>
              <a:t>        "newbill": 3567.397000000001,</a:t>
            </a:r>
          </a:p>
          <a:p xmlns:a="http://schemas.openxmlformats.org/drawingml/2006/main">
            <a:r>
              <a:t>        "saving": 3527.397000000001</a:t>
            </a:r>
          </a:p>
          <a:p xmlns:a="http://schemas.openxmlformats.org/drawingml/2006/main">
            <a:r>
              <a:t>      },</a:t>
            </a:r>
          </a:p>
          <a:p xmlns:a="http://schemas.openxmlformats.org/drawingml/2006/main">
            <a:r>
              <a:t>      {</a:t>
            </a:r>
          </a:p>
          <a:p xmlns:a="http://schemas.openxmlformats.org/drawingml/2006/main">
            <a:r>
              <a:t>        "month": "Apr",</a:t>
            </a:r>
          </a:p>
          <a:p xmlns:a="http://schemas.openxmlformats.org/drawingml/2006/main">
            <a:r>
              <a:t>        "days": 30,</a:t>
            </a:r>
          </a:p>
          <a:p xmlns:a="http://schemas.openxmlformats.org/drawingml/2006/main">
            <a:r>
              <a:t>        "G": 45.577,</a:t>
            </a:r>
          </a:p>
          <a:p xmlns:a="http://schemas.openxmlformats.org/drawingml/2006/main">
            <a:r>
              <a:t>        "direct": 40.35,</a:t>
            </a:r>
          </a:p>
          <a:p xmlns:a="http://schemas.openxmlformats.org/drawingml/2006/main">
            <a:r>
              <a:t>        "surplus": 5.226999999999997,</a:t>
            </a:r>
          </a:p>
          <a:p xmlns:a="http://schemas.openxmlformats.org/drawingml/2006/main">
            <a:r>
              <a:t>        "battery": 0,</a:t>
            </a:r>
          </a:p>
          <a:p xmlns:a="http://schemas.openxmlformats.org/drawingml/2006/main">
            <a:r>
              <a:t>        "imports": 1210.5,</a:t>
            </a:r>
          </a:p>
          <a:p xmlns:a="http://schemas.openxmlformats.org/drawingml/2006/main">
            <a:r>
              <a:t>        "base": 6867.22,</a:t>
            </a:r>
          </a:p>
          <a:p xmlns:a="http://schemas.openxmlformats.org/drawingml/2006/main">
            <a:r>
              <a:t>        "newbill": 3453.61,</a:t>
            </a:r>
          </a:p>
          <a:p xmlns:a="http://schemas.openxmlformats.org/drawingml/2006/main">
            <a:r>
              <a:t>        "saving": 3413.61</a:t>
            </a:r>
          </a:p>
          <a:p xmlns:a="http://schemas.openxmlformats.org/drawingml/2006/main">
            <a:r>
              <a:t>      },</a:t>
            </a:r>
          </a:p>
          <a:p xmlns:a="http://schemas.openxmlformats.org/drawingml/2006/main">
            <a:r>
              <a:t>      {</a:t>
            </a:r>
          </a:p>
          <a:p xmlns:a="http://schemas.openxmlformats.org/drawingml/2006/main">
            <a:r>
              <a:t>        "month": "May",</a:t>
            </a:r>
          </a:p>
          <a:p xmlns:a="http://schemas.openxmlformats.org/drawingml/2006/main">
            <a:r>
              <a:t>        "days": 31,</a:t>
            </a:r>
          </a:p>
          <a:p xmlns:a="http://schemas.openxmlformats.org/drawingml/2006/main">
            <a:r>
              <a:t>        "G": 44.61677419354839,</a:t>
            </a:r>
          </a:p>
          <a:p xmlns:a="http://schemas.openxmlformats.org/drawingml/2006/main">
            <a:r>
              <a:t>        "direct": 40.35,</a:t>
            </a:r>
          </a:p>
          <a:p xmlns:a="http://schemas.openxmlformats.org/drawingml/2006/main">
            <a:r>
              <a:t>        "surplus": 4.266774193548386,</a:t>
            </a:r>
          </a:p>
          <a:p xmlns:a="http://schemas.openxmlformats.org/drawingml/2006/main">
            <a:r>
              <a:t>        "battery": 0,</a:t>
            </a:r>
          </a:p>
          <a:p xmlns:a="http://schemas.openxmlformats.org/drawingml/2006/main">
            <a:r>
              <a:t>        "imports": 1250.8500000000001,</a:t>
            </a:r>
          </a:p>
          <a:p xmlns:a="http://schemas.openxmlformats.org/drawingml/2006/main">
            <a:r>
              <a:t>        "base": 7094.794000000002,</a:t>
            </a:r>
          </a:p>
          <a:p xmlns:a="http://schemas.openxmlformats.org/drawingml/2006/main">
            <a:r>
              <a:t>        "newbill": 3567.397000000001,</a:t>
            </a:r>
          </a:p>
          <a:p xmlns:a="http://schemas.openxmlformats.org/drawingml/2006/main">
            <a:r>
              <a:t>        "saving": 3527.397000000001</a:t>
            </a:r>
          </a:p>
          <a:p xmlns:a="http://schemas.openxmlformats.org/drawingml/2006/main">
            <a:r>
              <a:t>      },</a:t>
            </a:r>
          </a:p>
          <a:p xmlns:a="http://schemas.openxmlformats.org/drawingml/2006/main">
            <a:r>
              <a:t>      {</a:t>
            </a:r>
          </a:p>
          <a:p xmlns:a="http://schemas.openxmlformats.org/drawingml/2006/main">
            <a:r>
              <a:t>        "month": "Jun",</a:t>
            </a:r>
          </a:p>
          <a:p xmlns:a="http://schemas.openxmlformats.org/drawingml/2006/main">
            <a:r>
              <a:t>        "days": 30,</a:t>
            </a:r>
          </a:p>
          <a:p xmlns:a="http://schemas.openxmlformats.org/drawingml/2006/main">
            <a:r>
              <a:t>        "G": 44.94233333333334,</a:t>
            </a:r>
          </a:p>
          <a:p xmlns:a="http://schemas.openxmlformats.org/drawingml/2006/main">
            <a:r>
              <a:t>        "direct": 40.35,</a:t>
            </a:r>
          </a:p>
          <a:p xmlns:a="http://schemas.openxmlformats.org/drawingml/2006/main">
            <a:r>
              <a:t>        "surplus": 4.592333333333336,</a:t>
            </a:r>
          </a:p>
          <a:p xmlns:a="http://schemas.openxmlformats.org/drawingml/2006/main">
            <a:r>
              <a:t>        "battery": 0,</a:t>
            </a:r>
          </a:p>
          <a:p xmlns:a="http://schemas.openxmlformats.org/drawingml/2006/main">
            <a:r>
              <a:t>        "imports": 1210.5,</a:t>
            </a:r>
          </a:p>
          <a:p xmlns:a="http://schemas.openxmlformats.org/drawingml/2006/main">
            <a:r>
              <a:t>        "base": 6867.22,</a:t>
            </a:r>
          </a:p>
          <a:p xmlns:a="http://schemas.openxmlformats.org/drawingml/2006/main">
            <a:r>
              <a:t>        "newbill": 3453.61,</a:t>
            </a:r>
          </a:p>
          <a:p xmlns:a="http://schemas.openxmlformats.org/drawingml/2006/main">
            <a:r>
              <a:t>        "saving": 3413.61</a:t>
            </a:r>
          </a:p>
          <a:p xmlns:a="http://schemas.openxmlformats.org/drawingml/2006/main">
            <a:r>
              <a:t>      },</a:t>
            </a:r>
          </a:p>
          <a:p xmlns:a="http://schemas.openxmlformats.org/drawingml/2006/main">
            <a:r>
              <a:t>      {</a:t>
            </a:r>
          </a:p>
          <a:p xmlns:a="http://schemas.openxmlformats.org/drawingml/2006/main">
            <a:r>
              <a:t>        "month": "Jul",</a:t>
            </a:r>
          </a:p>
          <a:p xmlns:a="http://schemas.openxmlformats.org/drawingml/2006/main">
            <a:r>
              <a:t>        "days": 31,</a:t>
            </a:r>
          </a:p>
          <a:p xmlns:a="http://schemas.openxmlformats.org/drawingml/2006/main">
            <a:r>
              <a:t>        "G": 45.148709677419355,</a:t>
            </a:r>
          </a:p>
          <a:p xmlns:a="http://schemas.openxmlformats.org/drawingml/2006/main">
            <a:r>
              <a:t>        "direct": 40.35,</a:t>
            </a:r>
          </a:p>
          <a:p xmlns:a="http://schemas.openxmlformats.org/drawingml/2006/main">
            <a:r>
              <a:t>        "surplus": 4.798709677419353,</a:t>
            </a:r>
          </a:p>
          <a:p xmlns:a="http://schemas.openxmlformats.org/drawingml/2006/main">
            <a:r>
              <a:t>        "battery": 0,</a:t>
            </a:r>
          </a:p>
          <a:p xmlns:a="http://schemas.openxmlformats.org/drawingml/2006/main">
            <a:r>
              <a:t>        "imports": 1250.8500000000001,</a:t>
            </a:r>
          </a:p>
          <a:p xmlns:a="http://schemas.openxmlformats.org/drawingml/2006/main">
            <a:r>
              <a:t>        "base": 7094.794000000002,</a:t>
            </a:r>
          </a:p>
          <a:p xmlns:a="http://schemas.openxmlformats.org/drawingml/2006/main">
            <a:r>
              <a:t>        "newbill": 3567.397000000001,</a:t>
            </a:r>
          </a:p>
          <a:p xmlns:a="http://schemas.openxmlformats.org/drawingml/2006/main">
            <a:r>
              <a:t>        "saving": 3527.397000000001</a:t>
            </a:r>
          </a:p>
          <a:p xmlns:a="http://schemas.openxmlformats.org/drawingml/2006/main">
            <a:r>
              <a:t>      },</a:t>
            </a:r>
          </a:p>
          <a:p xmlns:a="http://schemas.openxmlformats.org/drawingml/2006/main">
            <a:r>
              <a:t>      {</a:t>
            </a:r>
          </a:p>
          <a:p xmlns:a="http://schemas.openxmlformats.org/drawingml/2006/main">
            <a:r>
              <a:t>        "month": "Aug",</a:t>
            </a:r>
          </a:p>
          <a:p xmlns:a="http://schemas.openxmlformats.org/drawingml/2006/main">
            <a:r>
              <a:t>        "days": 31,</a:t>
            </a:r>
          </a:p>
          <a:p xmlns:a="http://schemas.openxmlformats.org/drawingml/2006/main">
            <a:r>
              <a:t>        "G": 45.73548387096774,</a:t>
            </a:r>
          </a:p>
          <a:p xmlns:a="http://schemas.openxmlformats.org/drawingml/2006/main">
            <a:r>
              <a:t>        "direct": 40.35,</a:t>
            </a:r>
          </a:p>
          <a:p xmlns:a="http://schemas.openxmlformats.org/drawingml/2006/main">
            <a:r>
              <a:t>        "surplus": 5.3854838709677395,</a:t>
            </a:r>
          </a:p>
          <a:p xmlns:a="http://schemas.openxmlformats.org/drawingml/2006/main">
            <a:r>
              <a:t>        "battery": 0,</a:t>
            </a:r>
          </a:p>
          <a:p xmlns:a="http://schemas.openxmlformats.org/drawingml/2006/main">
            <a:r>
              <a:t>        "imports": 1250.8500000000001,</a:t>
            </a:r>
          </a:p>
          <a:p xmlns:a="http://schemas.openxmlformats.org/drawingml/2006/main">
            <a:r>
              <a:t>        "base": 7094.794000000002,</a:t>
            </a:r>
          </a:p>
          <a:p xmlns:a="http://schemas.openxmlformats.org/drawingml/2006/main">
            <a:r>
              <a:t>        "newbill": 3567.397000000001,</a:t>
            </a:r>
          </a:p>
          <a:p xmlns:a="http://schemas.openxmlformats.org/drawingml/2006/main">
            <a:r>
              <a:t>        "saving": 3527.397000000001</a:t>
            </a:r>
          </a:p>
          <a:p xmlns:a="http://schemas.openxmlformats.org/drawingml/2006/main">
            <a:r>
              <a:t>      },</a:t>
            </a:r>
          </a:p>
          <a:p xmlns:a="http://schemas.openxmlformats.org/drawingml/2006/main">
            <a:r>
              <a:t>      {</a:t>
            </a:r>
          </a:p>
          <a:p xmlns:a="http://schemas.openxmlformats.org/drawingml/2006/main">
            <a:r>
              <a:t>        "month": "Sep",</a:t>
            </a:r>
          </a:p>
          <a:p xmlns:a="http://schemas.openxmlformats.org/drawingml/2006/main">
            <a:r>
              <a:t>        "days": 30,</a:t>
            </a:r>
          </a:p>
          <a:p xmlns:a="http://schemas.openxmlformats.org/drawingml/2006/main">
            <a:r>
              <a:t>        "G": 45.61666666666666,</a:t>
            </a:r>
          </a:p>
          <a:p xmlns:a="http://schemas.openxmlformats.org/drawingml/2006/main">
            <a:r>
              <a:t>        "direct": 40.35,</a:t>
            </a:r>
          </a:p>
          <a:p xmlns:a="http://schemas.openxmlformats.org/drawingml/2006/main">
            <a:r>
              <a:t>        "surplus": 5.266666666666659,</a:t>
            </a:r>
          </a:p>
          <a:p xmlns:a="http://schemas.openxmlformats.org/drawingml/2006/main">
            <a:r>
              <a:t>        "battery": 0,</a:t>
            </a:r>
          </a:p>
          <a:p xmlns:a="http://schemas.openxmlformats.org/drawingml/2006/main">
            <a:r>
              <a:t>        "imports": 1210.5,</a:t>
            </a:r>
          </a:p>
          <a:p xmlns:a="http://schemas.openxmlformats.org/drawingml/2006/main">
            <a:r>
              <a:t>        "base": 6867.22,</a:t>
            </a:r>
          </a:p>
          <a:p xmlns:a="http://schemas.openxmlformats.org/drawingml/2006/main">
            <a:r>
              <a:t>        "newbill": 3453.61,</a:t>
            </a:r>
          </a:p>
          <a:p xmlns:a="http://schemas.openxmlformats.org/drawingml/2006/main">
            <a:r>
              <a:t>        "saving": 3413.61</a:t>
            </a:r>
          </a:p>
          <a:p xmlns:a="http://schemas.openxmlformats.org/drawingml/2006/main">
            <a:r>
              <a:t>      },</a:t>
            </a:r>
          </a:p>
          <a:p xmlns:a="http://schemas.openxmlformats.org/drawingml/2006/main">
            <a:r>
              <a:t>      {</a:t>
            </a:r>
          </a:p>
          <a:p xmlns:a="http://schemas.openxmlformats.org/drawingml/2006/main">
            <a:r>
              <a:t>        "month": "Oct",</a:t>
            </a:r>
          </a:p>
          <a:p xmlns:a="http://schemas.openxmlformats.org/drawingml/2006/main">
            <a:r>
              <a:t>        "days": 31,</a:t>
            </a:r>
          </a:p>
          <a:p xmlns:a="http://schemas.openxmlformats.org/drawingml/2006/main">
            <a:r>
              <a:t>        "G": 42.37112903225807,</a:t>
            </a:r>
          </a:p>
          <a:p xmlns:a="http://schemas.openxmlformats.org/drawingml/2006/main">
            <a:r>
              <a:t>        "direct": 40.35,</a:t>
            </a:r>
          </a:p>
          <a:p xmlns:a="http://schemas.openxmlformats.org/drawingml/2006/main">
            <a:r>
              <a:t>        "surplus": 2.0211290322580666,</a:t>
            </a:r>
          </a:p>
          <a:p xmlns:a="http://schemas.openxmlformats.org/drawingml/2006/main">
            <a:r>
              <a:t>        "battery": 0,</a:t>
            </a:r>
          </a:p>
          <a:p xmlns:a="http://schemas.openxmlformats.org/drawingml/2006/main">
            <a:r>
              <a:t>        "imports": 1250.8500000000001,</a:t>
            </a:r>
          </a:p>
          <a:p xmlns:a="http://schemas.openxmlformats.org/drawingml/2006/main">
            <a:r>
              <a:t>        "base": 7094.794000000002,</a:t>
            </a:r>
          </a:p>
          <a:p xmlns:a="http://schemas.openxmlformats.org/drawingml/2006/main">
            <a:r>
              <a:t>        "newbill": 3567.397000000001,</a:t>
            </a:r>
          </a:p>
          <a:p xmlns:a="http://schemas.openxmlformats.org/drawingml/2006/main">
            <a:r>
              <a:t>        "saving": 3527.397000000001</a:t>
            </a:r>
          </a:p>
          <a:p xmlns:a="http://schemas.openxmlformats.org/drawingml/2006/main">
            <a:r>
              <a:t>      },</a:t>
            </a:r>
          </a:p>
          <a:p xmlns:a="http://schemas.openxmlformats.org/drawingml/2006/main">
            <a:r>
              <a:t>      {</a:t>
            </a:r>
          </a:p>
          <a:p xmlns:a="http://schemas.openxmlformats.org/drawingml/2006/main">
            <a:r>
              <a:t>        "month": "Nov",</a:t>
            </a:r>
          </a:p>
          <a:p xmlns:a="http://schemas.openxmlformats.org/drawingml/2006/main">
            <a:r>
              <a:t>        "days": 30,</a:t>
            </a:r>
          </a:p>
          <a:p xmlns:a="http://schemas.openxmlformats.org/drawingml/2006/main">
            <a:r>
              <a:t>        "G": 38.80816666666667,</a:t>
            </a:r>
          </a:p>
          <a:p xmlns:a="http://schemas.openxmlformats.org/drawingml/2006/main">
            <a:r>
              <a:t>        "direct": 38.80816666666667,</a:t>
            </a:r>
          </a:p>
          <a:p xmlns:a="http://schemas.openxmlformats.org/drawingml/2006/main">
            <a:r>
              <a:t>        "surplus": 0,</a:t>
            </a:r>
          </a:p>
          <a:p xmlns:a="http://schemas.openxmlformats.org/drawingml/2006/main">
            <a:r>
              <a:t>        "battery": 0,</a:t>
            </a:r>
          </a:p>
          <a:p xmlns:a="http://schemas.openxmlformats.org/drawingml/2006/main">
            <a:r>
              <a:t>        "imports": 1256.7549999999999,</a:t>
            </a:r>
          </a:p>
          <a:p xmlns:a="http://schemas.openxmlformats.org/drawingml/2006/main">
            <a:r>
              <a:t>        "base": 6867.22,</a:t>
            </a:r>
          </a:p>
          <a:p xmlns:a="http://schemas.openxmlformats.org/drawingml/2006/main">
            <a:r>
              <a:t>        "newbill": 3584.0490999999997,</a:t>
            </a:r>
          </a:p>
          <a:p xmlns:a="http://schemas.openxmlformats.org/drawingml/2006/main">
            <a:r>
              <a:t>        "saving": 3283.1709000000005</a:t>
            </a:r>
          </a:p>
          <a:p xmlns:a="http://schemas.openxmlformats.org/drawingml/2006/main">
            <a:r>
              <a:t>      },</a:t>
            </a:r>
          </a:p>
          <a:p xmlns:a="http://schemas.openxmlformats.org/drawingml/2006/main">
            <a:r>
              <a:t>      {</a:t>
            </a:r>
          </a:p>
          <a:p xmlns:a="http://schemas.openxmlformats.org/drawingml/2006/main">
            <a:r>
              <a:t>        "month": "Dec",</a:t>
            </a:r>
          </a:p>
          <a:p xmlns:a="http://schemas.openxmlformats.org/drawingml/2006/main">
            <a:r>
              <a:t>        "days": 31,</a:t>
            </a:r>
          </a:p>
          <a:p xmlns:a="http://schemas.openxmlformats.org/drawingml/2006/main">
            <a:r>
              <a:t>        "G": 35.75483870967742,</a:t>
            </a:r>
          </a:p>
          <a:p xmlns:a="http://schemas.openxmlformats.org/drawingml/2006/main">
            <a:r>
              <a:t>        "direct": 35.75483870967742,</a:t>
            </a:r>
          </a:p>
          <a:p xmlns:a="http://schemas.openxmlformats.org/drawingml/2006/main">
            <a:r>
              <a:t>        "surplus": 0,</a:t>
            </a:r>
          </a:p>
          <a:p xmlns:a="http://schemas.openxmlformats.org/drawingml/2006/main">
            <a:r>
              <a:t>        "battery": 0,</a:t>
            </a:r>
          </a:p>
          <a:p xmlns:a="http://schemas.openxmlformats.org/drawingml/2006/main">
            <a:r>
              <a:t>        "imports": 1393.3,</a:t>
            </a:r>
          </a:p>
          <a:p xmlns:a="http://schemas.openxmlformats.org/drawingml/2006/main">
            <a:r>
              <a:t>        "base": 7094.794000000002,</a:t>
            </a:r>
          </a:p>
          <a:p xmlns:a="http://schemas.openxmlformats.org/drawingml/2006/main">
            <a:r>
              <a:t>        "newbill": 3969.1059999999998,</a:t>
            </a:r>
          </a:p>
          <a:p xmlns:a="http://schemas.openxmlformats.org/drawingml/2006/main">
            <a:r>
              <a:t>        "saving": 3125.688000000002</a:t>
            </a:r>
          </a:p>
          <a:p xmlns:a="http://schemas.openxmlformats.org/drawingml/2006/main">
            <a:r>
              <a:t>      }</a:t>
            </a:r>
          </a:p>
          <a:p xmlns:a="http://schemas.openxmlformats.org/drawingml/2006/main">
            <a:r>
              <a:t>    ],</a:t>
            </a:r>
          </a:p>
          <a:p xmlns:a="http://schemas.openxmlformats.org/drawingml/2006/main">
            <a:r>
              <a:t>    "annualSaving": 40536.85140000001,</a:t>
            </a:r>
          </a:p>
          <a:p xmlns:a="http://schemas.openxmlformats.org/drawingml/2006/main">
            <a:r>
              <a:t>    "averageSaving": 3378.0709500000007,</a:t>
            </a:r>
          </a:p>
          <a:p xmlns:a="http://schemas.openxmlformats.org/drawingml/2006/main">
            <a:r>
              <a:t>    "payback": 3.4733827403279767,</a:t>
            </a:r>
          </a:p>
          <a:p xmlns:a="http://schemas.openxmlformats.org/drawingml/2006/main">
            <a:r>
              <a:t>    "annualImports": 15080.73</a:t>
            </a:r>
          </a:p>
          <a:p xmlns:a="http://schemas.openxmlformats.org/drawingml/2006/main">
            <a:r>
              <a:t>  },</a:t>
            </a:r>
          </a:p>
          <a:p xmlns:a="http://schemas.openxmlformats.org/drawingml/2006/main">
            <a:r>
              <a:t>  {</a:t>
            </a:r>
          </a:p>
          <a:p xmlns:a="http://schemas.openxmlformats.org/drawingml/2006/main">
            <a:r>
              <a:t>    "option": "B",</a:t>
            </a:r>
          </a:p>
          <a:p xmlns:a="http://schemas.openxmlformats.org/drawingml/2006/main">
            <a:r>
              <a:t>    "C": 16,</a:t>
            </a:r>
          </a:p>
          <a:p xmlns:a="http://schemas.openxmlformats.org/drawingml/2006/main">
            <a:r>
              <a:t>    "P": 11,</a:t>
            </a:r>
          </a:p>
          <a:p xmlns:a="http://schemas.openxmlformats.org/drawingml/2006/main">
            <a:r>
              <a:t>    "inv": 12,</a:t>
            </a:r>
          </a:p>
          <a:p xmlns:a="http://schemas.openxmlformats.org/drawingml/2006/main">
            <a:r>
              <a:t>    "price": 394240,</a:t>
            </a:r>
          </a:p>
          <a:p xmlns:a="http://schemas.openxmlformats.org/drawingml/2006/main">
            <a:r>
              <a:t>    "reference": {</a:t>
            </a:r>
          </a:p>
          <a:p xmlns:a="http://schemas.openxmlformats.org/drawingml/2006/main">
            <a:r>
              <a:t>      "G": 54.78,</a:t>
            </a:r>
          </a:p>
          <a:p xmlns:a="http://schemas.openxmlformats.org/drawingml/2006/main">
            <a:r>
              <a:t>      "direct": 40.35,</a:t>
            </a:r>
          </a:p>
          <a:p xmlns:a="http://schemas.openxmlformats.org/drawingml/2006/main">
            <a:r>
              <a:t>      "surplus": 14.43,</a:t>
            </a:r>
          </a:p>
          <a:p xmlns:a="http://schemas.openxmlformats.org/drawingml/2006/main">
            <a:r>
              <a:t>      "battery": 12.16,</a:t>
            </a:r>
          </a:p>
          <a:p xmlns:a="http://schemas.openxmlformats.org/drawingml/2006/main">
            <a:r>
              <a:t>      "imports": 845.7,</a:t>
            </a:r>
          </a:p>
          <a:p xmlns:a="http://schemas.openxmlformats.org/drawingml/2006/main">
            <a:r>
              <a:t>      "base": 6867.22,</a:t>
            </a:r>
          </a:p>
          <a:p xmlns:a="http://schemas.openxmlformats.org/drawingml/2006/main">
            <a:r>
              <a:t>      "newbill": 2307.5890000000004,</a:t>
            </a:r>
          </a:p>
          <a:p xmlns:a="http://schemas.openxmlformats.org/drawingml/2006/main">
            <a:r>
              <a:t>      "saving": 4559.630999999999</a:t>
            </a:r>
          </a:p>
          <a:p xmlns:a="http://schemas.openxmlformats.org/drawingml/2006/main">
            <a:r>
              <a:t>    },</a:t>
            </a:r>
          </a:p>
          <a:p xmlns:a="http://schemas.openxmlformats.org/drawingml/2006/main">
            <a:r>
              <a:t>    "monthly": [</a:t>
            </a:r>
          </a:p>
          <a:p xmlns:a="http://schemas.openxmlformats.org/drawingml/2006/main">
            <a:r>
              <a:t>      {</a:t>
            </a:r>
          </a:p>
          <a:p xmlns:a="http://schemas.openxmlformats.org/drawingml/2006/main">
            <a:r>
              <a:t>        "month": "Jan",</a:t>
            </a:r>
          </a:p>
          <a:p xmlns:a="http://schemas.openxmlformats.org/drawingml/2006/main">
            <a:r>
              <a:t>        "days": 31,</a:t>
            </a:r>
          </a:p>
          <a:p xmlns:a="http://schemas.openxmlformats.org/drawingml/2006/main">
            <a:r>
              <a:t>        "G": 46.59032258064517,</a:t>
            </a:r>
          </a:p>
          <a:p xmlns:a="http://schemas.openxmlformats.org/drawingml/2006/main">
            <a:r>
              <a:t>        "direct": 40.35,</a:t>
            </a:r>
          </a:p>
          <a:p xmlns:a="http://schemas.openxmlformats.org/drawingml/2006/main">
            <a:r>
              <a:t>        "surplus": 6.24032258064517,</a:t>
            </a:r>
          </a:p>
          <a:p xmlns:a="http://schemas.openxmlformats.org/drawingml/2006/main">
            <a:r>
              <a:t>        "battery": 5.928306451612912,</a:t>
            </a:r>
          </a:p>
          <a:p xmlns:a="http://schemas.openxmlformats.org/drawingml/2006/main">
            <a:r>
              <a:t>        "imports": 1067.0724999999998,</a:t>
            </a:r>
          </a:p>
          <a:p xmlns:a="http://schemas.openxmlformats.org/drawingml/2006/main">
            <a:r>
              <a:t>        "base": 7094.794000000002,</a:t>
            </a:r>
          </a:p>
          <a:p xmlns:a="http://schemas.openxmlformats.org/drawingml/2006/main">
            <a:r>
              <a:t>        "newbill": 3049.1444499999993,</a:t>
            </a:r>
          </a:p>
          <a:p xmlns:a="http://schemas.openxmlformats.org/drawingml/2006/main">
            <a:r>
              <a:t>        "saving": 4045.6495500000024</a:t>
            </a:r>
          </a:p>
          <a:p xmlns:a="http://schemas.openxmlformats.org/drawingml/2006/main">
            <a:r>
              <a:t>      },</a:t>
            </a:r>
          </a:p>
          <a:p xmlns:a="http://schemas.openxmlformats.org/drawingml/2006/main">
            <a:r>
              <a:t>      {</a:t>
            </a:r>
          </a:p>
          <a:p xmlns:a="http://schemas.openxmlformats.org/drawingml/2006/main">
            <a:r>
              <a:t>        "month": "Feb",</a:t>
            </a:r>
          </a:p>
          <a:p xmlns:a="http://schemas.openxmlformats.org/drawingml/2006/main">
            <a:r>
              <a:t>        "days": 28,</a:t>
            </a:r>
          </a:p>
          <a:p xmlns:a="http://schemas.openxmlformats.org/drawingml/2006/main">
            <a:r>
              <a:t>        "G": 50.85535714285714,</a:t>
            </a:r>
          </a:p>
          <a:p xmlns:a="http://schemas.openxmlformats.org/drawingml/2006/main">
            <a:r>
              <a:t>        "direct": 40.35,</a:t>
            </a:r>
          </a:p>
          <a:p xmlns:a="http://schemas.openxmlformats.org/drawingml/2006/main">
            <a:r>
              <a:t>        "surplus": 10.505357142857136,</a:t>
            </a:r>
          </a:p>
          <a:p xmlns:a="http://schemas.openxmlformats.org/drawingml/2006/main">
            <a:r>
              <a:t>        "battery": 9.980089285714278,</a:t>
            </a:r>
          </a:p>
          <a:p xmlns:a="http://schemas.openxmlformats.org/drawingml/2006/main">
            <a:r>
              <a:t>        "imports": 850.3575000000003,</a:t>
            </a:r>
          </a:p>
          <a:p xmlns:a="http://schemas.openxmlformats.org/drawingml/2006/main">
            <a:r>
              <a:t>        "base": 6412.071999999999,</a:t>
            </a:r>
          </a:p>
          <a:p xmlns:a="http://schemas.openxmlformats.org/drawingml/2006/main">
            <a:r>
              <a:t>        "newbill": 2320.490275000001,</a:t>
            </a:r>
          </a:p>
          <a:p xmlns:a="http://schemas.openxmlformats.org/drawingml/2006/main">
            <a:r>
              <a:t>        "saving": 4091.581724999998</a:t>
            </a:r>
          </a:p>
          <a:p xmlns:a="http://schemas.openxmlformats.org/drawingml/2006/main">
            <a:r>
              <a:t>      },</a:t>
            </a:r>
          </a:p>
          <a:p xmlns:a="http://schemas.openxmlformats.org/drawingml/2006/main">
            <a:r>
              <a:t>      {</a:t>
            </a:r>
          </a:p>
          <a:p xmlns:a="http://schemas.openxmlformats.org/drawingml/2006/main">
            <a:r>
              <a:t>        "month": "Mar",</a:t>
            </a:r>
          </a:p>
          <a:p xmlns:a="http://schemas.openxmlformats.org/drawingml/2006/main">
            <a:r>
              <a:t>        "days": 31,</a:t>
            </a:r>
          </a:p>
          <a:p xmlns:a="http://schemas.openxmlformats.org/drawingml/2006/main">
            <a:r>
              <a:t>        "G": 57.15032258064516,</a:t>
            </a:r>
          </a:p>
          <a:p xmlns:a="http://schemas.openxmlformats.org/drawingml/2006/main">
            <a:r>
              <a:t>        "direct": 40.35,</a:t>
            </a:r>
          </a:p>
          <a:p xmlns:a="http://schemas.openxmlformats.org/drawingml/2006/main">
            <a:r>
              <a:t>        "surplus": 16.800322580645158,</a:t>
            </a:r>
          </a:p>
          <a:p xmlns:a="http://schemas.openxmlformats.org/drawingml/2006/main">
            <a:r>
              <a:t>        "battery": 12.16,</a:t>
            </a:r>
          </a:p>
          <a:p xmlns:a="http://schemas.openxmlformats.org/drawingml/2006/main">
            <a:r>
              <a:t>        "imports": 873.89,</a:t>
            </a:r>
          </a:p>
          <a:p xmlns:a="http://schemas.openxmlformats.org/drawingml/2006/main">
            <a:r>
              <a:t>        "base": 7094.794000000002,</a:t>
            </a:r>
          </a:p>
          <a:p xmlns:a="http://schemas.openxmlformats.org/drawingml/2006/main">
            <a:r>
              <a:t>        "newbill": 2385.6753,</a:t>
            </a:r>
          </a:p>
          <a:p xmlns:a="http://schemas.openxmlformats.org/drawingml/2006/main">
            <a:r>
              <a:t>        "saving": 4709.118700000002</a:t>
            </a:r>
          </a:p>
          <a:p xmlns:a="http://schemas.openxmlformats.org/drawingml/2006/main">
            <a:r>
              <a:t>      },</a:t>
            </a:r>
          </a:p>
          <a:p xmlns:a="http://schemas.openxmlformats.org/drawingml/2006/main">
            <a:r>
              <a:t>      {</a:t>
            </a:r>
          </a:p>
          <a:p xmlns:a="http://schemas.openxmlformats.org/drawingml/2006/main">
            <a:r>
              <a:t>        "month": "Apr",</a:t>
            </a:r>
          </a:p>
          <a:p xmlns:a="http://schemas.openxmlformats.org/drawingml/2006/main">
            <a:r>
              <a:t>        "days": 30,</a:t>
            </a:r>
          </a:p>
          <a:p xmlns:a="http://schemas.openxmlformats.org/drawingml/2006/main">
            <a:r>
              <a:t>        "G": 58.982,</a:t>
            </a:r>
          </a:p>
          <a:p xmlns:a="http://schemas.openxmlformats.org/drawingml/2006/main">
            <a:r>
              <a:t>        "direct": 40.35,</a:t>
            </a:r>
          </a:p>
          <a:p xmlns:a="http://schemas.openxmlformats.org/drawingml/2006/main">
            <a:r>
              <a:t>        "surplus": 18.631999999999998,</a:t>
            </a:r>
          </a:p>
          <a:p xmlns:a="http://schemas.openxmlformats.org/drawingml/2006/main">
            <a:r>
              <a:t>        "battery": 12.16,</a:t>
            </a:r>
          </a:p>
          <a:p xmlns:a="http://schemas.openxmlformats.org/drawingml/2006/main">
            <a:r>
              <a:t>        "imports": 845.7,</a:t>
            </a:r>
          </a:p>
          <a:p xmlns:a="http://schemas.openxmlformats.org/drawingml/2006/main">
            <a:r>
              <a:t>        "base": 6867.22,</a:t>
            </a:r>
          </a:p>
          <a:p xmlns:a="http://schemas.openxmlformats.org/drawingml/2006/main">
            <a:r>
              <a:t>        "newbill": 2307.5890000000004,</a:t>
            </a:r>
          </a:p>
          <a:p xmlns:a="http://schemas.openxmlformats.org/drawingml/2006/main">
            <a:r>
              <a:t>        "saving": 4559.630999999999</a:t>
            </a:r>
          </a:p>
          <a:p xmlns:a="http://schemas.openxmlformats.org/drawingml/2006/main">
            <a:r>
              <a:t>      },</a:t>
            </a:r>
          </a:p>
          <a:p xmlns:a="http://schemas.openxmlformats.org/drawingml/2006/main">
            <a:r>
              <a:t>      {</a:t>
            </a:r>
          </a:p>
          <a:p xmlns:a="http://schemas.openxmlformats.org/drawingml/2006/main">
            <a:r>
              <a:t>        "month": "May",</a:t>
            </a:r>
          </a:p>
          <a:p xmlns:a="http://schemas.openxmlformats.org/drawingml/2006/main">
            <a:r>
              <a:t>        "days": 31,</a:t>
            </a:r>
          </a:p>
          <a:p xmlns:a="http://schemas.openxmlformats.org/drawingml/2006/main">
            <a:r>
              <a:t>        "G": 57.73935483870968,</a:t>
            </a:r>
          </a:p>
          <a:p xmlns:a="http://schemas.openxmlformats.org/drawingml/2006/main">
            <a:r>
              <a:t>        "direct": 40.35,</a:t>
            </a:r>
          </a:p>
          <a:p xmlns:a="http://schemas.openxmlformats.org/drawingml/2006/main">
            <a:r>
              <a:t>        "surplus": 17.38935483870968,</a:t>
            </a:r>
          </a:p>
          <a:p xmlns:a="http://schemas.openxmlformats.org/drawingml/2006/main">
            <a:r>
              <a:t>        "battery": 12.16,</a:t>
            </a:r>
          </a:p>
          <a:p xmlns:a="http://schemas.openxmlformats.org/drawingml/2006/main">
            <a:r>
              <a:t>        "imports": 873.89,</a:t>
            </a:r>
          </a:p>
          <a:p xmlns:a="http://schemas.openxmlformats.org/drawingml/2006/main">
            <a:r>
              <a:t>        "base": 7094.794000000002,</a:t>
            </a:r>
          </a:p>
          <a:p xmlns:a="http://schemas.openxmlformats.org/drawingml/2006/main">
            <a:r>
              <a:t>        "newbill": 2385.6753,</a:t>
            </a:r>
          </a:p>
          <a:p xmlns:a="http://schemas.openxmlformats.org/drawingml/2006/main">
            <a:r>
              <a:t>        "saving": 4709.118700000002</a:t>
            </a:r>
          </a:p>
          <a:p xmlns:a="http://schemas.openxmlformats.org/drawingml/2006/main">
            <a:r>
              <a:t>      },</a:t>
            </a:r>
          </a:p>
          <a:p xmlns:a="http://schemas.openxmlformats.org/drawingml/2006/main">
            <a:r>
              <a:t>      {</a:t>
            </a:r>
          </a:p>
          <a:p xmlns:a="http://schemas.openxmlformats.org/drawingml/2006/main">
            <a:r>
              <a:t>        "month": "Jun",</a:t>
            </a:r>
          </a:p>
          <a:p xmlns:a="http://schemas.openxmlformats.org/drawingml/2006/main">
            <a:r>
              <a:t>        "days": 30,</a:t>
            </a:r>
          </a:p>
          <a:p xmlns:a="http://schemas.openxmlformats.org/drawingml/2006/main">
            <a:r>
              <a:t>        "G": 58.16066666666667,</a:t>
            </a:r>
          </a:p>
          <a:p xmlns:a="http://schemas.openxmlformats.org/drawingml/2006/main">
            <a:r>
              <a:t>        "direct": 40.35,</a:t>
            </a:r>
          </a:p>
          <a:p xmlns:a="http://schemas.openxmlformats.org/drawingml/2006/main">
            <a:r>
              <a:t>        "surplus": 17.81066666666667,</a:t>
            </a:r>
          </a:p>
          <a:p xmlns:a="http://schemas.openxmlformats.org/drawingml/2006/main">
            <a:r>
              <a:t>        "battery": 12.16,</a:t>
            </a:r>
          </a:p>
          <a:p xmlns:a="http://schemas.openxmlformats.org/drawingml/2006/main">
            <a:r>
              <a:t>        "imports": 845.7,</a:t>
            </a:r>
          </a:p>
          <a:p xmlns:a="http://schemas.openxmlformats.org/drawingml/2006/main">
            <a:r>
              <a:t>        "base": 6867.22,</a:t>
            </a:r>
          </a:p>
          <a:p xmlns:a="http://schemas.openxmlformats.org/drawingml/2006/main">
            <a:r>
              <a:t>        "newbill": 2307.5890000000004,</a:t>
            </a:r>
          </a:p>
          <a:p xmlns:a="http://schemas.openxmlformats.org/drawingml/2006/main">
            <a:r>
              <a:t>        "saving": 4559.630999999999</a:t>
            </a:r>
          </a:p>
          <a:p xmlns:a="http://schemas.openxmlformats.org/drawingml/2006/main">
            <a:r>
              <a:t>      },</a:t>
            </a:r>
          </a:p>
          <a:p xmlns:a="http://schemas.openxmlformats.org/drawingml/2006/main">
            <a:r>
              <a:t>      {</a:t>
            </a:r>
          </a:p>
          <a:p xmlns:a="http://schemas.openxmlformats.org/drawingml/2006/main">
            <a:r>
              <a:t>        "month": "Jul",</a:t>
            </a:r>
          </a:p>
          <a:p xmlns:a="http://schemas.openxmlformats.org/drawingml/2006/main">
            <a:r>
              <a:t>        "days": 31,</a:t>
            </a:r>
          </a:p>
          <a:p xmlns:a="http://schemas.openxmlformats.org/drawingml/2006/main">
            <a:r>
              <a:t>        "G": 58.42774193548387,</a:t>
            </a:r>
          </a:p>
          <a:p xmlns:a="http://schemas.openxmlformats.org/drawingml/2006/main">
            <a:r>
              <a:t>        "direct": 40.35,</a:t>
            </a:r>
          </a:p>
          <a:p xmlns:a="http://schemas.openxmlformats.org/drawingml/2006/main">
            <a:r>
              <a:t>        "surplus": 18.07774193548387,</a:t>
            </a:r>
          </a:p>
          <a:p xmlns:a="http://schemas.openxmlformats.org/drawingml/2006/main">
            <a:r>
              <a:t>        "battery": 12.16,</a:t>
            </a:r>
          </a:p>
          <a:p xmlns:a="http://schemas.openxmlformats.org/drawingml/2006/main">
            <a:r>
              <a:t>        "imports": 873.89,</a:t>
            </a:r>
          </a:p>
          <a:p xmlns:a="http://schemas.openxmlformats.org/drawingml/2006/main">
            <a:r>
              <a:t>        "base": 7094.794000000002,</a:t>
            </a:r>
          </a:p>
          <a:p xmlns:a="http://schemas.openxmlformats.org/drawingml/2006/main">
            <a:r>
              <a:t>        "newbill": 2385.6753,</a:t>
            </a:r>
          </a:p>
          <a:p xmlns:a="http://schemas.openxmlformats.org/drawingml/2006/main">
            <a:r>
              <a:t>        "saving": 4709.118700000002</a:t>
            </a:r>
          </a:p>
          <a:p xmlns:a="http://schemas.openxmlformats.org/drawingml/2006/main">
            <a:r>
              <a:t>      },</a:t>
            </a:r>
          </a:p>
          <a:p xmlns:a="http://schemas.openxmlformats.org/drawingml/2006/main">
            <a:r>
              <a:t>      {</a:t>
            </a:r>
          </a:p>
          <a:p xmlns:a="http://schemas.openxmlformats.org/drawingml/2006/main">
            <a:r>
              <a:t>        "month": "Aug",</a:t>
            </a:r>
          </a:p>
          <a:p xmlns:a="http://schemas.openxmlformats.org/drawingml/2006/main">
            <a:r>
              <a:t>        "days": 31,</a:t>
            </a:r>
          </a:p>
          <a:p xmlns:a="http://schemas.openxmlformats.org/drawingml/2006/main">
            <a:r>
              <a:t>        "G": 59.18709677419355,</a:t>
            </a:r>
          </a:p>
          <a:p xmlns:a="http://schemas.openxmlformats.org/drawingml/2006/main">
            <a:r>
              <a:t>        "direct": 40.35,</a:t>
            </a:r>
          </a:p>
          <a:p xmlns:a="http://schemas.openxmlformats.org/drawingml/2006/main">
            <a:r>
              <a:t>        "surplus": 18.837096774193547,</a:t>
            </a:r>
          </a:p>
          <a:p xmlns:a="http://schemas.openxmlformats.org/drawingml/2006/main">
            <a:r>
              <a:t>        "battery": 12.16,</a:t>
            </a:r>
          </a:p>
          <a:p xmlns:a="http://schemas.openxmlformats.org/drawingml/2006/main">
            <a:r>
              <a:t>        "imports": 873.89,</a:t>
            </a:r>
          </a:p>
          <a:p xmlns:a="http://schemas.openxmlformats.org/drawingml/2006/main">
            <a:r>
              <a:t>        "base": 7094.794000000002,</a:t>
            </a:r>
          </a:p>
          <a:p xmlns:a="http://schemas.openxmlformats.org/drawingml/2006/main">
            <a:r>
              <a:t>        "newbill": 2385.6753,</a:t>
            </a:r>
          </a:p>
          <a:p xmlns:a="http://schemas.openxmlformats.org/drawingml/2006/main">
            <a:r>
              <a:t>        "saving": 4709.118700000002</a:t>
            </a:r>
          </a:p>
          <a:p xmlns:a="http://schemas.openxmlformats.org/drawingml/2006/main">
            <a:r>
              <a:t>      },</a:t>
            </a:r>
          </a:p>
          <a:p xmlns:a="http://schemas.openxmlformats.org/drawingml/2006/main">
            <a:r>
              <a:t>      {</a:t>
            </a:r>
          </a:p>
          <a:p xmlns:a="http://schemas.openxmlformats.org/drawingml/2006/main">
            <a:r>
              <a:t>        "month": "Sep",</a:t>
            </a:r>
          </a:p>
          <a:p xmlns:a="http://schemas.openxmlformats.org/drawingml/2006/main">
            <a:r>
              <a:t>        "days": 30,</a:t>
            </a:r>
          </a:p>
          <a:p xmlns:a="http://schemas.openxmlformats.org/drawingml/2006/main">
            <a:r>
              <a:t>        "G": 59.03333333333333,</a:t>
            </a:r>
          </a:p>
          <a:p xmlns:a="http://schemas.openxmlformats.org/drawingml/2006/main">
            <a:r>
              <a:t>        "direct": 40.35,</a:t>
            </a:r>
          </a:p>
          <a:p xmlns:a="http://schemas.openxmlformats.org/drawingml/2006/main">
            <a:r>
              <a:t>        "surplus": 18.68333333333333,</a:t>
            </a:r>
          </a:p>
          <a:p xmlns:a="http://schemas.openxmlformats.org/drawingml/2006/main">
            <a:r>
              <a:t>        "battery": 12.16,</a:t>
            </a:r>
          </a:p>
          <a:p xmlns:a="http://schemas.openxmlformats.org/drawingml/2006/main">
            <a:r>
              <a:t>        "imports": 845.7,</a:t>
            </a:r>
          </a:p>
          <a:p xmlns:a="http://schemas.openxmlformats.org/drawingml/2006/main">
            <a:r>
              <a:t>        "base": 6867.22,</a:t>
            </a:r>
          </a:p>
          <a:p xmlns:a="http://schemas.openxmlformats.org/drawingml/2006/main">
            <a:r>
              <a:t>        "newbill": 2307.5890000000004,</a:t>
            </a:r>
          </a:p>
          <a:p xmlns:a="http://schemas.openxmlformats.org/drawingml/2006/main">
            <a:r>
              <a:t>        "saving": 4559.630999999999</a:t>
            </a:r>
          </a:p>
          <a:p xmlns:a="http://schemas.openxmlformats.org/drawingml/2006/main">
            <a:r>
              <a:t>      },</a:t>
            </a:r>
          </a:p>
          <a:p xmlns:a="http://schemas.openxmlformats.org/drawingml/2006/main">
            <a:r>
              <a:t>      {</a:t>
            </a:r>
          </a:p>
          <a:p xmlns:a="http://schemas.openxmlformats.org/drawingml/2006/main">
            <a:r>
              <a:t>        "month": "Oct",</a:t>
            </a:r>
          </a:p>
          <a:p xmlns:a="http://schemas.openxmlformats.org/drawingml/2006/main">
            <a:r>
              <a:t>        "days": 31,</a:t>
            </a:r>
          </a:p>
          <a:p xmlns:a="http://schemas.openxmlformats.org/drawingml/2006/main">
            <a:r>
              <a:t>        "G": 54.833225806451615,</a:t>
            </a:r>
          </a:p>
          <a:p xmlns:a="http://schemas.openxmlformats.org/drawingml/2006/main">
            <a:r>
              <a:t>        "direct": 40.35,</a:t>
            </a:r>
          </a:p>
          <a:p xmlns:a="http://schemas.openxmlformats.org/drawingml/2006/main">
            <a:r>
              <a:t>        "surplus": 14.483225806451614,</a:t>
            </a:r>
          </a:p>
          <a:p xmlns:a="http://schemas.openxmlformats.org/drawingml/2006/main">
            <a:r>
              <a:t>        "battery": 12.16,</a:t>
            </a:r>
          </a:p>
          <a:p xmlns:a="http://schemas.openxmlformats.org/drawingml/2006/main">
            <a:r>
              <a:t>        "imports": 873.89,</a:t>
            </a:r>
          </a:p>
          <a:p xmlns:a="http://schemas.openxmlformats.org/drawingml/2006/main">
            <a:r>
              <a:t>        "base": 7094.794000000002,</a:t>
            </a:r>
          </a:p>
          <a:p xmlns:a="http://schemas.openxmlformats.org/drawingml/2006/main">
            <a:r>
              <a:t>        "newbill": 2385.6753,</a:t>
            </a:r>
          </a:p>
          <a:p xmlns:a="http://schemas.openxmlformats.org/drawingml/2006/main">
            <a:r>
              <a:t>        "saving": 4709.118700000002</a:t>
            </a:r>
          </a:p>
          <a:p xmlns:a="http://schemas.openxmlformats.org/drawingml/2006/main">
            <a:r>
              <a:t>      },</a:t>
            </a:r>
          </a:p>
          <a:p xmlns:a="http://schemas.openxmlformats.org/drawingml/2006/main">
            <a:r>
              <a:t>      {</a:t>
            </a:r>
          </a:p>
          <a:p xmlns:a="http://schemas.openxmlformats.org/drawingml/2006/main">
            <a:r>
              <a:t>        "month": "Nov",</a:t>
            </a:r>
          </a:p>
          <a:p xmlns:a="http://schemas.openxmlformats.org/drawingml/2006/main">
            <a:r>
              <a:t>        "days": 30,</a:t>
            </a:r>
          </a:p>
          <a:p xmlns:a="http://schemas.openxmlformats.org/drawingml/2006/main">
            <a:r>
              <a:t>        "G": 50.22233333333334,</a:t>
            </a:r>
          </a:p>
          <a:p xmlns:a="http://schemas.openxmlformats.org/drawingml/2006/main">
            <a:r>
              <a:t>        "direct": 40.35,</a:t>
            </a:r>
          </a:p>
          <a:p xmlns:a="http://schemas.openxmlformats.org/drawingml/2006/main">
            <a:r>
              <a:t>        "surplus": 9.872333333333337,</a:t>
            </a:r>
          </a:p>
          <a:p xmlns:a="http://schemas.openxmlformats.org/drawingml/2006/main">
            <a:r>
              <a:t>        "battery": 9.37871666666667,</a:t>
            </a:r>
          </a:p>
          <a:p xmlns:a="http://schemas.openxmlformats.org/drawingml/2006/main">
            <a:r>
              <a:t>        "imports": 929.1385,</a:t>
            </a:r>
          </a:p>
          <a:p xmlns:a="http://schemas.openxmlformats.org/drawingml/2006/main">
            <a:r>
              <a:t>        "base": 6867.22,</a:t>
            </a:r>
          </a:p>
          <a:p xmlns:a="http://schemas.openxmlformats.org/drawingml/2006/main">
            <a:r>
              <a:t>        "newbill": 2538.7136450000003,</a:t>
            </a:r>
          </a:p>
          <a:p xmlns:a="http://schemas.openxmlformats.org/drawingml/2006/main">
            <a:r>
              <a:t>        "saving": 4328.5063549999995</a:t>
            </a:r>
          </a:p>
          <a:p xmlns:a="http://schemas.openxmlformats.org/drawingml/2006/main">
            <a:r>
              <a:t>      },</a:t>
            </a:r>
          </a:p>
          <a:p xmlns:a="http://schemas.openxmlformats.org/drawingml/2006/main">
            <a:r>
              <a:t>      {</a:t>
            </a:r>
          </a:p>
          <a:p xmlns:a="http://schemas.openxmlformats.org/drawingml/2006/main">
            <a:r>
              <a:t>        "month": "Dec",</a:t>
            </a:r>
          </a:p>
          <a:p xmlns:a="http://schemas.openxmlformats.org/drawingml/2006/main">
            <a:r>
              <a:t>        "days": 31,</a:t>
            </a:r>
          </a:p>
          <a:p xmlns:a="http://schemas.openxmlformats.org/drawingml/2006/main">
            <a:r>
              <a:t>        "G": 46.27096774193549,</a:t>
            </a:r>
          </a:p>
          <a:p xmlns:a="http://schemas.openxmlformats.org/drawingml/2006/main">
            <a:r>
              <a:t>        "direct": 40.35,</a:t>
            </a:r>
          </a:p>
          <a:p xmlns:a="http://schemas.openxmlformats.org/drawingml/2006/main">
            <a:r>
              <a:t>        "surplus": 5.920967741935492,</a:t>
            </a:r>
          </a:p>
          <a:p xmlns:a="http://schemas.openxmlformats.org/drawingml/2006/main">
            <a:r>
              <a:t>        "battery": 5.624919354838717,</a:t>
            </a:r>
          </a:p>
          <a:p xmlns:a="http://schemas.openxmlformats.org/drawingml/2006/main">
            <a:r>
              <a:t>        "imports": 1076.4774999999997,</a:t>
            </a:r>
          </a:p>
          <a:p xmlns:a="http://schemas.openxmlformats.org/drawingml/2006/main">
            <a:r>
              <a:t>        "base": 7094.794000000002,</a:t>
            </a:r>
          </a:p>
          <a:p xmlns:a="http://schemas.openxmlformats.org/drawingml/2006/main">
            <a:r>
              <a:t>        "newbill": 3075.666549999999,</a:t>
            </a:r>
          </a:p>
          <a:p xmlns:a="http://schemas.openxmlformats.org/drawingml/2006/main">
            <a:r>
              <a:t>        "saving": 4019.1274500000027</a:t>
            </a:r>
          </a:p>
          <a:p xmlns:a="http://schemas.openxmlformats.org/drawingml/2006/main">
            <a:r>
              <a:t>      }</a:t>
            </a:r>
          </a:p>
          <a:p xmlns:a="http://schemas.openxmlformats.org/drawingml/2006/main">
            <a:r>
              <a:t>    ],</a:t>
            </a:r>
          </a:p>
          <a:p xmlns:a="http://schemas.openxmlformats.org/drawingml/2006/main">
            <a:r>
              <a:t>    "annualSaving": 53709.35158,</a:t>
            </a:r>
          </a:p>
          <a:p xmlns:a="http://schemas.openxmlformats.org/drawingml/2006/main">
            <a:r>
              <a:t>    "averageSaving": 4475.779298333334,</a:t>
            </a:r>
          </a:p>
          <a:p xmlns:a="http://schemas.openxmlformats.org/drawingml/2006/main">
            <a:r>
              <a:t>    "payback": 7.340248735134701,</a:t>
            </a:r>
          </a:p>
          <a:p xmlns:a="http://schemas.openxmlformats.org/drawingml/2006/main">
            <a:r>
              <a:t>    "annualImports": 10829.596</a:t>
            </a:r>
          </a:p>
          <a:p xmlns:a="http://schemas.openxmlformats.org/drawingml/2006/main">
            <a:r>
              <a:t>  },</a:t>
            </a:r>
          </a:p>
          <a:p xmlns:a="http://schemas.openxmlformats.org/drawingml/2006/main">
            <a:r>
              <a:t>  {</a:t>
            </a:r>
          </a:p>
          <a:p xmlns:a="http://schemas.openxmlformats.org/drawingml/2006/main">
            <a:r>
              <a:t>    "option": "C",</a:t>
            </a:r>
          </a:p>
          <a:p xmlns:a="http://schemas.openxmlformats.org/drawingml/2006/main">
            <a:r>
              <a:t>    "C": 64,</a:t>
            </a:r>
          </a:p>
          <a:p xmlns:a="http://schemas.openxmlformats.org/drawingml/2006/main">
            <a:r>
              <a:t>    "P": 17,</a:t>
            </a:r>
          </a:p>
          <a:p xmlns:a="http://schemas.openxmlformats.org/drawingml/2006/main">
            <a:r>
              <a:t>    "inv": 20,</a:t>
            </a:r>
          </a:p>
          <a:p xmlns:a="http://schemas.openxmlformats.org/drawingml/2006/main">
            <a:r>
              <a:t>    "price": 1154560,</a:t>
            </a:r>
          </a:p>
          <a:p xmlns:a="http://schemas.openxmlformats.org/drawingml/2006/main">
            <a:r>
              <a:t>    "reference": {</a:t>
            </a:r>
          </a:p>
          <a:p xmlns:a="http://schemas.openxmlformats.org/drawingml/2006/main">
            <a:r>
              <a:t>      "G": 84.66000000000001,</a:t>
            </a:r>
          </a:p>
          <a:p xmlns:a="http://schemas.openxmlformats.org/drawingml/2006/main">
            <a:r>
              <a:t>      "direct": 40.35,</a:t>
            </a:r>
          </a:p>
          <a:p xmlns:a="http://schemas.openxmlformats.org/drawingml/2006/main">
            <a:r>
              <a:t>      "surplus": 44.31000000000001,</a:t>
            </a:r>
          </a:p>
          <a:p xmlns:a="http://schemas.openxmlformats.org/drawingml/2006/main">
            <a:r>
              <a:t>      "battery": 40.35,</a:t>
            </a:r>
          </a:p>
          <a:p xmlns:a="http://schemas.openxmlformats.org/drawingml/2006/main">
            <a:r>
              <a:t>      "imports": 0,</a:t>
            </a:r>
          </a:p>
          <a:p xmlns:a="http://schemas.openxmlformats.org/drawingml/2006/main">
            <a:r>
              <a:t>      "base": 6867.22,</a:t>
            </a:r>
          </a:p>
          <a:p xmlns:a="http://schemas.openxmlformats.org/drawingml/2006/main">
            <a:r>
              <a:t>      "newbill": 9,</a:t>
            </a:r>
          </a:p>
          <a:p xmlns:a="http://schemas.openxmlformats.org/drawingml/2006/main">
            <a:r>
              <a:t>      "saving": 6858.22</a:t>
            </a:r>
          </a:p>
          <a:p xmlns:a="http://schemas.openxmlformats.org/drawingml/2006/main">
            <a:r>
              <a:t>    },</a:t>
            </a:r>
          </a:p>
          <a:p xmlns:a="http://schemas.openxmlformats.org/drawingml/2006/main">
            <a:r>
              <a:t>    "monthly": [</a:t>
            </a:r>
          </a:p>
          <a:p xmlns:a="http://schemas.openxmlformats.org/drawingml/2006/main">
            <a:r>
              <a:t>      {</a:t>
            </a:r>
          </a:p>
          <a:p xmlns:a="http://schemas.openxmlformats.org/drawingml/2006/main">
            <a:r>
              <a:t>        "month": "Jan",</a:t>
            </a:r>
          </a:p>
          <a:p xmlns:a="http://schemas.openxmlformats.org/drawingml/2006/main">
            <a:r>
              <a:t>        "days": 31,</a:t>
            </a:r>
          </a:p>
          <a:p xmlns:a="http://schemas.openxmlformats.org/drawingml/2006/main">
            <a:r>
              <a:t>        "G": 72.00322580645162,</a:t>
            </a:r>
          </a:p>
          <a:p xmlns:a="http://schemas.openxmlformats.org/drawingml/2006/main">
            <a:r>
              <a:t>        "direct": 40.35,</a:t>
            </a:r>
          </a:p>
          <a:p xmlns:a="http://schemas.openxmlformats.org/drawingml/2006/main">
            <a:r>
              <a:t>        "surplus": 31.653225806451623,</a:t>
            </a:r>
          </a:p>
          <a:p xmlns:a="http://schemas.openxmlformats.org/drawingml/2006/main">
            <a:r>
              <a:t>        "battery": 30.07056451612904,</a:t>
            </a:r>
          </a:p>
          <a:p xmlns:a="http://schemas.openxmlformats.org/drawingml/2006/main">
            <a:r>
              <a:t>        "imports": 318.66249999999985,</a:t>
            </a:r>
          </a:p>
          <a:p xmlns:a="http://schemas.openxmlformats.org/drawingml/2006/main">
            <a:r>
              <a:t>        "base": 7094.794000000002,</a:t>
            </a:r>
          </a:p>
          <a:p xmlns:a="http://schemas.openxmlformats.org/drawingml/2006/main">
            <a:r>
              <a:t>        "newbill": 870.8288749999997,</a:t>
            </a:r>
          </a:p>
          <a:p xmlns:a="http://schemas.openxmlformats.org/drawingml/2006/main">
            <a:r>
              <a:t>        "saving": 6223.965125000002</a:t>
            </a:r>
          </a:p>
          <a:p xmlns:a="http://schemas.openxmlformats.org/drawingml/2006/main">
            <a:r>
              <a:t>      },</a:t>
            </a:r>
          </a:p>
          <a:p xmlns:a="http://schemas.openxmlformats.org/drawingml/2006/main">
            <a:r>
              <a:t>      {</a:t>
            </a:r>
          </a:p>
          <a:p xmlns:a="http://schemas.openxmlformats.org/drawingml/2006/main">
            <a:r>
              <a:t>        "month": "Feb",</a:t>
            </a:r>
          </a:p>
          <a:p xmlns:a="http://schemas.openxmlformats.org/drawingml/2006/main">
            <a:r>
              <a:t>        "days": 28,</a:t>
            </a:r>
          </a:p>
          <a:p xmlns:a="http://schemas.openxmlformats.org/drawingml/2006/main">
            <a:r>
              <a:t>        "G": 78.59464285714284,</a:t>
            </a:r>
          </a:p>
          <a:p xmlns:a="http://schemas.openxmlformats.org/drawingml/2006/main">
            <a:r>
              <a:t>        "direct": 40.35,</a:t>
            </a:r>
          </a:p>
          <a:p xmlns:a="http://schemas.openxmlformats.org/drawingml/2006/main">
            <a:r>
              <a:t>        "surplus": 38.24464285714284,</a:t>
            </a:r>
          </a:p>
          <a:p xmlns:a="http://schemas.openxmlformats.org/drawingml/2006/main">
            <a:r>
              <a:t>        "battery": 36.3324107142857,</a:t>
            </a:r>
          </a:p>
          <a:p xmlns:a="http://schemas.openxmlformats.org/drawingml/2006/main">
            <a:r>
              <a:t>        "imports": 112.49250000000043,</a:t>
            </a:r>
          </a:p>
          <a:p xmlns:a="http://schemas.openxmlformats.org/drawingml/2006/main">
            <a:r>
              <a:t>        "base": 6412.071999999999,</a:t>
            </a:r>
          </a:p>
          <a:p xmlns:a="http://schemas.openxmlformats.org/drawingml/2006/main">
            <a:r>
              <a:t>        "newbill": 261.35857500000094,</a:t>
            </a:r>
          </a:p>
          <a:p xmlns:a="http://schemas.openxmlformats.org/drawingml/2006/main">
            <a:r>
              <a:t>        "saving": 6150.713424999998</a:t>
            </a:r>
          </a:p>
          <a:p xmlns:a="http://schemas.openxmlformats.org/drawingml/2006/main">
            <a:r>
              <a:t>      },</a:t>
            </a:r>
          </a:p>
          <a:p xmlns:a="http://schemas.openxmlformats.org/drawingml/2006/main">
            <a:r>
              <a:t>      {</a:t>
            </a:r>
          </a:p>
          <a:p xmlns:a="http://schemas.openxmlformats.org/drawingml/2006/main">
            <a:r>
              <a:t>        "month": "Mar",</a:t>
            </a:r>
          </a:p>
          <a:p xmlns:a="http://schemas.openxmlformats.org/drawingml/2006/main">
            <a:r>
              <a:t>        "days": 31,</a:t>
            </a:r>
          </a:p>
          <a:p xmlns:a="http://schemas.openxmlformats.org/drawingml/2006/main">
            <a:r>
              <a:t>        "G": 88.3232258064516,</a:t>
            </a:r>
          </a:p>
          <a:p xmlns:a="http://schemas.openxmlformats.org/drawingml/2006/main">
            <a:r>
              <a:t>        "direct": 40.35,</a:t>
            </a:r>
          </a:p>
          <a:p xmlns:a="http://schemas.openxmlformats.org/drawingml/2006/main">
            <a:r>
              <a:t>        "surplus": 47.9732258064516,</a:t>
            </a:r>
          </a:p>
          <a:p xmlns:a="http://schemas.openxmlformats.org/drawingml/2006/main">
            <a:r>
              <a:t>        "battery": 40.35,</a:t>
            </a:r>
          </a:p>
          <a:p xmlns:a="http://schemas.openxmlformats.org/drawingml/2006/main">
            <a:r>
              <a:t>        "imports": 0,</a:t>
            </a:r>
          </a:p>
          <a:p xmlns:a="http://schemas.openxmlformats.org/drawingml/2006/main">
            <a:r>
              <a:t>        "base": 7094.794000000002,</a:t>
            </a:r>
          </a:p>
          <a:p xmlns:a="http://schemas.openxmlformats.org/drawingml/2006/main">
            <a:r>
              <a:t>        "newbill": 9,</a:t>
            </a:r>
          </a:p>
          <a:p xmlns:a="http://schemas.openxmlformats.org/drawingml/2006/main">
            <a:r>
              <a:t>        "saving": 7085.794000000002</a:t>
            </a:r>
          </a:p>
          <a:p xmlns:a="http://schemas.openxmlformats.org/drawingml/2006/main">
            <a:r>
              <a:t>      },</a:t>
            </a:r>
          </a:p>
          <a:p xmlns:a="http://schemas.openxmlformats.org/drawingml/2006/main">
            <a:r>
              <a:t>      {</a:t>
            </a:r>
          </a:p>
          <a:p xmlns:a="http://schemas.openxmlformats.org/drawingml/2006/main">
            <a:r>
              <a:t>        "month": "Apr",</a:t>
            </a:r>
          </a:p>
          <a:p xmlns:a="http://schemas.openxmlformats.org/drawingml/2006/main">
            <a:r>
              <a:t>        "days": 30,</a:t>
            </a:r>
          </a:p>
          <a:p xmlns:a="http://schemas.openxmlformats.org/drawingml/2006/main">
            <a:r>
              <a:t>        "G": 91.154,</a:t>
            </a:r>
          </a:p>
          <a:p xmlns:a="http://schemas.openxmlformats.org/drawingml/2006/main">
            <a:r>
              <a:t>        "direct": 40.35,</a:t>
            </a:r>
          </a:p>
          <a:p xmlns:a="http://schemas.openxmlformats.org/drawingml/2006/main">
            <a:r>
              <a:t>        "surplus": 50.803999999999995,</a:t>
            </a:r>
          </a:p>
          <a:p xmlns:a="http://schemas.openxmlformats.org/drawingml/2006/main">
            <a:r>
              <a:t>        "battery": 40.35,</a:t>
            </a:r>
          </a:p>
          <a:p xmlns:a="http://schemas.openxmlformats.org/drawingml/2006/main">
            <a:r>
              <a:t>        "imports": 0,</a:t>
            </a:r>
          </a:p>
          <a:p xmlns:a="http://schemas.openxmlformats.org/drawingml/2006/main">
            <a:r>
              <a:t>        "base": 6867.22,</a:t>
            </a:r>
          </a:p>
          <a:p xmlns:a="http://schemas.openxmlformats.org/drawingml/2006/main">
            <a:r>
              <a:t>        "newbill": 9,</a:t>
            </a:r>
          </a:p>
          <a:p xmlns:a="http://schemas.openxmlformats.org/drawingml/2006/main">
            <a:r>
              <a:t>        "saving": 6858.22</a:t>
            </a:r>
          </a:p>
          <a:p xmlns:a="http://schemas.openxmlformats.org/drawingml/2006/main">
            <a:r>
              <a:t>      },</a:t>
            </a:r>
          </a:p>
          <a:p xmlns:a="http://schemas.openxmlformats.org/drawingml/2006/main">
            <a:r>
              <a:t>      {</a:t>
            </a:r>
          </a:p>
          <a:p xmlns:a="http://schemas.openxmlformats.org/drawingml/2006/main">
            <a:r>
              <a:t>        "month": "May",</a:t>
            </a:r>
          </a:p>
          <a:p xmlns:a="http://schemas.openxmlformats.org/drawingml/2006/main">
            <a:r>
              <a:t>        "days": 31,</a:t>
            </a:r>
          </a:p>
          <a:p xmlns:a="http://schemas.openxmlformats.org/drawingml/2006/main">
            <a:r>
              <a:t>        "G": 89.23354838709677,</a:t>
            </a:r>
          </a:p>
          <a:p xmlns:a="http://schemas.openxmlformats.org/drawingml/2006/main">
            <a:r>
              <a:t>        "direct": 40.35,</a:t>
            </a:r>
          </a:p>
          <a:p xmlns:a="http://schemas.openxmlformats.org/drawingml/2006/main">
            <a:r>
              <a:t>        "surplus": 48.88354838709677,</a:t>
            </a:r>
          </a:p>
          <a:p xmlns:a="http://schemas.openxmlformats.org/drawingml/2006/main">
            <a:r>
              <a:t>        "battery": 40.35,</a:t>
            </a:r>
          </a:p>
          <a:p xmlns:a="http://schemas.openxmlformats.org/drawingml/2006/main">
            <a:r>
              <a:t>        "imports": 0,</a:t>
            </a:r>
          </a:p>
          <a:p xmlns:a="http://schemas.openxmlformats.org/drawingml/2006/main">
            <a:r>
              <a:t>        "base": 7094.794000000002,</a:t>
            </a:r>
          </a:p>
          <a:p xmlns:a="http://schemas.openxmlformats.org/drawingml/2006/main">
            <a:r>
              <a:t>        "newbill": 9,</a:t>
            </a:r>
          </a:p>
          <a:p xmlns:a="http://schemas.openxmlformats.org/drawingml/2006/main">
            <a:r>
              <a:t>        "saving": 7085.794000000002</a:t>
            </a:r>
          </a:p>
          <a:p xmlns:a="http://schemas.openxmlformats.org/drawingml/2006/main">
            <a:r>
              <a:t>      },</a:t>
            </a:r>
          </a:p>
          <a:p xmlns:a="http://schemas.openxmlformats.org/drawingml/2006/main">
            <a:r>
              <a:t>      {</a:t>
            </a:r>
          </a:p>
          <a:p xmlns:a="http://schemas.openxmlformats.org/drawingml/2006/main">
            <a:r>
              <a:t>        "month": "Jun",</a:t>
            </a:r>
          </a:p>
          <a:p xmlns:a="http://schemas.openxmlformats.org/drawingml/2006/main">
            <a:r>
              <a:t>        "days": 30,</a:t>
            </a:r>
          </a:p>
          <a:p xmlns:a="http://schemas.openxmlformats.org/drawingml/2006/main">
            <a:r>
              <a:t>        "G": 89.88466666666667,</a:t>
            </a:r>
          </a:p>
          <a:p xmlns:a="http://schemas.openxmlformats.org/drawingml/2006/main">
            <a:r>
              <a:t>        "direct": 40.35,</a:t>
            </a:r>
          </a:p>
          <a:p xmlns:a="http://schemas.openxmlformats.org/drawingml/2006/main">
            <a:r>
              <a:t>        "surplus": 49.53466666666667,</a:t>
            </a:r>
          </a:p>
          <a:p xmlns:a="http://schemas.openxmlformats.org/drawingml/2006/main">
            <a:r>
              <a:t>        "battery": 40.35,</a:t>
            </a:r>
          </a:p>
          <a:p xmlns:a="http://schemas.openxmlformats.org/drawingml/2006/main">
            <a:r>
              <a:t>        "imports": 0,</a:t>
            </a:r>
          </a:p>
          <a:p xmlns:a="http://schemas.openxmlformats.org/drawingml/2006/main">
            <a:r>
              <a:t>        "base": 6867.22,</a:t>
            </a:r>
          </a:p>
          <a:p xmlns:a="http://schemas.openxmlformats.org/drawingml/2006/main">
            <a:r>
              <a:t>        "newbill": 9,</a:t>
            </a:r>
          </a:p>
          <a:p xmlns:a="http://schemas.openxmlformats.org/drawingml/2006/main">
            <a:r>
              <a:t>        "saving": 6858.22</a:t>
            </a:r>
          </a:p>
          <a:p xmlns:a="http://schemas.openxmlformats.org/drawingml/2006/main">
            <a:r>
              <a:t>      },</a:t>
            </a:r>
          </a:p>
          <a:p xmlns:a="http://schemas.openxmlformats.org/drawingml/2006/main">
            <a:r>
              <a:t>      {</a:t>
            </a:r>
          </a:p>
          <a:p xmlns:a="http://schemas.openxmlformats.org/drawingml/2006/main">
            <a:r>
              <a:t>        "month": "Jul",</a:t>
            </a:r>
          </a:p>
          <a:p xmlns:a="http://schemas.openxmlformats.org/drawingml/2006/main">
            <a:r>
              <a:t>        "days": 31,</a:t>
            </a:r>
          </a:p>
          <a:p xmlns:a="http://schemas.openxmlformats.org/drawingml/2006/main">
            <a:r>
              <a:t>        "G": 90.29741935483871,</a:t>
            </a:r>
          </a:p>
          <a:p xmlns:a="http://schemas.openxmlformats.org/drawingml/2006/main">
            <a:r>
              <a:t>        "direct": 40.35,</a:t>
            </a:r>
          </a:p>
          <a:p xmlns:a="http://schemas.openxmlformats.org/drawingml/2006/main">
            <a:r>
              <a:t>        "surplus": 49.94741935483871,</a:t>
            </a:r>
          </a:p>
          <a:p xmlns:a="http://schemas.openxmlformats.org/drawingml/2006/main">
            <a:r>
              <a:t>        "battery": 40.35,</a:t>
            </a:r>
          </a:p>
          <a:p xmlns:a="http://schemas.openxmlformats.org/drawingml/2006/main">
            <a:r>
              <a:t>        "imports": 0,</a:t>
            </a:r>
          </a:p>
          <a:p xmlns:a="http://schemas.openxmlformats.org/drawingml/2006/main">
            <a:r>
              <a:t>        "base": 7094.794000000002,</a:t>
            </a:r>
          </a:p>
          <a:p xmlns:a="http://schemas.openxmlformats.org/drawingml/2006/main">
            <a:r>
              <a:t>        "newbill": 9,</a:t>
            </a:r>
          </a:p>
          <a:p xmlns:a="http://schemas.openxmlformats.org/drawingml/2006/main">
            <a:r>
              <a:t>        "saving": 7085.794000000002</a:t>
            </a:r>
          </a:p>
          <a:p xmlns:a="http://schemas.openxmlformats.org/drawingml/2006/main">
            <a:r>
              <a:t>      },</a:t>
            </a:r>
          </a:p>
          <a:p xmlns:a="http://schemas.openxmlformats.org/drawingml/2006/main">
            <a:r>
              <a:t>      {</a:t>
            </a:r>
          </a:p>
          <a:p xmlns:a="http://schemas.openxmlformats.org/drawingml/2006/main">
            <a:r>
              <a:t>        "month": "Aug",</a:t>
            </a:r>
          </a:p>
          <a:p xmlns:a="http://schemas.openxmlformats.org/drawingml/2006/main">
            <a:r>
              <a:t>        "days": 31,</a:t>
            </a:r>
          </a:p>
          <a:p xmlns:a="http://schemas.openxmlformats.org/drawingml/2006/main">
            <a:r>
              <a:t>        "G": 91.47096774193548,</a:t>
            </a:r>
          </a:p>
          <a:p xmlns:a="http://schemas.openxmlformats.org/drawingml/2006/main">
            <a:r>
              <a:t>        "direct": 40.35,</a:t>
            </a:r>
          </a:p>
          <a:p xmlns:a="http://schemas.openxmlformats.org/drawingml/2006/main">
            <a:r>
              <a:t>        "surplus": 51.12096774193548,</a:t>
            </a:r>
          </a:p>
          <a:p xmlns:a="http://schemas.openxmlformats.org/drawingml/2006/main">
            <a:r>
              <a:t>        "battery": 40.35,</a:t>
            </a:r>
          </a:p>
          <a:p xmlns:a="http://schemas.openxmlformats.org/drawingml/2006/main">
            <a:r>
              <a:t>        "imports": 0,</a:t>
            </a:r>
          </a:p>
          <a:p xmlns:a="http://schemas.openxmlformats.org/drawingml/2006/main">
            <a:r>
              <a:t>        "base": 7094.794000000002,</a:t>
            </a:r>
          </a:p>
          <a:p xmlns:a="http://schemas.openxmlformats.org/drawingml/2006/main">
            <a:r>
              <a:t>        "newbill": 9,</a:t>
            </a:r>
          </a:p>
          <a:p xmlns:a="http://schemas.openxmlformats.org/drawingml/2006/main">
            <a:r>
              <a:t>        "saving": 7085.794000000002</a:t>
            </a:r>
          </a:p>
          <a:p xmlns:a="http://schemas.openxmlformats.org/drawingml/2006/main">
            <a:r>
              <a:t>      },</a:t>
            </a:r>
          </a:p>
          <a:p xmlns:a="http://schemas.openxmlformats.org/drawingml/2006/main">
            <a:r>
              <a:t>      {</a:t>
            </a:r>
          </a:p>
          <a:p xmlns:a="http://schemas.openxmlformats.org/drawingml/2006/main">
            <a:r>
              <a:t>        "month": "Sep",</a:t>
            </a:r>
          </a:p>
          <a:p xmlns:a="http://schemas.openxmlformats.org/drawingml/2006/main">
            <a:r>
              <a:t>        "days": 30,</a:t>
            </a:r>
          </a:p>
          <a:p xmlns:a="http://schemas.openxmlformats.org/drawingml/2006/main">
            <a:r>
              <a:t>        "G": 91.23333333333332,</a:t>
            </a:r>
          </a:p>
          <a:p xmlns:a="http://schemas.openxmlformats.org/drawingml/2006/main">
            <a:r>
              <a:t>        "direct": 40.35,</a:t>
            </a:r>
          </a:p>
          <a:p xmlns:a="http://schemas.openxmlformats.org/drawingml/2006/main">
            <a:r>
              <a:t>        "surplus": 50.88333333333332,</a:t>
            </a:r>
          </a:p>
          <a:p xmlns:a="http://schemas.openxmlformats.org/drawingml/2006/main">
            <a:r>
              <a:t>        "battery": 40.35,</a:t>
            </a:r>
          </a:p>
          <a:p xmlns:a="http://schemas.openxmlformats.org/drawingml/2006/main">
            <a:r>
              <a:t>        "imports": 0,</a:t>
            </a:r>
          </a:p>
          <a:p xmlns:a="http://schemas.openxmlformats.org/drawingml/2006/main">
            <a:r>
              <a:t>        "base": 6867.22,</a:t>
            </a:r>
          </a:p>
          <a:p xmlns:a="http://schemas.openxmlformats.org/drawingml/2006/main">
            <a:r>
              <a:t>        "newbill": 9,</a:t>
            </a:r>
          </a:p>
          <a:p xmlns:a="http://schemas.openxmlformats.org/drawingml/2006/main">
            <a:r>
              <a:t>        "saving": 6858.22</a:t>
            </a:r>
          </a:p>
          <a:p xmlns:a="http://schemas.openxmlformats.org/drawingml/2006/main">
            <a:r>
              <a:t>      },</a:t>
            </a:r>
          </a:p>
          <a:p xmlns:a="http://schemas.openxmlformats.org/drawingml/2006/main">
            <a:r>
              <a:t>      {</a:t>
            </a:r>
          </a:p>
          <a:p xmlns:a="http://schemas.openxmlformats.org/drawingml/2006/main">
            <a:r>
              <a:t>        "month": "Oct",</a:t>
            </a:r>
          </a:p>
          <a:p xmlns:a="http://schemas.openxmlformats.org/drawingml/2006/main">
            <a:r>
              <a:t>        "days": 31,</a:t>
            </a:r>
          </a:p>
          <a:p xmlns:a="http://schemas.openxmlformats.org/drawingml/2006/main">
            <a:r>
              <a:t>        "G": 84.74225806451614,</a:t>
            </a:r>
          </a:p>
          <a:p xmlns:a="http://schemas.openxmlformats.org/drawingml/2006/main">
            <a:r>
              <a:t>        "direct": 40.35,</a:t>
            </a:r>
          </a:p>
          <a:p xmlns:a="http://schemas.openxmlformats.org/drawingml/2006/main">
            <a:r>
              <a:t>        "surplus": 44.392258064516135,</a:t>
            </a:r>
          </a:p>
          <a:p xmlns:a="http://schemas.openxmlformats.org/drawingml/2006/main">
            <a:r>
              <a:t>        "battery": 40.35,</a:t>
            </a:r>
          </a:p>
          <a:p xmlns:a="http://schemas.openxmlformats.org/drawingml/2006/main">
            <a:r>
              <a:t>        "imports": 0,</a:t>
            </a:r>
          </a:p>
          <a:p xmlns:a="http://schemas.openxmlformats.org/drawingml/2006/main">
            <a:r>
              <a:t>        "base": 7094.794000000002,</a:t>
            </a:r>
          </a:p>
          <a:p xmlns:a="http://schemas.openxmlformats.org/drawingml/2006/main">
            <a:r>
              <a:t>        "newbill": 9,</a:t>
            </a:r>
          </a:p>
          <a:p xmlns:a="http://schemas.openxmlformats.org/drawingml/2006/main">
            <a:r>
              <a:t>        "saving": 7085.794000000002</a:t>
            </a:r>
          </a:p>
          <a:p xmlns:a="http://schemas.openxmlformats.org/drawingml/2006/main">
            <a:r>
              <a:t>      },</a:t>
            </a:r>
          </a:p>
          <a:p xmlns:a="http://schemas.openxmlformats.org/drawingml/2006/main">
            <a:r>
              <a:t>      {</a:t>
            </a:r>
          </a:p>
          <a:p xmlns:a="http://schemas.openxmlformats.org/drawingml/2006/main">
            <a:r>
              <a:t>        "month": "Nov",</a:t>
            </a:r>
          </a:p>
          <a:p xmlns:a="http://schemas.openxmlformats.org/drawingml/2006/main">
            <a:r>
              <a:t>        "days": 30,</a:t>
            </a:r>
          </a:p>
          <a:p xmlns:a="http://schemas.openxmlformats.org/drawingml/2006/main">
            <a:r>
              <a:t>        "G": 77.61633333333334,</a:t>
            </a:r>
          </a:p>
          <a:p xmlns:a="http://schemas.openxmlformats.org/drawingml/2006/main">
            <a:r>
              <a:t>        "direct": 40.35,</a:t>
            </a:r>
          </a:p>
          <a:p xmlns:a="http://schemas.openxmlformats.org/drawingml/2006/main">
            <a:r>
              <a:t>        "surplus": 37.26633333333334,</a:t>
            </a:r>
          </a:p>
          <a:p xmlns:a="http://schemas.openxmlformats.org/drawingml/2006/main">
            <a:r>
              <a:t>        "battery": 35.40301666666667,</a:t>
            </a:r>
          </a:p>
          <a:p xmlns:a="http://schemas.openxmlformats.org/drawingml/2006/main">
            <a:r>
              <a:t>        "imports": 148.40949999999987,</a:t>
            </a:r>
          </a:p>
          <a:p xmlns:a="http://schemas.openxmlformats.org/drawingml/2006/main">
            <a:r>
              <a:t>        "base": 6867.22,</a:t>
            </a:r>
          </a:p>
          <a:p xmlns:a="http://schemas.openxmlformats.org/drawingml/2006/main">
            <a:r>
              <a:t>        "newbill": 340.01680499999975,</a:t>
            </a:r>
          </a:p>
          <a:p xmlns:a="http://schemas.openxmlformats.org/drawingml/2006/main">
            <a:r>
              <a:t>        "saving": 6527.203195</a:t>
            </a:r>
          </a:p>
          <a:p xmlns:a="http://schemas.openxmlformats.org/drawingml/2006/main">
            <a:r>
              <a:t>      },</a:t>
            </a:r>
          </a:p>
          <a:p xmlns:a="http://schemas.openxmlformats.org/drawingml/2006/main">
            <a:r>
              <a:t>      {</a:t>
            </a:r>
          </a:p>
          <a:p xmlns:a="http://schemas.openxmlformats.org/drawingml/2006/main">
            <a:r>
              <a:t>        "month": "Dec",</a:t>
            </a:r>
          </a:p>
          <a:p xmlns:a="http://schemas.openxmlformats.org/drawingml/2006/main">
            <a:r>
              <a:t>        "days": 31,</a:t>
            </a:r>
          </a:p>
          <a:p xmlns:a="http://schemas.openxmlformats.org/drawingml/2006/main">
            <a:r>
              <a:t>        "G": 71.50967741935484,</a:t>
            </a:r>
          </a:p>
          <a:p xmlns:a="http://schemas.openxmlformats.org/drawingml/2006/main">
            <a:r>
              <a:t>        "direct": 40.35,</a:t>
            </a:r>
          </a:p>
          <a:p xmlns:a="http://schemas.openxmlformats.org/drawingml/2006/main">
            <a:r>
              <a:t>        "surplus": 31.159677419354843,</a:t>
            </a:r>
          </a:p>
          <a:p xmlns:a="http://schemas.openxmlformats.org/drawingml/2006/main">
            <a:r>
              <a:t>        "battery": 29.6016935483871,</a:t>
            </a:r>
          </a:p>
          <a:p xmlns:a="http://schemas.openxmlformats.org/drawingml/2006/main">
            <a:r>
              <a:t>        "imports": 333.19749999999993,</a:t>
            </a:r>
          </a:p>
          <a:p xmlns:a="http://schemas.openxmlformats.org/drawingml/2006/main">
            <a:r>
              <a:t>        "base": 7094.794000000002,</a:t>
            </a:r>
          </a:p>
          <a:p xmlns:a="http://schemas.openxmlformats.org/drawingml/2006/main">
            <a:r>
              <a:t>        "newbill": 909.6373249999998,</a:t>
            </a:r>
          </a:p>
          <a:p xmlns:a="http://schemas.openxmlformats.org/drawingml/2006/main">
            <a:r>
              <a:t>        "saving": 6185.156675000002</a:t>
            </a:r>
          </a:p>
          <a:p xmlns:a="http://schemas.openxmlformats.org/drawingml/2006/main">
            <a:r>
              <a:t>      }</a:t>
            </a:r>
          </a:p>
          <a:p xmlns:a="http://schemas.openxmlformats.org/drawingml/2006/main">
            <a:r>
              <a:t>    ],</a:t>
            </a:r>
          </a:p>
          <a:p xmlns:a="http://schemas.openxmlformats.org/drawingml/2006/main">
            <a:r>
              <a:t>    "annualSaving": 81090.66842000002,</a:t>
            </a:r>
          </a:p>
          <a:p xmlns:a="http://schemas.openxmlformats.org/drawingml/2006/main">
            <a:r>
              <a:t>    "averageSaving": 6757.555701666668,</a:t>
            </a:r>
          </a:p>
          <a:p xmlns:a="http://schemas.openxmlformats.org/drawingml/2006/main">
            <a:r>
              <a:t>    "payback": 14.237889790476089,</a:t>
            </a:r>
          </a:p>
          <a:p xmlns:a="http://schemas.openxmlformats.org/drawingml/2006/main">
            <a:r>
              <a:t>    "annualImports": 912.7620000000002</a:t>
            </a:r>
          </a:p>
          <a:p xmlns:a="http://schemas.openxmlformats.org/drawingml/2006/main">
            <a:r>
              <a:t>  }</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778e19897a6403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2f3ade2d9e04e3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1bd2ca890c9405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a2e54bd46b1439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61b70e8e4804c5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f863218d21e4a88"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6d515e985257405c"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bc595d97e2164320"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6d70f5eb8b6f4322"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589b96ffb4aa4fb4"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51f574f84ff54460"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F7DAEC9-F881-4133-A4AA-6DA24E8BB6A5}"/>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25FE31A9-9C29-47E4-8891-A206527D1754}"/>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F9809A94-D4AB-4365-AEE4-2A19176CD2F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959CB9B0-9D19-44AE-B76B-9E62524D7B3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DCFB82D6-5482-47C4-B433-5276BE9A41D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16366F4-0D99-4ADB-9980-0A6C337DE15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E6B0FE67-5E54-4CB4-A218-C70E4DBB462E}"/>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67B9601F-1587-488F-8594-E516C9876A1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5D415327-FA0F-4FED-9153-2ED063579A3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A983472E-C46C-4B92-8E7B-94920368AA3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5793303-F3A4-4E3D-9301-F894EA50C682}"/>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ACA2C570-E356-408D-A256-097524EDC661}"/>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1455171F-9FB2-4126-8285-3B31FF1BCC8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38055E4E-8658-4419-BD65-61722B4833D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77BAEB77-F50F-4737-B2AC-031391EC9E0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9515FD8-1F65-4D7D-B2C3-275A73E70EEB}"/>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4BD3F1BE-0252-42C9-AE89-066E368D0C9F}"/>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00640E91-A51F-472D-AFB4-7CEE6EAA828A}"/>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C3C04D67-8244-4B0C-8E03-70C74CADD0A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E5E7502C-0753-436E-AF8B-76E1E8882D9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BB714D22-112D-4762-A154-33D3CC606F0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2FDC8ED-4F2D-476C-8FA4-B32C8D4A60A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B5E967CA-0453-42D3-AC2D-C2072DB6DB10}"/>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CB10A2C7-BB37-41B8-A56D-EF2264248DCB}"/>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A77D2D4E-5362-405D-8477-EBFB837C7C51}"/>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3B0152C8-0B6A-4625-A6A2-A4476CF828AE}"/>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268667B0-A925-40F9-BB94-A51154712FB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8" name="Footer Placeholder 7">
            <a:extLst xmlns:a="http://schemas.openxmlformats.org/drawingml/2006/main">
              <a:ext uri="{FF2B5EF4-FFF2-40B4-BE49-F238E27FC236}">
                <a16:creationId xmlns:a16="http://schemas.microsoft.com/office/drawing/2014/main" id="{69F186E9-6887-44DB-AB4B-093C6FC7CE9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6A01BC7E-594D-469D-9962-B567707DD57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B931080-7CA0-41E2-B0AB-09241E451E8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B33EEF3E-AB33-4402-9E07-BEB6091BE10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4" name="Footer Placeholder 3">
            <a:extLst xmlns:a="http://schemas.openxmlformats.org/drawingml/2006/main">
              <a:ext uri="{FF2B5EF4-FFF2-40B4-BE49-F238E27FC236}">
                <a16:creationId xmlns:a16="http://schemas.microsoft.com/office/drawing/2014/main" id="{46CA938B-56C0-4780-8388-E933AE1D132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C46688D4-E875-4921-B67F-6F0C2944E7F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0603D7F3-2DD1-4819-BCA0-72D8085FE29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3" name="Footer Placeholder 2">
            <a:extLst xmlns:a="http://schemas.openxmlformats.org/drawingml/2006/main">
              <a:ext uri="{FF2B5EF4-FFF2-40B4-BE49-F238E27FC236}">
                <a16:creationId xmlns:a16="http://schemas.microsoft.com/office/drawing/2014/main" id="{59FF2CC9-D942-4BAB-A7B0-35222FAFC42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089E9393-3110-4FBD-AFAD-34540DF9F65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CB73877-4EDF-40FC-804C-11F5D1ABBDDF}"/>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CE5AB99F-71DC-4455-986D-47F70ED6DC65}"/>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AAB37D2D-A1D7-4A98-87B7-5F629B1F3E71}"/>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E71AC580-2648-41AD-995E-A77EDE7EFCD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E504750A-0278-491D-A877-6ABD1B2FFAB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577DFB52-0472-4407-89D7-1E23A8A83D6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258CEF5-56DD-40D0-BC43-261174F8AE48}"/>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BC51F527-1075-4250-A3B7-CE854DC4BC15}"/>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9E3B72AA-7C2F-4412-AF04-E76B1CE23D73}"/>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B4FCC09B-B47E-4F49-9C99-0A0233D5323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E9182CF4-29D6-4CD0-9086-7D749688EDA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330098F2-E9C6-451F-85F4-737A2490FAF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375E38C-04FE-4FB0-83AD-557989F8031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3A495E92-2F7A-449E-9F51-27A991D80AA1}"/>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B5D9EEC2-C095-4FCA-8433-A7001DA5DF2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E471723A-5C0C-4705-B211-0150DC9B094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8188279D-1838-43F5-94B4-D6AFBD988E3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5BCA44B8-84AA-4908-9A21-E34CA613DE80}"/>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27120E15-48BC-43F0-A61B-6BDEAA22D34F}"/>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DF671A40-7CB8-40C4-8E25-DF2A8AF9496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9DB20911-916A-429E-8585-89915CAEC95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839E018E-D48C-48E1-ABBA-DC38C0241A9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c2457645f874c9e" /><Relationship Type="http://schemas.openxmlformats.org/officeDocument/2006/relationships/slideLayout" Target="/ppt/slideLayouts/slideLayout1.xml" Id="R6abc472f0c744a4b" /><Relationship Type="http://schemas.openxmlformats.org/officeDocument/2006/relationships/slideLayout" Target="/ppt/slideLayouts/slideLayout2.xml" Id="R9826c3e4ad674992" /><Relationship Type="http://schemas.openxmlformats.org/officeDocument/2006/relationships/slideLayout" Target="/ppt/slideLayouts/slideLayout3.xml" Id="Rc165132580e34891" /><Relationship Type="http://schemas.openxmlformats.org/officeDocument/2006/relationships/slideLayout" Target="/ppt/slideLayouts/slideLayout4.xml" Id="R06550f231eb14b26" /><Relationship Type="http://schemas.openxmlformats.org/officeDocument/2006/relationships/slideLayout" Target="/ppt/slideLayouts/slideLayout5.xml" Id="R0c35ecfed4ce43d2" /><Relationship Type="http://schemas.openxmlformats.org/officeDocument/2006/relationships/slideLayout" Target="/ppt/slideLayouts/slideLayout6.xml" Id="R52f117f54aad4779" /><Relationship Type="http://schemas.openxmlformats.org/officeDocument/2006/relationships/slideLayout" Target="/ppt/slideLayouts/slideLayout7.xml" Id="R9241fb17d1654de5" /><Relationship Type="http://schemas.openxmlformats.org/officeDocument/2006/relationships/slideLayout" Target="/ppt/slideLayouts/slideLayout8.xml" Id="Re87f4c260a9f44c6" /><Relationship Type="http://schemas.openxmlformats.org/officeDocument/2006/relationships/slideLayout" Target="/ppt/slideLayouts/slideLayout9.xml" Id="Rf95c00a686ff408d" /><Relationship Type="http://schemas.openxmlformats.org/officeDocument/2006/relationships/slideLayout" Target="/ppt/slideLayouts/slideLayout10.xml" Id="Ra8443f8b149743b0" /><Relationship Type="http://schemas.openxmlformats.org/officeDocument/2006/relationships/slideLayout" Target="/ppt/slideLayouts/slideLayout11.xml" Id="R7e321fa3b79248be"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737D0875-9D3E-41F4-B1D4-17F252E1F2D6}"/>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804A10FC-2D26-4FBC-B21E-E2C885D0E769}"/>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E4410DDB-DBDA-46C3-993D-099208BCCAF8}"/>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3ED9C912-A14B-4CCF-9A3E-36BEA4AC1A1B}"/>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7513F935-F053-485D-93C2-03D38DE2BA16}"/>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C1FF6DA9-008F-8B48-92A6-B652298478BF}"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abc472f0c744a4b"/>
    <p:sldLayoutId xmlns:r="http://schemas.openxmlformats.org/officeDocument/2006/relationships" id="2147483650" r:id="R9826c3e4ad674992"/>
    <p:sldLayoutId xmlns:r="http://schemas.openxmlformats.org/officeDocument/2006/relationships" id="2147483651" r:id="Rc165132580e34891"/>
    <p:sldLayoutId xmlns:r="http://schemas.openxmlformats.org/officeDocument/2006/relationships" id="2147483652" r:id="R06550f231eb14b26"/>
    <p:sldLayoutId xmlns:r="http://schemas.openxmlformats.org/officeDocument/2006/relationships" id="2147483653" r:id="R0c35ecfed4ce43d2"/>
    <p:sldLayoutId xmlns:r="http://schemas.openxmlformats.org/officeDocument/2006/relationships" id="2147483654" r:id="R52f117f54aad4779"/>
    <p:sldLayoutId xmlns:r="http://schemas.openxmlformats.org/officeDocument/2006/relationships" id="2147483655" r:id="R9241fb17d1654de5"/>
    <p:sldLayoutId xmlns:r="http://schemas.openxmlformats.org/officeDocument/2006/relationships" id="2147483656" r:id="Re87f4c260a9f44c6"/>
    <p:sldLayoutId xmlns:r="http://schemas.openxmlformats.org/officeDocument/2006/relationships" id="2147483657" r:id="Rf95c00a686ff408d"/>
    <p:sldLayoutId xmlns:r="http://schemas.openxmlformats.org/officeDocument/2006/relationships" id="2147483658" r:id="Ra8443f8b149743b0"/>
    <p:sldLayoutId xmlns:r="http://schemas.openxmlformats.org/officeDocument/2006/relationships" id="2147483659" r:id="R7e321fa3b79248be"/>
  </p:sldLayoutIdLst>
  <p:txStyles>
    <p:titleStyle>
      <a:lvl1pPr xmlns:a="http://schemas.openxmlformats.org/drawingml/2006/main" algn="ctr" defTabSz="4572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4572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4572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4572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4572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4572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4572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4572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4572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2475f9b9a6354a13" /><Relationship Type="http://schemas.openxmlformats.org/officeDocument/2006/relationships/notesSlide" Target="/ppt/notesSlides/notesSlide1.xml" Id="R2e39c9d362c043f1"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0b7a6165982544a6" /><Relationship Type="http://schemas.openxmlformats.org/officeDocument/2006/relationships/notesSlide" Target="/ppt/notesSlides/notesSlide2.xml" Id="R19876f9af3954e3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316a297e47240d6" /><Relationship Type="http://schemas.openxmlformats.org/officeDocument/2006/relationships/notesSlide" Target="/ppt/notesSlides/notesSlide3.xml" Id="R051591b04b11442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f4e0544e9ff4087" /><Relationship Type="http://schemas.openxmlformats.org/officeDocument/2006/relationships/notesSlide" Target="/ppt/notesSlides/notesSlide4.xml" Id="Rde24f966fb21467e"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3c9575d1f9d24967" /><Relationship Type="http://schemas.openxmlformats.org/officeDocument/2006/relationships/notesSlide" Target="/ppt/notesSlides/notesSlide5.xml" Id="Rec630c2dc9974a1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9cd8b762b1d48df" /><Relationship Type="http://schemas.openxmlformats.org/officeDocument/2006/relationships/notesSlide" Target="/ppt/notesSlides/notesSlide6.xml" Id="R2c2e835c34d1424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bc8e55807764853" /><Relationship Type="http://schemas.openxmlformats.org/officeDocument/2006/relationships/notesSlide" Target="/ppt/notesSlides/notesSlide7.xml" Id="Rd9db230d5282404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44bd81322494153" /><Relationship Type="http://schemas.openxmlformats.org/officeDocument/2006/relationships/notesSlide" Target="/ppt/notesSlides/notesSlide8.xml" Id="R025b6f2ccf5d484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402ba121a5a47c6" /><Relationship Type="http://schemas.openxmlformats.org/officeDocument/2006/relationships/notesSlide" Target="/ppt/notesSlides/notesSlide9.xml" Id="R6a9be5b6fc6843f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5de1f9bdd274dbe" /><Relationship Type="http://schemas.openxmlformats.org/officeDocument/2006/relationships/notesSlide" Target="/ppt/notesSlides/notesSlide10.xml" Id="R54d65f99e1b34ff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de38d32adb74832" /><Relationship Type="http://schemas.openxmlformats.org/officeDocument/2006/relationships/notesSlide" Target="/ppt/notesSlides/notesSlide11.xml" Id="Rbcb27898f0e74f9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7af3c8fce234386" /><Relationship Type="http://schemas.openxmlformats.org/officeDocument/2006/relationships/notesSlide" Target="/ppt/notesSlides/notesSlide12.xml" Id="R1e79b1b3cd81403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459f0c583b1e4108" /><Relationship Type="http://schemas.openxmlformats.org/officeDocument/2006/relationships/notesSlide" Target="/ppt/notesSlides/notesSlide13.xml" Id="R0b9358d7ae2b441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c1af18ecf0df427a" /><Relationship Type="http://schemas.openxmlformats.org/officeDocument/2006/relationships/notesSlide" Target="/ppt/notesSlides/notesSlide14.xml" Id="R17ffd99dcdd14b9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67155183054a4c48" /><Relationship Type="http://schemas.openxmlformats.org/officeDocument/2006/relationships/notesSlide" Target="/ppt/notesSlides/notesSlide15.xml" Id="Rae4f164c81104c3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d46374aeb9c242dc" /><Relationship Type="http://schemas.openxmlformats.org/officeDocument/2006/relationships/notesSlide" Target="/ppt/notesSlides/notesSlide16.xml" Id="R344efafb650c4a4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0afbe26a1da84516" /><Relationship Type="http://schemas.openxmlformats.org/officeDocument/2006/relationships/notesSlide" Target="/ppt/notesSlides/notesSlide17.xml" Id="R1e94100b0a394ce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da382991f2e442ce" /><Relationship Type="http://schemas.openxmlformats.org/officeDocument/2006/relationships/notesSlide" Target="/ppt/notesSlides/notesSlide18.xml" Id="Rc8c4f73c1f4e439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d7a631bbd4b4438f" /><Relationship Type="http://schemas.openxmlformats.org/officeDocument/2006/relationships/notesSlide" Target="/ppt/notesSlides/notesSlide19.xml" Id="R5a2048e7bbbd4408"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02e8fee7e7db4d60" /><Relationship Type="http://schemas.openxmlformats.org/officeDocument/2006/relationships/notesSlide" Target="/ppt/notesSlides/notesSlide20.xml" Id="Ra6581a4a37224d0b"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6644f89be73f49ac" /><Relationship Type="http://schemas.openxmlformats.org/officeDocument/2006/relationships/notesSlide" Target="/ppt/notesSlides/notesSlide21.xml" Id="R31f6cbb1645b4b7b" /></Relationships>
</file>

<file path=ppt/slides/slide1.xml><?xml version="1.0" encoding="utf-8"?>
<p:sld xmlns:p="http://schemas.openxmlformats.org/presentationml/2006/main">
  <p:cSld>
    <p:bg>
      <p:bgPr>
        <a:solidFill xmlns:a="http://schemas.openxmlformats.org/drawingml/2006/main">
          <a:srgbClr val="14171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AC04E002-5E98-4204-BF37-C9A4BA4A760B}"/>
              </a:ext>
            </a:extLst>
          </p:cNvPr>
          <p:cNvSpPr>
            <a:spLocks xmlns:a="http://schemas.openxmlformats.org/drawingml/2006/main" noGrp="1"/>
          </p:cNvSpPr>
          <p:nvPr/>
        </p:nvSpPr>
        <p:spPr>
          <a:xfrm xmlns:a="http://schemas.openxmlformats.org/drawingml/2006/main">
            <a:off x="812800" y="1778000"/>
            <a:ext cx="10566400"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lnSpc>
                <a:spcPct val="120000"/>
              </a:lnSpc>
              <a:buNone/>
            </a:pPr>
            <a:r>
              <a:rPr sz="1400" b="1">
                <a:solidFill>
                  <a:srgbClr val="F26A1B"/>
                </a:solidFill>
                <a:latin typeface="Arial"/>
                <a:ea typeface="Arial"/>
                <a:cs typeface="Arial"/>
              </a:rPr>
              <a:t>AVESTA · EL MO3ALEM JUICE SHOP</a:t>
            </a:r>
          </a:p>
        </p:txBody>
      </p:sp>
      <p:sp>
        <p:nvSpPr>
          <p:cNvPr id="3" name="TextBox 2">
            <a:extLst xmlns:a="http://schemas.openxmlformats.org/drawingml/2006/main">
              <a:ext uri="{FF2B5EF4-FFF2-40B4-BE49-F238E27FC236}">
                <a16:creationId xmlns:a16="http://schemas.microsoft.com/office/drawing/2014/main" id="{E364C0C0-0566-4FAD-9B42-D9C8AC5A79D3}"/>
              </a:ext>
            </a:extLst>
          </p:cNvPr>
          <p:cNvSpPr>
            <a:spLocks xmlns:a="http://schemas.openxmlformats.org/drawingml/2006/main" noGrp="1"/>
          </p:cNvSpPr>
          <p:nvPr/>
        </p:nvSpPr>
        <p:spPr>
          <a:xfrm xmlns:a="http://schemas.openxmlformats.org/drawingml/2006/main">
            <a:off x="812800" y="2133600"/>
            <a:ext cx="10566400" cy="9525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4050">
                <a:solidFill>
                  <a:srgbClr val="F4F5F7"/>
                </a:solidFill>
                <a:latin typeface="Arial"/>
                <a:ea typeface="Arial"/>
                <a:cs typeface="Arial"/>
              </a:defRPr>
            </a:pPr>
            <a:r>
              <a:rPr sz="4050" b="1">
                <a:solidFill>
                  <a:srgbClr val="F4F5F7"/>
                </a:solidFill>
                <a:latin typeface="Arial"/>
                <a:ea typeface="Arial"/>
                <a:cs typeface="Arial"/>
              </a:rPr>
              <a:t>Solar + battery: option by option</a:t>
            </a:r>
          </a:p>
        </p:txBody>
      </p:sp>
      <p:sp>
        <p:nvSpPr>
          <p:cNvPr id="4" name="TextBox 3">
            <a:extLst xmlns:a="http://schemas.openxmlformats.org/drawingml/2006/main">
              <a:ext uri="{FF2B5EF4-FFF2-40B4-BE49-F238E27FC236}">
                <a16:creationId xmlns:a16="http://schemas.microsoft.com/office/drawing/2014/main" id="{F041E2FD-C58A-474E-9AFB-F634506A2FA8}"/>
              </a:ext>
            </a:extLst>
          </p:cNvPr>
          <p:cNvSpPr>
            <a:spLocks xmlns:a="http://schemas.openxmlformats.org/drawingml/2006/main" noGrp="1"/>
          </p:cNvSpPr>
          <p:nvPr/>
        </p:nvSpPr>
        <p:spPr>
          <a:xfrm xmlns:a="http://schemas.openxmlformats.org/drawingml/2006/main">
            <a:off x="812800" y="3175000"/>
            <a:ext cx="8890000" cy="8915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0000"/>
              </a:lnSpc>
              <a:buNone/>
              <a:defRPr sz="2175" b="0">
                <a:solidFill>
                  <a:srgbClr val="FFFFFF"/>
                </a:solidFill>
                <a:latin typeface="Arial"/>
                <a:ea typeface="Arial"/>
                <a:cs typeface="Arial"/>
              </a:defRPr>
            </a:pPr>
            <a:r>
              <a:rPr sz="2175" b="0">
                <a:solidFill>
                  <a:srgbClr val="FFFFFF"/>
                </a:solidFill>
                <a:latin typeface="Arial"/>
                <a:ea typeface="Arial"/>
                <a:cs typeface="Arial"/>
              </a:rPr>
              <a:t>Option A, then B, then C: equations and results for each system, followed by one final comparison</a:t>
            </a:r>
          </a:p>
        </p:txBody>
      </p:sp>
      <p:sp>
        <p:nvSpPr>
          <p:cNvPr id="5" name="TextBox 4">
            <a:extLst xmlns:a="http://schemas.openxmlformats.org/drawingml/2006/main">
              <a:ext uri="{FF2B5EF4-FFF2-40B4-BE49-F238E27FC236}">
                <a16:creationId xmlns:a16="http://schemas.microsoft.com/office/drawing/2014/main" id="{369F8F88-AA37-4AD5-A72D-2B74124A2ED8}"/>
              </a:ext>
            </a:extLst>
          </p:cNvPr>
          <p:cNvSpPr>
            <a:spLocks xmlns:a="http://schemas.openxmlformats.org/drawingml/2006/main" noGrp="1"/>
          </p:cNvSpPr>
          <p:nvPr/>
        </p:nvSpPr>
        <p:spPr>
          <a:xfrm xmlns:a="http://schemas.openxmlformats.org/drawingml/2006/main">
            <a:off x="812800" y="4445000"/>
            <a:ext cx="10566400"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lnSpc>
                <a:spcPct val="120000"/>
              </a:lnSpc>
              <a:buNone/>
            </a:pPr>
            <a:r>
              <a:rPr sz="1400" b="0">
                <a:solidFill>
                  <a:srgbClr val="9AA1AD"/>
                </a:solidFill>
                <a:latin typeface="Arial"/>
                <a:ea typeface="Arial"/>
                <a:cs typeface="Arial"/>
              </a:rPr>
              <a:t>Basis: August 2026 bill · commercial tariff (EgyptERA, April 2026) · no maintenance or interest included</a:t>
            </a:r>
          </a:p>
        </p:txBody>
      </p:sp>
    </p:spTree>
    <p:extLst>
      <p:ext uri="{BB962C8B-B14F-4D97-AF65-F5344CB8AC3E}">
        <p14:creationId xmlns:p14="http://schemas.microsoft.com/office/powerpoint/2010/main" val="899149921"/>
      </p:ext>
    </p:extLst>
  </p:cSld>
</p:sld>
</file>

<file path=ppt/slides/slide2.xml><?xml version="1.0" encoding="utf-8"?>
<p:sld xmlns:p="http://schemas.openxmlformats.org/presentationml/2006/main">
  <p:cSld>
    <p:bg>
      <p:bgPr>
        <a:solidFill xmlns:a="http://schemas.openxmlformats.org/drawingml/2006/main">
          <a:srgbClr val="F4F5F7"/>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6B48A3DD-2DEE-44EF-8E2A-7D7714582F7B}"/>
              </a:ext>
            </a:extLst>
          </p:cNvPr>
          <p:cNvSpPr>
            <a:spLocks xmlns:a="http://schemas.openxmlformats.org/drawingml/2006/main" noGrp="1"/>
          </p:cNvSpPr>
          <p:nvPr/>
        </p:nvSpPr>
        <p:spPr>
          <a:xfrm xmlns:a="http://schemas.openxmlformats.org/drawingml/2006/main">
            <a:off x="812800" y="812800"/>
            <a:ext cx="105664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lnSpc>
                <a:spcPct val="120000"/>
              </a:lnSpc>
              <a:buNone/>
            </a:pPr>
            <a:r>
              <a:rPr sz="1300" b="1">
                <a:solidFill>
                  <a:srgbClr val="B84E0E"/>
                </a:solidFill>
                <a:latin typeface="Arial"/>
                <a:ea typeface="Arial"/>
                <a:cs typeface="Arial"/>
              </a:rPr>
              <a:t>THE SHOP TODAY</a:t>
            </a:r>
          </a:p>
        </p:txBody>
      </p:sp>
      <p:sp>
        <p:nvSpPr>
          <p:cNvPr id="3" name="TextBox 2">
            <a:extLst xmlns:a="http://schemas.openxmlformats.org/drawingml/2006/main">
              <a:ext uri="{FF2B5EF4-FFF2-40B4-BE49-F238E27FC236}">
                <a16:creationId xmlns:a16="http://schemas.microsoft.com/office/drawing/2014/main" id="{164FC342-8838-405C-B2A7-B59DCBCCDDB4}"/>
              </a:ext>
            </a:extLst>
          </p:cNvPr>
          <p:cNvSpPr>
            <a:spLocks xmlns:a="http://schemas.openxmlformats.org/drawingml/2006/main" noGrp="1"/>
          </p:cNvSpPr>
          <p:nvPr/>
        </p:nvSpPr>
        <p:spPr>
          <a:xfrm xmlns:a="http://schemas.openxmlformats.org/drawingml/2006/main">
            <a:off x="812800" y="1117600"/>
            <a:ext cx="10566400" cy="5080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lnSpc>
                <a:spcPct val="105000"/>
              </a:lnSpc>
              <a:buNone/>
            </a:pPr>
            <a:r>
              <a:rPr sz="3200" b="1">
                <a:solidFill>
                  <a:srgbClr val="14171C"/>
                </a:solidFill>
                <a:latin typeface="Arial"/>
                <a:ea typeface="Arial"/>
                <a:cs typeface="Arial"/>
              </a:rPr>
              <a:t>2,421 kWh a month, refrigeration around the clock</a:t>
            </a:r>
          </a:p>
        </p:txBody>
      </p:sp>
      <p:sp>
        <p:nvSpPr>
          <p:cNvPr id="4" name="Rounded Rectangle 3">
            <a:extLst xmlns:a="http://schemas.openxmlformats.org/drawingml/2006/main">
              <a:ext uri="{FF2B5EF4-FFF2-40B4-BE49-F238E27FC236}">
                <a16:creationId xmlns:a16="http://schemas.microsoft.com/office/drawing/2014/main" id="{10C785BC-DAE6-4DF3-9AE2-85D40F951606}"/>
              </a:ext>
            </a:extLst>
          </p:cNvPr>
          <p:cNvSpPr>
            <a:spLocks xmlns:a="http://schemas.openxmlformats.org/drawingml/2006/main" noGrp="1"/>
          </p:cNvSpPr>
          <p:nvPr/>
        </p:nvSpPr>
        <p:spPr>
          <a:xfrm xmlns:a="http://schemas.openxmlformats.org/drawingml/2006/main">
            <a:off x="812800" y="1905000"/>
            <a:ext cx="2527300" cy="1270000"/>
          </a:xfrm>
          <a:prstGeom xmlns:a="http://schemas.openxmlformats.org/drawingml/2006/main" prst="roundRect">
            <a:avLst>
              <a:gd name="adj" fmla="val 8000"/>
            </a:avLst>
          </a:prstGeom>
          <a:solidFill xmlns:a="http://schemas.openxmlformats.org/drawingml/2006/main">
            <a:srgbClr val="FCFCFD"/>
          </a:solidFill>
          <a:ln xmlns:a="http://schemas.openxmlformats.org/drawingml/2006/main" w="6350">
            <a:solidFill>
              <a:srgbClr val="DDE1E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37B94457-7786-40B4-B71C-00563F267865}"/>
              </a:ext>
            </a:extLst>
          </p:cNvPr>
          <p:cNvSpPr>
            <a:spLocks xmlns:a="http://schemas.openxmlformats.org/drawingml/2006/main" noGrp="1"/>
          </p:cNvSpPr>
          <p:nvPr/>
        </p:nvSpPr>
        <p:spPr>
          <a:xfrm xmlns:a="http://schemas.openxmlformats.org/drawingml/2006/main">
            <a:off x="1016000" y="2082800"/>
            <a:ext cx="2120900" cy="5715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lnSpc>
                <a:spcPct val="120000"/>
              </a:lnSpc>
              <a:buNone/>
            </a:pPr>
            <a:r>
              <a:rPr sz="3000" b="1">
                <a:solidFill>
                  <a:srgbClr val="14171C"/>
                </a:solidFill>
                <a:latin typeface="Consolas"/>
                <a:ea typeface="Consolas"/>
                <a:cs typeface="Consolas"/>
              </a:rPr>
              <a:t>2,421</a:t>
            </a:r>
          </a:p>
        </p:txBody>
      </p:sp>
      <p:sp>
        <p:nvSpPr>
          <p:cNvPr id="6" name="TextBox 5">
            <a:extLst xmlns:a="http://schemas.openxmlformats.org/drawingml/2006/main">
              <a:ext uri="{FF2B5EF4-FFF2-40B4-BE49-F238E27FC236}">
                <a16:creationId xmlns:a16="http://schemas.microsoft.com/office/drawing/2014/main" id="{0F78A271-1ED4-4C9B-9D92-21CCDC86E9EB}"/>
              </a:ext>
            </a:extLst>
          </p:cNvPr>
          <p:cNvSpPr>
            <a:spLocks xmlns:a="http://schemas.openxmlformats.org/drawingml/2006/main" noGrp="1"/>
          </p:cNvSpPr>
          <p:nvPr/>
        </p:nvSpPr>
        <p:spPr>
          <a:xfrm xmlns:a="http://schemas.openxmlformats.org/drawingml/2006/main">
            <a:off x="1016000" y="2679700"/>
            <a:ext cx="2120900"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lnSpc>
                <a:spcPct val="130000"/>
              </a:lnSpc>
              <a:buNone/>
            </a:pPr>
            <a:r>
              <a:rPr sz="1300" b="0">
                <a:solidFill>
                  <a:srgbClr val="4A5260"/>
                </a:solidFill>
                <a:latin typeface="Arial"/>
                <a:ea typeface="Arial"/>
                <a:cs typeface="Arial"/>
              </a:rPr>
              <a:t>kWh per month
312,070 − 309,649</a:t>
            </a:r>
          </a:p>
        </p:txBody>
      </p:sp>
      <p:sp>
        <p:nvSpPr>
          <p:cNvPr id="7" name="Rounded Rectangle 6">
            <a:extLst xmlns:a="http://schemas.openxmlformats.org/drawingml/2006/main">
              <a:ext uri="{FF2B5EF4-FFF2-40B4-BE49-F238E27FC236}">
                <a16:creationId xmlns:a16="http://schemas.microsoft.com/office/drawing/2014/main" id="{D1CC37FE-0B95-453F-A50D-684F496FC747}"/>
              </a:ext>
            </a:extLst>
          </p:cNvPr>
          <p:cNvSpPr>
            <a:spLocks xmlns:a="http://schemas.openxmlformats.org/drawingml/2006/main" noGrp="1"/>
          </p:cNvSpPr>
          <p:nvPr/>
        </p:nvSpPr>
        <p:spPr>
          <a:xfrm xmlns:a="http://schemas.openxmlformats.org/drawingml/2006/main">
            <a:off x="3492500" y="1905000"/>
            <a:ext cx="2527300" cy="1270000"/>
          </a:xfrm>
          <a:prstGeom xmlns:a="http://schemas.openxmlformats.org/drawingml/2006/main" prst="roundRect">
            <a:avLst>
              <a:gd name="adj" fmla="val 8000"/>
            </a:avLst>
          </a:prstGeom>
          <a:solidFill xmlns:a="http://schemas.openxmlformats.org/drawingml/2006/main">
            <a:srgbClr val="FCFCFD"/>
          </a:solidFill>
          <a:ln xmlns:a="http://schemas.openxmlformats.org/drawingml/2006/main" w="6350">
            <a:solidFill>
              <a:srgbClr val="DDE1E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TextBox 7">
            <a:extLst xmlns:a="http://schemas.openxmlformats.org/drawingml/2006/main">
              <a:ext uri="{FF2B5EF4-FFF2-40B4-BE49-F238E27FC236}">
                <a16:creationId xmlns:a16="http://schemas.microsoft.com/office/drawing/2014/main" id="{689BCD16-678B-4B0B-A819-252CDFD4A17D}"/>
              </a:ext>
            </a:extLst>
          </p:cNvPr>
          <p:cNvSpPr>
            <a:spLocks xmlns:a="http://schemas.openxmlformats.org/drawingml/2006/main" noGrp="1"/>
          </p:cNvSpPr>
          <p:nvPr/>
        </p:nvSpPr>
        <p:spPr>
          <a:xfrm xmlns:a="http://schemas.openxmlformats.org/drawingml/2006/main">
            <a:off x="3695700" y="2082800"/>
            <a:ext cx="2120900" cy="5715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lnSpc>
                <a:spcPct val="120000"/>
              </a:lnSpc>
              <a:buNone/>
            </a:pPr>
            <a:r>
              <a:rPr sz="3000" b="1">
                <a:solidFill>
                  <a:srgbClr val="14171C"/>
                </a:solidFill>
                <a:latin typeface="Consolas"/>
                <a:ea typeface="Consolas"/>
                <a:cs typeface="Consolas"/>
              </a:rPr>
              <a:t>80.7</a:t>
            </a:r>
          </a:p>
        </p:txBody>
      </p:sp>
      <p:sp>
        <p:nvSpPr>
          <p:cNvPr id="9" name="TextBox 8">
            <a:extLst xmlns:a="http://schemas.openxmlformats.org/drawingml/2006/main">
              <a:ext uri="{FF2B5EF4-FFF2-40B4-BE49-F238E27FC236}">
                <a16:creationId xmlns:a16="http://schemas.microsoft.com/office/drawing/2014/main" id="{8EE072C3-880F-4002-AA32-3B7031F0683D}"/>
              </a:ext>
            </a:extLst>
          </p:cNvPr>
          <p:cNvSpPr>
            <a:spLocks xmlns:a="http://schemas.openxmlformats.org/drawingml/2006/main" noGrp="1"/>
          </p:cNvSpPr>
          <p:nvPr/>
        </p:nvSpPr>
        <p:spPr>
          <a:xfrm xmlns:a="http://schemas.openxmlformats.org/drawingml/2006/main">
            <a:off x="3695700" y="2679700"/>
            <a:ext cx="2120900"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lnSpc>
                <a:spcPct val="130000"/>
              </a:lnSpc>
              <a:buNone/>
            </a:pPr>
            <a:r>
              <a:rPr sz="1300" b="0">
                <a:solidFill>
                  <a:srgbClr val="4A5260"/>
                </a:solidFill>
                <a:latin typeface="Arial"/>
                <a:ea typeface="Arial"/>
                <a:cs typeface="Arial"/>
              </a:rPr>
              <a:t>kWh per day
E = 2,421 ÷ 30</a:t>
            </a:r>
          </a:p>
        </p:txBody>
      </p:sp>
      <p:sp>
        <p:nvSpPr>
          <p:cNvPr id="10" name="Rounded Rectangle 9">
            <a:extLst xmlns:a="http://schemas.openxmlformats.org/drawingml/2006/main">
              <a:ext uri="{FF2B5EF4-FFF2-40B4-BE49-F238E27FC236}">
                <a16:creationId xmlns:a16="http://schemas.microsoft.com/office/drawing/2014/main" id="{9407F177-1596-4A9C-9DF7-D4C2D273A40A}"/>
              </a:ext>
            </a:extLst>
          </p:cNvPr>
          <p:cNvSpPr>
            <a:spLocks xmlns:a="http://schemas.openxmlformats.org/drawingml/2006/main" noGrp="1"/>
          </p:cNvSpPr>
          <p:nvPr/>
        </p:nvSpPr>
        <p:spPr>
          <a:xfrm xmlns:a="http://schemas.openxmlformats.org/drawingml/2006/main">
            <a:off x="6172200" y="1905000"/>
            <a:ext cx="2527300" cy="1270000"/>
          </a:xfrm>
          <a:prstGeom xmlns:a="http://schemas.openxmlformats.org/drawingml/2006/main" prst="roundRect">
            <a:avLst>
              <a:gd name="adj" fmla="val 8000"/>
            </a:avLst>
          </a:prstGeom>
          <a:solidFill xmlns:a="http://schemas.openxmlformats.org/drawingml/2006/main">
            <a:srgbClr val="FCFCFD"/>
          </a:solidFill>
          <a:ln xmlns:a="http://schemas.openxmlformats.org/drawingml/2006/main" w="6350">
            <a:solidFill>
              <a:srgbClr val="DDE1E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TextBox 10">
            <a:extLst xmlns:a="http://schemas.openxmlformats.org/drawingml/2006/main">
              <a:ext uri="{FF2B5EF4-FFF2-40B4-BE49-F238E27FC236}">
                <a16:creationId xmlns:a16="http://schemas.microsoft.com/office/drawing/2014/main" id="{5FD49576-8DA6-44B4-B45A-CFA455ACFD31}"/>
              </a:ext>
            </a:extLst>
          </p:cNvPr>
          <p:cNvSpPr>
            <a:spLocks xmlns:a="http://schemas.openxmlformats.org/drawingml/2006/main" noGrp="1"/>
          </p:cNvSpPr>
          <p:nvPr/>
        </p:nvSpPr>
        <p:spPr>
          <a:xfrm xmlns:a="http://schemas.openxmlformats.org/drawingml/2006/main">
            <a:off x="6375400" y="2082800"/>
            <a:ext cx="2120900" cy="5715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lnSpc>
                <a:spcPct val="120000"/>
              </a:lnSpc>
              <a:buNone/>
            </a:pPr>
            <a:r>
              <a:rPr sz="3000" b="1">
                <a:solidFill>
                  <a:srgbClr val="14171C"/>
                </a:solidFill>
                <a:latin typeface="Consolas"/>
                <a:ea typeface="Consolas"/>
                <a:cs typeface="Consolas"/>
              </a:rPr>
              <a:t>6,867</a:t>
            </a:r>
          </a:p>
        </p:txBody>
      </p:sp>
      <p:sp>
        <p:nvSpPr>
          <p:cNvPr id="12" name="TextBox 11">
            <a:extLst xmlns:a="http://schemas.openxmlformats.org/drawingml/2006/main">
              <a:ext uri="{FF2B5EF4-FFF2-40B4-BE49-F238E27FC236}">
                <a16:creationId xmlns:a16="http://schemas.microsoft.com/office/drawing/2014/main" id="{20B032AB-7EBC-4D69-9B62-A3DF28792EA0}"/>
              </a:ext>
            </a:extLst>
          </p:cNvPr>
          <p:cNvSpPr>
            <a:spLocks xmlns:a="http://schemas.openxmlformats.org/drawingml/2006/main" noGrp="1"/>
          </p:cNvSpPr>
          <p:nvPr/>
        </p:nvSpPr>
        <p:spPr>
          <a:xfrm xmlns:a="http://schemas.openxmlformats.org/drawingml/2006/main">
            <a:off x="6375400" y="2679700"/>
            <a:ext cx="2120900"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lnSpc>
                <a:spcPct val="130000"/>
              </a:lnSpc>
              <a:buNone/>
            </a:pPr>
            <a:r>
              <a:rPr sz="1300" b="0">
                <a:solidFill>
                  <a:srgbClr val="4A5260"/>
                </a:solidFill>
                <a:latin typeface="Arial"/>
                <a:ea typeface="Arial"/>
                <a:cs typeface="Arial"/>
              </a:rPr>
              <a:t>EGP per month
at the official tariff</a:t>
            </a:r>
          </a:p>
        </p:txBody>
      </p:sp>
      <p:sp>
        <p:nvSpPr>
          <p:cNvPr id="13" name="Rounded Rectangle 12">
            <a:extLst xmlns:a="http://schemas.openxmlformats.org/drawingml/2006/main">
              <a:ext uri="{FF2B5EF4-FFF2-40B4-BE49-F238E27FC236}">
                <a16:creationId xmlns:a16="http://schemas.microsoft.com/office/drawing/2014/main" id="{123E285A-43BB-4FF3-8526-CBFB60F8B4A7}"/>
              </a:ext>
            </a:extLst>
          </p:cNvPr>
          <p:cNvSpPr>
            <a:spLocks xmlns:a="http://schemas.openxmlformats.org/drawingml/2006/main" noGrp="1"/>
          </p:cNvSpPr>
          <p:nvPr/>
        </p:nvSpPr>
        <p:spPr>
          <a:xfrm xmlns:a="http://schemas.openxmlformats.org/drawingml/2006/main">
            <a:off x="8851900" y="1905000"/>
            <a:ext cx="2527300" cy="1270000"/>
          </a:xfrm>
          <a:prstGeom xmlns:a="http://schemas.openxmlformats.org/drawingml/2006/main" prst="roundRect">
            <a:avLst>
              <a:gd name="adj" fmla="val 8000"/>
            </a:avLst>
          </a:prstGeom>
          <a:solidFill xmlns:a="http://schemas.openxmlformats.org/drawingml/2006/main">
            <a:srgbClr val="FCFCFD"/>
          </a:solidFill>
          <a:ln xmlns:a="http://schemas.openxmlformats.org/drawingml/2006/main" w="6350">
            <a:solidFill>
              <a:srgbClr val="DDE1E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 name="TextBox 13">
            <a:extLst xmlns:a="http://schemas.openxmlformats.org/drawingml/2006/main">
              <a:ext uri="{FF2B5EF4-FFF2-40B4-BE49-F238E27FC236}">
                <a16:creationId xmlns:a16="http://schemas.microsoft.com/office/drawing/2014/main" id="{0179C0E1-4065-411C-8A2C-F9761B5EE0F4}"/>
              </a:ext>
            </a:extLst>
          </p:cNvPr>
          <p:cNvSpPr>
            <a:spLocks xmlns:a="http://schemas.openxmlformats.org/drawingml/2006/main" noGrp="1"/>
          </p:cNvSpPr>
          <p:nvPr/>
        </p:nvSpPr>
        <p:spPr>
          <a:xfrm xmlns:a="http://schemas.openxmlformats.org/drawingml/2006/main">
            <a:off x="9055100" y="2082800"/>
            <a:ext cx="2120900" cy="5715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lnSpc>
                <a:spcPct val="120000"/>
              </a:lnSpc>
              <a:buNone/>
            </a:pPr>
            <a:r>
              <a:rPr sz="3000" b="1">
                <a:solidFill>
                  <a:srgbClr val="14171C"/>
                </a:solidFill>
                <a:latin typeface="Consolas"/>
                <a:ea typeface="Consolas"/>
                <a:cs typeface="Consolas"/>
              </a:rPr>
              <a:t>50%</a:t>
            </a:r>
          </a:p>
        </p:txBody>
      </p:sp>
      <p:sp>
        <p:nvSpPr>
          <p:cNvPr id="15" name="TextBox 14">
            <a:extLst xmlns:a="http://schemas.openxmlformats.org/drawingml/2006/main">
              <a:ext uri="{FF2B5EF4-FFF2-40B4-BE49-F238E27FC236}">
                <a16:creationId xmlns:a16="http://schemas.microsoft.com/office/drawing/2014/main" id="{1D5F4E64-5DEF-4996-8A25-7472EFA03CAF}"/>
              </a:ext>
            </a:extLst>
          </p:cNvPr>
          <p:cNvSpPr>
            <a:spLocks xmlns:a="http://schemas.openxmlformats.org/drawingml/2006/main" noGrp="1"/>
          </p:cNvSpPr>
          <p:nvPr/>
        </p:nvSpPr>
        <p:spPr>
          <a:xfrm xmlns:a="http://schemas.openxmlformats.org/drawingml/2006/main">
            <a:off x="9055100" y="2679700"/>
            <a:ext cx="2120900" cy="515112"/>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lnSpc>
                <a:spcPct val="130000"/>
              </a:lnSpc>
              <a:buNone/>
            </a:pPr>
            <a:r>
              <a:rPr sz="1300" b="0">
                <a:solidFill>
                  <a:srgbClr val="4A5260"/>
                </a:solidFill>
                <a:latin typeface="Arial"/>
                <a:ea typeface="Arial"/>
                <a:cs typeface="Arial"/>
              </a:rPr>
              <a:t>assumed night share
50% day / 50% night</a:t>
            </a:r>
          </a:p>
        </p:txBody>
      </p:sp>
      <p:sp>
        <p:nvSpPr>
          <p:cNvPr id="17" name="TextBox 16">
            <a:extLst xmlns:a="http://schemas.openxmlformats.org/drawingml/2006/main">
              <a:ext uri="{FF2B5EF4-FFF2-40B4-BE49-F238E27FC236}">
                <a16:creationId xmlns:a16="http://schemas.microsoft.com/office/drawing/2014/main" id="{7DC329D4-3216-4899-8876-FD0A14E40595}"/>
              </a:ext>
            </a:extLst>
          </p:cNvPr>
          <p:cNvSpPr>
            <a:spLocks xmlns:a="http://schemas.openxmlformats.org/drawingml/2006/main" noGrp="1"/>
          </p:cNvSpPr>
          <p:nvPr/>
        </p:nvSpPr>
        <p:spPr>
          <a:xfrm xmlns:a="http://schemas.openxmlformats.org/drawingml/2006/main">
            <a:off x="809625" y="5676900"/>
            <a:ext cx="10572750" cy="56197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5000"/>
              </a:lnSpc>
              <a:buNone/>
              <a:defRPr sz="1275" b="0">
                <a:solidFill>
                  <a:srgbClr val="4A5260"/>
                </a:solidFill>
                <a:latin typeface="Arial"/>
                <a:ea typeface="Arial"/>
                <a:cs typeface="Arial"/>
              </a:defRPr>
            </a:pPr>
            <a:r>
              <a:rPr sz="1275" b="0">
                <a:solidFill>
                  <a:srgbClr val="4A5260"/>
                </a:solidFill>
                <a:latin typeface="Arial"/>
                <a:ea typeface="Arial"/>
                <a:cs typeface="Arial"/>
              </a:rPr>
              <a:t>Receipt: 8,279 EGP. Tariff model: 6,867.22 EGP. The 1,411.78 EGP difference needs the detailed invoice.</a:t>
            </a:r>
          </a:p>
          <a:p xmlns:a="http://schemas.openxmlformats.org/drawingml/2006/main">
            <a:pPr algn="l">
              <a:lnSpc>
                <a:spcPct val="135000"/>
              </a:lnSpc>
              <a:buNone/>
              <a:defRPr sz="1275" b="0">
                <a:solidFill>
                  <a:srgbClr val="4A5260"/>
                </a:solidFill>
                <a:latin typeface="Arial"/>
                <a:ea typeface="Arial"/>
                <a:cs typeface="Arial"/>
              </a:defRPr>
            </a:pPr>
            <a:r>
              <a:rPr sz="1275" b="0">
                <a:solidFill>
                  <a:srgbClr val="4A5260"/>
                </a:solidFill>
                <a:latin typeface="Arial"/>
                <a:ea typeface="Arial"/>
                <a:cs typeface="Arial"/>
              </a:rPr>
              <a:t>Daily use assumes a 30-day billing period. The 50/50 split is an unmeasured scenario.</a:t>
            </a:r>
          </a:p>
        </p:txBody>
      </p:sp>
      <p:graphicFrame>
        <p:nvGraphicFramePr>
          <p:cNvPr id="39" name=""/>
          <p:cNvGraphicFramePr/>
          <p:nvPr/>
        </p:nvGraphicFramePr>
        <p:xfrm>
          <a:off xmlns:a="http://schemas.openxmlformats.org/drawingml/2006/main" x="809625" y="3571875"/>
          <a:ext xmlns:a="http://schemas.openxmlformats.org/drawingml/2006/main" cx="6096000" cy="2019300"/>
        </p:xfrm>
        <a:graphic xmlns:a="http://schemas.openxmlformats.org/drawingml/2006/main">
          <a:graphicData uri="http://schemas.openxmlformats.org/drawingml/2006/table">
            <a:tbl>
              <a:tblPr/>
              <a:tblGrid>
                <a:gridCol w="1762125"/>
                <a:gridCol w="2266950"/>
                <a:gridCol w="2066925"/>
              </a:tblGrid>
              <a:tr h="304800">
                <a:tc>
                  <a:txBody>
                    <a:bodyPr/>
                    <a:lstStyle/>
                    <a:p>
                      <a:r>
                        <a:rPr sz="1275" b="1">
                          <a:solidFill>
                            <a:srgbClr val="14171C"/>
                          </a:solidFill>
                          <a:latin typeface="Arial"/>
                          <a:ea typeface="Arial"/>
                          <a:cs typeface="Arial"/>
                        </a:rPr>
                        <a:t>Monthly kWh</a:t>
                      </a:r>
                    </a:p>
                  </a:txBody>
                  <a:tcPr marL="85725" marR="85725" marT="19050" marB="19050">
                    <a:solidFill>
                      <a:srgbClr val="E6E9ED"/>
                    </a:solidFill>
                  </a:tcPr>
                </a:tc>
                <a:tc>
                  <a:txBody>
                    <a:bodyPr/>
                    <a:lstStyle/>
                    <a:p>
                      <a:r>
                        <a:rPr sz="1275" b="1">
                          <a:solidFill>
                            <a:srgbClr val="14171C"/>
                          </a:solidFill>
                          <a:latin typeface="Arial"/>
                          <a:ea typeface="Arial"/>
                          <a:cs typeface="Arial"/>
                        </a:rPr>
                        <a:t>EGP / kWh</a:t>
                      </a:r>
                    </a:p>
                  </a:txBody>
                  <a:tcPr marL="85725" marR="85725" marT="19050" marB="19050">
                    <a:solidFill>
                      <a:srgbClr val="E6E9ED"/>
                    </a:solidFill>
                  </a:tcPr>
                </a:tc>
                <a:tc>
                  <a:txBody>
                    <a:bodyPr/>
                    <a:lstStyle/>
                    <a:p>
                      <a:r>
                        <a:rPr sz="1275" b="1">
                          <a:solidFill>
                            <a:srgbClr val="14171C"/>
                          </a:solidFill>
                          <a:latin typeface="Arial"/>
                          <a:ea typeface="Arial"/>
                          <a:cs typeface="Arial"/>
                        </a:rPr>
                        <a:t>Service fee (EGP)</a:t>
                      </a:r>
                    </a:p>
                  </a:txBody>
                  <a:tcPr marL="85725" marR="85725" marT="19050" marB="19050">
                    <a:solidFill>
                      <a:srgbClr val="E6E9ED"/>
                    </a:solidFill>
                  </a:tcPr>
                </a:tc>
              </a:tr>
              <a:tr h="285750">
                <a:tc>
                  <a:txBody>
                    <a:bodyPr/>
                    <a:lstStyle/>
                    <a:p>
                      <a:r>
                        <a:rPr sz="1275" b="0">
                          <a:solidFill>
                            <a:srgbClr val="14171C"/>
                          </a:solidFill>
                          <a:latin typeface="Arial"/>
                          <a:ea typeface="Arial"/>
                          <a:cs typeface="Arial"/>
                        </a:rPr>
                        <a:t>1–100</a:t>
                      </a:r>
                    </a:p>
                  </a:txBody>
                  <a:tcPr marL="85725" marR="85725" marT="19050" marB="19050">
                    <a:solidFill>
                      <a:srgbClr val="FCFCFD"/>
                    </a:solidFill>
                  </a:tcPr>
                </a:tc>
                <a:tc>
                  <a:txBody>
                    <a:bodyPr/>
                    <a:lstStyle/>
                    <a:p>
                      <a:r>
                        <a:rPr sz="1275" b="0">
                          <a:solidFill>
                            <a:srgbClr val="14171C"/>
                          </a:solidFill>
                          <a:latin typeface="Arial"/>
                          <a:ea typeface="Arial"/>
                          <a:cs typeface="Arial"/>
                        </a:rPr>
                        <a:t>1.62, all units</a:t>
                      </a:r>
                    </a:p>
                  </a:txBody>
                  <a:tcPr marL="85725" marR="85725" marT="19050" marB="19050">
                    <a:solidFill>
                      <a:srgbClr val="FCFCFD"/>
                    </a:solidFill>
                  </a:tcPr>
                </a:tc>
                <a:tc>
                  <a:txBody>
                    <a:bodyPr/>
                    <a:lstStyle/>
                    <a:p>
                      <a:r>
                        <a:rPr sz="1275" b="0">
                          <a:solidFill>
                            <a:srgbClr val="14171C"/>
                          </a:solidFill>
                          <a:latin typeface="Arial"/>
                          <a:ea typeface="Arial"/>
                          <a:cs typeface="Arial"/>
                        </a:rPr>
                        <a:t>5</a:t>
                      </a:r>
                    </a:p>
                  </a:txBody>
                  <a:tcPr marL="85725" marR="85725" marT="19050" marB="19050">
                    <a:solidFill>
                      <a:srgbClr val="FCFCFD"/>
                    </a:solidFill>
                  </a:tcPr>
                </a:tc>
              </a:tr>
              <a:tr h="285750">
                <a:tc>
                  <a:txBody>
                    <a:bodyPr/>
                    <a:lstStyle/>
                    <a:p>
                      <a:r>
                        <a:rPr sz="1275" b="0">
                          <a:solidFill>
                            <a:srgbClr val="14171C"/>
                          </a:solidFill>
                          <a:latin typeface="Arial"/>
                          <a:ea typeface="Arial"/>
                          <a:cs typeface="Arial"/>
                        </a:rPr>
                        <a:t>101–250</a:t>
                      </a:r>
                    </a:p>
                  </a:txBody>
                  <a:tcPr marL="85725" marR="85725" marT="19050" marB="19050">
                    <a:solidFill>
                      <a:srgbClr val="F4F5F7"/>
                    </a:solidFill>
                  </a:tcPr>
                </a:tc>
                <a:tc>
                  <a:txBody>
                    <a:bodyPr/>
                    <a:lstStyle/>
                    <a:p>
                      <a:r>
                        <a:rPr sz="1275" b="0">
                          <a:solidFill>
                            <a:srgbClr val="14171C"/>
                          </a:solidFill>
                          <a:latin typeface="Arial"/>
                          <a:ea typeface="Arial"/>
                          <a:cs typeface="Arial"/>
                        </a:rPr>
                        <a:t>2.16, all units</a:t>
                      </a:r>
                    </a:p>
                  </a:txBody>
                  <a:tcPr marL="85725" marR="85725" marT="19050" marB="19050">
                    <a:solidFill>
                      <a:srgbClr val="F4F5F7"/>
                    </a:solidFill>
                  </a:tcPr>
                </a:tc>
                <a:tc>
                  <a:txBody>
                    <a:bodyPr/>
                    <a:lstStyle/>
                    <a:p>
                      <a:r>
                        <a:rPr sz="1275" b="0">
                          <a:solidFill>
                            <a:srgbClr val="14171C"/>
                          </a:solidFill>
                          <a:latin typeface="Arial"/>
                          <a:ea typeface="Arial"/>
                          <a:cs typeface="Arial"/>
                        </a:rPr>
                        <a:t>15</a:t>
                      </a:r>
                    </a:p>
                  </a:txBody>
                  <a:tcPr marL="85725" marR="85725" marT="19050" marB="19050">
                    <a:solidFill>
                      <a:srgbClr val="F4F5F7"/>
                    </a:solidFill>
                  </a:tcPr>
                </a:tc>
              </a:tr>
              <a:tr h="285750">
                <a:tc>
                  <a:txBody>
                    <a:bodyPr/>
                    <a:lstStyle/>
                    <a:p>
                      <a:r>
                        <a:rPr sz="1275" b="0">
                          <a:solidFill>
                            <a:srgbClr val="14171C"/>
                          </a:solidFill>
                          <a:latin typeface="Arial"/>
                          <a:ea typeface="Arial"/>
                          <a:cs typeface="Arial"/>
                        </a:rPr>
                        <a:t>251–600</a:t>
                      </a:r>
                    </a:p>
                  </a:txBody>
                  <a:tcPr marL="85725" marR="85725" marT="19050" marB="19050">
                    <a:solidFill>
                      <a:srgbClr val="FCFCFD"/>
                    </a:solidFill>
                  </a:tcPr>
                </a:tc>
                <a:tc>
                  <a:txBody>
                    <a:bodyPr/>
                    <a:lstStyle/>
                    <a:p>
                      <a:r>
                        <a:rPr sz="1275" b="0">
                          <a:solidFill>
                            <a:srgbClr val="14171C"/>
                          </a:solidFill>
                          <a:latin typeface="Arial"/>
                          <a:ea typeface="Arial"/>
                          <a:cs typeface="Arial"/>
                        </a:rPr>
                        <a:t>2.64, all units</a:t>
                      </a:r>
                    </a:p>
                  </a:txBody>
                  <a:tcPr marL="85725" marR="85725" marT="19050" marB="19050">
                    <a:solidFill>
                      <a:srgbClr val="FCFCFD"/>
                    </a:solidFill>
                  </a:tcPr>
                </a:tc>
                <a:tc>
                  <a:txBody>
                    <a:bodyPr/>
                    <a:lstStyle/>
                    <a:p>
                      <a:r>
                        <a:rPr sz="1275" b="0">
                          <a:solidFill>
                            <a:srgbClr val="14171C"/>
                          </a:solidFill>
                          <a:latin typeface="Arial"/>
                          <a:ea typeface="Arial"/>
                          <a:cs typeface="Arial"/>
                        </a:rPr>
                        <a:t>20</a:t>
                      </a:r>
                    </a:p>
                  </a:txBody>
                  <a:tcPr marL="85725" marR="85725" marT="19050" marB="19050">
                    <a:solidFill>
                      <a:srgbClr val="FCFCFD"/>
                    </a:solidFill>
                  </a:tcPr>
                </a:tc>
              </a:tr>
              <a:tr h="285750">
                <a:tc>
                  <a:txBody>
                    <a:bodyPr/>
                    <a:lstStyle/>
                    <a:p>
                      <a:r>
                        <a:rPr sz="1275" b="0">
                          <a:solidFill>
                            <a:srgbClr val="14171C"/>
                          </a:solidFill>
                          <a:latin typeface="Arial"/>
                          <a:ea typeface="Arial"/>
                          <a:cs typeface="Arial"/>
                        </a:rPr>
                        <a:t>601–1,000</a:t>
                      </a:r>
                    </a:p>
                  </a:txBody>
                  <a:tcPr marL="85725" marR="85725" marT="19050" marB="19050">
                    <a:solidFill>
                      <a:srgbClr val="F4F5F7"/>
                    </a:solidFill>
                  </a:tcPr>
                </a:tc>
                <a:tc>
                  <a:txBody>
                    <a:bodyPr/>
                    <a:lstStyle/>
                    <a:p>
                      <a:r>
                        <a:rPr sz="1275" b="0">
                          <a:solidFill>
                            <a:srgbClr val="14171C"/>
                          </a:solidFill>
                          <a:latin typeface="Arial"/>
                          <a:ea typeface="Arial"/>
                          <a:cs typeface="Arial"/>
                        </a:rPr>
                        <a:t>2.64 / 2.74*</a:t>
                      </a:r>
                    </a:p>
                  </a:txBody>
                  <a:tcPr marL="85725" marR="85725" marT="19050" marB="19050">
                    <a:solidFill>
                      <a:srgbClr val="F4F5F7"/>
                    </a:solidFill>
                  </a:tcPr>
                </a:tc>
                <a:tc>
                  <a:txBody>
                    <a:bodyPr/>
                    <a:lstStyle/>
                    <a:p>
                      <a:r>
                        <a:rPr sz="1275" b="0">
                          <a:solidFill>
                            <a:srgbClr val="14171C"/>
                          </a:solidFill>
                          <a:latin typeface="Arial"/>
                          <a:ea typeface="Arial"/>
                          <a:cs typeface="Arial"/>
                        </a:rPr>
                        <a:t>25</a:t>
                      </a:r>
                    </a:p>
                  </a:txBody>
                  <a:tcPr marL="85725" marR="85725" marT="19050" marB="19050">
                    <a:solidFill>
                      <a:srgbClr val="F4F5F7"/>
                    </a:solidFill>
                  </a:tcPr>
                </a:tc>
              </a:tr>
              <a:tr h="285750">
                <a:tc>
                  <a:txBody>
                    <a:bodyPr/>
                    <a:lstStyle/>
                    <a:p>
                      <a:r>
                        <a:rPr sz="1275" b="0">
                          <a:solidFill>
                            <a:srgbClr val="14171C"/>
                          </a:solidFill>
                          <a:latin typeface="Arial"/>
                          <a:ea typeface="Arial"/>
                          <a:cs typeface="Arial"/>
                        </a:rPr>
                        <a:t>Above 1,000</a:t>
                      </a:r>
                    </a:p>
                  </a:txBody>
                  <a:tcPr marL="85725" marR="85725" marT="19050" marB="19050">
                    <a:solidFill>
                      <a:srgbClr val="FCFCFD"/>
                    </a:solidFill>
                  </a:tcPr>
                </a:tc>
                <a:tc>
                  <a:txBody>
                    <a:bodyPr/>
                    <a:lstStyle/>
                    <a:p>
                      <a:r>
                        <a:rPr sz="1275" b="0">
                          <a:solidFill>
                            <a:srgbClr val="14171C"/>
                          </a:solidFill>
                          <a:latin typeface="Arial"/>
                          <a:ea typeface="Arial"/>
                          <a:cs typeface="Arial"/>
                        </a:rPr>
                        <a:t>2.79, all units</a:t>
                      </a:r>
                    </a:p>
                  </a:txBody>
                  <a:tcPr marL="85725" marR="85725" marT="19050" marB="19050">
                    <a:solidFill>
                      <a:srgbClr val="FCFCFD"/>
                    </a:solidFill>
                  </a:tcPr>
                </a:tc>
                <a:tc>
                  <a:txBody>
                    <a:bodyPr/>
                    <a:lstStyle/>
                    <a:p>
                      <a:r>
                        <a:rPr sz="1275" b="0">
                          <a:solidFill>
                            <a:srgbClr val="14171C"/>
                          </a:solidFill>
                          <a:latin typeface="Arial"/>
                          <a:ea typeface="Arial"/>
                          <a:cs typeface="Arial"/>
                        </a:rPr>
                        <a:t>40</a:t>
                      </a:r>
                    </a:p>
                  </a:txBody>
                  <a:tcPr marL="85725" marR="85725" marT="19050" marB="19050">
                    <a:solidFill>
                      <a:srgbClr val="FCFCFD"/>
                    </a:solidFill>
                  </a:tcPr>
                </a:tc>
              </a:tr>
              <a:tr h="285750">
                <a:tc>
                  <a:txBody>
                    <a:bodyPr/>
                    <a:lstStyle/>
                    <a:p>
                      <a:r>
                        <a:rPr sz="1275" b="0">
                          <a:solidFill>
                            <a:srgbClr val="14171C"/>
                          </a:solidFill>
                          <a:latin typeface="Arial"/>
                          <a:ea typeface="Arial"/>
                          <a:cs typeface="Arial"/>
                        </a:rPr>
                        <a:t>Zero use</a:t>
                      </a:r>
                    </a:p>
                  </a:txBody>
                  <a:tcPr marL="85725" marR="85725" marT="19050" marB="19050">
                    <a:solidFill>
                      <a:srgbClr val="F4F5F7"/>
                    </a:solidFill>
                  </a:tcPr>
                </a:tc>
                <a:tc>
                  <a:txBody>
                    <a:bodyPr/>
                    <a:lstStyle/>
                    <a:p>
                      <a:r>
                        <a:rPr sz="1275" b="0">
                          <a:solidFill>
                            <a:srgbClr val="14171C"/>
                          </a:solidFill>
                          <a:latin typeface="Arial"/>
                          <a:ea typeface="Arial"/>
                          <a:cs typeface="Arial"/>
                        </a:rPr>
                        <a:t>—</a:t>
                      </a:r>
                    </a:p>
                  </a:txBody>
                  <a:tcPr marL="85725" marR="85725" marT="19050" marB="19050">
                    <a:solidFill>
                      <a:srgbClr val="F4F5F7"/>
                    </a:solidFill>
                  </a:tcPr>
                </a:tc>
                <a:tc>
                  <a:txBody>
                    <a:bodyPr/>
                    <a:lstStyle/>
                    <a:p>
                      <a:r>
                        <a:rPr sz="1275" b="0">
                          <a:solidFill>
                            <a:srgbClr val="14171C"/>
                          </a:solidFill>
                          <a:latin typeface="Arial"/>
                          <a:ea typeface="Arial"/>
                          <a:cs typeface="Arial"/>
                        </a:rPr>
                        <a:t>9</a:t>
                      </a:r>
                    </a:p>
                  </a:txBody>
                  <a:tcPr marL="85725" marR="85725" marT="19050" marB="19050">
                    <a:solidFill>
                      <a:srgbClr val="F4F5F7"/>
                    </a:solidFill>
                  </a:tcPr>
                </a:tc>
              </a:tr>
            </a:tbl>
          </a:graphicData>
        </a:graphic>
      </p:graphicFrame>
      <p:sp>
        <p:nvSpPr>
          <p:cNvPr id="19" name="">
            <a:extLst xmlns:a="http://schemas.openxmlformats.org/drawingml/2006/main">
              <a:ext uri="{FF2B5EF4-FFF2-40B4-BE49-F238E27FC236}">
                <a16:creationId xmlns:a16="http://schemas.microsoft.com/office/drawing/2014/main" id="{14B567C3-3683-4406-B996-68E79DBAA6A1}"/>
              </a:ext>
            </a:extLst>
          </p:cNvPr>
          <p:cNvSpPr>
            <a:spLocks xmlns:a="http://schemas.openxmlformats.org/drawingml/2006/main" noGrp="1"/>
          </p:cNvSpPr>
          <p:nvPr/>
        </p:nvSpPr>
        <p:spPr>
          <a:xfrm xmlns:a="http://schemas.openxmlformats.org/drawingml/2006/main">
            <a:off x="809625" y="3228975"/>
            <a:ext cx="609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1">
                <a:solidFill>
                  <a:srgbClr val="B84E0E"/>
                </a:solidFill>
                <a:latin typeface="Arial"/>
                <a:ea typeface="Arial"/>
                <a:cs typeface="Arial"/>
              </a:defRPr>
            </a:pPr>
            <a:r>
              <a:rPr sz="1350" b="1">
                <a:solidFill>
                  <a:srgbClr val="B84E0E"/>
                </a:solidFill>
                <a:latin typeface="Arial"/>
                <a:ea typeface="Arial"/>
                <a:cs typeface="Arial"/>
              </a:rPr>
              <a:t>Commercial tariff and monthly bill</a:t>
            </a:r>
          </a:p>
        </p:txBody>
      </p:sp>
      <p:sp>
        <p:nvSpPr>
          <p:cNvPr id="20" name="">
            <a:extLst xmlns:a="http://schemas.openxmlformats.org/drawingml/2006/main">
              <a:ext uri="{FF2B5EF4-FFF2-40B4-BE49-F238E27FC236}">
                <a16:creationId xmlns:a16="http://schemas.microsoft.com/office/drawing/2014/main" id="{4A9E8BC9-053C-4B68-A1E9-9C36BA0E2E89}"/>
              </a:ext>
            </a:extLst>
          </p:cNvPr>
          <p:cNvSpPr>
            <a:spLocks xmlns:a="http://schemas.openxmlformats.org/drawingml/2006/main" noGrp="1"/>
          </p:cNvSpPr>
          <p:nvPr/>
        </p:nvSpPr>
        <p:spPr>
          <a:xfrm xmlns:a="http://schemas.openxmlformats.org/drawingml/2006/main">
            <a:off x="7143750" y="3514725"/>
            <a:ext cx="423862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14171C"/>
                </a:solidFill>
                <a:latin typeface="Consolas"/>
                <a:ea typeface="Consolas"/>
                <a:cs typeface="Consolas"/>
              </a:defRPr>
            </a:pPr>
            <a:r>
              <a:rPr sz="1500" b="0">
                <a:solidFill>
                  <a:srgbClr val="14171C"/>
                </a:solidFill>
                <a:latin typeface="Consolas"/>
                <a:ea typeface="Consolas"/>
                <a:cs typeface="Consolas"/>
              </a:rPr>
              <a:t>Bill = energy + service + 0.03 × kWh</a:t>
            </a:r>
          </a:p>
          <a:p xmlns:a="http://schemas.openxmlformats.org/drawingml/2006/main">
            <a:pPr>
              <a:buNone/>
              <a:defRPr sz="1500" b="0">
                <a:solidFill>
                  <a:srgbClr val="14171C"/>
                </a:solidFill>
                <a:latin typeface="Consolas"/>
                <a:ea typeface="Consolas"/>
                <a:cs typeface="Consolas"/>
              </a:defRPr>
            </a:pPr>
            <a:r>
              <a:rPr sz="1500" b="0">
                <a:solidFill>
                  <a:srgbClr val="14171C"/>
                </a:solidFill>
                <a:latin typeface="Consolas"/>
                <a:ea typeface="Consolas"/>
                <a:cs typeface="Consolas"/>
              </a:rPr>
              <a:t>2,421 × 2.79 = 6,754.59</a:t>
            </a:r>
          </a:p>
          <a:p xmlns:a="http://schemas.openxmlformats.org/drawingml/2006/main">
            <a:pPr>
              <a:buNone/>
              <a:defRPr sz="1500" b="0">
                <a:solidFill>
                  <a:srgbClr val="14171C"/>
                </a:solidFill>
                <a:latin typeface="Consolas"/>
                <a:ea typeface="Consolas"/>
                <a:cs typeface="Consolas"/>
              </a:defRPr>
            </a:pPr>
            <a:r>
              <a:rPr sz="1500" b="0">
                <a:solidFill>
                  <a:srgbClr val="14171C"/>
                </a:solidFill>
                <a:latin typeface="Consolas"/>
                <a:ea typeface="Consolas"/>
                <a:cs typeface="Consolas"/>
              </a:rPr>
              <a:t>+ 40 + 72.63 = 6,867.22 EGP</a:t>
            </a:r>
          </a:p>
        </p:txBody>
      </p:sp>
      <p:sp>
        <p:nvSpPr>
          <p:cNvPr id="21" name="">
            <a:extLst xmlns:a="http://schemas.openxmlformats.org/drawingml/2006/main">
              <a:ext uri="{FF2B5EF4-FFF2-40B4-BE49-F238E27FC236}">
                <a16:creationId xmlns:a16="http://schemas.microsoft.com/office/drawing/2014/main" id="{0DD7AAA5-D351-4680-9DFE-4594FEEF4E51}"/>
              </a:ext>
            </a:extLst>
          </p:cNvPr>
          <p:cNvSpPr>
            <a:spLocks xmlns:a="http://schemas.openxmlformats.org/drawingml/2006/main" noGrp="1"/>
          </p:cNvSpPr>
          <p:nvPr/>
        </p:nvSpPr>
        <p:spPr>
          <a:xfrm xmlns:a="http://schemas.openxmlformats.org/drawingml/2006/main">
            <a:off x="7143750" y="4829175"/>
            <a:ext cx="42386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4A5260"/>
                </a:solidFill>
                <a:latin typeface="Arial"/>
                <a:ea typeface="Arial"/>
                <a:cs typeface="Arial"/>
              </a:defRPr>
            </a:pPr>
            <a:r>
              <a:rPr sz="1275" b="0">
                <a:solidFill>
                  <a:srgbClr val="4A5260"/>
                </a:solidFill>
                <a:latin typeface="Arial"/>
                <a:ea typeface="Arial"/>
                <a:cs typeface="Arial"/>
              </a:rPr>
              <a:t>*601–1,000: first 600 at 2.64, rest at 2.74.</a:t>
            </a:r>
          </a:p>
          <a:p xmlns:a="http://schemas.openxmlformats.org/drawingml/2006/main">
            <a:pPr>
              <a:buNone/>
              <a:defRPr sz="1275" b="0">
                <a:solidFill>
                  <a:srgbClr val="4A5260"/>
                </a:solidFill>
                <a:latin typeface="Arial"/>
                <a:ea typeface="Arial"/>
                <a:cs typeface="Arial"/>
              </a:defRPr>
            </a:pPr>
            <a:r>
              <a:rPr sz="1275" b="0">
                <a:solidFill>
                  <a:srgbClr val="4A5260"/>
                </a:solidFill>
                <a:latin typeface="Arial"/>
                <a:ea typeface="Arial"/>
                <a:cs typeface="Arial"/>
              </a:rPr>
              <a:t>Consumption stamp: 0.03 EGP/kWh.</a:t>
            </a:r>
          </a:p>
        </p:txBody>
      </p:sp>
      <p:sp>
        <p:nvSpPr>
          <p:cNvPr id="22" name="">
            <a:extLst xmlns:a="http://schemas.openxmlformats.org/drawingml/2006/main">
              <a:ext uri="{FF2B5EF4-FFF2-40B4-BE49-F238E27FC236}">
                <a16:creationId xmlns:a16="http://schemas.microsoft.com/office/drawing/2014/main" id="{EF7647FF-8F08-4E08-8510-9F46AE6A9758}"/>
              </a:ext>
            </a:extLst>
          </p:cNvPr>
          <p:cNvSpPr>
            <a:spLocks xmlns:a="http://schemas.openxmlformats.org/drawingml/2006/main" noGrp="1"/>
          </p:cNvSpPr>
          <p:nvPr/>
        </p:nvSpPr>
        <p:spPr>
          <a:xfrm xmlns:a="http://schemas.openxmlformats.org/drawingml/2006/main">
            <a:off x="809625" y="633412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4A5260"/>
                </a:solidFill>
                <a:latin typeface="Arial"/>
                <a:ea typeface="Arial"/>
                <a:cs typeface="Arial"/>
              </a:defRPr>
            </a:pPr>
            <a:r>
              <a:rPr sz="1200" b="0">
                <a:solidFill>
                  <a:srgbClr val="4A5260"/>
                </a:solidFill>
                <a:latin typeface="Arial"/>
                <a:ea typeface="Arial"/>
                <a:cs typeface="Arial"/>
              </a:rPr>
              <a:t>Source: EgyptERA, commercial tariff from April 2026. Annual 3 EGP stamp excluded equally from both cases.</a:t>
            </a:r>
          </a:p>
        </p:txBody>
      </p:sp>
    </p:spTree>
    <p:extLst>
      <p:ext uri="{BB962C8B-B14F-4D97-AF65-F5344CB8AC3E}">
        <p14:creationId xmlns:p14="http://schemas.microsoft.com/office/powerpoint/2010/main" val="1458210311"/>
      </p:ext>
    </p:extLst>
  </p:cSld>
</p:sld>
</file>

<file path=ppt/slides/slide3.xml><?xml version="1.0" encoding="utf-8"?>
<p:sld xmlns:p="http://schemas.openxmlformats.org/presentationml/2006/main">
  <p:cSld>
    <p:bg>
      <p:bgPr>
        <a:solidFill xmlns:a="http://schemas.openxmlformats.org/drawingml/2006/main">
          <a:srgbClr val="F4F5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1399F34-80F4-4818-B0E9-B9007E5E60F1}"/>
              </a:ext>
            </a:extLst>
          </p:cNvPr>
          <p:cNvSpPr>
            <a:spLocks xmlns:a="http://schemas.openxmlformats.org/drawingml/2006/main" noGrp="1"/>
          </p:cNvSpPr>
          <p:nvPr/>
        </p:nvSpPr>
        <p:spPr>
          <a:xfrm xmlns:a="http://schemas.openxmlformats.org/drawingml/2006/main">
            <a:off x="809625" y="80962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1">
                <a:solidFill>
                  <a:srgbClr val="B84E0E"/>
                </a:solidFill>
                <a:latin typeface="Arial"/>
                <a:ea typeface="Arial"/>
                <a:cs typeface="Arial"/>
              </a:defRPr>
            </a:pPr>
            <a:r>
              <a:rPr sz="1350" b="1">
                <a:solidFill>
                  <a:srgbClr val="B84E0E"/>
                </a:solidFill>
                <a:latin typeface="Arial"/>
                <a:ea typeface="Arial"/>
                <a:cs typeface="Arial"/>
              </a:rPr>
              <a:t>REFERENCE · PVGIS CAIRO</a:t>
            </a:r>
          </a:p>
        </p:txBody>
      </p:sp>
      <p:sp>
        <p:nvSpPr>
          <p:cNvPr id="2" name="">
            <a:extLst xmlns:a="http://schemas.openxmlformats.org/drawingml/2006/main">
              <a:ext uri="{FF2B5EF4-FFF2-40B4-BE49-F238E27FC236}">
                <a16:creationId xmlns:a16="http://schemas.microsoft.com/office/drawing/2014/main" id="{A07429BA-3B42-4F08-B7DC-B48FB8A7E539}"/>
              </a:ext>
            </a:extLst>
          </p:cNvPr>
          <p:cNvSpPr>
            <a:spLocks xmlns:a="http://schemas.openxmlformats.org/drawingml/2006/main" noGrp="1"/>
          </p:cNvSpPr>
          <p:nvPr/>
        </p:nvSpPr>
        <p:spPr>
          <a:xfrm xmlns:a="http://schemas.openxmlformats.org/drawingml/2006/main">
            <a:off x="809625" y="1114425"/>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4171C"/>
                </a:solidFill>
                <a:latin typeface="Arial"/>
                <a:ea typeface="Arial"/>
                <a:cs typeface="Arial"/>
              </a:defRPr>
            </a:pPr>
            <a:r>
              <a:rPr sz="3150" b="1">
                <a:solidFill>
                  <a:srgbClr val="14171C"/>
                </a:solidFill>
                <a:latin typeface="Arial"/>
                <a:ea typeface="Arial"/>
                <a:cs typeface="Arial"/>
              </a:rPr>
              <a:t>Monthly solar electricity production</a:t>
            </a:r>
          </a:p>
        </p:txBody>
      </p:sp>
      <p:sp>
        <p:nvSpPr>
          <p:cNvPr id="3" name="">
            <a:extLst xmlns:a="http://schemas.openxmlformats.org/drawingml/2006/main">
              <a:ext uri="{FF2B5EF4-FFF2-40B4-BE49-F238E27FC236}">
                <a16:creationId xmlns:a16="http://schemas.microsoft.com/office/drawing/2014/main" id="{9F6C6EB7-2F59-4F00-A742-236691F1376A}"/>
              </a:ext>
            </a:extLst>
          </p:cNvPr>
          <p:cNvSpPr>
            <a:spLocks xmlns:a="http://schemas.openxmlformats.org/drawingml/2006/main" noGrp="1"/>
          </p:cNvSpPr>
          <p:nvPr/>
        </p:nvSpPr>
        <p:spPr>
          <a:xfrm xmlns:a="http://schemas.openxmlformats.org/drawingml/2006/main">
            <a:off x="809625" y="1685925"/>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4A5260"/>
                </a:solidFill>
                <a:latin typeface="Arial"/>
                <a:ea typeface="Arial"/>
                <a:cs typeface="Arial"/>
              </a:defRPr>
            </a:pPr>
            <a:r>
              <a:rPr sz="1500" b="0">
                <a:solidFill>
                  <a:srgbClr val="4A5260"/>
                </a:solidFill>
                <a:latin typeface="Arial"/>
                <a:ea typeface="Arial"/>
                <a:cs typeface="Arial"/>
              </a:rPr>
              <a:t>Reference system: 1 kWp. A 550 W panel is shown as an illustrative panel size.</a:t>
            </a:r>
          </a:p>
        </p:txBody>
      </p:sp>
      <p:graphicFrame>
        <p:nvGraphicFramePr>
          <p:cNvPr id="12" name=""/>
          <p:cNvGraphicFramePr/>
          <p:nvPr/>
        </p:nvGraphicFramePr>
        <p:xfrm>
          <a:off xmlns:a="http://schemas.openxmlformats.org/drawingml/2006/main" x="809625" y="2095500"/>
          <a:ext xmlns:a="http://schemas.openxmlformats.org/drawingml/2006/main" cx="10572750" cy="3810000"/>
        </p:xfrm>
        <a:graphic xmlns:a="http://schemas.openxmlformats.org/drawingml/2006/main">
          <a:graphicData uri="http://schemas.openxmlformats.org/drawingml/2006/table">
            <a:tbl>
              <a:tblPr/>
              <a:tblGrid>
                <a:gridCol w="2381250"/>
                <a:gridCol w="2571750"/>
                <a:gridCol w="2762250"/>
                <a:gridCol w="2857500"/>
              </a:tblGrid>
              <a:tr h="476250">
                <a:tc>
                  <a:txBody>
                    <a:bodyPr/>
                    <a:lstStyle/>
                    <a:p>
                      <a:r>
                        <a:rPr sz="1200" b="1">
                          <a:solidFill>
                            <a:srgbClr val="14171C"/>
                          </a:solidFill>
                          <a:latin typeface="Arial"/>
                          <a:ea typeface="Arial"/>
                          <a:cs typeface="Arial"/>
                        </a:rPr>
                        <a:t>Month</a:t>
                      </a:r>
                    </a:p>
                  </a:txBody>
                  <a:tcPr marL="76200" marR="76200" marT="19050" marB="19050">
                    <a:solidFill>
                      <a:srgbClr val="E8EBEF"/>
                    </a:solidFill>
                  </a:tcPr>
                </a:tc>
                <a:tc>
                  <a:txBody>
                    <a:bodyPr/>
                    <a:lstStyle/>
                    <a:p>
                      <a:r>
                        <a:rPr sz="1200" b="1">
                          <a:solidFill>
                            <a:srgbClr val="14171C"/>
                          </a:solidFill>
                          <a:latin typeface="Arial"/>
                          <a:ea typeface="Arial"/>
                          <a:cs typeface="Arial"/>
                        </a:rPr>
                        <a:t>Daily / 1 kWp</a:t>
                      </a:r>
                    </a:p>
                    <a:p>
                      <a:r>
                        <a:rPr sz="1200" b="1">
                          <a:solidFill>
                            <a:srgbClr val="14171C"/>
                          </a:solidFill>
                          <a:latin typeface="Arial"/>
                          <a:ea typeface="Arial"/>
                          <a:cs typeface="Arial"/>
                        </a:rPr>
                        <a:t>(kWh/day)</a:t>
                      </a:r>
                    </a:p>
                  </a:txBody>
                  <a:tcPr marL="76200" marR="76200" marT="19050" marB="19050">
                    <a:solidFill>
                      <a:srgbClr val="E8EBEF"/>
                    </a:solidFill>
                  </a:tcPr>
                </a:tc>
                <a:tc>
                  <a:txBody>
                    <a:bodyPr/>
                    <a:lstStyle/>
                    <a:p>
                      <a:r>
                        <a:rPr sz="1200" b="1">
                          <a:solidFill>
                            <a:srgbClr val="14171C"/>
                          </a:solidFill>
                          <a:latin typeface="Arial"/>
                          <a:ea typeface="Arial"/>
                          <a:cs typeface="Arial"/>
                        </a:rPr>
                        <a:t>Monthly / 1 kWp</a:t>
                      </a:r>
                    </a:p>
                    <a:p>
                      <a:r>
                        <a:rPr sz="1200" b="1">
                          <a:solidFill>
                            <a:srgbClr val="14171C"/>
                          </a:solidFill>
                          <a:latin typeface="Arial"/>
                          <a:ea typeface="Arial"/>
                          <a:cs typeface="Arial"/>
                        </a:rPr>
                        <a:t>(kWh/month)</a:t>
                      </a:r>
                    </a:p>
                  </a:txBody>
                  <a:tcPr marL="76200" marR="76200" marT="19050" marB="19050">
                    <a:solidFill>
                      <a:srgbClr val="E8EBEF"/>
                    </a:solidFill>
                  </a:tcPr>
                </a:tc>
                <a:tc>
                  <a:txBody>
                    <a:bodyPr/>
                    <a:lstStyle/>
                    <a:p>
                      <a:r>
                        <a:rPr sz="1200" b="1">
                          <a:solidFill>
                            <a:srgbClr val="14171C"/>
                          </a:solidFill>
                          <a:latin typeface="Arial"/>
                          <a:ea typeface="Arial"/>
                          <a:cs typeface="Arial"/>
                        </a:rPr>
                        <a:t>Daily / 550 W panel</a:t>
                      </a:r>
                    </a:p>
                    <a:p>
                      <a:r>
                        <a:rPr sz="1200" b="1">
                          <a:solidFill>
                            <a:srgbClr val="14171C"/>
                          </a:solidFill>
                          <a:latin typeface="Arial"/>
                          <a:ea typeface="Arial"/>
                          <a:cs typeface="Arial"/>
                        </a:rPr>
                        <a:t>(kWh/day)</a:t>
                      </a:r>
                    </a:p>
                  </a:txBody>
                  <a:tcPr marL="76200" marR="76200" marT="19050" marB="19050">
                    <a:solidFill>
                      <a:srgbClr val="E8EBEF"/>
                    </a:solidFill>
                  </a:tcPr>
                </a:tc>
              </a:tr>
              <a:tr h="285750">
                <a:tc>
                  <a:txBody>
                    <a:bodyPr/>
                    <a:lstStyle/>
                    <a:p>
                      <a:r>
                        <a:rPr sz="1275" b="0">
                          <a:solidFill>
                            <a:srgbClr val="14171C"/>
                          </a:solidFill>
                          <a:latin typeface="Arial"/>
                          <a:ea typeface="Arial"/>
                          <a:cs typeface="Arial"/>
                        </a:rPr>
                        <a:t>January</a:t>
                      </a:r>
                    </a:p>
                  </a:txBody>
                  <a:tcPr marL="76200" marR="76200" marT="19050" marB="19050">
                    <a:solidFill>
                      <a:srgbClr val="FCFCFD"/>
                    </a:solidFill>
                  </a:tcPr>
                </a:tc>
                <a:tc>
                  <a:txBody>
                    <a:bodyPr/>
                    <a:lstStyle/>
                    <a:p>
                      <a:r>
                        <a:rPr sz="1275" b="0">
                          <a:solidFill>
                            <a:srgbClr val="14171C"/>
                          </a:solidFill>
                          <a:latin typeface="Arial"/>
                          <a:ea typeface="Arial"/>
                          <a:cs typeface="Arial"/>
                        </a:rPr>
                        <a:t>4.24</a:t>
                      </a:r>
                    </a:p>
                  </a:txBody>
                  <a:tcPr marL="76200" marR="76200" marT="19050" marB="19050">
                    <a:solidFill>
                      <a:srgbClr val="FCFCFD"/>
                    </a:solidFill>
                  </a:tcPr>
                </a:tc>
                <a:tc>
                  <a:txBody>
                    <a:bodyPr/>
                    <a:lstStyle/>
                    <a:p>
                      <a:r>
                        <a:rPr sz="1275" b="0">
                          <a:solidFill>
                            <a:srgbClr val="14171C"/>
                          </a:solidFill>
                          <a:latin typeface="Arial"/>
                          <a:ea typeface="Arial"/>
                          <a:cs typeface="Arial"/>
                        </a:rPr>
                        <a:t>131.30</a:t>
                      </a:r>
                    </a:p>
                  </a:txBody>
                  <a:tcPr marL="76200" marR="76200" marT="19050" marB="19050">
                    <a:solidFill>
                      <a:srgbClr val="FCFCFD"/>
                    </a:solidFill>
                  </a:tcPr>
                </a:tc>
                <a:tc>
                  <a:txBody>
                    <a:bodyPr/>
                    <a:lstStyle/>
                    <a:p>
                      <a:r>
                        <a:rPr sz="1275" b="0">
                          <a:solidFill>
                            <a:srgbClr val="14171C"/>
                          </a:solidFill>
                          <a:latin typeface="Arial"/>
                          <a:ea typeface="Arial"/>
                          <a:cs typeface="Arial"/>
                        </a:rPr>
                        <a:t>2.33</a:t>
                      </a:r>
                    </a:p>
                  </a:txBody>
                  <a:tcPr marL="76200" marR="76200" marT="19050" marB="19050">
                    <a:solidFill>
                      <a:srgbClr val="FCFCFD"/>
                    </a:solidFill>
                  </a:tcPr>
                </a:tc>
              </a:tr>
              <a:tr h="285750">
                <a:tc>
                  <a:txBody>
                    <a:bodyPr/>
                    <a:lstStyle/>
                    <a:p>
                      <a:r>
                        <a:rPr sz="1275" b="0">
                          <a:solidFill>
                            <a:srgbClr val="14171C"/>
                          </a:solidFill>
                          <a:latin typeface="Arial"/>
                          <a:ea typeface="Arial"/>
                          <a:cs typeface="Arial"/>
                        </a:rPr>
                        <a:t>February</a:t>
                      </a:r>
                    </a:p>
                  </a:txBody>
                  <a:tcPr marL="76200" marR="76200" marT="19050" marB="19050">
                    <a:solidFill>
                      <a:srgbClr val="F4F5F7"/>
                    </a:solidFill>
                  </a:tcPr>
                </a:tc>
                <a:tc>
                  <a:txBody>
                    <a:bodyPr/>
                    <a:lstStyle/>
                    <a:p>
                      <a:r>
                        <a:rPr sz="1275" b="0">
                          <a:solidFill>
                            <a:srgbClr val="14171C"/>
                          </a:solidFill>
                          <a:latin typeface="Arial"/>
                          <a:ea typeface="Arial"/>
                          <a:cs typeface="Arial"/>
                        </a:rPr>
                        <a:t>4.62</a:t>
                      </a:r>
                    </a:p>
                  </a:txBody>
                  <a:tcPr marL="76200" marR="76200" marT="19050" marB="19050">
                    <a:solidFill>
                      <a:srgbClr val="F4F5F7"/>
                    </a:solidFill>
                  </a:tcPr>
                </a:tc>
                <a:tc>
                  <a:txBody>
                    <a:bodyPr/>
                    <a:lstStyle/>
                    <a:p>
                      <a:r>
                        <a:rPr sz="1275" b="0">
                          <a:solidFill>
                            <a:srgbClr val="14171C"/>
                          </a:solidFill>
                          <a:latin typeface="Arial"/>
                          <a:ea typeface="Arial"/>
                          <a:cs typeface="Arial"/>
                        </a:rPr>
                        <a:t>129.45</a:t>
                      </a:r>
                    </a:p>
                  </a:txBody>
                  <a:tcPr marL="76200" marR="76200" marT="19050" marB="19050">
                    <a:solidFill>
                      <a:srgbClr val="F4F5F7"/>
                    </a:solidFill>
                  </a:tcPr>
                </a:tc>
                <a:tc>
                  <a:txBody>
                    <a:bodyPr/>
                    <a:lstStyle/>
                    <a:p>
                      <a:r>
                        <a:rPr sz="1275" b="0">
                          <a:solidFill>
                            <a:srgbClr val="14171C"/>
                          </a:solidFill>
                          <a:latin typeface="Arial"/>
                          <a:ea typeface="Arial"/>
                          <a:cs typeface="Arial"/>
                        </a:rPr>
                        <a:t>2.54</a:t>
                      </a:r>
                    </a:p>
                  </a:txBody>
                  <a:tcPr marL="76200" marR="76200" marT="19050" marB="19050">
                    <a:solidFill>
                      <a:srgbClr val="F4F5F7"/>
                    </a:solidFill>
                  </a:tcPr>
                </a:tc>
              </a:tr>
              <a:tr h="285750">
                <a:tc>
                  <a:txBody>
                    <a:bodyPr/>
                    <a:lstStyle/>
                    <a:p>
                      <a:r>
                        <a:rPr sz="1275" b="0">
                          <a:solidFill>
                            <a:srgbClr val="14171C"/>
                          </a:solidFill>
                          <a:latin typeface="Arial"/>
                          <a:ea typeface="Arial"/>
                          <a:cs typeface="Arial"/>
                        </a:rPr>
                        <a:t>March</a:t>
                      </a:r>
                    </a:p>
                  </a:txBody>
                  <a:tcPr marL="76200" marR="76200" marT="19050" marB="19050">
                    <a:solidFill>
                      <a:srgbClr val="FCFCFD"/>
                    </a:solidFill>
                  </a:tcPr>
                </a:tc>
                <a:tc>
                  <a:txBody>
                    <a:bodyPr/>
                    <a:lstStyle/>
                    <a:p>
                      <a:r>
                        <a:rPr sz="1275" b="0">
                          <a:solidFill>
                            <a:srgbClr val="14171C"/>
                          </a:solidFill>
                          <a:latin typeface="Arial"/>
                          <a:ea typeface="Arial"/>
                          <a:cs typeface="Arial"/>
                        </a:rPr>
                        <a:t>5.20</a:t>
                      </a:r>
                    </a:p>
                  </a:txBody>
                  <a:tcPr marL="76200" marR="76200" marT="19050" marB="19050">
                    <a:solidFill>
                      <a:srgbClr val="FCFCFD"/>
                    </a:solidFill>
                  </a:tcPr>
                </a:tc>
                <a:tc>
                  <a:txBody>
                    <a:bodyPr/>
                    <a:lstStyle/>
                    <a:p>
                      <a:r>
                        <a:rPr sz="1275" b="0">
                          <a:solidFill>
                            <a:srgbClr val="14171C"/>
                          </a:solidFill>
                          <a:latin typeface="Arial"/>
                          <a:ea typeface="Arial"/>
                          <a:cs typeface="Arial"/>
                        </a:rPr>
                        <a:t>161.06</a:t>
                      </a:r>
                    </a:p>
                  </a:txBody>
                  <a:tcPr marL="76200" marR="76200" marT="19050" marB="19050">
                    <a:solidFill>
                      <a:srgbClr val="FCFCFD"/>
                    </a:solidFill>
                  </a:tcPr>
                </a:tc>
                <a:tc>
                  <a:txBody>
                    <a:bodyPr/>
                    <a:lstStyle/>
                    <a:p>
                      <a:r>
                        <a:rPr sz="1275" b="0">
                          <a:solidFill>
                            <a:srgbClr val="14171C"/>
                          </a:solidFill>
                          <a:latin typeface="Arial"/>
                          <a:ea typeface="Arial"/>
                          <a:cs typeface="Arial"/>
                        </a:rPr>
                        <a:t>2.86</a:t>
                      </a:r>
                    </a:p>
                  </a:txBody>
                  <a:tcPr marL="76200" marR="76200" marT="19050" marB="19050">
                    <a:solidFill>
                      <a:srgbClr val="FCFCFD"/>
                    </a:solidFill>
                  </a:tcPr>
                </a:tc>
              </a:tr>
              <a:tr h="285750">
                <a:tc>
                  <a:txBody>
                    <a:bodyPr/>
                    <a:lstStyle/>
                    <a:p>
                      <a:r>
                        <a:rPr sz="1275" b="0">
                          <a:solidFill>
                            <a:srgbClr val="14171C"/>
                          </a:solidFill>
                          <a:latin typeface="Arial"/>
                          <a:ea typeface="Arial"/>
                          <a:cs typeface="Arial"/>
                        </a:rPr>
                        <a:t>April</a:t>
                      </a:r>
                    </a:p>
                  </a:txBody>
                  <a:tcPr marL="76200" marR="76200" marT="19050" marB="19050">
                    <a:solidFill>
                      <a:srgbClr val="F4F5F7"/>
                    </a:solidFill>
                  </a:tcPr>
                </a:tc>
                <a:tc>
                  <a:txBody>
                    <a:bodyPr/>
                    <a:lstStyle/>
                    <a:p>
                      <a:r>
                        <a:rPr sz="1275" b="0">
                          <a:solidFill>
                            <a:srgbClr val="14171C"/>
                          </a:solidFill>
                          <a:latin typeface="Arial"/>
                          <a:ea typeface="Arial"/>
                          <a:cs typeface="Arial"/>
                        </a:rPr>
                        <a:t>5.36</a:t>
                      </a:r>
                    </a:p>
                  </a:txBody>
                  <a:tcPr marL="76200" marR="76200" marT="19050" marB="19050">
                    <a:solidFill>
                      <a:srgbClr val="F4F5F7"/>
                    </a:solidFill>
                  </a:tcPr>
                </a:tc>
                <a:tc>
                  <a:txBody>
                    <a:bodyPr/>
                    <a:lstStyle/>
                    <a:p>
                      <a:r>
                        <a:rPr sz="1275" b="0">
                          <a:solidFill>
                            <a:srgbClr val="14171C"/>
                          </a:solidFill>
                          <a:latin typeface="Arial"/>
                          <a:ea typeface="Arial"/>
                          <a:cs typeface="Arial"/>
                        </a:rPr>
                        <a:t>160.86</a:t>
                      </a:r>
                    </a:p>
                  </a:txBody>
                  <a:tcPr marL="76200" marR="76200" marT="19050" marB="19050">
                    <a:solidFill>
                      <a:srgbClr val="F4F5F7"/>
                    </a:solidFill>
                  </a:tcPr>
                </a:tc>
                <a:tc>
                  <a:txBody>
                    <a:bodyPr/>
                    <a:lstStyle/>
                    <a:p>
                      <a:r>
                        <a:rPr sz="1275" b="0">
                          <a:solidFill>
                            <a:srgbClr val="14171C"/>
                          </a:solidFill>
                          <a:latin typeface="Arial"/>
                          <a:ea typeface="Arial"/>
                          <a:cs typeface="Arial"/>
                        </a:rPr>
                        <a:t>2.95</a:t>
                      </a:r>
                    </a:p>
                  </a:txBody>
                  <a:tcPr marL="76200" marR="76200" marT="19050" marB="19050">
                    <a:solidFill>
                      <a:srgbClr val="F4F5F7"/>
                    </a:solidFill>
                  </a:tcPr>
                </a:tc>
              </a:tr>
              <a:tr h="285750">
                <a:tc>
                  <a:txBody>
                    <a:bodyPr/>
                    <a:lstStyle/>
                    <a:p>
                      <a:r>
                        <a:rPr sz="1275" b="0">
                          <a:solidFill>
                            <a:srgbClr val="14171C"/>
                          </a:solidFill>
                          <a:latin typeface="Arial"/>
                          <a:ea typeface="Arial"/>
                          <a:cs typeface="Arial"/>
                        </a:rPr>
                        <a:t>May</a:t>
                      </a:r>
                    </a:p>
                  </a:txBody>
                  <a:tcPr marL="76200" marR="76200" marT="19050" marB="19050">
                    <a:solidFill>
                      <a:srgbClr val="FCFCFD"/>
                    </a:solidFill>
                  </a:tcPr>
                </a:tc>
                <a:tc>
                  <a:txBody>
                    <a:bodyPr/>
                    <a:lstStyle/>
                    <a:p>
                      <a:r>
                        <a:rPr sz="1275" b="0">
                          <a:solidFill>
                            <a:srgbClr val="14171C"/>
                          </a:solidFill>
                          <a:latin typeface="Arial"/>
                          <a:ea typeface="Arial"/>
                          <a:cs typeface="Arial"/>
                        </a:rPr>
                        <a:t>5.25</a:t>
                      </a:r>
                    </a:p>
                  </a:txBody>
                  <a:tcPr marL="76200" marR="76200" marT="19050" marB="19050">
                    <a:solidFill>
                      <a:srgbClr val="FCFCFD"/>
                    </a:solidFill>
                  </a:tcPr>
                </a:tc>
                <a:tc>
                  <a:txBody>
                    <a:bodyPr/>
                    <a:lstStyle/>
                    <a:p>
                      <a:r>
                        <a:rPr sz="1275" b="0">
                          <a:solidFill>
                            <a:srgbClr val="14171C"/>
                          </a:solidFill>
                          <a:latin typeface="Arial"/>
                          <a:ea typeface="Arial"/>
                          <a:cs typeface="Arial"/>
                        </a:rPr>
                        <a:t>162.72</a:t>
                      </a:r>
                    </a:p>
                  </a:txBody>
                  <a:tcPr marL="76200" marR="76200" marT="19050" marB="19050">
                    <a:solidFill>
                      <a:srgbClr val="FCFCFD"/>
                    </a:solidFill>
                  </a:tcPr>
                </a:tc>
                <a:tc>
                  <a:txBody>
                    <a:bodyPr/>
                    <a:lstStyle/>
                    <a:p>
                      <a:r>
                        <a:rPr sz="1275" b="0">
                          <a:solidFill>
                            <a:srgbClr val="14171C"/>
                          </a:solidFill>
                          <a:latin typeface="Arial"/>
                          <a:ea typeface="Arial"/>
                          <a:cs typeface="Arial"/>
                        </a:rPr>
                        <a:t>2.89</a:t>
                      </a:r>
                    </a:p>
                  </a:txBody>
                  <a:tcPr marL="76200" marR="76200" marT="19050" marB="19050">
                    <a:solidFill>
                      <a:srgbClr val="FCFCFD"/>
                    </a:solidFill>
                  </a:tcPr>
                </a:tc>
              </a:tr>
              <a:tr h="285750">
                <a:tc>
                  <a:txBody>
                    <a:bodyPr/>
                    <a:lstStyle/>
                    <a:p>
                      <a:r>
                        <a:rPr sz="1275" b="0">
                          <a:solidFill>
                            <a:srgbClr val="14171C"/>
                          </a:solidFill>
                          <a:latin typeface="Arial"/>
                          <a:ea typeface="Arial"/>
                          <a:cs typeface="Arial"/>
                        </a:rPr>
                        <a:t>June</a:t>
                      </a:r>
                    </a:p>
                  </a:txBody>
                  <a:tcPr marL="76200" marR="76200" marT="19050" marB="19050">
                    <a:solidFill>
                      <a:srgbClr val="F4F5F7"/>
                    </a:solidFill>
                  </a:tcPr>
                </a:tc>
                <a:tc>
                  <a:txBody>
                    <a:bodyPr/>
                    <a:lstStyle/>
                    <a:p>
                      <a:r>
                        <a:rPr sz="1275" b="0">
                          <a:solidFill>
                            <a:srgbClr val="14171C"/>
                          </a:solidFill>
                          <a:latin typeface="Arial"/>
                          <a:ea typeface="Arial"/>
                          <a:cs typeface="Arial"/>
                        </a:rPr>
                        <a:t>5.29</a:t>
                      </a:r>
                    </a:p>
                  </a:txBody>
                  <a:tcPr marL="76200" marR="76200" marT="19050" marB="19050">
                    <a:solidFill>
                      <a:srgbClr val="F4F5F7"/>
                    </a:solidFill>
                  </a:tcPr>
                </a:tc>
                <a:tc>
                  <a:txBody>
                    <a:bodyPr/>
                    <a:lstStyle/>
                    <a:p>
                      <a:r>
                        <a:rPr sz="1275" b="0">
                          <a:solidFill>
                            <a:srgbClr val="14171C"/>
                          </a:solidFill>
                          <a:latin typeface="Arial"/>
                          <a:ea typeface="Arial"/>
                          <a:cs typeface="Arial"/>
                        </a:rPr>
                        <a:t>158.62</a:t>
                      </a:r>
                    </a:p>
                  </a:txBody>
                  <a:tcPr marL="76200" marR="76200" marT="19050" marB="19050">
                    <a:solidFill>
                      <a:srgbClr val="F4F5F7"/>
                    </a:solidFill>
                  </a:tcPr>
                </a:tc>
                <a:tc>
                  <a:txBody>
                    <a:bodyPr/>
                    <a:lstStyle/>
                    <a:p>
                      <a:r>
                        <a:rPr sz="1275" b="0">
                          <a:solidFill>
                            <a:srgbClr val="14171C"/>
                          </a:solidFill>
                          <a:latin typeface="Arial"/>
                          <a:ea typeface="Arial"/>
                          <a:cs typeface="Arial"/>
                        </a:rPr>
                        <a:t>2.91</a:t>
                      </a:r>
                    </a:p>
                  </a:txBody>
                  <a:tcPr marL="76200" marR="76200" marT="19050" marB="19050">
                    <a:solidFill>
                      <a:srgbClr val="F4F5F7"/>
                    </a:solidFill>
                  </a:tcPr>
                </a:tc>
              </a:tr>
              <a:tr h="285750">
                <a:tc>
                  <a:txBody>
                    <a:bodyPr/>
                    <a:lstStyle/>
                    <a:p>
                      <a:r>
                        <a:rPr sz="1275" b="0">
                          <a:solidFill>
                            <a:srgbClr val="14171C"/>
                          </a:solidFill>
                          <a:latin typeface="Arial"/>
                          <a:ea typeface="Arial"/>
                          <a:cs typeface="Arial"/>
                        </a:rPr>
                        <a:t>July</a:t>
                      </a:r>
                    </a:p>
                  </a:txBody>
                  <a:tcPr marL="76200" marR="76200" marT="19050" marB="19050">
                    <a:solidFill>
                      <a:srgbClr val="FCFCFD"/>
                    </a:solidFill>
                  </a:tcPr>
                </a:tc>
                <a:tc>
                  <a:txBody>
                    <a:bodyPr/>
                    <a:lstStyle/>
                    <a:p>
                      <a:r>
                        <a:rPr sz="1275" b="0">
                          <a:solidFill>
                            <a:srgbClr val="14171C"/>
                          </a:solidFill>
                          <a:latin typeface="Arial"/>
                          <a:ea typeface="Arial"/>
                          <a:cs typeface="Arial"/>
                        </a:rPr>
                        <a:t>5.31</a:t>
                      </a:r>
                    </a:p>
                  </a:txBody>
                  <a:tcPr marL="76200" marR="76200" marT="19050" marB="19050">
                    <a:solidFill>
                      <a:srgbClr val="FCFCFD"/>
                    </a:solidFill>
                  </a:tcPr>
                </a:tc>
                <a:tc>
                  <a:txBody>
                    <a:bodyPr/>
                    <a:lstStyle/>
                    <a:p>
                      <a:r>
                        <a:rPr sz="1275" b="0">
                          <a:solidFill>
                            <a:srgbClr val="14171C"/>
                          </a:solidFill>
                          <a:latin typeface="Arial"/>
                          <a:ea typeface="Arial"/>
                          <a:cs typeface="Arial"/>
                        </a:rPr>
                        <a:t>164.66</a:t>
                      </a:r>
                    </a:p>
                  </a:txBody>
                  <a:tcPr marL="76200" marR="76200" marT="19050" marB="19050">
                    <a:solidFill>
                      <a:srgbClr val="FCFCFD"/>
                    </a:solidFill>
                  </a:tcPr>
                </a:tc>
                <a:tc>
                  <a:txBody>
                    <a:bodyPr/>
                    <a:lstStyle/>
                    <a:p>
                      <a:r>
                        <a:rPr sz="1275" b="0">
                          <a:solidFill>
                            <a:srgbClr val="14171C"/>
                          </a:solidFill>
                          <a:latin typeface="Arial"/>
                          <a:ea typeface="Arial"/>
                          <a:cs typeface="Arial"/>
                        </a:rPr>
                        <a:t>2.92</a:t>
                      </a:r>
                    </a:p>
                  </a:txBody>
                  <a:tcPr marL="76200" marR="76200" marT="19050" marB="19050">
                    <a:solidFill>
                      <a:srgbClr val="FCFCFD"/>
                    </a:solidFill>
                  </a:tcPr>
                </a:tc>
              </a:tr>
              <a:tr h="285750">
                <a:tc>
                  <a:txBody>
                    <a:bodyPr/>
                    <a:lstStyle/>
                    <a:p>
                      <a:r>
                        <a:rPr sz="1275" b="0">
                          <a:solidFill>
                            <a:srgbClr val="14171C"/>
                          </a:solidFill>
                          <a:latin typeface="Arial"/>
                          <a:ea typeface="Arial"/>
                          <a:cs typeface="Arial"/>
                        </a:rPr>
                        <a:t>August</a:t>
                      </a:r>
                    </a:p>
                  </a:txBody>
                  <a:tcPr marL="76200" marR="76200" marT="19050" marB="19050">
                    <a:solidFill>
                      <a:srgbClr val="F4F5F7"/>
                    </a:solidFill>
                  </a:tcPr>
                </a:tc>
                <a:tc>
                  <a:txBody>
                    <a:bodyPr/>
                    <a:lstStyle/>
                    <a:p>
                      <a:r>
                        <a:rPr sz="1275" b="0">
                          <a:solidFill>
                            <a:srgbClr val="14171C"/>
                          </a:solidFill>
                          <a:latin typeface="Arial"/>
                          <a:ea typeface="Arial"/>
                          <a:cs typeface="Arial"/>
                        </a:rPr>
                        <a:t>5.38</a:t>
                      </a:r>
                    </a:p>
                  </a:txBody>
                  <a:tcPr marL="76200" marR="76200" marT="19050" marB="19050">
                    <a:solidFill>
                      <a:srgbClr val="F4F5F7"/>
                    </a:solidFill>
                  </a:tcPr>
                </a:tc>
                <a:tc>
                  <a:txBody>
                    <a:bodyPr/>
                    <a:lstStyle/>
                    <a:p>
                      <a:r>
                        <a:rPr sz="1275" b="0">
                          <a:solidFill>
                            <a:srgbClr val="14171C"/>
                          </a:solidFill>
                          <a:latin typeface="Arial"/>
                          <a:ea typeface="Arial"/>
                          <a:cs typeface="Arial"/>
                        </a:rPr>
                        <a:t>166.80</a:t>
                      </a:r>
                    </a:p>
                  </a:txBody>
                  <a:tcPr marL="76200" marR="76200" marT="19050" marB="19050">
                    <a:solidFill>
                      <a:srgbClr val="F4F5F7"/>
                    </a:solidFill>
                  </a:tcPr>
                </a:tc>
                <a:tc>
                  <a:txBody>
                    <a:bodyPr/>
                    <a:lstStyle/>
                    <a:p>
                      <a:r>
                        <a:rPr sz="1275" b="0">
                          <a:solidFill>
                            <a:srgbClr val="14171C"/>
                          </a:solidFill>
                          <a:latin typeface="Arial"/>
                          <a:ea typeface="Arial"/>
                          <a:cs typeface="Arial"/>
                        </a:rPr>
                        <a:t>2.96</a:t>
                      </a:r>
                    </a:p>
                  </a:txBody>
                  <a:tcPr marL="76200" marR="76200" marT="19050" marB="19050">
                    <a:solidFill>
                      <a:srgbClr val="F4F5F7"/>
                    </a:solidFill>
                  </a:tcPr>
                </a:tc>
              </a:tr>
              <a:tr h="285750">
                <a:tc>
                  <a:txBody>
                    <a:bodyPr/>
                    <a:lstStyle/>
                    <a:p>
                      <a:r>
                        <a:rPr sz="1275" b="0">
                          <a:solidFill>
                            <a:srgbClr val="14171C"/>
                          </a:solidFill>
                          <a:latin typeface="Arial"/>
                          <a:ea typeface="Arial"/>
                          <a:cs typeface="Arial"/>
                        </a:rPr>
                        <a:t>September</a:t>
                      </a:r>
                    </a:p>
                  </a:txBody>
                  <a:tcPr marL="76200" marR="76200" marT="19050" marB="19050">
                    <a:solidFill>
                      <a:srgbClr val="FCFCFD"/>
                    </a:solidFill>
                  </a:tcPr>
                </a:tc>
                <a:tc>
                  <a:txBody>
                    <a:bodyPr/>
                    <a:lstStyle/>
                    <a:p>
                      <a:r>
                        <a:rPr sz="1275" b="0">
                          <a:solidFill>
                            <a:srgbClr val="14171C"/>
                          </a:solidFill>
                          <a:latin typeface="Arial"/>
                          <a:ea typeface="Arial"/>
                          <a:cs typeface="Arial"/>
                        </a:rPr>
                        <a:t>5.37</a:t>
                      </a:r>
                    </a:p>
                  </a:txBody>
                  <a:tcPr marL="76200" marR="76200" marT="19050" marB="19050">
                    <a:solidFill>
                      <a:srgbClr val="FCFCFD"/>
                    </a:solidFill>
                  </a:tcPr>
                </a:tc>
                <a:tc>
                  <a:txBody>
                    <a:bodyPr/>
                    <a:lstStyle/>
                    <a:p>
                      <a:r>
                        <a:rPr sz="1275" b="0">
                          <a:solidFill>
                            <a:srgbClr val="14171C"/>
                          </a:solidFill>
                          <a:latin typeface="Arial"/>
                          <a:ea typeface="Arial"/>
                          <a:cs typeface="Arial"/>
                        </a:rPr>
                        <a:t>161.00</a:t>
                      </a:r>
                    </a:p>
                  </a:txBody>
                  <a:tcPr marL="76200" marR="76200" marT="19050" marB="19050">
                    <a:solidFill>
                      <a:srgbClr val="FCFCFD"/>
                    </a:solidFill>
                  </a:tcPr>
                </a:tc>
                <a:tc>
                  <a:txBody>
                    <a:bodyPr/>
                    <a:lstStyle/>
                    <a:p>
                      <a:r>
                        <a:rPr sz="1275" b="0">
                          <a:solidFill>
                            <a:srgbClr val="14171C"/>
                          </a:solidFill>
                          <a:latin typeface="Arial"/>
                          <a:ea typeface="Arial"/>
                          <a:cs typeface="Arial"/>
                        </a:rPr>
                        <a:t>2.95</a:t>
                      </a:r>
                    </a:p>
                  </a:txBody>
                  <a:tcPr marL="76200" marR="76200" marT="19050" marB="19050">
                    <a:solidFill>
                      <a:srgbClr val="FCFCFD"/>
                    </a:solidFill>
                  </a:tcPr>
                </a:tc>
              </a:tr>
              <a:tr h="285750">
                <a:tc>
                  <a:txBody>
                    <a:bodyPr/>
                    <a:lstStyle/>
                    <a:p>
                      <a:r>
                        <a:rPr sz="1275" b="0">
                          <a:solidFill>
                            <a:srgbClr val="14171C"/>
                          </a:solidFill>
                          <a:latin typeface="Arial"/>
                          <a:ea typeface="Arial"/>
                          <a:cs typeface="Arial"/>
                        </a:rPr>
                        <a:t>October</a:t>
                      </a:r>
                    </a:p>
                  </a:txBody>
                  <a:tcPr marL="76200" marR="76200" marT="19050" marB="19050">
                    <a:solidFill>
                      <a:srgbClr val="F4F5F7"/>
                    </a:solidFill>
                  </a:tcPr>
                </a:tc>
                <a:tc>
                  <a:txBody>
                    <a:bodyPr/>
                    <a:lstStyle/>
                    <a:p>
                      <a:r>
                        <a:rPr sz="1275" b="0">
                          <a:solidFill>
                            <a:srgbClr val="14171C"/>
                          </a:solidFill>
                          <a:latin typeface="Arial"/>
                          <a:ea typeface="Arial"/>
                          <a:cs typeface="Arial"/>
                        </a:rPr>
                        <a:t>4.98</a:t>
                      </a:r>
                    </a:p>
                  </a:txBody>
                  <a:tcPr marL="76200" marR="76200" marT="19050" marB="19050">
                    <a:solidFill>
                      <a:srgbClr val="F4F5F7"/>
                    </a:solidFill>
                  </a:tcPr>
                </a:tc>
                <a:tc>
                  <a:txBody>
                    <a:bodyPr/>
                    <a:lstStyle/>
                    <a:p>
                      <a:r>
                        <a:rPr sz="1275" b="0">
                          <a:solidFill>
                            <a:srgbClr val="14171C"/>
                          </a:solidFill>
                          <a:latin typeface="Arial"/>
                          <a:ea typeface="Arial"/>
                          <a:cs typeface="Arial"/>
                        </a:rPr>
                        <a:t>154.53</a:t>
                      </a:r>
                    </a:p>
                  </a:txBody>
                  <a:tcPr marL="76200" marR="76200" marT="19050" marB="19050">
                    <a:solidFill>
                      <a:srgbClr val="F4F5F7"/>
                    </a:solidFill>
                  </a:tcPr>
                </a:tc>
                <a:tc>
                  <a:txBody>
                    <a:bodyPr/>
                    <a:lstStyle/>
                    <a:p>
                      <a:r>
                        <a:rPr sz="1275" b="0">
                          <a:solidFill>
                            <a:srgbClr val="14171C"/>
                          </a:solidFill>
                          <a:latin typeface="Arial"/>
                          <a:ea typeface="Arial"/>
                          <a:cs typeface="Arial"/>
                        </a:rPr>
                        <a:t>2.74</a:t>
                      </a:r>
                    </a:p>
                  </a:txBody>
                  <a:tcPr marL="76200" marR="76200" marT="19050" marB="19050">
                    <a:solidFill>
                      <a:srgbClr val="F4F5F7"/>
                    </a:solidFill>
                  </a:tcPr>
                </a:tc>
              </a:tr>
              <a:tr h="285750">
                <a:tc>
                  <a:txBody>
                    <a:bodyPr/>
                    <a:lstStyle/>
                    <a:p>
                      <a:r>
                        <a:rPr sz="1275" b="0">
                          <a:solidFill>
                            <a:srgbClr val="14171C"/>
                          </a:solidFill>
                          <a:latin typeface="Arial"/>
                          <a:ea typeface="Arial"/>
                          <a:cs typeface="Arial"/>
                        </a:rPr>
                        <a:t>November</a:t>
                      </a:r>
                    </a:p>
                  </a:txBody>
                  <a:tcPr marL="76200" marR="76200" marT="19050" marB="19050">
                    <a:solidFill>
                      <a:srgbClr val="FCFCFD"/>
                    </a:solidFill>
                  </a:tcPr>
                </a:tc>
                <a:tc>
                  <a:txBody>
                    <a:bodyPr/>
                    <a:lstStyle/>
                    <a:p>
                      <a:r>
                        <a:rPr sz="1275" b="0">
                          <a:solidFill>
                            <a:srgbClr val="14171C"/>
                          </a:solidFill>
                          <a:latin typeface="Arial"/>
                          <a:ea typeface="Arial"/>
                          <a:cs typeface="Arial"/>
                        </a:rPr>
                        <a:t>4.57</a:t>
                      </a:r>
                    </a:p>
                  </a:txBody>
                  <a:tcPr marL="76200" marR="76200" marT="19050" marB="19050">
                    <a:solidFill>
                      <a:srgbClr val="FCFCFD"/>
                    </a:solidFill>
                  </a:tcPr>
                </a:tc>
                <a:tc>
                  <a:txBody>
                    <a:bodyPr/>
                    <a:lstStyle/>
                    <a:p>
                      <a:r>
                        <a:rPr sz="1275" b="0">
                          <a:solidFill>
                            <a:srgbClr val="14171C"/>
                          </a:solidFill>
                          <a:latin typeface="Arial"/>
                          <a:ea typeface="Arial"/>
                          <a:cs typeface="Arial"/>
                        </a:rPr>
                        <a:t>136.97</a:t>
                      </a:r>
                    </a:p>
                  </a:txBody>
                  <a:tcPr marL="76200" marR="76200" marT="19050" marB="19050">
                    <a:solidFill>
                      <a:srgbClr val="FCFCFD"/>
                    </a:solidFill>
                  </a:tcPr>
                </a:tc>
                <a:tc>
                  <a:txBody>
                    <a:bodyPr/>
                    <a:lstStyle/>
                    <a:p>
                      <a:r>
                        <a:rPr sz="1275" b="0">
                          <a:solidFill>
                            <a:srgbClr val="14171C"/>
                          </a:solidFill>
                          <a:latin typeface="Arial"/>
                          <a:ea typeface="Arial"/>
                          <a:cs typeface="Arial"/>
                        </a:rPr>
                        <a:t>2.51</a:t>
                      </a:r>
                    </a:p>
                  </a:txBody>
                  <a:tcPr marL="76200" marR="76200" marT="19050" marB="19050">
                    <a:solidFill>
                      <a:srgbClr val="FCFCFD"/>
                    </a:solidFill>
                  </a:tcPr>
                </a:tc>
              </a:tr>
              <a:tr h="285750">
                <a:tc>
                  <a:txBody>
                    <a:bodyPr/>
                    <a:lstStyle/>
                    <a:p>
                      <a:r>
                        <a:rPr sz="1275" b="0">
                          <a:solidFill>
                            <a:srgbClr val="14171C"/>
                          </a:solidFill>
                          <a:latin typeface="Arial"/>
                          <a:ea typeface="Arial"/>
                          <a:cs typeface="Arial"/>
                        </a:rPr>
                        <a:t>December</a:t>
                      </a:r>
                    </a:p>
                  </a:txBody>
                  <a:tcPr marL="76200" marR="76200" marT="19050" marB="19050">
                    <a:solidFill>
                      <a:srgbClr val="F4F5F7"/>
                    </a:solidFill>
                  </a:tcPr>
                </a:tc>
                <a:tc>
                  <a:txBody>
                    <a:bodyPr/>
                    <a:lstStyle/>
                    <a:p>
                      <a:r>
                        <a:rPr sz="1275" b="0">
                          <a:solidFill>
                            <a:srgbClr val="14171C"/>
                          </a:solidFill>
                          <a:latin typeface="Arial"/>
                          <a:ea typeface="Arial"/>
                          <a:cs typeface="Arial"/>
                        </a:rPr>
                        <a:t>4.21</a:t>
                      </a:r>
                    </a:p>
                  </a:txBody>
                  <a:tcPr marL="76200" marR="76200" marT="19050" marB="19050">
                    <a:solidFill>
                      <a:srgbClr val="F4F5F7"/>
                    </a:solidFill>
                  </a:tcPr>
                </a:tc>
                <a:tc>
                  <a:txBody>
                    <a:bodyPr/>
                    <a:lstStyle/>
                    <a:p>
                      <a:r>
                        <a:rPr sz="1275" b="0">
                          <a:solidFill>
                            <a:srgbClr val="14171C"/>
                          </a:solidFill>
                          <a:latin typeface="Arial"/>
                          <a:ea typeface="Arial"/>
                          <a:cs typeface="Arial"/>
                        </a:rPr>
                        <a:t>130.40</a:t>
                      </a:r>
                    </a:p>
                  </a:txBody>
                  <a:tcPr marL="76200" marR="76200" marT="19050" marB="19050">
                    <a:solidFill>
                      <a:srgbClr val="F4F5F7"/>
                    </a:solidFill>
                  </a:tcPr>
                </a:tc>
                <a:tc>
                  <a:txBody>
                    <a:bodyPr/>
                    <a:lstStyle/>
                    <a:p>
                      <a:r>
                        <a:rPr sz="1275" b="0">
                          <a:solidFill>
                            <a:srgbClr val="14171C"/>
                          </a:solidFill>
                          <a:latin typeface="Arial"/>
                          <a:ea typeface="Arial"/>
                          <a:cs typeface="Arial"/>
                        </a:rPr>
                        <a:t>2.32</a:t>
                      </a:r>
                    </a:p>
                  </a:txBody>
                  <a:tcPr marL="76200" marR="76200" marT="19050" marB="19050">
                    <a:solidFill>
                      <a:srgbClr val="F4F5F7"/>
                    </a:solidFill>
                  </a:tcPr>
                </a:tc>
              </a:tr>
            </a:tbl>
          </a:graphicData>
        </a:graphic>
      </p:graphicFrame>
      <p:sp>
        <p:nvSpPr>
          <p:cNvPr id="5" name="">
            <a:extLst xmlns:a="http://schemas.openxmlformats.org/drawingml/2006/main">
              <a:ext uri="{FF2B5EF4-FFF2-40B4-BE49-F238E27FC236}">
                <a16:creationId xmlns:a16="http://schemas.microsoft.com/office/drawing/2014/main" id="{6DA2C0A6-7ECD-4FF6-98CF-FA47D305FFDF}"/>
              </a:ext>
            </a:extLst>
          </p:cNvPr>
          <p:cNvSpPr>
            <a:spLocks xmlns:a="http://schemas.openxmlformats.org/drawingml/2006/main" noGrp="1"/>
          </p:cNvSpPr>
          <p:nvPr/>
        </p:nvSpPr>
        <p:spPr>
          <a:xfrm xmlns:a="http://schemas.openxmlformats.org/drawingml/2006/main">
            <a:off x="809625" y="618172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4A5260"/>
                </a:solidFill>
                <a:latin typeface="Arial"/>
                <a:ea typeface="Arial"/>
                <a:cs typeface="Arial"/>
              </a:defRPr>
            </a:pPr>
            <a:r>
              <a:rPr sz="1200" b="0">
                <a:solidFill>
                  <a:srgbClr val="4A5260"/>
                </a:solidFill>
                <a:latin typeface="Arial"/>
                <a:ea typeface="Arial"/>
                <a:cs typeface="Arial"/>
              </a:rPr>
              <a:t>JRC PVGIS 5.3 · SARAH3 / ERA5 (2005–2023) · Cairo 30.0444 N, 31.2357 E · retrieved 30 Sep 2026</a:t>
            </a:r>
          </a:p>
        </p:txBody>
      </p:sp>
      <p:sp>
        <p:nvSpPr>
          <p:cNvPr id="6" name="">
            <a:extLst xmlns:a="http://schemas.openxmlformats.org/drawingml/2006/main">
              <a:ext uri="{FF2B5EF4-FFF2-40B4-BE49-F238E27FC236}">
                <a16:creationId xmlns:a16="http://schemas.microsoft.com/office/drawing/2014/main" id="{D5638A40-47C3-4BAD-B83E-BB4B56048D7C}"/>
              </a:ext>
            </a:extLst>
          </p:cNvPr>
          <p:cNvSpPr>
            <a:spLocks xmlns:a="http://schemas.openxmlformats.org/drawingml/2006/main" noGrp="1"/>
          </p:cNvSpPr>
          <p:nvPr/>
        </p:nvSpPr>
        <p:spPr>
          <a:xfrm xmlns:a="http://schemas.openxmlformats.org/drawingml/2006/main">
            <a:off x="809625" y="648652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4A5260"/>
                </a:solidFill>
                <a:latin typeface="Arial"/>
                <a:ea typeface="Arial"/>
                <a:cs typeface="Arial"/>
              </a:defRPr>
            </a:pPr>
            <a:r>
              <a:rPr sz="1200" b="0">
                <a:solidFill>
                  <a:srgbClr val="4A5260"/>
                </a:solidFill>
                <a:latin typeface="Arial"/>
                <a:ea typeface="Arial"/>
                <a:cs typeface="Arial"/>
              </a:rPr>
              <a:t>South-facing, 30° tilt, crystalline silicon, free-standing, 14% entered system loss; local roof shading not surveyed.</a:t>
            </a:r>
          </a:p>
        </p:txBody>
      </p:sp>
    </p:spTree>
    <p:extLst>
      <p:ext uri="{BB962C8B-B14F-4D97-AF65-F5344CB8AC3E}">
        <p14:creationId xmlns:p14="http://schemas.microsoft.com/office/powerpoint/2010/main" val="1868688068"/>
      </p:ext>
    </p:extLst>
  </p:cSld>
</p:sld>
</file>

<file path=ppt/slides/slide4.xml><?xml version="1.0" encoding="utf-8"?>
<p:sld xmlns:p="http://schemas.openxmlformats.org/presentationml/2006/main">
  <p:cSld>
    <p:bg>
      <p:bgPr>
        <a:solidFill xmlns:a="http://schemas.openxmlformats.org/drawingml/2006/main">
          <a:srgbClr val="F4F5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2F62359-D476-4DAD-9134-E9A99FB573A9}"/>
              </a:ext>
            </a:extLst>
          </p:cNvPr>
          <p:cNvSpPr>
            <a:spLocks xmlns:a="http://schemas.openxmlformats.org/drawingml/2006/main" noGrp="1"/>
          </p:cNvSpPr>
          <p:nvPr/>
        </p:nvSpPr>
        <p:spPr>
          <a:xfrm xmlns:a="http://schemas.openxmlformats.org/drawingml/2006/main">
            <a:off x="809625" y="80962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1">
                <a:solidFill>
                  <a:srgbClr val="B84E0E"/>
                </a:solidFill>
                <a:latin typeface="Arial"/>
                <a:ea typeface="Arial"/>
                <a:cs typeface="Arial"/>
              </a:defRPr>
            </a:pPr>
            <a:r>
              <a:rPr sz="1350" b="1">
                <a:solidFill>
                  <a:srgbClr val="B84E0E"/>
                </a:solidFill>
                <a:latin typeface="Arial"/>
                <a:ea typeface="Arial"/>
                <a:cs typeface="Arial"/>
              </a:rPr>
              <a:t>REFERENCE · AVERAGES AND SETTINGS</a:t>
            </a:r>
          </a:p>
        </p:txBody>
      </p:sp>
      <p:sp>
        <p:nvSpPr>
          <p:cNvPr id="2" name="">
            <a:extLst xmlns:a="http://schemas.openxmlformats.org/drawingml/2006/main">
              <a:ext uri="{FF2B5EF4-FFF2-40B4-BE49-F238E27FC236}">
                <a16:creationId xmlns:a16="http://schemas.microsoft.com/office/drawing/2014/main" id="{F7BBB2D9-7722-4618-B132-7556BCE53588}"/>
              </a:ext>
            </a:extLst>
          </p:cNvPr>
          <p:cNvSpPr>
            <a:spLocks xmlns:a="http://schemas.openxmlformats.org/drawingml/2006/main" noGrp="1"/>
          </p:cNvSpPr>
          <p:nvPr/>
        </p:nvSpPr>
        <p:spPr>
          <a:xfrm xmlns:a="http://schemas.openxmlformats.org/drawingml/2006/main">
            <a:off x="809625" y="1114425"/>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4171C"/>
                </a:solidFill>
                <a:latin typeface="Arial"/>
                <a:ea typeface="Arial"/>
                <a:cs typeface="Arial"/>
              </a:defRPr>
            </a:pPr>
            <a:r>
              <a:rPr sz="3150" b="1">
                <a:solidFill>
                  <a:srgbClr val="14171C"/>
                </a:solidFill>
                <a:latin typeface="Arial"/>
                <a:ea typeface="Arial"/>
                <a:cs typeface="Arial"/>
              </a:rPr>
              <a:t>How the Cairo average is calculated</a:t>
            </a:r>
          </a:p>
        </p:txBody>
      </p:sp>
      <p:sp>
        <p:nvSpPr>
          <p:cNvPr id="3" name="">
            <a:extLst xmlns:a="http://schemas.openxmlformats.org/drawingml/2006/main">
              <a:ext uri="{FF2B5EF4-FFF2-40B4-BE49-F238E27FC236}">
                <a16:creationId xmlns:a16="http://schemas.microsoft.com/office/drawing/2014/main" id="{3145A6EB-6266-4EE6-861D-CC346D804520}"/>
              </a:ext>
            </a:extLst>
          </p:cNvPr>
          <p:cNvSpPr>
            <a:spLocks xmlns:a="http://schemas.openxmlformats.org/drawingml/2006/main" noGrp="1"/>
          </p:cNvSpPr>
          <p:nvPr/>
        </p:nvSpPr>
        <p:spPr>
          <a:xfrm xmlns:a="http://schemas.openxmlformats.org/drawingml/2006/main">
            <a:off x="809625" y="1981200"/>
            <a:ext cx="1057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14171C"/>
                </a:solidFill>
                <a:latin typeface="Arial"/>
                <a:ea typeface="Arial"/>
                <a:cs typeface="Arial"/>
              </a:defRPr>
            </a:pPr>
            <a:r>
              <a:rPr sz="2100" b="1">
                <a:solidFill>
                  <a:srgbClr val="14171C"/>
                </a:solidFill>
                <a:latin typeface="Arial"/>
                <a:ea typeface="Arial"/>
                <a:cs typeface="Arial"/>
              </a:rPr>
              <a:t>Average of the 12 daily monthly values</a:t>
            </a:r>
          </a:p>
        </p:txBody>
      </p:sp>
      <p:sp>
        <p:nvSpPr>
          <p:cNvPr id="4" name="">
            <a:extLst xmlns:a="http://schemas.openxmlformats.org/drawingml/2006/main">
              <a:ext uri="{FF2B5EF4-FFF2-40B4-BE49-F238E27FC236}">
                <a16:creationId xmlns:a16="http://schemas.microsoft.com/office/drawing/2014/main" id="{3C28AA3F-5FEA-4051-919C-7A21E6CAE95A}"/>
              </a:ext>
            </a:extLst>
          </p:cNvPr>
          <p:cNvSpPr>
            <a:spLocks xmlns:a="http://schemas.openxmlformats.org/drawingml/2006/main" noGrp="1"/>
          </p:cNvSpPr>
          <p:nvPr/>
        </p:nvSpPr>
        <p:spPr>
          <a:xfrm xmlns:a="http://schemas.openxmlformats.org/drawingml/2006/main">
            <a:off x="809625" y="2457450"/>
            <a:ext cx="1057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B84E0E"/>
                </a:solidFill>
                <a:latin typeface="Consolas"/>
                <a:ea typeface="Consolas"/>
                <a:cs typeface="Consolas"/>
              </a:defRPr>
            </a:pPr>
            <a:r>
              <a:rPr sz="1650" b="0">
                <a:solidFill>
                  <a:srgbClr val="B84E0E"/>
                </a:solidFill>
                <a:latin typeface="Consolas"/>
                <a:ea typeface="Consolas"/>
                <a:cs typeface="Consolas"/>
              </a:rPr>
              <a:t>(4.24 + 4.62 + 5.20 + 5.36 + 5.25 + 5.29 + 5.31 + 5.38 + 5.37 + 4.98 + 4.57 + 4.21) ÷ 12</a:t>
            </a:r>
          </a:p>
          <a:p xmlns:a="http://schemas.openxmlformats.org/drawingml/2006/main">
            <a:pPr>
              <a:buNone/>
              <a:defRPr sz="1650" b="0">
                <a:solidFill>
                  <a:srgbClr val="B84E0E"/>
                </a:solidFill>
                <a:latin typeface="Consolas"/>
                <a:ea typeface="Consolas"/>
                <a:cs typeface="Consolas"/>
              </a:defRPr>
            </a:pPr>
            <a:r>
              <a:rPr sz="1650" b="0">
                <a:solidFill>
                  <a:srgbClr val="B84E0E"/>
                </a:solidFill>
                <a:latin typeface="Consolas"/>
                <a:ea typeface="Consolas"/>
                <a:cs typeface="Consolas"/>
              </a:rPr>
              <a:t>= 4.9817 ≈ 4.98 kWh/kWp/day</a:t>
            </a:r>
          </a:p>
        </p:txBody>
      </p:sp>
      <p:sp>
        <p:nvSpPr>
          <p:cNvPr id="5" name="">
            <a:extLst xmlns:a="http://schemas.openxmlformats.org/drawingml/2006/main">
              <a:ext uri="{FF2B5EF4-FFF2-40B4-BE49-F238E27FC236}">
                <a16:creationId xmlns:a16="http://schemas.microsoft.com/office/drawing/2014/main" id="{E35B6E4B-1DD0-4081-8AE2-D9AEE26F4B80}"/>
              </a:ext>
            </a:extLst>
          </p:cNvPr>
          <p:cNvSpPr>
            <a:spLocks xmlns:a="http://schemas.openxmlformats.org/drawingml/2006/main" noGrp="1"/>
          </p:cNvSpPr>
          <p:nvPr/>
        </p:nvSpPr>
        <p:spPr>
          <a:xfrm xmlns:a="http://schemas.openxmlformats.org/drawingml/2006/main">
            <a:off x="809625" y="3429000"/>
            <a:ext cx="10572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14171C"/>
                </a:solidFill>
                <a:latin typeface="Arial"/>
                <a:ea typeface="Arial"/>
                <a:cs typeface="Arial"/>
              </a:defRPr>
            </a:pPr>
            <a:r>
              <a:rPr sz="1650" b="0">
                <a:solidFill>
                  <a:srgbClr val="14171C"/>
                </a:solidFill>
                <a:latin typeface="Arial"/>
                <a:ea typeface="Arial"/>
                <a:cs typeface="Arial"/>
              </a:rPr>
              <a:t>Average monthly output = sum of monthly outputs ÷ 12 = 151.53 kWh/kWp/month</a:t>
            </a:r>
          </a:p>
          <a:p xmlns:a="http://schemas.openxmlformats.org/drawingml/2006/main">
            <a:pPr>
              <a:buNone/>
              <a:defRPr sz="1650" b="0">
                <a:solidFill>
                  <a:srgbClr val="14171C"/>
                </a:solidFill>
                <a:latin typeface="Arial"/>
                <a:ea typeface="Arial"/>
                <a:cs typeface="Arial"/>
              </a:defRPr>
            </a:pPr>
            <a:r>
              <a:rPr sz="1650" b="0">
                <a:solidFill>
                  <a:srgbClr val="14171C"/>
                </a:solidFill>
                <a:latin typeface="Arial"/>
                <a:ea typeface="Arial"/>
                <a:cs typeface="Arial"/>
              </a:rPr>
              <a:t>Annual output = 1,818.36 kWh/kWp/year; annual daily average = 1818.36 ÷ 365 ≈ 4.9818</a:t>
            </a:r>
          </a:p>
        </p:txBody>
      </p:sp>
      <p:sp>
        <p:nvSpPr>
          <p:cNvPr id="6" name="">
            <a:extLst xmlns:a="http://schemas.openxmlformats.org/drawingml/2006/main">
              <a:ext uri="{FF2B5EF4-FFF2-40B4-BE49-F238E27FC236}">
                <a16:creationId xmlns:a16="http://schemas.microsoft.com/office/drawing/2014/main" id="{9F7AD506-6368-455B-B73A-434F16248186}"/>
              </a:ext>
            </a:extLst>
          </p:cNvPr>
          <p:cNvSpPr>
            <a:spLocks xmlns:a="http://schemas.openxmlformats.org/drawingml/2006/main" noGrp="1"/>
          </p:cNvSpPr>
          <p:nvPr/>
        </p:nvSpPr>
        <p:spPr>
          <a:xfrm xmlns:a="http://schemas.openxmlformats.org/drawingml/2006/main">
            <a:off x="809625" y="441960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B84E0E"/>
                </a:solidFill>
                <a:latin typeface="Arial"/>
                <a:ea typeface="Arial"/>
                <a:cs typeface="Arial"/>
              </a:defRPr>
            </a:pPr>
            <a:r>
              <a:rPr sz="1800" b="1">
                <a:solidFill>
                  <a:srgbClr val="B84E0E"/>
                </a:solidFill>
                <a:latin typeface="Arial"/>
                <a:ea typeface="Arial"/>
                <a:cs typeface="Arial"/>
              </a:rPr>
              <a:t>Example: 550 W = 0.55 kWp → average daily output ≈ 0.55 × 4.98 = 2.74 kWh/day</a:t>
            </a:r>
          </a:p>
        </p:txBody>
      </p:sp>
      <p:sp>
        <p:nvSpPr>
          <p:cNvPr id="7" name="">
            <a:extLst xmlns:a="http://schemas.openxmlformats.org/drawingml/2006/main">
              <a:ext uri="{FF2B5EF4-FFF2-40B4-BE49-F238E27FC236}">
                <a16:creationId xmlns:a16="http://schemas.microsoft.com/office/drawing/2014/main" id="{CBEDA635-0C9A-4605-A2C9-35AA5D60A45C}"/>
              </a:ext>
            </a:extLst>
          </p:cNvPr>
          <p:cNvSpPr>
            <a:spLocks xmlns:a="http://schemas.openxmlformats.org/drawingml/2006/main" noGrp="1"/>
          </p:cNvSpPr>
          <p:nvPr/>
        </p:nvSpPr>
        <p:spPr>
          <a:xfrm xmlns:a="http://schemas.openxmlformats.org/drawingml/2006/main">
            <a:off x="809625" y="5048250"/>
            <a:ext cx="1057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4A5260"/>
                </a:solidFill>
                <a:latin typeface="Arial"/>
                <a:ea typeface="Arial"/>
                <a:cs typeface="Arial"/>
              </a:defRPr>
            </a:pPr>
            <a:r>
              <a:rPr sz="1500" b="0">
                <a:solidFill>
                  <a:srgbClr val="4A5260"/>
                </a:solidFill>
                <a:latin typeface="Arial"/>
                <a:ea typeface="Arial"/>
                <a:cs typeface="Arial"/>
              </a:rPr>
              <a:t>The 1,750 kWh/year estimate is replaced by this sourced reference calculation.</a:t>
            </a:r>
          </a:p>
          <a:p xmlns:a="http://schemas.openxmlformats.org/drawingml/2006/main">
            <a:pPr>
              <a:buNone/>
              <a:defRPr sz="1500" b="0">
                <a:solidFill>
                  <a:srgbClr val="4A5260"/>
                </a:solidFill>
                <a:latin typeface="Arial"/>
                <a:ea typeface="Arial"/>
                <a:cs typeface="Arial"/>
              </a:defRPr>
            </a:pPr>
            <a:r>
              <a:rPr sz="1500" b="0">
                <a:solidFill>
                  <a:srgbClr val="4A5260"/>
                </a:solidFill>
                <a:latin typeface="Arial"/>
                <a:ea typeface="Arial"/>
                <a:cs typeface="Arial"/>
              </a:rPr>
              <a:t>PVGIS electricity output already includes modeled PV losses; battery losses are additional.</a:t>
            </a:r>
          </a:p>
          <a:p xmlns:a="http://schemas.openxmlformats.org/drawingml/2006/main">
            <a:pPr>
              <a:buNone/>
              <a:defRPr sz="1500" b="0">
                <a:solidFill>
                  <a:srgbClr val="4A5260"/>
                </a:solidFill>
                <a:latin typeface="Arial"/>
                <a:ea typeface="Arial"/>
                <a:cs typeface="Arial"/>
              </a:defRPr>
            </a:pPr>
            <a:r>
              <a:rPr sz="1500" b="0">
                <a:solidFill>
                  <a:srgbClr val="4A5260"/>
                </a:solidFill>
                <a:latin typeface="Arial"/>
                <a:ea typeface="Arial"/>
                <a:cs typeface="Arial"/>
              </a:rPr>
              <a:t>These are historical climate averages. Actual output varies by month, weather, shading and cleaning.</a:t>
            </a:r>
          </a:p>
        </p:txBody>
      </p:sp>
      <p:sp>
        <p:nvSpPr>
          <p:cNvPr id="8" name="">
            <a:extLst xmlns:a="http://schemas.openxmlformats.org/drawingml/2006/main">
              <a:ext uri="{FF2B5EF4-FFF2-40B4-BE49-F238E27FC236}">
                <a16:creationId xmlns:a16="http://schemas.microsoft.com/office/drawing/2014/main" id="{08F8ED2F-D107-4D25-B778-ABA956F7C0E2}"/>
              </a:ext>
            </a:extLst>
          </p:cNvPr>
          <p:cNvSpPr>
            <a:spLocks xmlns:a="http://schemas.openxmlformats.org/drawingml/2006/main" noGrp="1"/>
          </p:cNvSpPr>
          <p:nvPr/>
        </p:nvSpPr>
        <p:spPr>
          <a:xfrm xmlns:a="http://schemas.openxmlformats.org/drawingml/2006/main">
            <a:off x="809625" y="624840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4A5260"/>
                </a:solidFill>
                <a:latin typeface="Arial"/>
                <a:ea typeface="Arial"/>
                <a:cs typeface="Arial"/>
              </a:defRPr>
            </a:pPr>
            <a:r>
              <a:rPr sz="1200" b="0">
                <a:solidFill>
                  <a:srgbClr val="4A5260"/>
                </a:solidFill>
                <a:latin typeface="Arial"/>
                <a:ea typeface="Arial"/>
                <a:cs typeface="Arial"/>
              </a:rPr>
              <a:t>Source: European Commission JRC PVGIS 5.3 · inputs and full calculation URL are in speaker notes.</a:t>
            </a:r>
          </a:p>
        </p:txBody>
      </p:sp>
    </p:spTree>
    <p:extLst>
      <p:ext uri="{BB962C8B-B14F-4D97-AF65-F5344CB8AC3E}">
        <p14:creationId xmlns:p14="http://schemas.microsoft.com/office/powerpoint/2010/main" val="2058763432"/>
      </p:ext>
    </p:extLst>
  </p:cSld>
</p:sld>
</file>

<file path=ppt/slides/slide5.xml><?xml version="1.0" encoding="utf-8"?>
<p:sld xmlns:p="http://schemas.openxmlformats.org/presentationml/2006/main">
  <p:cSld>
    <p:bg>
      <p:bgPr>
        <a:solidFill xmlns:a="http://schemas.openxmlformats.org/drawingml/2006/main">
          <a:srgbClr val="F4F5F7"/>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F058D485-4C9A-46F6-A2D4-2A473B89D527}"/>
              </a:ext>
            </a:extLst>
          </p:cNvPr>
          <p:cNvSpPr>
            <a:spLocks xmlns:a="http://schemas.openxmlformats.org/drawingml/2006/main" noGrp="1"/>
          </p:cNvSpPr>
          <p:nvPr/>
        </p:nvSpPr>
        <p:spPr>
          <a:xfrm xmlns:a="http://schemas.openxmlformats.org/drawingml/2006/main">
            <a:off x="812800" y="812800"/>
            <a:ext cx="105664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lnSpc>
                <a:spcPct val="120000"/>
              </a:lnSpc>
              <a:buNone/>
            </a:pPr>
            <a:r>
              <a:rPr sz="1300" b="1">
                <a:solidFill>
                  <a:srgbClr val="B84E0E"/>
                </a:solidFill>
                <a:latin typeface="Arial"/>
                <a:ea typeface="Arial"/>
                <a:cs typeface="Arial"/>
              </a:rPr>
              <a:t>REFERENCE</a:t>
            </a:r>
          </a:p>
        </p:txBody>
      </p:sp>
      <p:sp>
        <p:nvSpPr>
          <p:cNvPr id="3" name="TextBox 2">
            <a:extLst xmlns:a="http://schemas.openxmlformats.org/drawingml/2006/main">
              <a:ext uri="{FF2B5EF4-FFF2-40B4-BE49-F238E27FC236}">
                <a16:creationId xmlns:a16="http://schemas.microsoft.com/office/drawing/2014/main" id="{BBAE35FB-3DB2-472A-9D2C-7E747D64DA2A}"/>
              </a:ext>
            </a:extLst>
          </p:cNvPr>
          <p:cNvSpPr>
            <a:spLocks xmlns:a="http://schemas.openxmlformats.org/drawingml/2006/main" noGrp="1"/>
          </p:cNvSpPr>
          <p:nvPr/>
        </p:nvSpPr>
        <p:spPr>
          <a:xfrm xmlns:a="http://schemas.openxmlformats.org/drawingml/2006/main">
            <a:off x="812800" y="1117600"/>
            <a:ext cx="10566400" cy="5080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lnSpc>
                <a:spcPct val="105000"/>
              </a:lnSpc>
              <a:buNone/>
            </a:pPr>
            <a:r>
              <a:rPr sz="3200" b="1">
                <a:solidFill>
                  <a:srgbClr val="14171C"/>
                </a:solidFill>
                <a:latin typeface="Arial"/>
                <a:ea typeface="Arial"/>
                <a:cs typeface="Arial"/>
              </a:rPr>
              <a:t>Assumptions and open points</a:t>
            </a:r>
          </a:p>
        </p:txBody>
      </p:sp>
      <p:graphicFrame>
        <p:nvGraphicFramePr>
          <p:cNvPr id="9" name="Table 3"/>
          <p:cNvGraphicFramePr/>
          <p:nvPr/>
        </p:nvGraphicFramePr>
        <p:xfrm>
          <a:off xmlns:a="http://schemas.openxmlformats.org/drawingml/2006/main" x="812800" y="1905000"/>
          <a:ext xmlns:a="http://schemas.openxmlformats.org/drawingml/2006/main" cx="10566400" cy="2971800"/>
        </p:xfrm>
        <a:graphic xmlns:a="http://schemas.openxmlformats.org/drawingml/2006/main">
          <a:graphicData uri="http://schemas.openxmlformats.org/drawingml/2006/table">
            <a:tbl>
              <a:tblPr firstRow="1">
                <a:tableStyleId>{5C22544A-7EE6-4342-B048-85BDC9FD1C3A}</a:tableStyleId>
              </a:tblPr>
              <a:tblGrid>
                <a:gridCol w="3168650"/>
                <a:gridCol w="2749550"/>
                <a:gridCol w="4648200"/>
              </a:tblGrid>
              <a:tr h="330200">
                <a:tc>
                  <a:txBody>
                    <a:bodyPr wrap="square"/>
                    <a:lstStyle/>
                    <a:p>
                      <a:r>
                        <a:rPr sz="1200" b="1">
                          <a:solidFill>
                            <a:srgbClr val="14171C"/>
                          </a:solidFill>
                          <a:latin typeface="Arial"/>
                          <a:ea typeface="Arial"/>
                          <a:cs typeface="Arial"/>
                        </a:rPr>
                        <a:t>Item</a:t>
                      </a:r>
                    </a:p>
                  </a:txBody>
                  <a:tcPr marL="88900" marR="88900" marT="50800" marB="50800" anchor="ctr">
                    <a:solidFill>
                      <a:srgbClr val="E6E9ED"/>
                    </a:solidFill>
                  </a:tcPr>
                </a:tc>
                <a:tc>
                  <a:txBody>
                    <a:bodyPr wrap="square"/>
                    <a:lstStyle/>
                    <a:p>
                      <a:r>
                        <a:rPr sz="1200" b="1">
                          <a:solidFill>
                            <a:srgbClr val="14171C"/>
                          </a:solidFill>
                          <a:latin typeface="Arial"/>
                          <a:ea typeface="Arial"/>
                          <a:cs typeface="Arial"/>
                        </a:rPr>
                        <a:t>Value</a:t>
                      </a:r>
                    </a:p>
                  </a:txBody>
                  <a:tcPr marL="88900" marR="88900" marT="50800" marB="50800" anchor="ctr">
                    <a:solidFill>
                      <a:srgbClr val="E6E9ED"/>
                    </a:solidFill>
                  </a:tcPr>
                </a:tc>
                <a:tc>
                  <a:txBody>
                    <a:bodyPr wrap="square"/>
                    <a:lstStyle/>
                    <a:p>
                      <a:r>
                        <a:rPr sz="1200" b="1">
                          <a:solidFill>
                            <a:srgbClr val="14171C"/>
                          </a:solidFill>
                          <a:latin typeface="Arial"/>
                          <a:ea typeface="Arial"/>
                          <a:cs typeface="Arial"/>
                        </a:rPr>
                        <a:t>Source / status</a:t>
                      </a:r>
                    </a:p>
                  </a:txBody>
                  <a:tcPr marL="88900" marR="88900" marT="50800" marB="50800" anchor="ctr">
                    <a:solidFill>
                      <a:srgbClr val="E6E9ED"/>
                    </a:solidFill>
                  </a:tcPr>
                </a:tc>
              </a:tr>
              <a:tr h="330200">
                <a:tc>
                  <a:txBody>
                    <a:bodyPr wrap="square"/>
                    <a:lstStyle/>
                    <a:p>
                      <a:r>
                        <a:rPr sz="1200" b="0">
                          <a:solidFill>
                            <a:srgbClr val="14171C"/>
                          </a:solidFill>
                          <a:latin typeface="Arial"/>
                          <a:ea typeface="Arial"/>
                          <a:cs typeface="Arial"/>
                        </a:rPr>
                        <a:t>Monthly use</a:t>
                      </a:r>
                    </a:p>
                  </a:txBody>
                  <a:tcPr marL="88900" marR="88900" marT="50800" marB="50800" anchor="ctr">
                    <a:solidFill>
                      <a:srgbClr val="FCFCFD"/>
                    </a:solidFill>
                  </a:tcPr>
                </a:tc>
                <a:tc>
                  <a:txBody>
                    <a:bodyPr wrap="square"/>
                    <a:lstStyle/>
                    <a:p>
                      <a:r>
                        <a:rPr sz="1200" b="0">
                          <a:solidFill>
                            <a:srgbClr val="14171C"/>
                          </a:solidFill>
                          <a:latin typeface="Arial"/>
                          <a:ea typeface="Arial"/>
                          <a:cs typeface="Arial"/>
                        </a:rPr>
                        <a:t>2,421 kWh</a:t>
                      </a:r>
                    </a:p>
                  </a:txBody>
                  <a:tcPr marL="88900" marR="88900" marT="50800" marB="50800" anchor="ctr">
                    <a:solidFill>
                      <a:srgbClr val="FCFCFD"/>
                    </a:solidFill>
                  </a:tcPr>
                </a:tc>
                <a:tc>
                  <a:txBody>
                    <a:bodyPr wrap="square"/>
                    <a:lstStyle/>
                    <a:p>
                      <a:r>
                        <a:rPr sz="1200" b="0">
                          <a:solidFill>
                            <a:srgbClr val="14171C"/>
                          </a:solidFill>
                          <a:latin typeface="Arial"/>
                          <a:ea typeface="Arial"/>
                          <a:cs typeface="Arial"/>
                        </a:rPr>
                        <a:t>Meter difference. 30-day period assumed</a:t>
                      </a:r>
                    </a:p>
                  </a:txBody>
                  <a:tcPr marL="88900" marR="88900" marT="50800" marB="50800" anchor="ctr">
                    <a:solidFill>
                      <a:srgbClr val="FCFCFD"/>
                    </a:solidFill>
                  </a:tcPr>
                </a:tc>
              </a:tr>
              <a:tr h="330200">
                <a:tc>
                  <a:txBody>
                    <a:bodyPr wrap="square"/>
                    <a:lstStyle/>
                    <a:p>
                      <a:r>
                        <a:rPr sz="1200" b="0">
                          <a:solidFill>
                            <a:srgbClr val="14171C"/>
                          </a:solidFill>
                          <a:latin typeface="Arial"/>
                          <a:ea typeface="Arial"/>
                          <a:cs typeface="Arial"/>
                        </a:rPr>
                        <a:t>Modeled bill</a:t>
                      </a:r>
                    </a:p>
                  </a:txBody>
                  <a:tcPr marL="88900" marR="88900" marT="50800" marB="50800" anchor="ctr">
                    <a:solidFill>
                      <a:srgbClr val="F4F5F7"/>
                    </a:solidFill>
                  </a:tcPr>
                </a:tc>
                <a:tc>
                  <a:txBody>
                    <a:bodyPr wrap="square"/>
                    <a:lstStyle/>
                    <a:p>
                      <a:r>
                        <a:rPr sz="1200" b="0">
                          <a:solidFill>
                            <a:srgbClr val="14171C"/>
                          </a:solidFill>
                          <a:latin typeface="Arial"/>
                          <a:ea typeface="Arial"/>
                          <a:cs typeface="Arial"/>
                        </a:rPr>
                        <a:t>6,867.22 EGP</a:t>
                      </a:r>
                    </a:p>
                  </a:txBody>
                  <a:tcPr marL="88900" marR="88900" marT="50800" marB="50800" anchor="ctr">
                    <a:solidFill>
                      <a:srgbClr val="F4F5F7"/>
                    </a:solidFill>
                  </a:tcPr>
                </a:tc>
                <a:tc>
                  <a:txBody>
                    <a:bodyPr wrap="square"/>
                    <a:lstStyle/>
                    <a:p>
                      <a:r>
                        <a:rPr sz="1200" b="0">
                          <a:solidFill>
                            <a:srgbClr val="14171C"/>
                          </a:solidFill>
                          <a:latin typeface="Arial"/>
                          <a:ea typeface="Arial"/>
                          <a:cs typeface="Arial"/>
                        </a:rPr>
                        <a:t>Receipt 8,279 EGP: reconcile the difference</a:t>
                      </a:r>
                    </a:p>
                  </a:txBody>
                  <a:tcPr marL="88900" marR="88900" marT="50800" marB="50800" anchor="ctr">
                    <a:solidFill>
                      <a:srgbClr val="F4F5F7"/>
                    </a:solidFill>
                  </a:tcPr>
                </a:tc>
              </a:tr>
              <a:tr h="330200">
                <a:tc>
                  <a:txBody>
                    <a:bodyPr wrap="square"/>
                    <a:lstStyle/>
                    <a:p>
                      <a:r>
                        <a:rPr sz="1200" b="0">
                          <a:solidFill>
                            <a:srgbClr val="14171C"/>
                          </a:solidFill>
                          <a:latin typeface="Arial"/>
                          <a:ea typeface="Arial"/>
                          <a:cs typeface="Arial"/>
                        </a:rPr>
                        <a:t>Day / night share</a:t>
                      </a:r>
                    </a:p>
                  </a:txBody>
                  <a:tcPr marL="88900" marR="88900" marT="50800" marB="50800" anchor="ctr">
                    <a:solidFill>
                      <a:srgbClr val="FCFCFD"/>
                    </a:solidFill>
                  </a:tcPr>
                </a:tc>
                <a:tc>
                  <a:txBody>
                    <a:bodyPr wrap="square"/>
                    <a:lstStyle/>
                    <a:p>
                      <a:r>
                        <a:rPr sz="1200" b="0">
                          <a:solidFill>
                            <a:srgbClr val="14171C"/>
                          </a:solidFill>
                          <a:latin typeface="Arial"/>
                          <a:ea typeface="Arial"/>
                          <a:cs typeface="Arial"/>
                        </a:rPr>
                        <a:t>50% / 50%</a:t>
                      </a:r>
                    </a:p>
                  </a:txBody>
                  <a:tcPr marL="88900" marR="88900" marT="50800" marB="50800" anchor="ctr">
                    <a:solidFill>
                      <a:srgbClr val="FCFCFD"/>
                    </a:solidFill>
                  </a:tcPr>
                </a:tc>
                <a:tc>
                  <a:txBody>
                    <a:bodyPr wrap="square"/>
                    <a:lstStyle/>
                    <a:p>
                      <a:r>
                        <a:rPr sz="1200" b="0">
                          <a:solidFill>
                            <a:srgbClr val="14171C"/>
                          </a:solidFill>
                          <a:latin typeface="Arial"/>
                          <a:ea typeface="Arial"/>
                          <a:cs typeface="Arial"/>
                        </a:rPr>
                        <a:t>Scenario, not a measured hourly profile</a:t>
                      </a:r>
                    </a:p>
                  </a:txBody>
                  <a:tcPr marL="88900" marR="88900" marT="50800" marB="50800" anchor="ctr">
                    <a:solidFill>
                      <a:srgbClr val="FCFCFD"/>
                    </a:solidFill>
                  </a:tcPr>
                </a:tc>
              </a:tr>
              <a:tr h="330200">
                <a:tc>
                  <a:txBody>
                    <a:bodyPr wrap="square"/>
                    <a:lstStyle/>
                    <a:p>
                      <a:r>
                        <a:rPr sz="1200" b="0">
                          <a:solidFill>
                            <a:srgbClr val="14171C"/>
                          </a:solidFill>
                          <a:latin typeface="Arial"/>
                          <a:ea typeface="Arial"/>
                          <a:cs typeface="Arial"/>
                        </a:rPr>
                        <a:t>PV output</a:t>
                      </a:r>
                    </a:p>
                  </a:txBody>
                  <a:tcPr marL="88900" marR="88900" marT="50800" marB="50800" anchor="ctr">
                    <a:solidFill>
                      <a:srgbClr val="F4F5F7"/>
                    </a:solidFill>
                  </a:tcPr>
                </a:tc>
                <a:tc>
                  <a:txBody>
                    <a:bodyPr wrap="square"/>
                    <a:lstStyle/>
                    <a:p>
                      <a:r>
                        <a:rPr sz="1200" b="0">
                          <a:solidFill>
                            <a:srgbClr val="14171C"/>
                          </a:solidFill>
                          <a:latin typeface="Arial"/>
                          <a:ea typeface="Arial"/>
                          <a:cs typeface="Arial"/>
                        </a:rPr>
                        <a:t>4.98 kWh/kWp/day</a:t>
                      </a:r>
                    </a:p>
                  </a:txBody>
                  <a:tcPr marL="88900" marR="88900" marT="50800" marB="50800" anchor="ctr">
                    <a:solidFill>
                      <a:srgbClr val="F4F5F7"/>
                    </a:solidFill>
                  </a:tcPr>
                </a:tc>
                <a:tc>
                  <a:txBody>
                    <a:bodyPr wrap="square"/>
                    <a:lstStyle/>
                    <a:p>
                      <a:r>
                        <a:rPr sz="1200" b="0">
                          <a:solidFill>
                            <a:srgbClr val="14171C"/>
                          </a:solidFill>
                          <a:latin typeface="Arial"/>
                          <a:ea typeface="Arial"/>
                          <a:cs typeface="Arial"/>
                        </a:rPr>
                        <a:t>Sizing mean. Monthly PVGIS for finances (3–4)</a:t>
                      </a:r>
                    </a:p>
                  </a:txBody>
                  <a:tcPr marL="88900" marR="88900" marT="50800" marB="50800" anchor="ctr">
                    <a:solidFill>
                      <a:srgbClr val="F4F5F7"/>
                    </a:solidFill>
                  </a:tcPr>
                </a:tc>
              </a:tr>
              <a:tr h="330200">
                <a:tc>
                  <a:txBody>
                    <a:bodyPr wrap="square"/>
                    <a:lstStyle/>
                    <a:p>
                      <a:r>
                        <a:rPr sz="1200" b="0">
                          <a:solidFill>
                            <a:srgbClr val="14171C"/>
                          </a:solidFill>
                          <a:latin typeface="Arial"/>
                          <a:ea typeface="Arial"/>
                          <a:cs typeface="Arial"/>
                        </a:rPr>
                        <a:t>DoD / efficiency</a:t>
                      </a:r>
                    </a:p>
                  </a:txBody>
                  <a:tcPr marL="88900" marR="88900" marT="50800" marB="50800" anchor="ctr">
                    <a:solidFill>
                      <a:srgbClr val="FCFCFD"/>
                    </a:solidFill>
                  </a:tcPr>
                </a:tc>
                <a:tc>
                  <a:txBody>
                    <a:bodyPr wrap="square"/>
                    <a:lstStyle/>
                    <a:p>
                      <a:r>
                        <a:rPr sz="1200" b="0">
                          <a:solidFill>
                            <a:srgbClr val="14171C"/>
                          </a:solidFill>
                          <a:latin typeface="Arial"/>
                          <a:ea typeface="Arial"/>
                          <a:cs typeface="Arial"/>
                        </a:rPr>
                        <a:t>80% / 95%</a:t>
                      </a:r>
                    </a:p>
                  </a:txBody>
                  <a:tcPr marL="88900" marR="88900" marT="50800" marB="50800" anchor="ctr">
                    <a:solidFill>
                      <a:srgbClr val="FCFCFD"/>
                    </a:solidFill>
                  </a:tcPr>
                </a:tc>
                <a:tc>
                  <a:txBody>
                    <a:bodyPr wrap="square"/>
                    <a:lstStyle/>
                    <a:p>
                      <a:r>
                        <a:rPr sz="1200" b="0">
                          <a:solidFill>
                            <a:srgbClr val="14171C"/>
                          </a:solidFill>
                          <a:latin typeface="Arial"/>
                          <a:ea typeface="Arial"/>
                          <a:cs typeface="Arial"/>
                        </a:rPr>
                        <a:t>95% lumped once on delivered storage energy</a:t>
                      </a:r>
                    </a:p>
                  </a:txBody>
                  <a:tcPr marL="88900" marR="88900" marT="50800" marB="50800" anchor="ctr">
                    <a:solidFill>
                      <a:srgbClr val="FCFCFD"/>
                    </a:solidFill>
                  </a:tcPr>
                </a:tc>
              </a:tr>
              <a:tr h="330200">
                <a:tc>
                  <a:txBody>
                    <a:bodyPr wrap="square"/>
                    <a:lstStyle/>
                    <a:p>
                      <a:r>
                        <a:rPr sz="1200" b="0">
                          <a:solidFill>
                            <a:srgbClr val="14171C"/>
                          </a:solidFill>
                          <a:latin typeface="Arial"/>
                          <a:ea typeface="Arial"/>
                          <a:cs typeface="Arial"/>
                        </a:rPr>
                        <a:t>Price inputs</a:t>
                      </a:r>
                    </a:p>
                  </a:txBody>
                  <a:tcPr marL="88900" marR="88900" marT="50800" marB="50800" anchor="ctr">
                    <a:solidFill>
                      <a:srgbClr val="F4F5F7"/>
                    </a:solidFill>
                  </a:tcPr>
                </a:tc>
                <a:tc>
                  <a:txBody>
                    <a:bodyPr wrap="square"/>
                    <a:lstStyle/>
                    <a:p>
                      <a:r>
                        <a:rPr sz="1200" b="0">
                          <a:solidFill>
                            <a:srgbClr val="14171C"/>
                          </a:solidFill>
                          <a:latin typeface="Arial"/>
                          <a:ea typeface="Arial"/>
                          <a:cs typeface="Arial"/>
                        </a:rPr>
                        <a:t>13,640 / 8,000 / 6,000</a:t>
                      </a:r>
                    </a:p>
                  </a:txBody>
                  <a:tcPr marL="88900" marR="88900" marT="50800" marB="50800" anchor="ctr">
                    <a:solidFill>
                      <a:srgbClr val="F4F5F7"/>
                    </a:solidFill>
                  </a:tcPr>
                </a:tc>
                <a:tc>
                  <a:txBody>
                    <a:bodyPr wrap="square"/>
                    <a:lstStyle/>
                    <a:p>
                      <a:r>
                        <a:rPr sz="1200" b="0">
                          <a:solidFill>
                            <a:srgbClr val="14171C"/>
                          </a:solidFill>
                          <a:latin typeface="Arial"/>
                          <a:ea typeface="Arial"/>
                          <a:cs typeface="Arial"/>
                        </a:rPr>
                        <a:t>EGP per battery kWh / PV kWp / inverter kW</a:t>
                      </a:r>
                    </a:p>
                  </a:txBody>
                  <a:tcPr marL="88900" marR="88900" marT="50800" marB="50800" anchor="ctr">
                    <a:solidFill>
                      <a:srgbClr val="F4F5F7"/>
                    </a:solidFill>
                  </a:tcPr>
                </a:tc>
              </a:tr>
              <a:tr h="330200">
                <a:tc>
                  <a:txBody>
                    <a:bodyPr wrap="square"/>
                    <a:lstStyle/>
                    <a:p>
                      <a:r>
                        <a:rPr sz="1200" b="0">
                          <a:solidFill>
                            <a:srgbClr val="14171C"/>
                          </a:solidFill>
                          <a:latin typeface="Arial"/>
                          <a:ea typeface="Arial"/>
                          <a:cs typeface="Arial"/>
                        </a:rPr>
                        <a:t>Cost exclusions</a:t>
                      </a:r>
                    </a:p>
                  </a:txBody>
                  <a:tcPr marL="88900" marR="88900" marT="50800" marB="50800" anchor="ctr">
                    <a:solidFill>
                      <a:srgbClr val="FCFCFD"/>
                    </a:solidFill>
                  </a:tcPr>
                </a:tc>
                <a:tc>
                  <a:txBody>
                    <a:bodyPr wrap="square"/>
                    <a:lstStyle/>
                    <a:p>
                      <a:r>
                        <a:rPr sz="1200" b="0">
                          <a:solidFill>
                            <a:srgbClr val="14171C"/>
                          </a:solidFill>
                          <a:latin typeface="Arial"/>
                          <a:ea typeface="Arial"/>
                          <a:cs typeface="Arial"/>
                        </a:rPr>
                        <a:t>O&amp;M / finance / degradation</a:t>
                      </a:r>
                    </a:p>
                  </a:txBody>
                  <a:tcPr marL="88900" marR="88900" marT="50800" marB="50800" anchor="ctr">
                    <a:solidFill>
                      <a:srgbClr val="FCFCFD"/>
                    </a:solidFill>
                  </a:tcPr>
                </a:tc>
                <a:tc>
                  <a:txBody>
                    <a:bodyPr wrap="square"/>
                    <a:lstStyle/>
                    <a:p>
                      <a:r>
                        <a:rPr sz="1200" b="0">
                          <a:solidFill>
                            <a:srgbClr val="14171C"/>
                          </a:solidFill>
                          <a:latin typeface="Arial"/>
                          <a:ea typeface="Arial"/>
                          <a:cs typeface="Arial"/>
                        </a:rPr>
                        <a:t>Also no replacement, insurance or escalation</a:t>
                      </a:r>
                    </a:p>
                  </a:txBody>
                  <a:tcPr marL="88900" marR="88900" marT="50800" marB="50800" anchor="ctr">
                    <a:solidFill>
                      <a:srgbClr val="FCFCFD"/>
                    </a:solidFill>
                  </a:tcPr>
                </a:tc>
              </a:tr>
              <a:tr h="330200">
                <a:tc>
                  <a:txBody>
                    <a:bodyPr wrap="square"/>
                    <a:lstStyle/>
                    <a:p>
                      <a:r>
                        <a:rPr sz="1200" b="0">
                          <a:solidFill>
                            <a:srgbClr val="14171C"/>
                          </a:solidFill>
                          <a:latin typeface="Arial"/>
                          <a:ea typeface="Arial"/>
                          <a:cs typeface="Arial"/>
                        </a:rPr>
                        <a:t>Annual load</a:t>
                      </a:r>
                    </a:p>
                  </a:txBody>
                  <a:tcPr marL="88900" marR="88900" marT="50800" marB="50800" anchor="ctr">
                    <a:solidFill>
                      <a:srgbClr val="F4F5F7"/>
                    </a:solidFill>
                  </a:tcPr>
                </a:tc>
                <a:tc>
                  <a:txBody>
                    <a:bodyPr wrap="square"/>
                    <a:lstStyle/>
                    <a:p>
                      <a:r>
                        <a:rPr sz="1200" b="0">
                          <a:solidFill>
                            <a:srgbClr val="14171C"/>
                          </a:solidFill>
                          <a:latin typeface="Arial"/>
                          <a:ea typeface="Arial"/>
                          <a:cs typeface="Arial"/>
                        </a:rPr>
                        <a:t>80.7 kWh/day all year</a:t>
                      </a:r>
                    </a:p>
                  </a:txBody>
                  <a:tcPr marL="88900" marR="88900" marT="50800" marB="50800" anchor="ctr">
                    <a:solidFill>
                      <a:srgbClr val="F4F5F7"/>
                    </a:solidFill>
                  </a:tcPr>
                </a:tc>
                <a:tc>
                  <a:txBody>
                    <a:bodyPr wrap="square"/>
                    <a:lstStyle/>
                    <a:p>
                      <a:r>
                        <a:rPr sz="1200" b="0">
                          <a:solidFill>
                            <a:srgbClr val="14171C"/>
                          </a:solidFill>
                          <a:latin typeface="Arial"/>
                          <a:ea typeface="Arial"/>
                          <a:cs typeface="Arial"/>
                        </a:rPr>
                        <a:t>Constant-load scenario. Seasonality unknown</a:t>
                      </a:r>
                    </a:p>
                  </a:txBody>
                  <a:tcPr marL="88900" marR="88900" marT="50800" marB="50800" anchor="ctr">
                    <a:solidFill>
                      <a:srgbClr val="F4F5F7"/>
                    </a:solidFill>
                  </a:tcPr>
                </a:tc>
              </a:tr>
            </a:tbl>
          </a:graphicData>
        </a:graphic>
      </p:graphicFrame>
      <p:sp>
        <p:nvSpPr>
          <p:cNvPr id="5" name="TextBox 4">
            <a:extLst xmlns:a="http://schemas.openxmlformats.org/drawingml/2006/main">
              <a:ext uri="{FF2B5EF4-FFF2-40B4-BE49-F238E27FC236}">
                <a16:creationId xmlns:a16="http://schemas.microsoft.com/office/drawing/2014/main" id="{9D620A8C-87E7-4058-9202-3686833B4D8D}"/>
              </a:ext>
            </a:extLst>
          </p:cNvPr>
          <p:cNvSpPr>
            <a:spLocks xmlns:a="http://schemas.openxmlformats.org/drawingml/2006/main" noGrp="1"/>
          </p:cNvSpPr>
          <p:nvPr/>
        </p:nvSpPr>
        <p:spPr>
          <a:xfrm xmlns:a="http://schemas.openxmlformats.org/drawingml/2006/main">
            <a:off x="812800" y="5080000"/>
            <a:ext cx="10566400" cy="6985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5000"/>
              </a:lnSpc>
              <a:buNone/>
              <a:defRPr sz="1350" b="0">
                <a:solidFill>
                  <a:srgbClr val="4A5260"/>
                </a:solidFill>
                <a:latin typeface="Arial"/>
                <a:ea typeface="Arial"/>
                <a:cs typeface="Arial"/>
              </a:defRPr>
            </a:pPr>
            <a:r>
              <a:rPr sz="1350" b="0">
                <a:solidFill>
                  <a:srgbClr val="4A5260"/>
                </a:solidFill>
                <a:latin typeface="Arial"/>
                <a:ea typeface="Arial"/>
                <a:cs typeface="Arial"/>
              </a:rPr>
              <a:t>Needed: detailed invoice, actual billing dates, 12 months of consumption, hourly loads, roof survey and motor starting current.</a:t>
            </a:r>
          </a:p>
          <a:p xmlns:a="http://schemas.openxmlformats.org/drawingml/2006/main">
            <a:pPr algn="l">
              <a:lnSpc>
                <a:spcPct val="135000"/>
              </a:lnSpc>
              <a:buNone/>
              <a:defRPr sz="1350" b="0">
                <a:solidFill>
                  <a:srgbClr val="4A5260"/>
                </a:solidFill>
                <a:latin typeface="Arial"/>
                <a:ea typeface="Arial"/>
                <a:cs typeface="Arial"/>
              </a:defRPr>
            </a:pPr>
            <a:r>
              <a:rPr sz="1350" b="0">
                <a:solidFill>
                  <a:srgbClr val="4A5260"/>
                </a:solidFill>
                <a:latin typeface="Arial"/>
                <a:ea typeface="Arial"/>
                <a:cs typeface="Arial"/>
              </a:rPr>
              <a:t>Energy matching assumes all daily solar up to daytime demand can be used directly. Hourly mismatch can lower savings.</a:t>
            </a:r>
          </a:p>
        </p:txBody>
      </p:sp>
    </p:spTree>
    <p:extLst>
      <p:ext uri="{BB962C8B-B14F-4D97-AF65-F5344CB8AC3E}">
        <p14:creationId xmlns:p14="http://schemas.microsoft.com/office/powerpoint/2010/main" val="1095143202"/>
      </p:ext>
    </p:extLst>
  </p:cSld>
</p:sld>
</file>

<file path=ppt/slides/slide6.xml><?xml version="1.0" encoding="utf-8"?>
<p:sld xmlns:p="http://schemas.openxmlformats.org/presentationml/2006/main">
  <p:cSld>
    <p:bg>
      <p:bgPr>
        <a:solidFill xmlns:a="http://schemas.openxmlformats.org/drawingml/2006/main">
          <a:srgbClr val="F4F5F7"/>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04130E5-D102-4F98-B89C-B6872DA617E3}"/>
              </a:ext>
            </a:extLst>
          </p:cNvPr>
          <p:cNvSpPr>
            <a:spLocks xmlns:a="http://schemas.openxmlformats.org/drawingml/2006/main" noGrp="1"/>
          </p:cNvSpPr>
          <p:nvPr/>
        </p:nvSpPr>
        <p:spPr>
          <a:xfrm xmlns:a="http://schemas.openxmlformats.org/drawingml/2006/main">
            <a:off x="809625" y="80962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B84E0E"/>
                </a:solidFill>
                <a:latin typeface="Arial"/>
                <a:ea typeface="Arial"/>
                <a:cs typeface="Arial"/>
              </a:defRPr>
            </a:pPr>
            <a:r>
              <a:rPr sz="1350" b="1">
                <a:solidFill>
                  <a:srgbClr val="B84E0E"/>
                </a:solidFill>
                <a:latin typeface="Arial"/>
                <a:ea typeface="Arial"/>
                <a:cs typeface="Arial"/>
              </a:rPr>
              <a:t>OPTION A · SOLAR ONLY</a:t>
            </a:r>
          </a:p>
        </p:txBody>
      </p:sp>
      <p:sp>
        <p:nvSpPr>
          <p:cNvPr id="2" name="">
            <a:extLst xmlns:a="http://schemas.openxmlformats.org/drawingml/2006/main">
              <a:ext uri="{FF2B5EF4-FFF2-40B4-BE49-F238E27FC236}">
                <a16:creationId xmlns:a16="http://schemas.microsoft.com/office/drawing/2014/main" id="{13927DFE-7368-4258-A074-784915F9BCF7}"/>
              </a:ext>
            </a:extLst>
          </p:cNvPr>
          <p:cNvSpPr>
            <a:spLocks xmlns:a="http://schemas.openxmlformats.org/drawingml/2006/main" noGrp="1"/>
          </p:cNvSpPr>
          <p:nvPr/>
        </p:nvSpPr>
        <p:spPr>
          <a:xfrm xmlns:a="http://schemas.openxmlformats.org/drawingml/2006/main">
            <a:off x="809625" y="1114425"/>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4171C"/>
                </a:solidFill>
                <a:latin typeface="Arial"/>
                <a:ea typeface="Arial"/>
                <a:cs typeface="Arial"/>
              </a:defRPr>
            </a:pPr>
            <a:r>
              <a:rPr sz="3150" b="1">
                <a:solidFill>
                  <a:srgbClr val="14171C"/>
                </a:solidFill>
                <a:latin typeface="Arial"/>
                <a:ea typeface="Arial"/>
                <a:cs typeface="Arial"/>
              </a:rPr>
              <a:t>1. Daily demand and system sizing</a:t>
            </a:r>
          </a:p>
        </p:txBody>
      </p:sp>
      <p:sp>
        <p:nvSpPr>
          <p:cNvPr id="3" name="">
            <a:extLst xmlns:a="http://schemas.openxmlformats.org/drawingml/2006/main">
              <a:ext uri="{FF2B5EF4-FFF2-40B4-BE49-F238E27FC236}">
                <a16:creationId xmlns:a16="http://schemas.microsoft.com/office/drawing/2014/main" id="{0B997D39-8D08-4FD4-9D4A-BC0024222D3A}"/>
              </a:ext>
            </a:extLst>
          </p:cNvPr>
          <p:cNvSpPr>
            <a:spLocks xmlns:a="http://schemas.openxmlformats.org/drawingml/2006/main" noGrp="1"/>
          </p:cNvSpPr>
          <p:nvPr/>
        </p:nvSpPr>
        <p:spPr>
          <a:xfrm xmlns:a="http://schemas.openxmlformats.org/drawingml/2006/main">
            <a:off x="809625" y="1962150"/>
            <a:ext cx="10572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B84E0E"/>
                </a:solidFill>
                <a:latin typeface="Arial"/>
                <a:ea typeface="Arial"/>
                <a:cs typeface="Arial"/>
              </a:defRPr>
            </a:pPr>
            <a:r>
              <a:rPr sz="1650" b="1">
                <a:solidFill>
                  <a:srgbClr val="B84E0E"/>
                </a:solidFill>
                <a:latin typeface="Arial"/>
                <a:ea typeface="Arial"/>
                <a:cs typeface="Arial"/>
              </a:rPr>
              <a:t>Daily demand and its split</a:t>
            </a:r>
          </a:p>
        </p:txBody>
      </p:sp>
      <p:sp>
        <p:nvSpPr>
          <p:cNvPr id="4" name="">
            <a:extLst xmlns:a="http://schemas.openxmlformats.org/drawingml/2006/main">
              <a:ext uri="{FF2B5EF4-FFF2-40B4-BE49-F238E27FC236}">
                <a16:creationId xmlns:a16="http://schemas.microsoft.com/office/drawing/2014/main" id="{BEABDE0F-D1E4-4A76-A969-0A28BC2D6BB1}"/>
              </a:ext>
            </a:extLst>
          </p:cNvPr>
          <p:cNvSpPr>
            <a:spLocks xmlns:a="http://schemas.openxmlformats.org/drawingml/2006/main" noGrp="1"/>
          </p:cNvSpPr>
          <p:nvPr/>
        </p:nvSpPr>
        <p:spPr>
          <a:xfrm xmlns:a="http://schemas.openxmlformats.org/drawingml/2006/main">
            <a:off x="809625" y="22955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4171C"/>
                </a:solidFill>
                <a:latin typeface="Consolas"/>
                <a:ea typeface="Consolas"/>
                <a:cs typeface="Consolas"/>
              </a:defRPr>
            </a:pPr>
            <a:r>
              <a:rPr sz="1650" b="0">
                <a:solidFill>
                  <a:srgbClr val="14171C"/>
                </a:solidFill>
                <a:latin typeface="Consolas"/>
                <a:ea typeface="Consolas"/>
                <a:cs typeface="Consolas"/>
              </a:rPr>
              <a:t>E = 2,421 / 30 = 80.70 kWh/day; D = N = E × 50% = 40.35</a:t>
            </a:r>
          </a:p>
        </p:txBody>
      </p:sp>
      <p:sp>
        <p:nvSpPr>
          <p:cNvPr id="5" name="">
            <a:extLst xmlns:a="http://schemas.openxmlformats.org/drawingml/2006/main">
              <a:ext uri="{FF2B5EF4-FFF2-40B4-BE49-F238E27FC236}">
                <a16:creationId xmlns:a16="http://schemas.microsoft.com/office/drawing/2014/main" id="{38744657-D824-47B8-AECF-03A461C4A82D}"/>
              </a:ext>
            </a:extLst>
          </p:cNvPr>
          <p:cNvSpPr>
            <a:spLocks xmlns:a="http://schemas.openxmlformats.org/drawingml/2006/main" noGrp="1"/>
          </p:cNvSpPr>
          <p:nvPr/>
        </p:nvSpPr>
        <p:spPr>
          <a:xfrm xmlns:a="http://schemas.openxmlformats.org/drawingml/2006/main">
            <a:off x="809625" y="2905125"/>
            <a:ext cx="10572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B84E0E"/>
                </a:solidFill>
                <a:latin typeface="Arial"/>
                <a:ea typeface="Arial"/>
                <a:cs typeface="Arial"/>
              </a:defRPr>
            </a:pPr>
            <a:r>
              <a:rPr sz="1650" b="1">
                <a:solidFill>
                  <a:srgbClr val="B84E0E"/>
                </a:solidFill>
                <a:latin typeface="Arial"/>
                <a:ea typeface="Arial"/>
                <a:cs typeface="Arial"/>
              </a:rPr>
              <a:t>Battery capacity and energy delivered</a:t>
            </a:r>
          </a:p>
        </p:txBody>
      </p:sp>
      <p:sp>
        <p:nvSpPr>
          <p:cNvPr id="6" name="">
            <a:extLst xmlns:a="http://schemas.openxmlformats.org/drawingml/2006/main">
              <a:ext uri="{FF2B5EF4-FFF2-40B4-BE49-F238E27FC236}">
                <a16:creationId xmlns:a16="http://schemas.microsoft.com/office/drawing/2014/main" id="{9838FA42-B89E-4B1C-A100-E117101C68D0}"/>
              </a:ext>
            </a:extLst>
          </p:cNvPr>
          <p:cNvSpPr>
            <a:spLocks xmlns:a="http://schemas.openxmlformats.org/drawingml/2006/main" noGrp="1"/>
          </p:cNvSpPr>
          <p:nvPr/>
        </p:nvSpPr>
        <p:spPr>
          <a:xfrm xmlns:a="http://schemas.openxmlformats.org/drawingml/2006/main">
            <a:off x="809625" y="32385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4171C"/>
                </a:solidFill>
                <a:latin typeface="Consolas"/>
                <a:ea typeface="Consolas"/>
                <a:cs typeface="Consolas"/>
              </a:defRPr>
            </a:pPr>
            <a:r>
              <a:rPr sz="1650" b="0">
                <a:solidFill>
                  <a:srgbClr val="14171C"/>
                </a:solidFill>
                <a:latin typeface="Consolas"/>
                <a:ea typeface="Consolas"/>
                <a:cs typeface="Consolas"/>
              </a:rPr>
              <a:t>C = 0 kWh; U = C × 80% = 0; U × 95% = 0 kWh</a:t>
            </a:r>
          </a:p>
        </p:txBody>
      </p:sp>
      <p:sp>
        <p:nvSpPr>
          <p:cNvPr id="7" name="">
            <a:extLst xmlns:a="http://schemas.openxmlformats.org/drawingml/2006/main">
              <a:ext uri="{FF2B5EF4-FFF2-40B4-BE49-F238E27FC236}">
                <a16:creationId xmlns:a16="http://schemas.microsoft.com/office/drawing/2014/main" id="{47BEAD18-9CA7-4C31-8FB8-2465ED0847DC}"/>
              </a:ext>
            </a:extLst>
          </p:cNvPr>
          <p:cNvSpPr>
            <a:spLocks xmlns:a="http://schemas.openxmlformats.org/drawingml/2006/main" noGrp="1"/>
          </p:cNvSpPr>
          <p:nvPr/>
        </p:nvSpPr>
        <p:spPr>
          <a:xfrm xmlns:a="http://schemas.openxmlformats.org/drawingml/2006/main">
            <a:off x="809625" y="3848100"/>
            <a:ext cx="10572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B84E0E"/>
                </a:solidFill>
                <a:latin typeface="Arial"/>
                <a:ea typeface="Arial"/>
                <a:cs typeface="Arial"/>
              </a:defRPr>
            </a:pPr>
            <a:r>
              <a:rPr sz="1650" b="1">
                <a:solidFill>
                  <a:srgbClr val="B84E0E"/>
                </a:solidFill>
                <a:latin typeface="Arial"/>
                <a:ea typeface="Arial"/>
                <a:cs typeface="Arial"/>
              </a:rPr>
              <a:t>PV capacity, rounded up to the next 0.5 kWp</a:t>
            </a:r>
          </a:p>
        </p:txBody>
      </p:sp>
      <p:sp>
        <p:nvSpPr>
          <p:cNvPr id="8" name="">
            <a:extLst xmlns:a="http://schemas.openxmlformats.org/drawingml/2006/main">
              <a:ext uri="{FF2B5EF4-FFF2-40B4-BE49-F238E27FC236}">
                <a16:creationId xmlns:a16="http://schemas.microsoft.com/office/drawing/2014/main" id="{B4A6AC94-EAA6-49B0-91CE-D32402839C6B}"/>
              </a:ext>
            </a:extLst>
          </p:cNvPr>
          <p:cNvSpPr>
            <a:spLocks xmlns:a="http://schemas.openxmlformats.org/drawingml/2006/main" noGrp="1"/>
          </p:cNvSpPr>
          <p:nvPr/>
        </p:nvSpPr>
        <p:spPr>
          <a:xfrm xmlns:a="http://schemas.openxmlformats.org/drawingml/2006/main">
            <a:off x="809625" y="41814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4171C"/>
                </a:solidFill>
                <a:latin typeface="Consolas"/>
                <a:ea typeface="Consolas"/>
                <a:cs typeface="Consolas"/>
              </a:defRPr>
            </a:pPr>
            <a:r>
              <a:rPr sz="1650" b="0">
                <a:solidFill>
                  <a:srgbClr val="14171C"/>
                </a:solidFill>
                <a:latin typeface="Consolas"/>
                <a:ea typeface="Consolas"/>
                <a:cs typeface="Consolas"/>
              </a:rPr>
              <a:t>P = (D + min(N, U × η) / η) / Y</a:t>
            </a:r>
          </a:p>
          <a:p xmlns:a="http://schemas.openxmlformats.org/drawingml/2006/main">
            <a:pPr>
              <a:defRPr sz="1650" b="0">
                <a:solidFill>
                  <a:srgbClr val="14171C"/>
                </a:solidFill>
                <a:latin typeface="Consolas"/>
                <a:ea typeface="Consolas"/>
                <a:cs typeface="Consolas"/>
              </a:defRPr>
            </a:pPr>
            <a:r>
              <a:rPr sz="1650" b="0">
                <a:solidFill>
                  <a:srgbClr val="14171C"/>
                </a:solidFill>
                <a:latin typeface="Consolas"/>
                <a:ea typeface="Consolas"/>
                <a:cs typeface="Consolas"/>
              </a:rPr>
              <a:t>  = (40.35 + 0.00 / 0.95) / 4.98 = 8.102 → 8.5 kWp</a:t>
            </a:r>
          </a:p>
        </p:txBody>
      </p:sp>
      <p:sp>
        <p:nvSpPr>
          <p:cNvPr id="9" name="">
            <a:extLst xmlns:a="http://schemas.openxmlformats.org/drawingml/2006/main">
              <a:ext uri="{FF2B5EF4-FFF2-40B4-BE49-F238E27FC236}">
                <a16:creationId xmlns:a16="http://schemas.microsoft.com/office/drawing/2014/main" id="{8C1A7DA8-5215-4E76-A3CE-19ECEB4F4582}"/>
              </a:ext>
            </a:extLst>
          </p:cNvPr>
          <p:cNvSpPr>
            <a:spLocks xmlns:a="http://schemas.openxmlformats.org/drawingml/2006/main" noGrp="1"/>
          </p:cNvSpPr>
          <p:nvPr/>
        </p:nvSpPr>
        <p:spPr>
          <a:xfrm xmlns:a="http://schemas.openxmlformats.org/drawingml/2006/main">
            <a:off x="809625" y="4791075"/>
            <a:ext cx="10572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B84E0E"/>
                </a:solidFill>
                <a:latin typeface="Arial"/>
                <a:ea typeface="Arial"/>
                <a:cs typeface="Arial"/>
              </a:defRPr>
            </a:pPr>
            <a:r>
              <a:rPr sz="1650" b="1">
                <a:solidFill>
                  <a:srgbClr val="B84E0E"/>
                </a:solidFill>
                <a:latin typeface="Arial"/>
                <a:ea typeface="Arial"/>
                <a:cs typeface="Arial"/>
              </a:rPr>
              <a:t>Provisional inverter and roof allowance</a:t>
            </a:r>
          </a:p>
        </p:txBody>
      </p:sp>
      <p:sp>
        <p:nvSpPr>
          <p:cNvPr id="10" name="">
            <a:extLst xmlns:a="http://schemas.openxmlformats.org/drawingml/2006/main">
              <a:ext uri="{FF2B5EF4-FFF2-40B4-BE49-F238E27FC236}">
                <a16:creationId xmlns:a16="http://schemas.microsoft.com/office/drawing/2014/main" id="{27AB56FB-0B8E-4032-A1DB-F9C41361359B}"/>
              </a:ext>
            </a:extLst>
          </p:cNvPr>
          <p:cNvSpPr>
            <a:spLocks xmlns:a="http://schemas.openxmlformats.org/drawingml/2006/main" noGrp="1"/>
          </p:cNvSpPr>
          <p:nvPr/>
        </p:nvSpPr>
        <p:spPr>
          <a:xfrm xmlns:a="http://schemas.openxmlformats.org/drawingml/2006/main">
            <a:off x="809625" y="51244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4171C"/>
                </a:solidFill>
                <a:latin typeface="Consolas"/>
                <a:ea typeface="Consolas"/>
                <a:cs typeface="Consolas"/>
              </a:defRPr>
            </a:pPr>
            <a:r>
              <a:rPr sz="1650" b="0">
                <a:solidFill>
                  <a:srgbClr val="14171C"/>
                </a:solidFill>
                <a:latin typeface="Consolas"/>
                <a:ea typeface="Consolas"/>
                <a:cs typeface="Consolas"/>
              </a:rPr>
              <a:t>Selected inverter I = 10 kW (standard size ≥ P); roof ≈ 8.5 × 6 = 51 m²</a:t>
            </a:r>
          </a:p>
        </p:txBody>
      </p:sp>
      <p:sp>
        <p:nvSpPr>
          <p:cNvPr id="11" name="">
            <a:extLst xmlns:a="http://schemas.openxmlformats.org/drawingml/2006/main">
              <a:ext uri="{FF2B5EF4-FFF2-40B4-BE49-F238E27FC236}">
                <a16:creationId xmlns:a16="http://schemas.microsoft.com/office/drawing/2014/main" id="{13930A85-E80D-4F57-B80D-EB6BAB23AC47}"/>
              </a:ext>
            </a:extLst>
          </p:cNvPr>
          <p:cNvSpPr>
            <a:spLocks xmlns:a="http://schemas.openxmlformats.org/drawingml/2006/main" noGrp="1"/>
          </p:cNvSpPr>
          <p:nvPr/>
        </p:nvSpPr>
        <p:spPr>
          <a:xfrm xmlns:a="http://schemas.openxmlformats.org/drawingml/2006/main">
            <a:off x="809625" y="6057900"/>
            <a:ext cx="10572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4A5260"/>
                </a:solidFill>
                <a:latin typeface="Arial"/>
                <a:ea typeface="Arial"/>
                <a:cs typeface="Arial"/>
              </a:defRPr>
            </a:pPr>
            <a:r>
              <a:rPr sz="1275" b="0">
                <a:solidFill>
                  <a:srgbClr val="4A5260"/>
                </a:solidFill>
                <a:latin typeface="Arial"/>
                <a:ea typeface="Arial"/>
                <a:cs typeface="Arial"/>
              </a:rPr>
              <a:t>Solar covers daytime energy in the average-day model. No battery energy is available for night or stored backup.</a:t>
            </a:r>
          </a:p>
          <a:p xmlns:a="http://schemas.openxmlformats.org/drawingml/2006/main">
            <a:pPr>
              <a:defRPr sz="1275" b="0">
                <a:solidFill>
                  <a:srgbClr val="4A5260"/>
                </a:solidFill>
                <a:latin typeface="Arial"/>
                <a:ea typeface="Arial"/>
                <a:cs typeface="Arial"/>
              </a:defRPr>
            </a:pPr>
            <a:r>
              <a:rPr sz="1275" b="0">
                <a:solidFill>
                  <a:srgbClr val="4A5260"/>
                </a:solidFill>
                <a:latin typeface="Arial"/>
                <a:ea typeface="Arial"/>
                <a:cs typeface="Arial"/>
              </a:rPr>
              <a:t>50/50 is an unmeasured assumption. Confirm motor surge and usable roof area.</a:t>
            </a:r>
          </a:p>
        </p:txBody>
      </p:sp>
    </p:spTree>
    <p:extLst>
      <p:ext uri="{BB962C8B-B14F-4D97-AF65-F5344CB8AC3E}">
        <p14:creationId xmlns:p14="http://schemas.microsoft.com/office/powerpoint/2010/main" val="526125489"/>
      </p:ext>
    </p:extLst>
  </p:cSld>
</p:sld>
</file>

<file path=ppt/slides/slide7.xml><?xml version="1.0" encoding="utf-8"?>
<p:sld xmlns:p="http://schemas.openxmlformats.org/presentationml/2006/main">
  <p:cSld>
    <p:bg>
      <p:bgPr>
        <a:solidFill xmlns:a="http://schemas.openxmlformats.org/drawingml/2006/main">
          <a:srgbClr val="F4F5F7"/>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2CCA847-A00B-4A54-AAAB-88FAB5BD4838}"/>
              </a:ext>
            </a:extLst>
          </p:cNvPr>
          <p:cNvSpPr>
            <a:spLocks xmlns:a="http://schemas.openxmlformats.org/drawingml/2006/main" noGrp="1"/>
          </p:cNvSpPr>
          <p:nvPr/>
        </p:nvSpPr>
        <p:spPr>
          <a:xfrm xmlns:a="http://schemas.openxmlformats.org/drawingml/2006/main">
            <a:off x="809625" y="80962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B84E0E"/>
                </a:solidFill>
                <a:latin typeface="Arial"/>
                <a:ea typeface="Arial"/>
                <a:cs typeface="Arial"/>
              </a:defRPr>
            </a:pPr>
            <a:r>
              <a:rPr sz="1350" b="1">
                <a:solidFill>
                  <a:srgbClr val="B84E0E"/>
                </a:solidFill>
                <a:latin typeface="Arial"/>
                <a:ea typeface="Arial"/>
                <a:cs typeface="Arial"/>
              </a:rPr>
              <a:t>OPTION A · SOLAR ONLY</a:t>
            </a:r>
          </a:p>
        </p:txBody>
      </p:sp>
      <p:sp>
        <p:nvSpPr>
          <p:cNvPr id="2" name="">
            <a:extLst xmlns:a="http://schemas.openxmlformats.org/drawingml/2006/main">
              <a:ext uri="{FF2B5EF4-FFF2-40B4-BE49-F238E27FC236}">
                <a16:creationId xmlns:a16="http://schemas.microsoft.com/office/drawing/2014/main" id="{9C29CDC3-F329-4982-8ADC-AF01DA52D4C6}"/>
              </a:ext>
            </a:extLst>
          </p:cNvPr>
          <p:cNvSpPr>
            <a:spLocks xmlns:a="http://schemas.openxmlformats.org/drawingml/2006/main" noGrp="1"/>
          </p:cNvSpPr>
          <p:nvPr/>
        </p:nvSpPr>
        <p:spPr>
          <a:xfrm xmlns:a="http://schemas.openxmlformats.org/drawingml/2006/main">
            <a:off x="809625" y="1114425"/>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4171C"/>
                </a:solidFill>
                <a:latin typeface="Arial"/>
                <a:ea typeface="Arial"/>
                <a:cs typeface="Arial"/>
              </a:defRPr>
            </a:pPr>
            <a:r>
              <a:rPr sz="3150" b="1">
                <a:solidFill>
                  <a:srgbClr val="14171C"/>
                </a:solidFill>
                <a:latin typeface="Arial"/>
                <a:ea typeface="Arial"/>
                <a:cs typeface="Arial"/>
              </a:rPr>
              <a:t>2. System price</a:t>
            </a:r>
          </a:p>
        </p:txBody>
      </p:sp>
      <p:sp>
        <p:nvSpPr>
          <p:cNvPr id="3" name="">
            <a:extLst xmlns:a="http://schemas.openxmlformats.org/drawingml/2006/main">
              <a:ext uri="{FF2B5EF4-FFF2-40B4-BE49-F238E27FC236}">
                <a16:creationId xmlns:a16="http://schemas.microsoft.com/office/drawing/2014/main" id="{658C6DC5-373B-4894-B5B8-A946B82E01CC}"/>
              </a:ext>
            </a:extLst>
          </p:cNvPr>
          <p:cNvSpPr>
            <a:spLocks xmlns:a="http://schemas.openxmlformats.org/drawingml/2006/main" noGrp="1"/>
          </p:cNvSpPr>
          <p:nvPr/>
        </p:nvSpPr>
        <p:spPr>
          <a:xfrm xmlns:a="http://schemas.openxmlformats.org/drawingml/2006/main">
            <a:off x="809625" y="1962150"/>
            <a:ext cx="10572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B84E0E"/>
                </a:solidFill>
                <a:latin typeface="Arial"/>
                <a:ea typeface="Arial"/>
                <a:cs typeface="Arial"/>
              </a:defRPr>
            </a:pPr>
            <a:r>
              <a:rPr sz="1650" b="1">
                <a:solidFill>
                  <a:srgbClr val="B84E0E"/>
                </a:solidFill>
                <a:latin typeface="Arial"/>
                <a:ea typeface="Arial"/>
                <a:cs typeface="Arial"/>
              </a:rPr>
              <a:t>Unit-price assumptions</a:t>
            </a:r>
          </a:p>
        </p:txBody>
      </p:sp>
      <p:sp>
        <p:nvSpPr>
          <p:cNvPr id="4" name="">
            <a:extLst xmlns:a="http://schemas.openxmlformats.org/drawingml/2006/main">
              <a:ext uri="{FF2B5EF4-FFF2-40B4-BE49-F238E27FC236}">
                <a16:creationId xmlns:a16="http://schemas.microsoft.com/office/drawing/2014/main" id="{C68AF366-D27B-4ECB-8BB6-447069EB4BEA}"/>
              </a:ext>
            </a:extLst>
          </p:cNvPr>
          <p:cNvSpPr>
            <a:spLocks xmlns:a="http://schemas.openxmlformats.org/drawingml/2006/main" noGrp="1"/>
          </p:cNvSpPr>
          <p:nvPr/>
        </p:nvSpPr>
        <p:spPr>
          <a:xfrm xmlns:a="http://schemas.openxmlformats.org/drawingml/2006/main">
            <a:off x="809625" y="22955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4171C"/>
                </a:solidFill>
                <a:latin typeface="Consolas"/>
                <a:ea typeface="Consolas"/>
                <a:cs typeface="Consolas"/>
              </a:defRPr>
            </a:pPr>
            <a:r>
              <a:rPr sz="1650" b="0">
                <a:solidFill>
                  <a:srgbClr val="14171C"/>
                </a:solidFill>
                <a:latin typeface="Consolas"/>
                <a:ea typeface="Consolas"/>
                <a:cs typeface="Consolas"/>
              </a:rPr>
              <a:t>PV = 8,000 EGP/kWp; inverter = 6,000 EGP/kW</a:t>
            </a:r>
          </a:p>
          <a:p xmlns:a="http://schemas.openxmlformats.org/drawingml/2006/main">
            <a:pPr>
              <a:defRPr sz="1650" b="0">
                <a:solidFill>
                  <a:srgbClr val="14171C"/>
                </a:solidFill>
                <a:latin typeface="Consolas"/>
                <a:ea typeface="Consolas"/>
                <a:cs typeface="Consolas"/>
              </a:defRPr>
            </a:pPr>
            <a:r>
              <a:rPr sz="1650" b="0">
                <a:solidFill>
                  <a:srgbClr val="14171C"/>
                </a:solidFill>
                <a:latin typeface="Consolas"/>
                <a:ea typeface="Consolas"/>
                <a:cs typeface="Consolas"/>
              </a:rPr>
              <a:t>Battery = 220 EUR/kWh × 62 EGP/EUR = 13,640 EGP/kWh</a:t>
            </a:r>
          </a:p>
        </p:txBody>
      </p:sp>
      <p:sp>
        <p:nvSpPr>
          <p:cNvPr id="5" name="">
            <a:extLst xmlns:a="http://schemas.openxmlformats.org/drawingml/2006/main">
              <a:ext uri="{FF2B5EF4-FFF2-40B4-BE49-F238E27FC236}">
                <a16:creationId xmlns:a16="http://schemas.microsoft.com/office/drawing/2014/main" id="{F7A973B9-0640-410C-BBD6-0AC78545D5E6}"/>
              </a:ext>
            </a:extLst>
          </p:cNvPr>
          <p:cNvSpPr>
            <a:spLocks xmlns:a="http://schemas.openxmlformats.org/drawingml/2006/main" noGrp="1"/>
          </p:cNvSpPr>
          <p:nvPr/>
        </p:nvSpPr>
        <p:spPr>
          <a:xfrm xmlns:a="http://schemas.openxmlformats.org/drawingml/2006/main">
            <a:off x="809625" y="2905125"/>
            <a:ext cx="10572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B84E0E"/>
                </a:solidFill>
                <a:latin typeface="Arial"/>
                <a:ea typeface="Arial"/>
                <a:cs typeface="Arial"/>
              </a:defRPr>
            </a:pPr>
            <a:r>
              <a:rPr sz="1650" b="1">
                <a:solidFill>
                  <a:srgbClr val="B84E0E"/>
                </a:solidFill>
                <a:latin typeface="Arial"/>
                <a:ea typeface="Arial"/>
                <a:cs typeface="Arial"/>
              </a:rPr>
              <a:t>PV and inverter subtotal</a:t>
            </a:r>
          </a:p>
        </p:txBody>
      </p:sp>
      <p:sp>
        <p:nvSpPr>
          <p:cNvPr id="6" name="">
            <a:extLst xmlns:a="http://schemas.openxmlformats.org/drawingml/2006/main">
              <a:ext uri="{FF2B5EF4-FFF2-40B4-BE49-F238E27FC236}">
                <a16:creationId xmlns:a16="http://schemas.microsoft.com/office/drawing/2014/main" id="{CC1F3B88-9B69-40E1-B8E4-84B20DA6C90B}"/>
              </a:ext>
            </a:extLst>
          </p:cNvPr>
          <p:cNvSpPr>
            <a:spLocks xmlns:a="http://schemas.openxmlformats.org/drawingml/2006/main" noGrp="1"/>
          </p:cNvSpPr>
          <p:nvPr/>
        </p:nvSpPr>
        <p:spPr>
          <a:xfrm xmlns:a="http://schemas.openxmlformats.org/drawingml/2006/main">
            <a:off x="809625" y="32385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4171C"/>
                </a:solidFill>
                <a:latin typeface="Consolas"/>
                <a:ea typeface="Consolas"/>
                <a:cs typeface="Consolas"/>
              </a:defRPr>
            </a:pPr>
            <a:r>
              <a:rPr sz="1650" b="0">
                <a:solidFill>
                  <a:srgbClr val="14171C"/>
                </a:solidFill>
                <a:latin typeface="Consolas"/>
                <a:ea typeface="Consolas"/>
                <a:cs typeface="Consolas"/>
              </a:rPr>
              <a:t>8.5 × 8,000 + 10 × 6,000 = 128,000 EGP</a:t>
            </a:r>
          </a:p>
        </p:txBody>
      </p:sp>
      <p:sp>
        <p:nvSpPr>
          <p:cNvPr id="7" name="">
            <a:extLst xmlns:a="http://schemas.openxmlformats.org/drawingml/2006/main">
              <a:ext uri="{FF2B5EF4-FFF2-40B4-BE49-F238E27FC236}">
                <a16:creationId xmlns:a16="http://schemas.microsoft.com/office/drawing/2014/main" id="{D5B8E115-0F11-429D-A1E7-288787C573BD}"/>
              </a:ext>
            </a:extLst>
          </p:cNvPr>
          <p:cNvSpPr>
            <a:spLocks xmlns:a="http://schemas.openxmlformats.org/drawingml/2006/main" noGrp="1"/>
          </p:cNvSpPr>
          <p:nvPr/>
        </p:nvSpPr>
        <p:spPr>
          <a:xfrm xmlns:a="http://schemas.openxmlformats.org/drawingml/2006/main">
            <a:off x="809625" y="3848100"/>
            <a:ext cx="10572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B84E0E"/>
                </a:solidFill>
                <a:latin typeface="Arial"/>
                <a:ea typeface="Arial"/>
                <a:cs typeface="Arial"/>
              </a:defRPr>
            </a:pPr>
            <a:r>
              <a:rPr sz="1650" b="1">
                <a:solidFill>
                  <a:srgbClr val="B84E0E"/>
                </a:solidFill>
                <a:latin typeface="Arial"/>
                <a:ea typeface="Arial"/>
                <a:cs typeface="Arial"/>
              </a:rPr>
              <a:t>Installation / BOS and battery cost</a:t>
            </a:r>
          </a:p>
        </p:txBody>
      </p:sp>
      <p:sp>
        <p:nvSpPr>
          <p:cNvPr id="8" name="">
            <a:extLst xmlns:a="http://schemas.openxmlformats.org/drawingml/2006/main">
              <a:ext uri="{FF2B5EF4-FFF2-40B4-BE49-F238E27FC236}">
                <a16:creationId xmlns:a16="http://schemas.microsoft.com/office/drawing/2014/main" id="{E882DABA-780F-4BB0-A635-941C7E770073}"/>
              </a:ext>
            </a:extLst>
          </p:cNvPr>
          <p:cNvSpPr>
            <a:spLocks xmlns:a="http://schemas.openxmlformats.org/drawingml/2006/main" noGrp="1"/>
          </p:cNvSpPr>
          <p:nvPr/>
        </p:nvSpPr>
        <p:spPr>
          <a:xfrm xmlns:a="http://schemas.openxmlformats.org/drawingml/2006/main">
            <a:off x="809625" y="41814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4171C"/>
                </a:solidFill>
                <a:latin typeface="Consolas"/>
                <a:ea typeface="Consolas"/>
                <a:cs typeface="Consolas"/>
              </a:defRPr>
            </a:pPr>
            <a:r>
              <a:rPr sz="1650" b="0">
                <a:solidFill>
                  <a:srgbClr val="14171C"/>
                </a:solidFill>
                <a:latin typeface="Consolas"/>
                <a:ea typeface="Consolas"/>
                <a:cs typeface="Consolas"/>
              </a:rPr>
              <a:t>Installation = 128,000 × 10% = 12,800 EGP</a:t>
            </a:r>
          </a:p>
          <a:p xmlns:a="http://schemas.openxmlformats.org/drawingml/2006/main">
            <a:pPr>
              <a:defRPr sz="1650" b="0">
                <a:solidFill>
                  <a:srgbClr val="14171C"/>
                </a:solidFill>
                <a:latin typeface="Consolas"/>
                <a:ea typeface="Consolas"/>
                <a:cs typeface="Consolas"/>
              </a:defRPr>
            </a:pPr>
            <a:r>
              <a:rPr sz="1650" b="0">
                <a:solidFill>
                  <a:srgbClr val="14171C"/>
                </a:solidFill>
                <a:latin typeface="Consolas"/>
                <a:ea typeface="Consolas"/>
                <a:cs typeface="Consolas"/>
              </a:rPr>
              <a:t>Battery = 0 × 13,640 = 0 EGP</a:t>
            </a:r>
          </a:p>
        </p:txBody>
      </p:sp>
      <p:sp>
        <p:nvSpPr>
          <p:cNvPr id="9" name="">
            <a:extLst xmlns:a="http://schemas.openxmlformats.org/drawingml/2006/main">
              <a:ext uri="{FF2B5EF4-FFF2-40B4-BE49-F238E27FC236}">
                <a16:creationId xmlns:a16="http://schemas.microsoft.com/office/drawing/2014/main" id="{5E988CD7-0074-4AC5-A02D-FFD045EFBE61}"/>
              </a:ext>
            </a:extLst>
          </p:cNvPr>
          <p:cNvSpPr>
            <a:spLocks xmlns:a="http://schemas.openxmlformats.org/drawingml/2006/main" noGrp="1"/>
          </p:cNvSpPr>
          <p:nvPr/>
        </p:nvSpPr>
        <p:spPr>
          <a:xfrm xmlns:a="http://schemas.openxmlformats.org/drawingml/2006/main">
            <a:off x="809625" y="4791075"/>
            <a:ext cx="10572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B84E0E"/>
                </a:solidFill>
                <a:latin typeface="Arial"/>
                <a:ea typeface="Arial"/>
                <a:cs typeface="Arial"/>
              </a:defRPr>
            </a:pPr>
            <a:r>
              <a:rPr sz="1650" b="1">
                <a:solidFill>
                  <a:srgbClr val="B84E0E"/>
                </a:solidFill>
                <a:latin typeface="Arial"/>
                <a:ea typeface="Arial"/>
                <a:cs typeface="Arial"/>
              </a:rPr>
              <a:t>Total customer price</a:t>
            </a:r>
          </a:p>
        </p:txBody>
      </p:sp>
      <p:sp>
        <p:nvSpPr>
          <p:cNvPr id="10" name="">
            <a:extLst xmlns:a="http://schemas.openxmlformats.org/drawingml/2006/main">
              <a:ext uri="{FF2B5EF4-FFF2-40B4-BE49-F238E27FC236}">
                <a16:creationId xmlns:a16="http://schemas.microsoft.com/office/drawing/2014/main" id="{370506E1-6B55-4EC3-96B5-3A6083DFC0E1}"/>
              </a:ext>
            </a:extLst>
          </p:cNvPr>
          <p:cNvSpPr>
            <a:spLocks xmlns:a="http://schemas.openxmlformats.org/drawingml/2006/main" noGrp="1"/>
          </p:cNvSpPr>
          <p:nvPr/>
        </p:nvSpPr>
        <p:spPr>
          <a:xfrm xmlns:a="http://schemas.openxmlformats.org/drawingml/2006/main">
            <a:off x="809625" y="51244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4171C"/>
                </a:solidFill>
                <a:latin typeface="Consolas"/>
                <a:ea typeface="Consolas"/>
                <a:cs typeface="Consolas"/>
              </a:defRPr>
            </a:pPr>
            <a:r>
              <a:rPr sz="1650" b="0">
                <a:solidFill>
                  <a:srgbClr val="14171C"/>
                </a:solidFill>
                <a:latin typeface="Consolas"/>
                <a:ea typeface="Consolas"/>
                <a:cs typeface="Consolas"/>
              </a:rPr>
              <a:t>Price = (8.5 × 8,000 + 10 × 6,000) × 1.10 + 0 × 13,640</a:t>
            </a:r>
          </a:p>
          <a:p xmlns:a="http://schemas.openxmlformats.org/drawingml/2006/main">
            <a:pPr>
              <a:defRPr sz="1650" b="0">
                <a:solidFill>
                  <a:srgbClr val="14171C"/>
                </a:solidFill>
                <a:latin typeface="Consolas"/>
                <a:ea typeface="Consolas"/>
                <a:cs typeface="Consolas"/>
              </a:defRPr>
            </a:pPr>
            <a:r>
              <a:rPr sz="1650" b="0">
                <a:solidFill>
                  <a:srgbClr val="14171C"/>
                </a:solidFill>
                <a:latin typeface="Consolas"/>
                <a:ea typeface="Consolas"/>
                <a:cs typeface="Consolas"/>
              </a:rPr>
              <a:t>      = 140,800 EGP</a:t>
            </a:r>
          </a:p>
        </p:txBody>
      </p:sp>
      <p:sp>
        <p:nvSpPr>
          <p:cNvPr id="11" name="">
            <a:extLst xmlns:a="http://schemas.openxmlformats.org/drawingml/2006/main">
              <a:ext uri="{FF2B5EF4-FFF2-40B4-BE49-F238E27FC236}">
                <a16:creationId xmlns:a16="http://schemas.microsoft.com/office/drawing/2014/main" id="{589187B9-03C0-4A53-B0F9-21DC8BCA9870}"/>
              </a:ext>
            </a:extLst>
          </p:cNvPr>
          <p:cNvSpPr>
            <a:spLocks xmlns:a="http://schemas.openxmlformats.org/drawingml/2006/main" noGrp="1"/>
          </p:cNvSpPr>
          <p:nvPr/>
        </p:nvSpPr>
        <p:spPr>
          <a:xfrm xmlns:a="http://schemas.openxmlformats.org/drawingml/2006/main">
            <a:off x="809625" y="6057900"/>
            <a:ext cx="10572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4A5260"/>
                </a:solidFill>
                <a:latin typeface="Arial"/>
                <a:ea typeface="Arial"/>
                <a:cs typeface="Arial"/>
              </a:defRPr>
            </a:pPr>
            <a:r>
              <a:rPr sz="1275" b="0">
                <a:solidFill>
                  <a:srgbClr val="4A5260"/>
                </a:solidFill>
                <a:latin typeface="Arial"/>
                <a:ea typeface="Arial"/>
                <a:cs typeface="Arial"/>
              </a:rPr>
              <a:t>The 10% installation/BOS applies to PV and inverter only. Battery price comes from Home_Storage, slide 15.</a:t>
            </a:r>
          </a:p>
          <a:p xmlns:a="http://schemas.openxmlformats.org/drawingml/2006/main">
            <a:pPr>
              <a:defRPr sz="1275" b="0">
                <a:solidFill>
                  <a:srgbClr val="4A5260"/>
                </a:solidFill>
                <a:latin typeface="Arial"/>
                <a:ea typeface="Arial"/>
                <a:cs typeface="Arial"/>
              </a:defRPr>
            </a:pPr>
            <a:r>
              <a:rPr sz="1275" b="0">
                <a:solidFill>
                  <a:srgbClr val="4A5260"/>
                </a:solidFill>
                <a:latin typeface="Arial"/>
                <a:ea typeface="Arial"/>
                <a:cs typeface="Arial"/>
              </a:rPr>
              <a:t>Customer selling-price assumptions, including historical exchange rate 62 EGP/EUR. These are not current quotes.</a:t>
            </a:r>
          </a:p>
        </p:txBody>
      </p:sp>
    </p:spTree>
    <p:extLst>
      <p:ext uri="{BB962C8B-B14F-4D97-AF65-F5344CB8AC3E}">
        <p14:creationId xmlns:p14="http://schemas.microsoft.com/office/powerpoint/2010/main" val="893095172"/>
      </p:ext>
    </p:extLst>
  </p:cSld>
</p:sld>
</file>

<file path=ppt/slides/slide8.xml><?xml version="1.0" encoding="utf-8"?>
<p:sld xmlns:p="http://schemas.openxmlformats.org/presentationml/2006/main">
  <p:cSld>
    <p:bg>
      <p:bgPr>
        <a:solidFill xmlns:a="http://schemas.openxmlformats.org/drawingml/2006/main">
          <a:srgbClr val="F4F5F7"/>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15C5A95-ABD7-48F9-8C19-E41C1B75DDA8}"/>
              </a:ext>
            </a:extLst>
          </p:cNvPr>
          <p:cNvSpPr>
            <a:spLocks xmlns:a="http://schemas.openxmlformats.org/drawingml/2006/main" noGrp="1"/>
          </p:cNvSpPr>
          <p:nvPr/>
        </p:nvSpPr>
        <p:spPr>
          <a:xfrm xmlns:a="http://schemas.openxmlformats.org/drawingml/2006/main">
            <a:off x="809625" y="80962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B84E0E"/>
                </a:solidFill>
                <a:latin typeface="Arial"/>
                <a:ea typeface="Arial"/>
                <a:cs typeface="Arial"/>
              </a:defRPr>
            </a:pPr>
            <a:r>
              <a:rPr sz="1350" b="1">
                <a:solidFill>
                  <a:srgbClr val="B84E0E"/>
                </a:solidFill>
                <a:latin typeface="Arial"/>
                <a:ea typeface="Arial"/>
                <a:cs typeface="Arial"/>
              </a:rPr>
              <a:t>OPTION A · SOLAR ONLY</a:t>
            </a:r>
          </a:p>
        </p:txBody>
      </p:sp>
      <p:sp>
        <p:nvSpPr>
          <p:cNvPr id="2" name="">
            <a:extLst xmlns:a="http://schemas.openxmlformats.org/drawingml/2006/main">
              <a:ext uri="{FF2B5EF4-FFF2-40B4-BE49-F238E27FC236}">
                <a16:creationId xmlns:a16="http://schemas.microsoft.com/office/drawing/2014/main" id="{BF63FA7A-2A0E-488F-A13C-4DFD4BF10402}"/>
              </a:ext>
            </a:extLst>
          </p:cNvPr>
          <p:cNvSpPr>
            <a:spLocks xmlns:a="http://schemas.openxmlformats.org/drawingml/2006/main" noGrp="1"/>
          </p:cNvSpPr>
          <p:nvPr/>
        </p:nvSpPr>
        <p:spPr>
          <a:xfrm xmlns:a="http://schemas.openxmlformats.org/drawingml/2006/main">
            <a:off x="809625" y="1114425"/>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4171C"/>
                </a:solidFill>
                <a:latin typeface="Arial"/>
                <a:ea typeface="Arial"/>
                <a:cs typeface="Arial"/>
              </a:defRPr>
            </a:pPr>
            <a:r>
              <a:rPr sz="3150" b="1">
                <a:solidFill>
                  <a:srgbClr val="14171C"/>
                </a:solidFill>
                <a:latin typeface="Arial"/>
                <a:ea typeface="Arial"/>
                <a:cs typeface="Arial"/>
              </a:rPr>
              <a:t>3. Energy balance and the monthly bill</a:t>
            </a:r>
          </a:p>
        </p:txBody>
      </p:sp>
      <p:sp>
        <p:nvSpPr>
          <p:cNvPr id="3" name="">
            <a:extLst xmlns:a="http://schemas.openxmlformats.org/drawingml/2006/main">
              <a:ext uri="{FF2B5EF4-FFF2-40B4-BE49-F238E27FC236}">
                <a16:creationId xmlns:a16="http://schemas.microsoft.com/office/drawing/2014/main" id="{2F831390-4C7B-40C2-8F5B-6F74B123C433}"/>
              </a:ext>
            </a:extLst>
          </p:cNvPr>
          <p:cNvSpPr>
            <a:spLocks xmlns:a="http://schemas.openxmlformats.org/drawingml/2006/main" noGrp="1"/>
          </p:cNvSpPr>
          <p:nvPr/>
        </p:nvSpPr>
        <p:spPr>
          <a:xfrm xmlns:a="http://schemas.openxmlformats.org/drawingml/2006/main">
            <a:off x="809625" y="1962150"/>
            <a:ext cx="10572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B84E0E"/>
                </a:solidFill>
                <a:latin typeface="Arial"/>
                <a:ea typeface="Arial"/>
                <a:cs typeface="Arial"/>
              </a:defRPr>
            </a:pPr>
            <a:r>
              <a:rPr sz="1650" b="1">
                <a:solidFill>
                  <a:srgbClr val="B84E0E"/>
                </a:solidFill>
                <a:latin typeface="Arial"/>
                <a:ea typeface="Arial"/>
                <a:cs typeface="Arial"/>
              </a:rPr>
              <a:t>Solar generation and direct use</a:t>
            </a:r>
          </a:p>
        </p:txBody>
      </p:sp>
      <p:sp>
        <p:nvSpPr>
          <p:cNvPr id="4" name="">
            <a:extLst xmlns:a="http://schemas.openxmlformats.org/drawingml/2006/main">
              <a:ext uri="{FF2B5EF4-FFF2-40B4-BE49-F238E27FC236}">
                <a16:creationId xmlns:a16="http://schemas.microsoft.com/office/drawing/2014/main" id="{71E2B2AD-323E-4A4A-8CCC-00AADA92EBF3}"/>
              </a:ext>
            </a:extLst>
          </p:cNvPr>
          <p:cNvSpPr>
            <a:spLocks xmlns:a="http://schemas.openxmlformats.org/drawingml/2006/main" noGrp="1"/>
          </p:cNvSpPr>
          <p:nvPr/>
        </p:nvSpPr>
        <p:spPr>
          <a:xfrm xmlns:a="http://schemas.openxmlformats.org/drawingml/2006/main">
            <a:off x="809625" y="22955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4171C"/>
                </a:solidFill>
                <a:latin typeface="Consolas"/>
                <a:ea typeface="Consolas"/>
                <a:cs typeface="Consolas"/>
              </a:defRPr>
            </a:pPr>
            <a:r>
              <a:rPr sz="1650" b="0">
                <a:solidFill>
                  <a:srgbClr val="14171C"/>
                </a:solidFill>
                <a:latin typeface="Consolas"/>
                <a:ea typeface="Consolas"/>
                <a:cs typeface="Consolas"/>
              </a:rPr>
              <a:t>G = P × Y = 8.5 × 4.98 = 42.33 kWh/day</a:t>
            </a:r>
          </a:p>
          <a:p xmlns:a="http://schemas.openxmlformats.org/drawingml/2006/main">
            <a:pPr>
              <a:defRPr sz="1650" b="0">
                <a:solidFill>
                  <a:srgbClr val="14171C"/>
                </a:solidFill>
                <a:latin typeface="Consolas"/>
                <a:ea typeface="Consolas"/>
                <a:cs typeface="Consolas"/>
              </a:defRPr>
            </a:pPr>
            <a:r>
              <a:rPr sz="1650" b="0">
                <a:solidFill>
                  <a:srgbClr val="14171C"/>
                </a:solidFill>
                <a:latin typeface="Consolas"/>
                <a:ea typeface="Consolas"/>
                <a:cs typeface="Consolas"/>
              </a:rPr>
              <a:t>Direct = min(G, D) = 40.35; surplus = G − Direct = 1.98</a:t>
            </a:r>
          </a:p>
        </p:txBody>
      </p:sp>
      <p:sp>
        <p:nvSpPr>
          <p:cNvPr id="5" name="">
            <a:extLst xmlns:a="http://schemas.openxmlformats.org/drawingml/2006/main">
              <a:ext uri="{FF2B5EF4-FFF2-40B4-BE49-F238E27FC236}">
                <a16:creationId xmlns:a16="http://schemas.microsoft.com/office/drawing/2014/main" id="{8A6D83D5-A364-40DD-B3B2-DC407E1DF8FC}"/>
              </a:ext>
            </a:extLst>
          </p:cNvPr>
          <p:cNvSpPr>
            <a:spLocks xmlns:a="http://schemas.openxmlformats.org/drawingml/2006/main" noGrp="1"/>
          </p:cNvSpPr>
          <p:nvPr/>
        </p:nvSpPr>
        <p:spPr>
          <a:xfrm xmlns:a="http://schemas.openxmlformats.org/drawingml/2006/main">
            <a:off x="809625" y="2905125"/>
            <a:ext cx="10572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B84E0E"/>
                </a:solidFill>
                <a:latin typeface="Arial"/>
                <a:ea typeface="Arial"/>
                <a:cs typeface="Arial"/>
              </a:defRPr>
            </a:pPr>
            <a:r>
              <a:rPr sz="1650" b="1">
                <a:solidFill>
                  <a:srgbClr val="B84E0E"/>
                </a:solidFill>
                <a:latin typeface="Arial"/>
                <a:ea typeface="Arial"/>
                <a:cs typeface="Arial"/>
              </a:rPr>
              <a:t>Battery energy delivered to the loads</a:t>
            </a:r>
          </a:p>
        </p:txBody>
      </p:sp>
      <p:sp>
        <p:nvSpPr>
          <p:cNvPr id="6" name="">
            <a:extLst xmlns:a="http://schemas.openxmlformats.org/drawingml/2006/main">
              <a:ext uri="{FF2B5EF4-FFF2-40B4-BE49-F238E27FC236}">
                <a16:creationId xmlns:a16="http://schemas.microsoft.com/office/drawing/2014/main" id="{778A82CF-F24C-4A56-B364-F34E7B0D69E6}"/>
              </a:ext>
            </a:extLst>
          </p:cNvPr>
          <p:cNvSpPr>
            <a:spLocks xmlns:a="http://schemas.openxmlformats.org/drawingml/2006/main" noGrp="1"/>
          </p:cNvSpPr>
          <p:nvPr/>
        </p:nvSpPr>
        <p:spPr>
          <a:xfrm xmlns:a="http://schemas.openxmlformats.org/drawingml/2006/main">
            <a:off x="809625" y="32385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4171C"/>
                </a:solidFill>
                <a:latin typeface="Consolas"/>
                <a:ea typeface="Consolas"/>
                <a:cs typeface="Consolas"/>
              </a:defRPr>
            </a:pPr>
            <a:r>
              <a:rPr sz="1650" b="0">
                <a:solidFill>
                  <a:srgbClr val="14171C"/>
                </a:solidFill>
                <a:latin typeface="Consolas"/>
                <a:ea typeface="Consolas"/>
                <a:cs typeface="Consolas"/>
              </a:rPr>
              <a:t>B = min(surplus × η, U × η, N)</a:t>
            </a:r>
          </a:p>
          <a:p xmlns:a="http://schemas.openxmlformats.org/drawingml/2006/main">
            <a:pPr>
              <a:defRPr sz="1650" b="0">
                <a:solidFill>
                  <a:srgbClr val="14171C"/>
                </a:solidFill>
                <a:latin typeface="Consolas"/>
                <a:ea typeface="Consolas"/>
                <a:cs typeface="Consolas"/>
              </a:defRPr>
            </a:pPr>
            <a:r>
              <a:rPr sz="1650" b="0">
                <a:solidFill>
                  <a:srgbClr val="14171C"/>
                </a:solidFill>
                <a:latin typeface="Consolas"/>
                <a:ea typeface="Consolas"/>
                <a:cs typeface="Consolas"/>
              </a:rPr>
              <a:t>  = min(1.88, 0.00, 40.35) = 0.00 kWh/day</a:t>
            </a:r>
          </a:p>
        </p:txBody>
      </p:sp>
      <p:sp>
        <p:nvSpPr>
          <p:cNvPr id="7" name="">
            <a:extLst xmlns:a="http://schemas.openxmlformats.org/drawingml/2006/main">
              <a:ext uri="{FF2B5EF4-FFF2-40B4-BE49-F238E27FC236}">
                <a16:creationId xmlns:a16="http://schemas.microsoft.com/office/drawing/2014/main" id="{EE08F7C8-F425-4409-AAAB-6F392D801F9F}"/>
              </a:ext>
            </a:extLst>
          </p:cNvPr>
          <p:cNvSpPr>
            <a:spLocks xmlns:a="http://schemas.openxmlformats.org/drawingml/2006/main" noGrp="1"/>
          </p:cNvSpPr>
          <p:nvPr/>
        </p:nvSpPr>
        <p:spPr>
          <a:xfrm xmlns:a="http://schemas.openxmlformats.org/drawingml/2006/main">
            <a:off x="809625" y="3848100"/>
            <a:ext cx="10572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B84E0E"/>
                </a:solidFill>
                <a:latin typeface="Arial"/>
                <a:ea typeface="Arial"/>
                <a:cs typeface="Arial"/>
              </a:defRPr>
            </a:pPr>
            <a:r>
              <a:rPr sz="1650" b="1">
                <a:solidFill>
                  <a:srgbClr val="B84E0E"/>
                </a:solidFill>
                <a:latin typeface="Arial"/>
                <a:ea typeface="Arial"/>
                <a:cs typeface="Arial"/>
              </a:rPr>
              <a:t>Grid imports in the 30-day reference month</a:t>
            </a:r>
          </a:p>
        </p:txBody>
      </p:sp>
      <p:sp>
        <p:nvSpPr>
          <p:cNvPr id="8" name="">
            <a:extLst xmlns:a="http://schemas.openxmlformats.org/drawingml/2006/main">
              <a:ext uri="{FF2B5EF4-FFF2-40B4-BE49-F238E27FC236}">
                <a16:creationId xmlns:a16="http://schemas.microsoft.com/office/drawing/2014/main" id="{B012A407-3B1F-4908-99EC-0EC157559360}"/>
              </a:ext>
            </a:extLst>
          </p:cNvPr>
          <p:cNvSpPr>
            <a:spLocks xmlns:a="http://schemas.openxmlformats.org/drawingml/2006/main" noGrp="1"/>
          </p:cNvSpPr>
          <p:nvPr/>
        </p:nvSpPr>
        <p:spPr>
          <a:xfrm xmlns:a="http://schemas.openxmlformats.org/drawingml/2006/main">
            <a:off x="809625" y="41814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4171C"/>
                </a:solidFill>
                <a:latin typeface="Consolas"/>
                <a:ea typeface="Consolas"/>
                <a:cs typeface="Consolas"/>
              </a:defRPr>
            </a:pPr>
            <a:r>
              <a:rPr sz="1650" b="0">
                <a:solidFill>
                  <a:srgbClr val="14171C"/>
                </a:solidFill>
                <a:latin typeface="Consolas"/>
                <a:ea typeface="Consolas"/>
                <a:cs typeface="Consolas"/>
              </a:rPr>
              <a:t>M_grid = (E − Direct − B) × 30</a:t>
            </a:r>
          </a:p>
          <a:p xmlns:a="http://schemas.openxmlformats.org/drawingml/2006/main">
            <a:pPr>
              <a:defRPr sz="1650" b="0">
                <a:solidFill>
                  <a:srgbClr val="14171C"/>
                </a:solidFill>
                <a:latin typeface="Consolas"/>
                <a:ea typeface="Consolas"/>
                <a:cs typeface="Consolas"/>
              </a:defRPr>
            </a:pPr>
            <a:r>
              <a:rPr sz="1650" b="0">
                <a:solidFill>
                  <a:srgbClr val="14171C"/>
                </a:solidFill>
                <a:latin typeface="Consolas"/>
                <a:ea typeface="Consolas"/>
                <a:cs typeface="Consolas"/>
              </a:rPr>
              <a:t>       = (80.70 − 40.35 − 0.00) × 30 = 1,210.50 kWh</a:t>
            </a:r>
          </a:p>
        </p:txBody>
      </p:sp>
      <p:sp>
        <p:nvSpPr>
          <p:cNvPr id="9" name="">
            <a:extLst xmlns:a="http://schemas.openxmlformats.org/drawingml/2006/main">
              <a:ext uri="{FF2B5EF4-FFF2-40B4-BE49-F238E27FC236}">
                <a16:creationId xmlns:a16="http://schemas.microsoft.com/office/drawing/2014/main" id="{23EF4BAE-A518-4BF5-A14B-80C051CE14F0}"/>
              </a:ext>
            </a:extLst>
          </p:cNvPr>
          <p:cNvSpPr>
            <a:spLocks xmlns:a="http://schemas.openxmlformats.org/drawingml/2006/main" noGrp="1"/>
          </p:cNvSpPr>
          <p:nvPr/>
        </p:nvSpPr>
        <p:spPr>
          <a:xfrm xmlns:a="http://schemas.openxmlformats.org/drawingml/2006/main">
            <a:off x="809625" y="4791075"/>
            <a:ext cx="10572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B84E0E"/>
                </a:solidFill>
                <a:latin typeface="Arial"/>
                <a:ea typeface="Arial"/>
                <a:cs typeface="Arial"/>
              </a:defRPr>
            </a:pPr>
            <a:r>
              <a:rPr sz="1650" b="1">
                <a:solidFill>
                  <a:srgbClr val="B84E0E"/>
                </a:solidFill>
                <a:latin typeface="Arial"/>
                <a:ea typeface="Arial"/>
                <a:cs typeface="Arial"/>
              </a:rPr>
              <a:t>New bill and monthly saving</a:t>
            </a:r>
          </a:p>
        </p:txBody>
      </p:sp>
      <p:sp>
        <p:nvSpPr>
          <p:cNvPr id="10" name="">
            <a:extLst xmlns:a="http://schemas.openxmlformats.org/drawingml/2006/main">
              <a:ext uri="{FF2B5EF4-FFF2-40B4-BE49-F238E27FC236}">
                <a16:creationId xmlns:a16="http://schemas.microsoft.com/office/drawing/2014/main" id="{5790CDA9-4624-45EC-9349-B712BBEC6855}"/>
              </a:ext>
            </a:extLst>
          </p:cNvPr>
          <p:cNvSpPr>
            <a:spLocks xmlns:a="http://schemas.openxmlformats.org/drawingml/2006/main" noGrp="1"/>
          </p:cNvSpPr>
          <p:nvPr/>
        </p:nvSpPr>
        <p:spPr>
          <a:xfrm xmlns:a="http://schemas.openxmlformats.org/drawingml/2006/main">
            <a:off x="809625" y="51244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4171C"/>
                </a:solidFill>
                <a:latin typeface="Consolas"/>
                <a:ea typeface="Consolas"/>
                <a:cs typeface="Consolas"/>
              </a:defRPr>
            </a:pPr>
            <a:r>
              <a:rPr sz="1650" b="0">
                <a:solidFill>
                  <a:srgbClr val="14171C"/>
                </a:solidFill>
                <a:latin typeface="Consolas"/>
                <a:ea typeface="Consolas"/>
                <a:cs typeface="Consolas"/>
              </a:rPr>
              <a:t>Bill = 1,210.50 × 2.79 + 40 + 1,210.50 × 0.03 = 3,453.61 EGP</a:t>
            </a:r>
          </a:p>
          <a:p xmlns:a="http://schemas.openxmlformats.org/drawingml/2006/main">
            <a:pPr>
              <a:defRPr sz="1650" b="0">
                <a:solidFill>
                  <a:srgbClr val="14171C"/>
                </a:solidFill>
                <a:latin typeface="Consolas"/>
                <a:ea typeface="Consolas"/>
                <a:cs typeface="Consolas"/>
              </a:defRPr>
            </a:pPr>
            <a:r>
              <a:rPr sz="1650" b="0">
                <a:solidFill>
                  <a:srgbClr val="14171C"/>
                </a:solidFill>
                <a:latin typeface="Consolas"/>
                <a:ea typeface="Consolas"/>
                <a:cs typeface="Consolas"/>
              </a:rPr>
              <a:t>Saving = 6,867.22 − 3,453.61 = 3,413.61 EGP</a:t>
            </a:r>
          </a:p>
        </p:txBody>
      </p:sp>
      <p:sp>
        <p:nvSpPr>
          <p:cNvPr id="11" name="">
            <a:extLst xmlns:a="http://schemas.openxmlformats.org/drawingml/2006/main">
              <a:ext uri="{FF2B5EF4-FFF2-40B4-BE49-F238E27FC236}">
                <a16:creationId xmlns:a16="http://schemas.microsoft.com/office/drawing/2014/main" id="{5D2AFF70-0411-40A1-8421-D3F15698AC91}"/>
              </a:ext>
            </a:extLst>
          </p:cNvPr>
          <p:cNvSpPr>
            <a:spLocks xmlns:a="http://schemas.openxmlformats.org/drawingml/2006/main" noGrp="1"/>
          </p:cNvSpPr>
          <p:nvPr/>
        </p:nvSpPr>
        <p:spPr>
          <a:xfrm xmlns:a="http://schemas.openxmlformats.org/drawingml/2006/main">
            <a:off x="809625" y="6057900"/>
            <a:ext cx="10572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4A5260"/>
                </a:solidFill>
                <a:latin typeface="Arial"/>
                <a:ea typeface="Arial"/>
                <a:cs typeface="Arial"/>
              </a:defRPr>
            </a:pPr>
            <a:r>
              <a:rPr sz="1275" b="0">
                <a:solidFill>
                  <a:srgbClr val="4A5260"/>
                </a:solidFill>
                <a:latin typeface="Arial"/>
                <a:ea typeface="Arial"/>
                <a:cs typeface="Arial"/>
              </a:rPr>
              <a:t>This is a 30-day example at Y = 4.98. Solar charges the battery. Surplus export earns zero revenue.</a:t>
            </a:r>
          </a:p>
          <a:p xmlns:a="http://schemas.openxmlformats.org/drawingml/2006/main">
            <a:pPr>
              <a:defRPr sz="1275" b="0">
                <a:solidFill>
                  <a:srgbClr val="4A5260"/>
                </a:solidFill>
                <a:latin typeface="Arial"/>
                <a:ea typeface="Arial"/>
                <a:cs typeface="Arial"/>
              </a:defRPr>
            </a:pPr>
            <a:r>
              <a:rPr sz="1275" b="0">
                <a:solidFill>
                  <a:srgbClr val="4A5260"/>
                </a:solidFill>
                <a:latin typeface="Arial"/>
                <a:ea typeface="Arial"/>
                <a:cs typeface="Arial"/>
              </a:rPr>
              <a:t>Storage losses are applied once. The annual calculation on the next slide accounts for monthly solar variation.</a:t>
            </a:r>
          </a:p>
        </p:txBody>
      </p:sp>
    </p:spTree>
    <p:extLst>
      <p:ext uri="{BB962C8B-B14F-4D97-AF65-F5344CB8AC3E}">
        <p14:creationId xmlns:p14="http://schemas.microsoft.com/office/powerpoint/2010/main" val="1482776291"/>
      </p:ext>
    </p:extLst>
  </p:cSld>
</p:sld>
</file>

<file path=ppt/slides/slide9.xml><?xml version="1.0" encoding="utf-8"?>
<p:sld xmlns:p="http://schemas.openxmlformats.org/presentationml/2006/main">
  <p:cSld>
    <p:bg>
      <p:bgPr>
        <a:solidFill xmlns:a="http://schemas.openxmlformats.org/drawingml/2006/main">
          <a:srgbClr val="F4F5F7"/>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200F62D-9698-4375-A653-D054003EC34A}"/>
              </a:ext>
            </a:extLst>
          </p:cNvPr>
          <p:cNvSpPr>
            <a:spLocks xmlns:a="http://schemas.openxmlformats.org/drawingml/2006/main" noGrp="1"/>
          </p:cNvSpPr>
          <p:nvPr/>
        </p:nvSpPr>
        <p:spPr>
          <a:xfrm xmlns:a="http://schemas.openxmlformats.org/drawingml/2006/main">
            <a:off x="809625" y="80962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B84E0E"/>
                </a:solidFill>
                <a:latin typeface="Arial"/>
                <a:ea typeface="Arial"/>
                <a:cs typeface="Arial"/>
              </a:defRPr>
            </a:pPr>
            <a:r>
              <a:rPr sz="1350" b="1">
                <a:solidFill>
                  <a:srgbClr val="B84E0E"/>
                </a:solidFill>
                <a:latin typeface="Arial"/>
                <a:ea typeface="Arial"/>
                <a:cs typeface="Arial"/>
              </a:rPr>
              <a:t>OPTION A · SOLAR ONLY</a:t>
            </a:r>
          </a:p>
        </p:txBody>
      </p:sp>
      <p:sp>
        <p:nvSpPr>
          <p:cNvPr id="2" name="">
            <a:extLst xmlns:a="http://schemas.openxmlformats.org/drawingml/2006/main">
              <a:ext uri="{FF2B5EF4-FFF2-40B4-BE49-F238E27FC236}">
                <a16:creationId xmlns:a16="http://schemas.microsoft.com/office/drawing/2014/main" id="{DEBDD302-9FF6-40A3-8F77-D05D088DE027}"/>
              </a:ext>
            </a:extLst>
          </p:cNvPr>
          <p:cNvSpPr>
            <a:spLocks xmlns:a="http://schemas.openxmlformats.org/drawingml/2006/main" noGrp="1"/>
          </p:cNvSpPr>
          <p:nvPr/>
        </p:nvSpPr>
        <p:spPr>
          <a:xfrm xmlns:a="http://schemas.openxmlformats.org/drawingml/2006/main">
            <a:off x="809625" y="1114425"/>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4171C"/>
                </a:solidFill>
                <a:latin typeface="Arial"/>
                <a:ea typeface="Arial"/>
                <a:cs typeface="Arial"/>
              </a:defRPr>
            </a:pPr>
            <a:r>
              <a:rPr sz="3150" b="1">
                <a:solidFill>
                  <a:srgbClr val="14171C"/>
                </a:solidFill>
                <a:latin typeface="Arial"/>
                <a:ea typeface="Arial"/>
                <a:cs typeface="Arial"/>
              </a:rPr>
              <a:t>4. Twelve monthly results and annual saving</a:t>
            </a:r>
          </a:p>
        </p:txBody>
      </p:sp>
      <p:sp>
        <p:nvSpPr>
          <p:cNvPr id="3" name="">
            <a:extLst xmlns:a="http://schemas.openxmlformats.org/drawingml/2006/main">
              <a:ext uri="{FF2B5EF4-FFF2-40B4-BE49-F238E27FC236}">
                <a16:creationId xmlns:a16="http://schemas.microsoft.com/office/drawing/2014/main" id="{96DE5220-138D-434D-AF7A-D05BB8A5B27B}"/>
              </a:ext>
            </a:extLst>
          </p:cNvPr>
          <p:cNvSpPr>
            <a:spLocks xmlns:a="http://schemas.openxmlformats.org/drawingml/2006/main" noGrp="1"/>
          </p:cNvSpPr>
          <p:nvPr/>
        </p:nvSpPr>
        <p:spPr>
          <a:xfrm xmlns:a="http://schemas.openxmlformats.org/drawingml/2006/main">
            <a:off x="809625" y="1743075"/>
            <a:ext cx="10572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4A5260"/>
                </a:solidFill>
                <a:latin typeface="Arial"/>
                <a:ea typeface="Arial"/>
                <a:cs typeface="Arial"/>
              </a:defRPr>
            </a:pPr>
            <a:r>
              <a:rPr sz="1350" b="0">
                <a:solidFill>
                  <a:srgbClr val="4A5260"/>
                </a:solidFill>
                <a:latin typeface="Arial"/>
                <a:ea typeface="Arial"/>
                <a:cs typeface="Arial"/>
              </a:rPr>
              <a:t>Each month: daily PV = P × PVGIS monthly kWh/kWp ÷ days. Grid = (E − Direct − B) × days.</a:t>
            </a:r>
          </a:p>
        </p:txBody>
      </p:sp>
      <p:graphicFrame>
        <p:nvGraphicFramePr>
          <p:cNvPr id="9" name=""/>
          <p:cNvGraphicFramePr/>
          <p:nvPr/>
        </p:nvGraphicFramePr>
        <p:xfrm>
          <a:off xmlns:a="http://schemas.openxmlformats.org/drawingml/2006/main" x="809625" y="2095500"/>
          <a:ext xmlns:a="http://schemas.openxmlformats.org/drawingml/2006/main" cx="10572750" cy="4200525"/>
        </p:xfrm>
        <a:graphic xmlns:a="http://schemas.openxmlformats.org/drawingml/2006/main">
          <a:graphicData uri="http://schemas.openxmlformats.org/drawingml/2006/table">
            <a:tbl>
              <a:tblPr/>
              <a:tblGrid>
                <a:gridCol w="857250"/>
                <a:gridCol w="619125"/>
                <a:gridCol w="1428750"/>
                <a:gridCol w="1762125"/>
                <a:gridCol w="1905000"/>
                <a:gridCol w="1905000"/>
                <a:gridCol w="2095500"/>
              </a:tblGrid>
              <a:tr h="361950">
                <a:tc>
                  <a:txBody>
                    <a:bodyPr/>
                    <a:lstStyle/>
                    <a:p>
                      <a:r>
                        <a:rPr sz="1275" b="1">
                          <a:solidFill>
                            <a:srgbClr val="14171C"/>
                          </a:solidFill>
                          <a:latin typeface="Arial"/>
                          <a:ea typeface="Arial"/>
                          <a:cs typeface="Arial"/>
                        </a:rPr>
                        <a:t>Month</a:t>
                      </a:r>
                    </a:p>
                  </a:txBody>
                  <a:tcPr marL="85725" marR="85725" marT="19050" marB="19050">
                    <a:solidFill>
                      <a:srgbClr val="E6E9ED"/>
                    </a:solidFill>
                  </a:tcPr>
                </a:tc>
                <a:tc>
                  <a:txBody>
                    <a:bodyPr/>
                    <a:lstStyle/>
                    <a:p>
                      <a:r>
                        <a:rPr sz="1275" b="1">
                          <a:solidFill>
                            <a:srgbClr val="14171C"/>
                          </a:solidFill>
                          <a:latin typeface="Arial"/>
                          <a:ea typeface="Arial"/>
                          <a:cs typeface="Arial"/>
                        </a:rPr>
                        <a:t>Days</a:t>
                      </a:r>
                    </a:p>
                  </a:txBody>
                  <a:tcPr marL="85725" marR="85725" marT="19050" marB="19050">
                    <a:solidFill>
                      <a:srgbClr val="E6E9ED"/>
                    </a:solidFill>
                  </a:tcPr>
                </a:tc>
                <a:tc>
                  <a:txBody>
                    <a:bodyPr/>
                    <a:lstStyle/>
                    <a:p>
                      <a:r>
                        <a:rPr sz="1275" b="1">
                          <a:solidFill>
                            <a:srgbClr val="14171C"/>
                          </a:solidFill>
                          <a:latin typeface="Arial"/>
                          <a:ea typeface="Arial"/>
                          <a:cs typeface="Arial"/>
                        </a:rPr>
                        <a:t>PV kWh</a:t>
                      </a:r>
                    </a:p>
                  </a:txBody>
                  <a:tcPr marL="85725" marR="85725" marT="19050" marB="19050">
                    <a:solidFill>
                      <a:srgbClr val="E6E9ED"/>
                    </a:solidFill>
                  </a:tcPr>
                </a:tc>
                <a:tc>
                  <a:txBody>
                    <a:bodyPr/>
                    <a:lstStyle/>
                    <a:p>
                      <a:r>
                        <a:rPr sz="1275" b="1">
                          <a:solidFill>
                            <a:srgbClr val="14171C"/>
                          </a:solidFill>
                          <a:latin typeface="Arial"/>
                          <a:ea typeface="Arial"/>
                          <a:cs typeface="Arial"/>
                        </a:rPr>
                        <a:t>Grid kWh</a:t>
                      </a:r>
                    </a:p>
                  </a:txBody>
                  <a:tcPr marL="85725" marR="85725" marT="19050" marB="19050">
                    <a:solidFill>
                      <a:srgbClr val="E6E9ED"/>
                    </a:solidFill>
                  </a:tcPr>
                </a:tc>
                <a:tc>
                  <a:txBody>
                    <a:bodyPr/>
                    <a:lstStyle/>
                    <a:p>
                      <a:r>
                        <a:rPr sz="1275" b="1">
                          <a:solidFill>
                            <a:srgbClr val="14171C"/>
                          </a:solidFill>
                          <a:latin typeface="Arial"/>
                          <a:ea typeface="Arial"/>
                          <a:cs typeface="Arial"/>
                        </a:rPr>
                        <a:t>Baseline EGP</a:t>
                      </a:r>
                    </a:p>
                  </a:txBody>
                  <a:tcPr marL="85725" marR="85725" marT="19050" marB="19050">
                    <a:solidFill>
                      <a:srgbClr val="E6E9ED"/>
                    </a:solidFill>
                  </a:tcPr>
                </a:tc>
                <a:tc>
                  <a:txBody>
                    <a:bodyPr/>
                    <a:lstStyle/>
                    <a:p>
                      <a:r>
                        <a:rPr sz="1275" b="1">
                          <a:solidFill>
                            <a:srgbClr val="14171C"/>
                          </a:solidFill>
                          <a:latin typeface="Arial"/>
                          <a:ea typeface="Arial"/>
                          <a:cs typeface="Arial"/>
                        </a:rPr>
                        <a:t>New bill EGP</a:t>
                      </a:r>
                    </a:p>
                  </a:txBody>
                  <a:tcPr marL="85725" marR="85725" marT="19050" marB="19050">
                    <a:solidFill>
                      <a:srgbClr val="E6E9ED"/>
                    </a:solidFill>
                  </a:tcPr>
                </a:tc>
                <a:tc>
                  <a:txBody>
                    <a:bodyPr/>
                    <a:lstStyle/>
                    <a:p>
                      <a:r>
                        <a:rPr sz="1275" b="1">
                          <a:solidFill>
                            <a:srgbClr val="14171C"/>
                          </a:solidFill>
                          <a:latin typeface="Arial"/>
                          <a:ea typeface="Arial"/>
                          <a:cs typeface="Arial"/>
                        </a:rPr>
                        <a:t>Saving EGP</a:t>
                      </a:r>
                    </a:p>
                  </a:txBody>
                  <a:tcPr marL="85725" marR="85725" marT="19050" marB="19050">
                    <a:solidFill>
                      <a:srgbClr val="E6E9ED"/>
                    </a:solidFill>
                  </a:tcPr>
                </a:tc>
              </a:tr>
              <a:tr h="295275">
                <a:tc>
                  <a:txBody>
                    <a:bodyPr/>
                    <a:lstStyle/>
                    <a:p>
                      <a:r>
                        <a:rPr sz="1275" b="0">
                          <a:solidFill>
                            <a:srgbClr val="14171C"/>
                          </a:solidFill>
                          <a:latin typeface="Arial"/>
                          <a:ea typeface="Arial"/>
                          <a:cs typeface="Arial"/>
                        </a:rPr>
                        <a:t>Jan</a:t>
                      </a:r>
                    </a:p>
                  </a:txBody>
                  <a:tcPr marL="85725" marR="85725" marT="19050" marB="19050">
                    <a:solidFill>
                      <a:srgbClr val="FCFCFD"/>
                    </a:solidFill>
                  </a:tcPr>
                </a:tc>
                <a:tc>
                  <a:txBody>
                    <a:bodyPr/>
                    <a:lstStyle/>
                    <a:p>
                      <a:r>
                        <a:rPr sz="1275" b="0">
                          <a:solidFill>
                            <a:srgbClr val="14171C"/>
                          </a:solidFill>
                          <a:latin typeface="Arial"/>
                          <a:ea typeface="Arial"/>
                          <a:cs typeface="Arial"/>
                        </a:rPr>
                        <a:t>31</a:t>
                      </a:r>
                    </a:p>
                  </a:txBody>
                  <a:tcPr marL="85725" marR="85725" marT="19050" marB="19050">
                    <a:solidFill>
                      <a:srgbClr val="FCFCFD"/>
                    </a:solidFill>
                  </a:tcPr>
                </a:tc>
                <a:tc>
                  <a:txBody>
                    <a:bodyPr/>
                    <a:lstStyle/>
                    <a:p>
                      <a:r>
                        <a:rPr sz="1275" b="0">
                          <a:solidFill>
                            <a:srgbClr val="14171C"/>
                          </a:solidFill>
                          <a:latin typeface="Arial"/>
                          <a:ea typeface="Arial"/>
                          <a:cs typeface="Arial"/>
                        </a:rPr>
                        <a:t>1,116.05</a:t>
                      </a:r>
                    </a:p>
                  </a:txBody>
                  <a:tcPr marL="85725" marR="85725" marT="19050" marB="19050">
                    <a:solidFill>
                      <a:srgbClr val="FCFCFD"/>
                    </a:solidFill>
                  </a:tcPr>
                </a:tc>
                <a:tc>
                  <a:txBody>
                    <a:bodyPr/>
                    <a:lstStyle/>
                    <a:p>
                      <a:r>
                        <a:rPr sz="1275" b="0">
                          <a:solidFill>
                            <a:srgbClr val="14171C"/>
                          </a:solidFill>
                          <a:latin typeface="Arial"/>
                          <a:ea typeface="Arial"/>
                          <a:cs typeface="Arial"/>
                        </a:rPr>
                        <a:t>1,385.65</a:t>
                      </a:r>
                    </a:p>
                  </a:txBody>
                  <a:tcPr marL="85725" marR="85725" marT="19050" marB="19050">
                    <a:solidFill>
                      <a:srgbClr val="FCFCFD"/>
                    </a:solidFill>
                  </a:tcPr>
                </a:tc>
                <a:tc>
                  <a:txBody>
                    <a:bodyPr/>
                    <a:lstStyle/>
                    <a:p>
                      <a:r>
                        <a:rPr sz="1275" b="0">
                          <a:solidFill>
                            <a:srgbClr val="14171C"/>
                          </a:solidFill>
                          <a:latin typeface="Arial"/>
                          <a:ea typeface="Arial"/>
                          <a:cs typeface="Arial"/>
                        </a:rPr>
                        <a:t>7,094.79</a:t>
                      </a:r>
                    </a:p>
                  </a:txBody>
                  <a:tcPr marL="85725" marR="85725" marT="19050" marB="19050">
                    <a:solidFill>
                      <a:srgbClr val="FCFCFD"/>
                    </a:solidFill>
                  </a:tcPr>
                </a:tc>
                <a:tc>
                  <a:txBody>
                    <a:bodyPr/>
                    <a:lstStyle/>
                    <a:p>
                      <a:r>
                        <a:rPr sz="1275" b="0">
                          <a:solidFill>
                            <a:srgbClr val="14171C"/>
                          </a:solidFill>
                          <a:latin typeface="Arial"/>
                          <a:ea typeface="Arial"/>
                          <a:cs typeface="Arial"/>
                        </a:rPr>
                        <a:t>3,947.53</a:t>
                      </a:r>
                    </a:p>
                  </a:txBody>
                  <a:tcPr marL="85725" marR="85725" marT="19050" marB="19050">
                    <a:solidFill>
                      <a:srgbClr val="FCFCFD"/>
                    </a:solidFill>
                  </a:tcPr>
                </a:tc>
                <a:tc>
                  <a:txBody>
                    <a:bodyPr/>
                    <a:lstStyle/>
                    <a:p>
                      <a:r>
                        <a:rPr sz="1275" b="0">
                          <a:solidFill>
                            <a:srgbClr val="14171C"/>
                          </a:solidFill>
                          <a:latin typeface="Arial"/>
                          <a:ea typeface="Arial"/>
                          <a:cs typeface="Arial"/>
                        </a:rPr>
                        <a:t>3,147.26</a:t>
                      </a:r>
                    </a:p>
                  </a:txBody>
                  <a:tcPr marL="85725" marR="85725" marT="19050" marB="19050">
                    <a:solidFill>
                      <a:srgbClr val="FCFCFD"/>
                    </a:solidFill>
                  </a:tcPr>
                </a:tc>
              </a:tr>
              <a:tr h="295275">
                <a:tc>
                  <a:txBody>
                    <a:bodyPr/>
                    <a:lstStyle/>
                    <a:p>
                      <a:r>
                        <a:rPr sz="1275" b="0">
                          <a:solidFill>
                            <a:srgbClr val="14171C"/>
                          </a:solidFill>
                          <a:latin typeface="Arial"/>
                          <a:ea typeface="Arial"/>
                          <a:cs typeface="Arial"/>
                        </a:rPr>
                        <a:t>Feb</a:t>
                      </a:r>
                    </a:p>
                  </a:txBody>
                  <a:tcPr marL="85725" marR="85725" marT="19050" marB="19050">
                    <a:solidFill>
                      <a:srgbClr val="F4F5F7"/>
                    </a:solidFill>
                  </a:tcPr>
                </a:tc>
                <a:tc>
                  <a:txBody>
                    <a:bodyPr/>
                    <a:lstStyle/>
                    <a:p>
                      <a:r>
                        <a:rPr sz="1275" b="0">
                          <a:solidFill>
                            <a:srgbClr val="14171C"/>
                          </a:solidFill>
                          <a:latin typeface="Arial"/>
                          <a:ea typeface="Arial"/>
                          <a:cs typeface="Arial"/>
                        </a:rPr>
                        <a:t>28</a:t>
                      </a:r>
                    </a:p>
                  </a:txBody>
                  <a:tcPr marL="85725" marR="85725" marT="19050" marB="19050">
                    <a:solidFill>
                      <a:srgbClr val="F4F5F7"/>
                    </a:solidFill>
                  </a:tcPr>
                </a:tc>
                <a:tc>
                  <a:txBody>
                    <a:bodyPr/>
                    <a:lstStyle/>
                    <a:p>
                      <a:r>
                        <a:rPr sz="1275" b="0">
                          <a:solidFill>
                            <a:srgbClr val="14171C"/>
                          </a:solidFill>
                          <a:latin typeface="Arial"/>
                          <a:ea typeface="Arial"/>
                          <a:cs typeface="Arial"/>
                        </a:rPr>
                        <a:t>1,100.32</a:t>
                      </a:r>
                    </a:p>
                  </a:txBody>
                  <a:tcPr marL="85725" marR="85725" marT="19050" marB="19050">
                    <a:solidFill>
                      <a:srgbClr val="F4F5F7"/>
                    </a:solidFill>
                  </a:tcPr>
                </a:tc>
                <a:tc>
                  <a:txBody>
                    <a:bodyPr/>
                    <a:lstStyle/>
                    <a:p>
                      <a:r>
                        <a:rPr sz="1275" b="0">
                          <a:solidFill>
                            <a:srgbClr val="14171C"/>
                          </a:solidFill>
                          <a:latin typeface="Arial"/>
                          <a:ea typeface="Arial"/>
                          <a:cs typeface="Arial"/>
                        </a:rPr>
                        <a:t>1,159.28</a:t>
                      </a:r>
                    </a:p>
                  </a:txBody>
                  <a:tcPr marL="85725" marR="85725" marT="19050" marB="19050">
                    <a:solidFill>
                      <a:srgbClr val="F4F5F7"/>
                    </a:solidFill>
                  </a:tcPr>
                </a:tc>
                <a:tc>
                  <a:txBody>
                    <a:bodyPr/>
                    <a:lstStyle/>
                    <a:p>
                      <a:r>
                        <a:rPr sz="1275" b="0">
                          <a:solidFill>
                            <a:srgbClr val="14171C"/>
                          </a:solidFill>
                          <a:latin typeface="Arial"/>
                          <a:ea typeface="Arial"/>
                          <a:cs typeface="Arial"/>
                        </a:rPr>
                        <a:t>6,412.07</a:t>
                      </a:r>
                    </a:p>
                  </a:txBody>
                  <a:tcPr marL="85725" marR="85725" marT="19050" marB="19050">
                    <a:solidFill>
                      <a:srgbClr val="F4F5F7"/>
                    </a:solidFill>
                  </a:tcPr>
                </a:tc>
                <a:tc>
                  <a:txBody>
                    <a:bodyPr/>
                    <a:lstStyle/>
                    <a:p>
                      <a:r>
                        <a:rPr sz="1275" b="0">
                          <a:solidFill>
                            <a:srgbClr val="14171C"/>
                          </a:solidFill>
                          <a:latin typeface="Arial"/>
                          <a:ea typeface="Arial"/>
                          <a:cs typeface="Arial"/>
                        </a:rPr>
                        <a:t>3,309.16</a:t>
                      </a:r>
                    </a:p>
                  </a:txBody>
                  <a:tcPr marL="85725" marR="85725" marT="19050" marB="19050">
                    <a:solidFill>
                      <a:srgbClr val="F4F5F7"/>
                    </a:solidFill>
                  </a:tcPr>
                </a:tc>
                <a:tc>
                  <a:txBody>
                    <a:bodyPr/>
                    <a:lstStyle/>
                    <a:p>
                      <a:r>
                        <a:rPr sz="1275" b="0">
                          <a:solidFill>
                            <a:srgbClr val="14171C"/>
                          </a:solidFill>
                          <a:latin typeface="Arial"/>
                          <a:ea typeface="Arial"/>
                          <a:cs typeface="Arial"/>
                        </a:rPr>
                        <a:t>3,102.92</a:t>
                      </a:r>
                    </a:p>
                  </a:txBody>
                  <a:tcPr marL="85725" marR="85725" marT="19050" marB="19050">
                    <a:solidFill>
                      <a:srgbClr val="F4F5F7"/>
                    </a:solidFill>
                  </a:tcPr>
                </a:tc>
              </a:tr>
              <a:tr h="295275">
                <a:tc>
                  <a:txBody>
                    <a:bodyPr/>
                    <a:lstStyle/>
                    <a:p>
                      <a:r>
                        <a:rPr sz="1275" b="0">
                          <a:solidFill>
                            <a:srgbClr val="14171C"/>
                          </a:solidFill>
                          <a:latin typeface="Arial"/>
                          <a:ea typeface="Arial"/>
                          <a:cs typeface="Arial"/>
                        </a:rPr>
                        <a:t>Mar</a:t>
                      </a:r>
                    </a:p>
                  </a:txBody>
                  <a:tcPr marL="85725" marR="85725" marT="19050" marB="19050">
                    <a:solidFill>
                      <a:srgbClr val="FCFCFD"/>
                    </a:solidFill>
                  </a:tcPr>
                </a:tc>
                <a:tc>
                  <a:txBody>
                    <a:bodyPr/>
                    <a:lstStyle/>
                    <a:p>
                      <a:r>
                        <a:rPr sz="1275" b="0">
                          <a:solidFill>
                            <a:srgbClr val="14171C"/>
                          </a:solidFill>
                          <a:latin typeface="Arial"/>
                          <a:ea typeface="Arial"/>
                          <a:cs typeface="Arial"/>
                        </a:rPr>
                        <a:t>31</a:t>
                      </a:r>
                    </a:p>
                  </a:txBody>
                  <a:tcPr marL="85725" marR="85725" marT="19050" marB="19050">
                    <a:solidFill>
                      <a:srgbClr val="FCFCFD"/>
                    </a:solidFill>
                  </a:tcPr>
                </a:tc>
                <a:tc>
                  <a:txBody>
                    <a:bodyPr/>
                    <a:lstStyle/>
                    <a:p>
                      <a:r>
                        <a:rPr sz="1275" b="0">
                          <a:solidFill>
                            <a:srgbClr val="14171C"/>
                          </a:solidFill>
                          <a:latin typeface="Arial"/>
                          <a:ea typeface="Arial"/>
                          <a:cs typeface="Arial"/>
                        </a:rPr>
                        <a:t>1,369.01</a:t>
                      </a:r>
                    </a:p>
                  </a:txBody>
                  <a:tcPr marL="85725" marR="85725" marT="19050" marB="19050">
                    <a:solidFill>
                      <a:srgbClr val="FCFCFD"/>
                    </a:solidFill>
                  </a:tcPr>
                </a:tc>
                <a:tc>
                  <a:txBody>
                    <a:bodyPr/>
                    <a:lstStyle/>
                    <a:p>
                      <a:r>
                        <a:rPr sz="1275" b="0">
                          <a:solidFill>
                            <a:srgbClr val="14171C"/>
                          </a:solidFill>
                          <a:latin typeface="Arial"/>
                          <a:ea typeface="Arial"/>
                          <a:cs typeface="Arial"/>
                        </a:rPr>
                        <a:t>1,250.85</a:t>
                      </a:r>
                    </a:p>
                  </a:txBody>
                  <a:tcPr marL="85725" marR="85725" marT="19050" marB="19050">
                    <a:solidFill>
                      <a:srgbClr val="FCFCFD"/>
                    </a:solidFill>
                  </a:tcPr>
                </a:tc>
                <a:tc>
                  <a:txBody>
                    <a:bodyPr/>
                    <a:lstStyle/>
                    <a:p>
                      <a:r>
                        <a:rPr sz="1275" b="0">
                          <a:solidFill>
                            <a:srgbClr val="14171C"/>
                          </a:solidFill>
                          <a:latin typeface="Arial"/>
                          <a:ea typeface="Arial"/>
                          <a:cs typeface="Arial"/>
                        </a:rPr>
                        <a:t>7,094.79</a:t>
                      </a:r>
                    </a:p>
                  </a:txBody>
                  <a:tcPr marL="85725" marR="85725" marT="19050" marB="19050">
                    <a:solidFill>
                      <a:srgbClr val="FCFCFD"/>
                    </a:solidFill>
                  </a:tcPr>
                </a:tc>
                <a:tc>
                  <a:txBody>
                    <a:bodyPr/>
                    <a:lstStyle/>
                    <a:p>
                      <a:r>
                        <a:rPr sz="1275" b="0">
                          <a:solidFill>
                            <a:srgbClr val="14171C"/>
                          </a:solidFill>
                          <a:latin typeface="Arial"/>
                          <a:ea typeface="Arial"/>
                          <a:cs typeface="Arial"/>
                        </a:rPr>
                        <a:t>3,567.40</a:t>
                      </a:r>
                    </a:p>
                  </a:txBody>
                  <a:tcPr marL="85725" marR="85725" marT="19050" marB="19050">
                    <a:solidFill>
                      <a:srgbClr val="FCFCFD"/>
                    </a:solidFill>
                  </a:tcPr>
                </a:tc>
                <a:tc>
                  <a:txBody>
                    <a:bodyPr/>
                    <a:lstStyle/>
                    <a:p>
                      <a:r>
                        <a:rPr sz="1275" b="0">
                          <a:solidFill>
                            <a:srgbClr val="14171C"/>
                          </a:solidFill>
                          <a:latin typeface="Arial"/>
                          <a:ea typeface="Arial"/>
                          <a:cs typeface="Arial"/>
                        </a:rPr>
                        <a:t>3,527.40</a:t>
                      </a:r>
                    </a:p>
                  </a:txBody>
                  <a:tcPr marL="85725" marR="85725" marT="19050" marB="19050">
                    <a:solidFill>
                      <a:srgbClr val="FCFCFD"/>
                    </a:solidFill>
                  </a:tcPr>
                </a:tc>
              </a:tr>
              <a:tr h="295275">
                <a:tc>
                  <a:txBody>
                    <a:bodyPr/>
                    <a:lstStyle/>
                    <a:p>
                      <a:r>
                        <a:rPr sz="1275" b="0">
                          <a:solidFill>
                            <a:srgbClr val="14171C"/>
                          </a:solidFill>
                          <a:latin typeface="Arial"/>
                          <a:ea typeface="Arial"/>
                          <a:cs typeface="Arial"/>
                        </a:rPr>
                        <a:t>Apr</a:t>
                      </a:r>
                    </a:p>
                  </a:txBody>
                  <a:tcPr marL="85725" marR="85725" marT="19050" marB="19050">
                    <a:solidFill>
                      <a:srgbClr val="F4F5F7"/>
                    </a:solidFill>
                  </a:tcPr>
                </a:tc>
                <a:tc>
                  <a:txBody>
                    <a:bodyPr/>
                    <a:lstStyle/>
                    <a:p>
                      <a:r>
                        <a:rPr sz="1275" b="0">
                          <a:solidFill>
                            <a:srgbClr val="14171C"/>
                          </a:solidFill>
                          <a:latin typeface="Arial"/>
                          <a:ea typeface="Arial"/>
                          <a:cs typeface="Arial"/>
                        </a:rPr>
                        <a:t>30</a:t>
                      </a:r>
                    </a:p>
                  </a:txBody>
                  <a:tcPr marL="85725" marR="85725" marT="19050" marB="19050">
                    <a:solidFill>
                      <a:srgbClr val="F4F5F7"/>
                    </a:solidFill>
                  </a:tcPr>
                </a:tc>
                <a:tc>
                  <a:txBody>
                    <a:bodyPr/>
                    <a:lstStyle/>
                    <a:p>
                      <a:r>
                        <a:rPr sz="1275" b="0">
                          <a:solidFill>
                            <a:srgbClr val="14171C"/>
                          </a:solidFill>
                          <a:latin typeface="Arial"/>
                          <a:ea typeface="Arial"/>
                          <a:cs typeface="Arial"/>
                        </a:rPr>
                        <a:t>1,367.31</a:t>
                      </a:r>
                    </a:p>
                  </a:txBody>
                  <a:tcPr marL="85725" marR="85725" marT="19050" marB="19050">
                    <a:solidFill>
                      <a:srgbClr val="F4F5F7"/>
                    </a:solidFill>
                  </a:tcPr>
                </a:tc>
                <a:tc>
                  <a:txBody>
                    <a:bodyPr/>
                    <a:lstStyle/>
                    <a:p>
                      <a:r>
                        <a:rPr sz="1275" b="0">
                          <a:solidFill>
                            <a:srgbClr val="14171C"/>
                          </a:solidFill>
                          <a:latin typeface="Arial"/>
                          <a:ea typeface="Arial"/>
                          <a:cs typeface="Arial"/>
                        </a:rPr>
                        <a:t>1,210.50</a:t>
                      </a:r>
                    </a:p>
                  </a:txBody>
                  <a:tcPr marL="85725" marR="85725" marT="19050" marB="19050">
                    <a:solidFill>
                      <a:srgbClr val="F4F5F7"/>
                    </a:solidFill>
                  </a:tcPr>
                </a:tc>
                <a:tc>
                  <a:txBody>
                    <a:bodyPr/>
                    <a:lstStyle/>
                    <a:p>
                      <a:r>
                        <a:rPr sz="1275" b="0">
                          <a:solidFill>
                            <a:srgbClr val="14171C"/>
                          </a:solidFill>
                          <a:latin typeface="Arial"/>
                          <a:ea typeface="Arial"/>
                          <a:cs typeface="Arial"/>
                        </a:rPr>
                        <a:t>6,867.22</a:t>
                      </a:r>
                    </a:p>
                  </a:txBody>
                  <a:tcPr marL="85725" marR="85725" marT="19050" marB="19050">
                    <a:solidFill>
                      <a:srgbClr val="F4F5F7"/>
                    </a:solidFill>
                  </a:tcPr>
                </a:tc>
                <a:tc>
                  <a:txBody>
                    <a:bodyPr/>
                    <a:lstStyle/>
                    <a:p>
                      <a:r>
                        <a:rPr sz="1275" b="0">
                          <a:solidFill>
                            <a:srgbClr val="14171C"/>
                          </a:solidFill>
                          <a:latin typeface="Arial"/>
                          <a:ea typeface="Arial"/>
                          <a:cs typeface="Arial"/>
                        </a:rPr>
                        <a:t>3,453.61</a:t>
                      </a:r>
                    </a:p>
                  </a:txBody>
                  <a:tcPr marL="85725" marR="85725" marT="19050" marB="19050">
                    <a:solidFill>
                      <a:srgbClr val="F4F5F7"/>
                    </a:solidFill>
                  </a:tcPr>
                </a:tc>
                <a:tc>
                  <a:txBody>
                    <a:bodyPr/>
                    <a:lstStyle/>
                    <a:p>
                      <a:r>
                        <a:rPr sz="1275" b="0">
                          <a:solidFill>
                            <a:srgbClr val="14171C"/>
                          </a:solidFill>
                          <a:latin typeface="Arial"/>
                          <a:ea typeface="Arial"/>
                          <a:cs typeface="Arial"/>
                        </a:rPr>
                        <a:t>3,413.61</a:t>
                      </a:r>
                    </a:p>
                  </a:txBody>
                  <a:tcPr marL="85725" marR="85725" marT="19050" marB="19050">
                    <a:solidFill>
                      <a:srgbClr val="F4F5F7"/>
                    </a:solidFill>
                  </a:tcPr>
                </a:tc>
              </a:tr>
              <a:tr h="295275">
                <a:tc>
                  <a:txBody>
                    <a:bodyPr/>
                    <a:lstStyle/>
                    <a:p>
                      <a:r>
                        <a:rPr sz="1275" b="0">
                          <a:solidFill>
                            <a:srgbClr val="14171C"/>
                          </a:solidFill>
                          <a:latin typeface="Arial"/>
                          <a:ea typeface="Arial"/>
                          <a:cs typeface="Arial"/>
                        </a:rPr>
                        <a:t>May</a:t>
                      </a:r>
                    </a:p>
                  </a:txBody>
                  <a:tcPr marL="85725" marR="85725" marT="19050" marB="19050">
                    <a:solidFill>
                      <a:srgbClr val="FCFCFD"/>
                    </a:solidFill>
                  </a:tcPr>
                </a:tc>
                <a:tc>
                  <a:txBody>
                    <a:bodyPr/>
                    <a:lstStyle/>
                    <a:p>
                      <a:r>
                        <a:rPr sz="1275" b="0">
                          <a:solidFill>
                            <a:srgbClr val="14171C"/>
                          </a:solidFill>
                          <a:latin typeface="Arial"/>
                          <a:ea typeface="Arial"/>
                          <a:cs typeface="Arial"/>
                        </a:rPr>
                        <a:t>31</a:t>
                      </a:r>
                    </a:p>
                  </a:txBody>
                  <a:tcPr marL="85725" marR="85725" marT="19050" marB="19050">
                    <a:solidFill>
                      <a:srgbClr val="FCFCFD"/>
                    </a:solidFill>
                  </a:tcPr>
                </a:tc>
                <a:tc>
                  <a:txBody>
                    <a:bodyPr/>
                    <a:lstStyle/>
                    <a:p>
                      <a:r>
                        <a:rPr sz="1275" b="0">
                          <a:solidFill>
                            <a:srgbClr val="14171C"/>
                          </a:solidFill>
                          <a:latin typeface="Arial"/>
                          <a:ea typeface="Arial"/>
                          <a:cs typeface="Arial"/>
                        </a:rPr>
                        <a:t>1,383.12</a:t>
                      </a:r>
                    </a:p>
                  </a:txBody>
                  <a:tcPr marL="85725" marR="85725" marT="19050" marB="19050">
                    <a:solidFill>
                      <a:srgbClr val="FCFCFD"/>
                    </a:solidFill>
                  </a:tcPr>
                </a:tc>
                <a:tc>
                  <a:txBody>
                    <a:bodyPr/>
                    <a:lstStyle/>
                    <a:p>
                      <a:r>
                        <a:rPr sz="1275" b="0">
                          <a:solidFill>
                            <a:srgbClr val="14171C"/>
                          </a:solidFill>
                          <a:latin typeface="Arial"/>
                          <a:ea typeface="Arial"/>
                          <a:cs typeface="Arial"/>
                        </a:rPr>
                        <a:t>1,250.85</a:t>
                      </a:r>
                    </a:p>
                  </a:txBody>
                  <a:tcPr marL="85725" marR="85725" marT="19050" marB="19050">
                    <a:solidFill>
                      <a:srgbClr val="FCFCFD"/>
                    </a:solidFill>
                  </a:tcPr>
                </a:tc>
                <a:tc>
                  <a:txBody>
                    <a:bodyPr/>
                    <a:lstStyle/>
                    <a:p>
                      <a:r>
                        <a:rPr sz="1275" b="0">
                          <a:solidFill>
                            <a:srgbClr val="14171C"/>
                          </a:solidFill>
                          <a:latin typeface="Arial"/>
                          <a:ea typeface="Arial"/>
                          <a:cs typeface="Arial"/>
                        </a:rPr>
                        <a:t>7,094.79</a:t>
                      </a:r>
                    </a:p>
                  </a:txBody>
                  <a:tcPr marL="85725" marR="85725" marT="19050" marB="19050">
                    <a:solidFill>
                      <a:srgbClr val="FCFCFD"/>
                    </a:solidFill>
                  </a:tcPr>
                </a:tc>
                <a:tc>
                  <a:txBody>
                    <a:bodyPr/>
                    <a:lstStyle/>
                    <a:p>
                      <a:r>
                        <a:rPr sz="1275" b="0">
                          <a:solidFill>
                            <a:srgbClr val="14171C"/>
                          </a:solidFill>
                          <a:latin typeface="Arial"/>
                          <a:ea typeface="Arial"/>
                          <a:cs typeface="Arial"/>
                        </a:rPr>
                        <a:t>3,567.40</a:t>
                      </a:r>
                    </a:p>
                  </a:txBody>
                  <a:tcPr marL="85725" marR="85725" marT="19050" marB="19050">
                    <a:solidFill>
                      <a:srgbClr val="FCFCFD"/>
                    </a:solidFill>
                  </a:tcPr>
                </a:tc>
                <a:tc>
                  <a:txBody>
                    <a:bodyPr/>
                    <a:lstStyle/>
                    <a:p>
                      <a:r>
                        <a:rPr sz="1275" b="0">
                          <a:solidFill>
                            <a:srgbClr val="14171C"/>
                          </a:solidFill>
                          <a:latin typeface="Arial"/>
                          <a:ea typeface="Arial"/>
                          <a:cs typeface="Arial"/>
                        </a:rPr>
                        <a:t>3,527.40</a:t>
                      </a:r>
                    </a:p>
                  </a:txBody>
                  <a:tcPr marL="85725" marR="85725" marT="19050" marB="19050">
                    <a:solidFill>
                      <a:srgbClr val="FCFCFD"/>
                    </a:solidFill>
                  </a:tcPr>
                </a:tc>
              </a:tr>
              <a:tr h="295275">
                <a:tc>
                  <a:txBody>
                    <a:bodyPr/>
                    <a:lstStyle/>
                    <a:p>
                      <a:r>
                        <a:rPr sz="1275" b="0">
                          <a:solidFill>
                            <a:srgbClr val="14171C"/>
                          </a:solidFill>
                          <a:latin typeface="Arial"/>
                          <a:ea typeface="Arial"/>
                          <a:cs typeface="Arial"/>
                        </a:rPr>
                        <a:t>Jun</a:t>
                      </a:r>
                    </a:p>
                  </a:txBody>
                  <a:tcPr marL="85725" marR="85725" marT="19050" marB="19050">
                    <a:solidFill>
                      <a:srgbClr val="F4F5F7"/>
                    </a:solidFill>
                  </a:tcPr>
                </a:tc>
                <a:tc>
                  <a:txBody>
                    <a:bodyPr/>
                    <a:lstStyle/>
                    <a:p>
                      <a:r>
                        <a:rPr sz="1275" b="0">
                          <a:solidFill>
                            <a:srgbClr val="14171C"/>
                          </a:solidFill>
                          <a:latin typeface="Arial"/>
                          <a:ea typeface="Arial"/>
                          <a:cs typeface="Arial"/>
                        </a:rPr>
                        <a:t>30</a:t>
                      </a:r>
                    </a:p>
                  </a:txBody>
                  <a:tcPr marL="85725" marR="85725" marT="19050" marB="19050">
                    <a:solidFill>
                      <a:srgbClr val="F4F5F7"/>
                    </a:solidFill>
                  </a:tcPr>
                </a:tc>
                <a:tc>
                  <a:txBody>
                    <a:bodyPr/>
                    <a:lstStyle/>
                    <a:p>
                      <a:r>
                        <a:rPr sz="1275" b="0">
                          <a:solidFill>
                            <a:srgbClr val="14171C"/>
                          </a:solidFill>
                          <a:latin typeface="Arial"/>
                          <a:ea typeface="Arial"/>
                          <a:cs typeface="Arial"/>
                        </a:rPr>
                        <a:t>1,348.27</a:t>
                      </a:r>
                    </a:p>
                  </a:txBody>
                  <a:tcPr marL="85725" marR="85725" marT="19050" marB="19050">
                    <a:solidFill>
                      <a:srgbClr val="F4F5F7"/>
                    </a:solidFill>
                  </a:tcPr>
                </a:tc>
                <a:tc>
                  <a:txBody>
                    <a:bodyPr/>
                    <a:lstStyle/>
                    <a:p>
                      <a:r>
                        <a:rPr sz="1275" b="0">
                          <a:solidFill>
                            <a:srgbClr val="14171C"/>
                          </a:solidFill>
                          <a:latin typeface="Arial"/>
                          <a:ea typeface="Arial"/>
                          <a:cs typeface="Arial"/>
                        </a:rPr>
                        <a:t>1,210.50</a:t>
                      </a:r>
                    </a:p>
                  </a:txBody>
                  <a:tcPr marL="85725" marR="85725" marT="19050" marB="19050">
                    <a:solidFill>
                      <a:srgbClr val="F4F5F7"/>
                    </a:solidFill>
                  </a:tcPr>
                </a:tc>
                <a:tc>
                  <a:txBody>
                    <a:bodyPr/>
                    <a:lstStyle/>
                    <a:p>
                      <a:r>
                        <a:rPr sz="1275" b="0">
                          <a:solidFill>
                            <a:srgbClr val="14171C"/>
                          </a:solidFill>
                          <a:latin typeface="Arial"/>
                          <a:ea typeface="Arial"/>
                          <a:cs typeface="Arial"/>
                        </a:rPr>
                        <a:t>6,867.22</a:t>
                      </a:r>
                    </a:p>
                  </a:txBody>
                  <a:tcPr marL="85725" marR="85725" marT="19050" marB="19050">
                    <a:solidFill>
                      <a:srgbClr val="F4F5F7"/>
                    </a:solidFill>
                  </a:tcPr>
                </a:tc>
                <a:tc>
                  <a:txBody>
                    <a:bodyPr/>
                    <a:lstStyle/>
                    <a:p>
                      <a:r>
                        <a:rPr sz="1275" b="0">
                          <a:solidFill>
                            <a:srgbClr val="14171C"/>
                          </a:solidFill>
                          <a:latin typeface="Arial"/>
                          <a:ea typeface="Arial"/>
                          <a:cs typeface="Arial"/>
                        </a:rPr>
                        <a:t>3,453.61</a:t>
                      </a:r>
                    </a:p>
                  </a:txBody>
                  <a:tcPr marL="85725" marR="85725" marT="19050" marB="19050">
                    <a:solidFill>
                      <a:srgbClr val="F4F5F7"/>
                    </a:solidFill>
                  </a:tcPr>
                </a:tc>
                <a:tc>
                  <a:txBody>
                    <a:bodyPr/>
                    <a:lstStyle/>
                    <a:p>
                      <a:r>
                        <a:rPr sz="1275" b="0">
                          <a:solidFill>
                            <a:srgbClr val="14171C"/>
                          </a:solidFill>
                          <a:latin typeface="Arial"/>
                          <a:ea typeface="Arial"/>
                          <a:cs typeface="Arial"/>
                        </a:rPr>
                        <a:t>3,413.61</a:t>
                      </a:r>
                    </a:p>
                  </a:txBody>
                  <a:tcPr marL="85725" marR="85725" marT="19050" marB="19050">
                    <a:solidFill>
                      <a:srgbClr val="F4F5F7"/>
                    </a:solidFill>
                  </a:tcPr>
                </a:tc>
              </a:tr>
              <a:tr h="295275">
                <a:tc>
                  <a:txBody>
                    <a:bodyPr/>
                    <a:lstStyle/>
                    <a:p>
                      <a:r>
                        <a:rPr sz="1275" b="0">
                          <a:solidFill>
                            <a:srgbClr val="14171C"/>
                          </a:solidFill>
                          <a:latin typeface="Arial"/>
                          <a:ea typeface="Arial"/>
                          <a:cs typeface="Arial"/>
                        </a:rPr>
                        <a:t>Jul</a:t>
                      </a:r>
                    </a:p>
                  </a:txBody>
                  <a:tcPr marL="85725" marR="85725" marT="19050" marB="19050">
                    <a:solidFill>
                      <a:srgbClr val="FCFCFD"/>
                    </a:solidFill>
                  </a:tcPr>
                </a:tc>
                <a:tc>
                  <a:txBody>
                    <a:bodyPr/>
                    <a:lstStyle/>
                    <a:p>
                      <a:r>
                        <a:rPr sz="1275" b="0">
                          <a:solidFill>
                            <a:srgbClr val="14171C"/>
                          </a:solidFill>
                          <a:latin typeface="Arial"/>
                          <a:ea typeface="Arial"/>
                          <a:cs typeface="Arial"/>
                        </a:rPr>
                        <a:t>31</a:t>
                      </a:r>
                    </a:p>
                  </a:txBody>
                  <a:tcPr marL="85725" marR="85725" marT="19050" marB="19050">
                    <a:solidFill>
                      <a:srgbClr val="FCFCFD"/>
                    </a:solidFill>
                  </a:tcPr>
                </a:tc>
                <a:tc>
                  <a:txBody>
                    <a:bodyPr/>
                    <a:lstStyle/>
                    <a:p>
                      <a:r>
                        <a:rPr sz="1275" b="0">
                          <a:solidFill>
                            <a:srgbClr val="14171C"/>
                          </a:solidFill>
                          <a:latin typeface="Arial"/>
                          <a:ea typeface="Arial"/>
                          <a:cs typeface="Arial"/>
                        </a:rPr>
                        <a:t>1,399.61</a:t>
                      </a:r>
                    </a:p>
                  </a:txBody>
                  <a:tcPr marL="85725" marR="85725" marT="19050" marB="19050">
                    <a:solidFill>
                      <a:srgbClr val="FCFCFD"/>
                    </a:solidFill>
                  </a:tcPr>
                </a:tc>
                <a:tc>
                  <a:txBody>
                    <a:bodyPr/>
                    <a:lstStyle/>
                    <a:p>
                      <a:r>
                        <a:rPr sz="1275" b="0">
                          <a:solidFill>
                            <a:srgbClr val="14171C"/>
                          </a:solidFill>
                          <a:latin typeface="Arial"/>
                          <a:ea typeface="Arial"/>
                          <a:cs typeface="Arial"/>
                        </a:rPr>
                        <a:t>1,250.85</a:t>
                      </a:r>
                    </a:p>
                  </a:txBody>
                  <a:tcPr marL="85725" marR="85725" marT="19050" marB="19050">
                    <a:solidFill>
                      <a:srgbClr val="FCFCFD"/>
                    </a:solidFill>
                  </a:tcPr>
                </a:tc>
                <a:tc>
                  <a:txBody>
                    <a:bodyPr/>
                    <a:lstStyle/>
                    <a:p>
                      <a:r>
                        <a:rPr sz="1275" b="0">
                          <a:solidFill>
                            <a:srgbClr val="14171C"/>
                          </a:solidFill>
                          <a:latin typeface="Arial"/>
                          <a:ea typeface="Arial"/>
                          <a:cs typeface="Arial"/>
                        </a:rPr>
                        <a:t>7,094.79</a:t>
                      </a:r>
                    </a:p>
                  </a:txBody>
                  <a:tcPr marL="85725" marR="85725" marT="19050" marB="19050">
                    <a:solidFill>
                      <a:srgbClr val="FCFCFD"/>
                    </a:solidFill>
                  </a:tcPr>
                </a:tc>
                <a:tc>
                  <a:txBody>
                    <a:bodyPr/>
                    <a:lstStyle/>
                    <a:p>
                      <a:r>
                        <a:rPr sz="1275" b="0">
                          <a:solidFill>
                            <a:srgbClr val="14171C"/>
                          </a:solidFill>
                          <a:latin typeface="Arial"/>
                          <a:ea typeface="Arial"/>
                          <a:cs typeface="Arial"/>
                        </a:rPr>
                        <a:t>3,567.40</a:t>
                      </a:r>
                    </a:p>
                  </a:txBody>
                  <a:tcPr marL="85725" marR="85725" marT="19050" marB="19050">
                    <a:solidFill>
                      <a:srgbClr val="FCFCFD"/>
                    </a:solidFill>
                  </a:tcPr>
                </a:tc>
                <a:tc>
                  <a:txBody>
                    <a:bodyPr/>
                    <a:lstStyle/>
                    <a:p>
                      <a:r>
                        <a:rPr sz="1275" b="0">
                          <a:solidFill>
                            <a:srgbClr val="14171C"/>
                          </a:solidFill>
                          <a:latin typeface="Arial"/>
                          <a:ea typeface="Arial"/>
                          <a:cs typeface="Arial"/>
                        </a:rPr>
                        <a:t>3,527.40</a:t>
                      </a:r>
                    </a:p>
                  </a:txBody>
                  <a:tcPr marL="85725" marR="85725" marT="19050" marB="19050">
                    <a:solidFill>
                      <a:srgbClr val="FCFCFD"/>
                    </a:solidFill>
                  </a:tcPr>
                </a:tc>
              </a:tr>
              <a:tr h="295275">
                <a:tc>
                  <a:txBody>
                    <a:bodyPr/>
                    <a:lstStyle/>
                    <a:p>
                      <a:r>
                        <a:rPr sz="1275" b="0">
                          <a:solidFill>
                            <a:srgbClr val="14171C"/>
                          </a:solidFill>
                          <a:latin typeface="Arial"/>
                          <a:ea typeface="Arial"/>
                          <a:cs typeface="Arial"/>
                        </a:rPr>
                        <a:t>Aug</a:t>
                      </a:r>
                    </a:p>
                  </a:txBody>
                  <a:tcPr marL="85725" marR="85725" marT="19050" marB="19050">
                    <a:solidFill>
                      <a:srgbClr val="F4F5F7"/>
                    </a:solidFill>
                  </a:tcPr>
                </a:tc>
                <a:tc>
                  <a:txBody>
                    <a:bodyPr/>
                    <a:lstStyle/>
                    <a:p>
                      <a:r>
                        <a:rPr sz="1275" b="0">
                          <a:solidFill>
                            <a:srgbClr val="14171C"/>
                          </a:solidFill>
                          <a:latin typeface="Arial"/>
                          <a:ea typeface="Arial"/>
                          <a:cs typeface="Arial"/>
                        </a:rPr>
                        <a:t>31</a:t>
                      </a:r>
                    </a:p>
                  </a:txBody>
                  <a:tcPr marL="85725" marR="85725" marT="19050" marB="19050">
                    <a:solidFill>
                      <a:srgbClr val="F4F5F7"/>
                    </a:solidFill>
                  </a:tcPr>
                </a:tc>
                <a:tc>
                  <a:txBody>
                    <a:bodyPr/>
                    <a:lstStyle/>
                    <a:p>
                      <a:r>
                        <a:rPr sz="1275" b="0">
                          <a:solidFill>
                            <a:srgbClr val="14171C"/>
                          </a:solidFill>
                          <a:latin typeface="Arial"/>
                          <a:ea typeface="Arial"/>
                          <a:cs typeface="Arial"/>
                        </a:rPr>
                        <a:t>1,417.80</a:t>
                      </a:r>
                    </a:p>
                  </a:txBody>
                  <a:tcPr marL="85725" marR="85725" marT="19050" marB="19050">
                    <a:solidFill>
                      <a:srgbClr val="F4F5F7"/>
                    </a:solidFill>
                  </a:tcPr>
                </a:tc>
                <a:tc>
                  <a:txBody>
                    <a:bodyPr/>
                    <a:lstStyle/>
                    <a:p>
                      <a:r>
                        <a:rPr sz="1275" b="0">
                          <a:solidFill>
                            <a:srgbClr val="14171C"/>
                          </a:solidFill>
                          <a:latin typeface="Arial"/>
                          <a:ea typeface="Arial"/>
                          <a:cs typeface="Arial"/>
                        </a:rPr>
                        <a:t>1,250.85</a:t>
                      </a:r>
                    </a:p>
                  </a:txBody>
                  <a:tcPr marL="85725" marR="85725" marT="19050" marB="19050">
                    <a:solidFill>
                      <a:srgbClr val="F4F5F7"/>
                    </a:solidFill>
                  </a:tcPr>
                </a:tc>
                <a:tc>
                  <a:txBody>
                    <a:bodyPr/>
                    <a:lstStyle/>
                    <a:p>
                      <a:r>
                        <a:rPr sz="1275" b="0">
                          <a:solidFill>
                            <a:srgbClr val="14171C"/>
                          </a:solidFill>
                          <a:latin typeface="Arial"/>
                          <a:ea typeface="Arial"/>
                          <a:cs typeface="Arial"/>
                        </a:rPr>
                        <a:t>7,094.79</a:t>
                      </a:r>
                    </a:p>
                  </a:txBody>
                  <a:tcPr marL="85725" marR="85725" marT="19050" marB="19050">
                    <a:solidFill>
                      <a:srgbClr val="F4F5F7"/>
                    </a:solidFill>
                  </a:tcPr>
                </a:tc>
                <a:tc>
                  <a:txBody>
                    <a:bodyPr/>
                    <a:lstStyle/>
                    <a:p>
                      <a:r>
                        <a:rPr sz="1275" b="0">
                          <a:solidFill>
                            <a:srgbClr val="14171C"/>
                          </a:solidFill>
                          <a:latin typeface="Arial"/>
                          <a:ea typeface="Arial"/>
                          <a:cs typeface="Arial"/>
                        </a:rPr>
                        <a:t>3,567.40</a:t>
                      </a:r>
                    </a:p>
                  </a:txBody>
                  <a:tcPr marL="85725" marR="85725" marT="19050" marB="19050">
                    <a:solidFill>
                      <a:srgbClr val="F4F5F7"/>
                    </a:solidFill>
                  </a:tcPr>
                </a:tc>
                <a:tc>
                  <a:txBody>
                    <a:bodyPr/>
                    <a:lstStyle/>
                    <a:p>
                      <a:r>
                        <a:rPr sz="1275" b="0">
                          <a:solidFill>
                            <a:srgbClr val="14171C"/>
                          </a:solidFill>
                          <a:latin typeface="Arial"/>
                          <a:ea typeface="Arial"/>
                          <a:cs typeface="Arial"/>
                        </a:rPr>
                        <a:t>3,527.40</a:t>
                      </a:r>
                    </a:p>
                  </a:txBody>
                  <a:tcPr marL="85725" marR="85725" marT="19050" marB="19050">
                    <a:solidFill>
                      <a:srgbClr val="F4F5F7"/>
                    </a:solidFill>
                  </a:tcPr>
                </a:tc>
              </a:tr>
              <a:tr h="295275">
                <a:tc>
                  <a:txBody>
                    <a:bodyPr/>
                    <a:lstStyle/>
                    <a:p>
                      <a:r>
                        <a:rPr sz="1275" b="0">
                          <a:solidFill>
                            <a:srgbClr val="14171C"/>
                          </a:solidFill>
                          <a:latin typeface="Arial"/>
                          <a:ea typeface="Arial"/>
                          <a:cs typeface="Arial"/>
                        </a:rPr>
                        <a:t>Sep</a:t>
                      </a:r>
                    </a:p>
                  </a:txBody>
                  <a:tcPr marL="85725" marR="85725" marT="19050" marB="19050">
                    <a:solidFill>
                      <a:srgbClr val="FCFCFD"/>
                    </a:solidFill>
                  </a:tcPr>
                </a:tc>
                <a:tc>
                  <a:txBody>
                    <a:bodyPr/>
                    <a:lstStyle/>
                    <a:p>
                      <a:r>
                        <a:rPr sz="1275" b="0">
                          <a:solidFill>
                            <a:srgbClr val="14171C"/>
                          </a:solidFill>
                          <a:latin typeface="Arial"/>
                          <a:ea typeface="Arial"/>
                          <a:cs typeface="Arial"/>
                        </a:rPr>
                        <a:t>30</a:t>
                      </a:r>
                    </a:p>
                  </a:txBody>
                  <a:tcPr marL="85725" marR="85725" marT="19050" marB="19050">
                    <a:solidFill>
                      <a:srgbClr val="FCFCFD"/>
                    </a:solidFill>
                  </a:tcPr>
                </a:tc>
                <a:tc>
                  <a:txBody>
                    <a:bodyPr/>
                    <a:lstStyle/>
                    <a:p>
                      <a:r>
                        <a:rPr sz="1275" b="0">
                          <a:solidFill>
                            <a:srgbClr val="14171C"/>
                          </a:solidFill>
                          <a:latin typeface="Arial"/>
                          <a:ea typeface="Arial"/>
                          <a:cs typeface="Arial"/>
                        </a:rPr>
                        <a:t>1,368.50</a:t>
                      </a:r>
                    </a:p>
                  </a:txBody>
                  <a:tcPr marL="85725" marR="85725" marT="19050" marB="19050">
                    <a:solidFill>
                      <a:srgbClr val="FCFCFD"/>
                    </a:solidFill>
                  </a:tcPr>
                </a:tc>
                <a:tc>
                  <a:txBody>
                    <a:bodyPr/>
                    <a:lstStyle/>
                    <a:p>
                      <a:r>
                        <a:rPr sz="1275" b="0">
                          <a:solidFill>
                            <a:srgbClr val="14171C"/>
                          </a:solidFill>
                          <a:latin typeface="Arial"/>
                          <a:ea typeface="Arial"/>
                          <a:cs typeface="Arial"/>
                        </a:rPr>
                        <a:t>1,210.50</a:t>
                      </a:r>
                    </a:p>
                  </a:txBody>
                  <a:tcPr marL="85725" marR="85725" marT="19050" marB="19050">
                    <a:solidFill>
                      <a:srgbClr val="FCFCFD"/>
                    </a:solidFill>
                  </a:tcPr>
                </a:tc>
                <a:tc>
                  <a:txBody>
                    <a:bodyPr/>
                    <a:lstStyle/>
                    <a:p>
                      <a:r>
                        <a:rPr sz="1275" b="0">
                          <a:solidFill>
                            <a:srgbClr val="14171C"/>
                          </a:solidFill>
                          <a:latin typeface="Arial"/>
                          <a:ea typeface="Arial"/>
                          <a:cs typeface="Arial"/>
                        </a:rPr>
                        <a:t>6,867.22</a:t>
                      </a:r>
                    </a:p>
                  </a:txBody>
                  <a:tcPr marL="85725" marR="85725" marT="19050" marB="19050">
                    <a:solidFill>
                      <a:srgbClr val="FCFCFD"/>
                    </a:solidFill>
                  </a:tcPr>
                </a:tc>
                <a:tc>
                  <a:txBody>
                    <a:bodyPr/>
                    <a:lstStyle/>
                    <a:p>
                      <a:r>
                        <a:rPr sz="1275" b="0">
                          <a:solidFill>
                            <a:srgbClr val="14171C"/>
                          </a:solidFill>
                          <a:latin typeface="Arial"/>
                          <a:ea typeface="Arial"/>
                          <a:cs typeface="Arial"/>
                        </a:rPr>
                        <a:t>3,453.61</a:t>
                      </a:r>
                    </a:p>
                  </a:txBody>
                  <a:tcPr marL="85725" marR="85725" marT="19050" marB="19050">
                    <a:solidFill>
                      <a:srgbClr val="FCFCFD"/>
                    </a:solidFill>
                  </a:tcPr>
                </a:tc>
                <a:tc>
                  <a:txBody>
                    <a:bodyPr/>
                    <a:lstStyle/>
                    <a:p>
                      <a:r>
                        <a:rPr sz="1275" b="0">
                          <a:solidFill>
                            <a:srgbClr val="14171C"/>
                          </a:solidFill>
                          <a:latin typeface="Arial"/>
                          <a:ea typeface="Arial"/>
                          <a:cs typeface="Arial"/>
                        </a:rPr>
                        <a:t>3,413.61</a:t>
                      </a:r>
                    </a:p>
                  </a:txBody>
                  <a:tcPr marL="85725" marR="85725" marT="19050" marB="19050">
                    <a:solidFill>
                      <a:srgbClr val="FCFCFD"/>
                    </a:solidFill>
                  </a:tcPr>
                </a:tc>
              </a:tr>
              <a:tr h="295275">
                <a:tc>
                  <a:txBody>
                    <a:bodyPr/>
                    <a:lstStyle/>
                    <a:p>
                      <a:r>
                        <a:rPr sz="1275" b="0">
                          <a:solidFill>
                            <a:srgbClr val="14171C"/>
                          </a:solidFill>
                          <a:latin typeface="Arial"/>
                          <a:ea typeface="Arial"/>
                          <a:cs typeface="Arial"/>
                        </a:rPr>
                        <a:t>Oct</a:t>
                      </a:r>
                    </a:p>
                  </a:txBody>
                  <a:tcPr marL="85725" marR="85725" marT="19050" marB="19050">
                    <a:solidFill>
                      <a:srgbClr val="F4F5F7"/>
                    </a:solidFill>
                  </a:tcPr>
                </a:tc>
                <a:tc>
                  <a:txBody>
                    <a:bodyPr/>
                    <a:lstStyle/>
                    <a:p>
                      <a:r>
                        <a:rPr sz="1275" b="0">
                          <a:solidFill>
                            <a:srgbClr val="14171C"/>
                          </a:solidFill>
                          <a:latin typeface="Arial"/>
                          <a:ea typeface="Arial"/>
                          <a:cs typeface="Arial"/>
                        </a:rPr>
                        <a:t>31</a:t>
                      </a:r>
                    </a:p>
                  </a:txBody>
                  <a:tcPr marL="85725" marR="85725" marT="19050" marB="19050">
                    <a:solidFill>
                      <a:srgbClr val="F4F5F7"/>
                    </a:solidFill>
                  </a:tcPr>
                </a:tc>
                <a:tc>
                  <a:txBody>
                    <a:bodyPr/>
                    <a:lstStyle/>
                    <a:p>
                      <a:r>
                        <a:rPr sz="1275" b="0">
                          <a:solidFill>
                            <a:srgbClr val="14171C"/>
                          </a:solidFill>
                          <a:latin typeface="Arial"/>
                          <a:ea typeface="Arial"/>
                          <a:cs typeface="Arial"/>
                        </a:rPr>
                        <a:t>1,313.51</a:t>
                      </a:r>
                    </a:p>
                  </a:txBody>
                  <a:tcPr marL="85725" marR="85725" marT="19050" marB="19050">
                    <a:solidFill>
                      <a:srgbClr val="F4F5F7"/>
                    </a:solidFill>
                  </a:tcPr>
                </a:tc>
                <a:tc>
                  <a:txBody>
                    <a:bodyPr/>
                    <a:lstStyle/>
                    <a:p>
                      <a:r>
                        <a:rPr sz="1275" b="0">
                          <a:solidFill>
                            <a:srgbClr val="14171C"/>
                          </a:solidFill>
                          <a:latin typeface="Arial"/>
                          <a:ea typeface="Arial"/>
                          <a:cs typeface="Arial"/>
                        </a:rPr>
                        <a:t>1,250.85</a:t>
                      </a:r>
                    </a:p>
                  </a:txBody>
                  <a:tcPr marL="85725" marR="85725" marT="19050" marB="19050">
                    <a:solidFill>
                      <a:srgbClr val="F4F5F7"/>
                    </a:solidFill>
                  </a:tcPr>
                </a:tc>
                <a:tc>
                  <a:txBody>
                    <a:bodyPr/>
                    <a:lstStyle/>
                    <a:p>
                      <a:r>
                        <a:rPr sz="1275" b="0">
                          <a:solidFill>
                            <a:srgbClr val="14171C"/>
                          </a:solidFill>
                          <a:latin typeface="Arial"/>
                          <a:ea typeface="Arial"/>
                          <a:cs typeface="Arial"/>
                        </a:rPr>
                        <a:t>7,094.79</a:t>
                      </a:r>
                    </a:p>
                  </a:txBody>
                  <a:tcPr marL="85725" marR="85725" marT="19050" marB="19050">
                    <a:solidFill>
                      <a:srgbClr val="F4F5F7"/>
                    </a:solidFill>
                  </a:tcPr>
                </a:tc>
                <a:tc>
                  <a:txBody>
                    <a:bodyPr/>
                    <a:lstStyle/>
                    <a:p>
                      <a:r>
                        <a:rPr sz="1275" b="0">
                          <a:solidFill>
                            <a:srgbClr val="14171C"/>
                          </a:solidFill>
                          <a:latin typeface="Arial"/>
                          <a:ea typeface="Arial"/>
                          <a:cs typeface="Arial"/>
                        </a:rPr>
                        <a:t>3,567.40</a:t>
                      </a:r>
                    </a:p>
                  </a:txBody>
                  <a:tcPr marL="85725" marR="85725" marT="19050" marB="19050">
                    <a:solidFill>
                      <a:srgbClr val="F4F5F7"/>
                    </a:solidFill>
                  </a:tcPr>
                </a:tc>
                <a:tc>
                  <a:txBody>
                    <a:bodyPr/>
                    <a:lstStyle/>
                    <a:p>
                      <a:r>
                        <a:rPr sz="1275" b="0">
                          <a:solidFill>
                            <a:srgbClr val="14171C"/>
                          </a:solidFill>
                          <a:latin typeface="Arial"/>
                          <a:ea typeface="Arial"/>
                          <a:cs typeface="Arial"/>
                        </a:rPr>
                        <a:t>3,527.40</a:t>
                      </a:r>
                    </a:p>
                  </a:txBody>
                  <a:tcPr marL="85725" marR="85725" marT="19050" marB="19050">
                    <a:solidFill>
                      <a:srgbClr val="F4F5F7"/>
                    </a:solidFill>
                  </a:tcPr>
                </a:tc>
              </a:tr>
              <a:tr h="295275">
                <a:tc>
                  <a:txBody>
                    <a:bodyPr/>
                    <a:lstStyle/>
                    <a:p>
                      <a:r>
                        <a:rPr sz="1275" b="0">
                          <a:solidFill>
                            <a:srgbClr val="14171C"/>
                          </a:solidFill>
                          <a:latin typeface="Arial"/>
                          <a:ea typeface="Arial"/>
                          <a:cs typeface="Arial"/>
                        </a:rPr>
                        <a:t>Nov</a:t>
                      </a:r>
                    </a:p>
                  </a:txBody>
                  <a:tcPr marL="85725" marR="85725" marT="19050" marB="19050">
                    <a:solidFill>
                      <a:srgbClr val="FCFCFD"/>
                    </a:solidFill>
                  </a:tcPr>
                </a:tc>
                <a:tc>
                  <a:txBody>
                    <a:bodyPr/>
                    <a:lstStyle/>
                    <a:p>
                      <a:r>
                        <a:rPr sz="1275" b="0">
                          <a:solidFill>
                            <a:srgbClr val="14171C"/>
                          </a:solidFill>
                          <a:latin typeface="Arial"/>
                          <a:ea typeface="Arial"/>
                          <a:cs typeface="Arial"/>
                        </a:rPr>
                        <a:t>30</a:t>
                      </a:r>
                    </a:p>
                  </a:txBody>
                  <a:tcPr marL="85725" marR="85725" marT="19050" marB="19050">
                    <a:solidFill>
                      <a:srgbClr val="FCFCFD"/>
                    </a:solidFill>
                  </a:tcPr>
                </a:tc>
                <a:tc>
                  <a:txBody>
                    <a:bodyPr/>
                    <a:lstStyle/>
                    <a:p>
                      <a:r>
                        <a:rPr sz="1275" b="0">
                          <a:solidFill>
                            <a:srgbClr val="14171C"/>
                          </a:solidFill>
                          <a:latin typeface="Arial"/>
                          <a:ea typeface="Arial"/>
                          <a:cs typeface="Arial"/>
                        </a:rPr>
                        <a:t>1,164.25</a:t>
                      </a:r>
                    </a:p>
                  </a:txBody>
                  <a:tcPr marL="85725" marR="85725" marT="19050" marB="19050">
                    <a:solidFill>
                      <a:srgbClr val="FCFCFD"/>
                    </a:solidFill>
                  </a:tcPr>
                </a:tc>
                <a:tc>
                  <a:txBody>
                    <a:bodyPr/>
                    <a:lstStyle/>
                    <a:p>
                      <a:r>
                        <a:rPr sz="1275" b="0">
                          <a:solidFill>
                            <a:srgbClr val="14171C"/>
                          </a:solidFill>
                          <a:latin typeface="Arial"/>
                          <a:ea typeface="Arial"/>
                          <a:cs typeface="Arial"/>
                        </a:rPr>
                        <a:t>1,256.75</a:t>
                      </a:r>
                    </a:p>
                  </a:txBody>
                  <a:tcPr marL="85725" marR="85725" marT="19050" marB="19050">
                    <a:solidFill>
                      <a:srgbClr val="FCFCFD"/>
                    </a:solidFill>
                  </a:tcPr>
                </a:tc>
                <a:tc>
                  <a:txBody>
                    <a:bodyPr/>
                    <a:lstStyle/>
                    <a:p>
                      <a:r>
                        <a:rPr sz="1275" b="0">
                          <a:solidFill>
                            <a:srgbClr val="14171C"/>
                          </a:solidFill>
                          <a:latin typeface="Arial"/>
                          <a:ea typeface="Arial"/>
                          <a:cs typeface="Arial"/>
                        </a:rPr>
                        <a:t>6,867.22</a:t>
                      </a:r>
                    </a:p>
                  </a:txBody>
                  <a:tcPr marL="85725" marR="85725" marT="19050" marB="19050">
                    <a:solidFill>
                      <a:srgbClr val="FCFCFD"/>
                    </a:solidFill>
                  </a:tcPr>
                </a:tc>
                <a:tc>
                  <a:txBody>
                    <a:bodyPr/>
                    <a:lstStyle/>
                    <a:p>
                      <a:r>
                        <a:rPr sz="1275" b="0">
                          <a:solidFill>
                            <a:srgbClr val="14171C"/>
                          </a:solidFill>
                          <a:latin typeface="Arial"/>
                          <a:ea typeface="Arial"/>
                          <a:cs typeface="Arial"/>
                        </a:rPr>
                        <a:t>3,584.05</a:t>
                      </a:r>
                    </a:p>
                  </a:txBody>
                  <a:tcPr marL="85725" marR="85725" marT="19050" marB="19050">
                    <a:solidFill>
                      <a:srgbClr val="FCFCFD"/>
                    </a:solidFill>
                  </a:tcPr>
                </a:tc>
                <a:tc>
                  <a:txBody>
                    <a:bodyPr/>
                    <a:lstStyle/>
                    <a:p>
                      <a:r>
                        <a:rPr sz="1275" b="0">
                          <a:solidFill>
                            <a:srgbClr val="14171C"/>
                          </a:solidFill>
                          <a:latin typeface="Arial"/>
                          <a:ea typeface="Arial"/>
                          <a:cs typeface="Arial"/>
                        </a:rPr>
                        <a:t>3,283.17</a:t>
                      </a:r>
                    </a:p>
                  </a:txBody>
                  <a:tcPr marL="85725" marR="85725" marT="19050" marB="19050">
                    <a:solidFill>
                      <a:srgbClr val="FCFCFD"/>
                    </a:solidFill>
                  </a:tcPr>
                </a:tc>
              </a:tr>
              <a:tr h="295275">
                <a:tc>
                  <a:txBody>
                    <a:bodyPr/>
                    <a:lstStyle/>
                    <a:p>
                      <a:r>
                        <a:rPr sz="1275" b="0">
                          <a:solidFill>
                            <a:srgbClr val="14171C"/>
                          </a:solidFill>
                          <a:latin typeface="Arial"/>
                          <a:ea typeface="Arial"/>
                          <a:cs typeface="Arial"/>
                        </a:rPr>
                        <a:t>Dec</a:t>
                      </a:r>
                    </a:p>
                  </a:txBody>
                  <a:tcPr marL="85725" marR="85725" marT="19050" marB="19050">
                    <a:solidFill>
                      <a:srgbClr val="F4F5F7"/>
                    </a:solidFill>
                  </a:tcPr>
                </a:tc>
                <a:tc>
                  <a:txBody>
                    <a:bodyPr/>
                    <a:lstStyle/>
                    <a:p>
                      <a:r>
                        <a:rPr sz="1275" b="0">
                          <a:solidFill>
                            <a:srgbClr val="14171C"/>
                          </a:solidFill>
                          <a:latin typeface="Arial"/>
                          <a:ea typeface="Arial"/>
                          <a:cs typeface="Arial"/>
                        </a:rPr>
                        <a:t>31</a:t>
                      </a:r>
                    </a:p>
                  </a:txBody>
                  <a:tcPr marL="85725" marR="85725" marT="19050" marB="19050">
                    <a:solidFill>
                      <a:srgbClr val="F4F5F7"/>
                    </a:solidFill>
                  </a:tcPr>
                </a:tc>
                <a:tc>
                  <a:txBody>
                    <a:bodyPr/>
                    <a:lstStyle/>
                    <a:p>
                      <a:r>
                        <a:rPr sz="1275" b="0">
                          <a:solidFill>
                            <a:srgbClr val="14171C"/>
                          </a:solidFill>
                          <a:latin typeface="Arial"/>
                          <a:ea typeface="Arial"/>
                          <a:cs typeface="Arial"/>
                        </a:rPr>
                        <a:t>1,108.40</a:t>
                      </a:r>
                    </a:p>
                  </a:txBody>
                  <a:tcPr marL="85725" marR="85725" marT="19050" marB="19050">
                    <a:solidFill>
                      <a:srgbClr val="F4F5F7"/>
                    </a:solidFill>
                  </a:tcPr>
                </a:tc>
                <a:tc>
                  <a:txBody>
                    <a:bodyPr/>
                    <a:lstStyle/>
                    <a:p>
                      <a:r>
                        <a:rPr sz="1275" b="0">
                          <a:solidFill>
                            <a:srgbClr val="14171C"/>
                          </a:solidFill>
                          <a:latin typeface="Arial"/>
                          <a:ea typeface="Arial"/>
                          <a:cs typeface="Arial"/>
                        </a:rPr>
                        <a:t>1,393.30</a:t>
                      </a:r>
                    </a:p>
                  </a:txBody>
                  <a:tcPr marL="85725" marR="85725" marT="19050" marB="19050">
                    <a:solidFill>
                      <a:srgbClr val="F4F5F7"/>
                    </a:solidFill>
                  </a:tcPr>
                </a:tc>
                <a:tc>
                  <a:txBody>
                    <a:bodyPr/>
                    <a:lstStyle/>
                    <a:p>
                      <a:r>
                        <a:rPr sz="1275" b="0">
                          <a:solidFill>
                            <a:srgbClr val="14171C"/>
                          </a:solidFill>
                          <a:latin typeface="Arial"/>
                          <a:ea typeface="Arial"/>
                          <a:cs typeface="Arial"/>
                        </a:rPr>
                        <a:t>7,094.79</a:t>
                      </a:r>
                    </a:p>
                  </a:txBody>
                  <a:tcPr marL="85725" marR="85725" marT="19050" marB="19050">
                    <a:solidFill>
                      <a:srgbClr val="F4F5F7"/>
                    </a:solidFill>
                  </a:tcPr>
                </a:tc>
                <a:tc>
                  <a:txBody>
                    <a:bodyPr/>
                    <a:lstStyle/>
                    <a:p>
                      <a:r>
                        <a:rPr sz="1275" b="0">
                          <a:solidFill>
                            <a:srgbClr val="14171C"/>
                          </a:solidFill>
                          <a:latin typeface="Arial"/>
                          <a:ea typeface="Arial"/>
                          <a:cs typeface="Arial"/>
                        </a:rPr>
                        <a:t>3,969.11</a:t>
                      </a:r>
                    </a:p>
                  </a:txBody>
                  <a:tcPr marL="85725" marR="85725" marT="19050" marB="19050">
                    <a:solidFill>
                      <a:srgbClr val="F4F5F7"/>
                    </a:solidFill>
                  </a:tcPr>
                </a:tc>
                <a:tc>
                  <a:txBody>
                    <a:bodyPr/>
                    <a:lstStyle/>
                    <a:p>
                      <a:r>
                        <a:rPr sz="1275" b="0">
                          <a:solidFill>
                            <a:srgbClr val="14171C"/>
                          </a:solidFill>
                          <a:latin typeface="Arial"/>
                          <a:ea typeface="Arial"/>
                          <a:cs typeface="Arial"/>
                        </a:rPr>
                        <a:t>3,125.69</a:t>
                      </a:r>
                    </a:p>
                  </a:txBody>
                  <a:tcPr marL="85725" marR="85725" marT="19050" marB="19050">
                    <a:solidFill>
                      <a:srgbClr val="F4F5F7"/>
                    </a:solidFill>
                  </a:tcPr>
                </a:tc>
              </a:tr>
              <a:tr h="295275">
                <a:tc>
                  <a:txBody>
                    <a:bodyPr/>
                    <a:lstStyle/>
                    <a:p>
                      <a:r>
                        <a:rPr sz="1275" b="0">
                          <a:solidFill>
                            <a:srgbClr val="14171C"/>
                          </a:solidFill>
                          <a:latin typeface="Arial"/>
                          <a:ea typeface="Arial"/>
                          <a:cs typeface="Arial"/>
                        </a:rPr>
                        <a:t>Year</a:t>
                      </a:r>
                    </a:p>
                  </a:txBody>
                  <a:tcPr marL="85725" marR="85725" marT="19050" marB="19050">
                    <a:solidFill>
                      <a:srgbClr val="FCFCFD"/>
                    </a:solidFill>
                  </a:tcPr>
                </a:tc>
                <a:tc>
                  <a:txBody>
                    <a:bodyPr/>
                    <a:lstStyle/>
                    <a:p>
                      <a:r>
                        <a:rPr sz="1275" b="0">
                          <a:solidFill>
                            <a:srgbClr val="14171C"/>
                          </a:solidFill>
                          <a:latin typeface="Arial"/>
                          <a:ea typeface="Arial"/>
                          <a:cs typeface="Arial"/>
                        </a:rPr>
                        <a:t>365</a:t>
                      </a:r>
                    </a:p>
                  </a:txBody>
                  <a:tcPr marL="85725" marR="85725" marT="19050" marB="19050">
                    <a:solidFill>
                      <a:srgbClr val="FCFCFD"/>
                    </a:solidFill>
                  </a:tcPr>
                </a:tc>
                <a:tc>
                  <a:txBody>
                    <a:bodyPr/>
                    <a:lstStyle/>
                    <a:p>
                      <a:r>
                        <a:rPr sz="1275" b="0">
                          <a:solidFill>
                            <a:srgbClr val="14171C"/>
                          </a:solidFill>
                          <a:latin typeface="Arial"/>
                          <a:ea typeface="Arial"/>
                          <a:cs typeface="Arial"/>
                        </a:rPr>
                        <a:t>15,456.15</a:t>
                      </a:r>
                    </a:p>
                  </a:txBody>
                  <a:tcPr marL="85725" marR="85725" marT="19050" marB="19050">
                    <a:solidFill>
                      <a:srgbClr val="FCFCFD"/>
                    </a:solidFill>
                  </a:tcPr>
                </a:tc>
                <a:tc>
                  <a:txBody>
                    <a:bodyPr/>
                    <a:lstStyle/>
                    <a:p>
                      <a:r>
                        <a:rPr sz="1275" b="0">
                          <a:solidFill>
                            <a:srgbClr val="14171C"/>
                          </a:solidFill>
                          <a:latin typeface="Arial"/>
                          <a:ea typeface="Arial"/>
                          <a:cs typeface="Arial"/>
                        </a:rPr>
                        <a:t>15,080.73</a:t>
                      </a:r>
                    </a:p>
                  </a:txBody>
                  <a:tcPr marL="85725" marR="85725" marT="19050" marB="19050">
                    <a:solidFill>
                      <a:srgbClr val="FCFCFD"/>
                    </a:solidFill>
                  </a:tcPr>
                </a:tc>
                <a:tc>
                  <a:txBody>
                    <a:bodyPr/>
                    <a:lstStyle/>
                    <a:p>
                      <a:r>
                        <a:rPr sz="1275" b="0">
                          <a:solidFill>
                            <a:srgbClr val="14171C"/>
                          </a:solidFill>
                          <a:latin typeface="Arial"/>
                          <a:ea typeface="Arial"/>
                          <a:cs typeface="Arial"/>
                        </a:rPr>
                        <a:t>83,544.51</a:t>
                      </a:r>
                    </a:p>
                  </a:txBody>
                  <a:tcPr marL="85725" marR="85725" marT="19050" marB="19050">
                    <a:solidFill>
                      <a:srgbClr val="FCFCFD"/>
                    </a:solidFill>
                  </a:tcPr>
                </a:tc>
                <a:tc>
                  <a:txBody>
                    <a:bodyPr/>
                    <a:lstStyle/>
                    <a:p>
                      <a:r>
                        <a:rPr sz="1275" b="0">
                          <a:solidFill>
                            <a:srgbClr val="14171C"/>
                          </a:solidFill>
                          <a:latin typeface="Arial"/>
                          <a:ea typeface="Arial"/>
                          <a:cs typeface="Arial"/>
                        </a:rPr>
                        <a:t>43,007.66</a:t>
                      </a:r>
                    </a:p>
                  </a:txBody>
                  <a:tcPr marL="85725" marR="85725" marT="19050" marB="19050">
                    <a:solidFill>
                      <a:srgbClr val="FCFCFD"/>
                    </a:solidFill>
                  </a:tcPr>
                </a:tc>
                <a:tc>
                  <a:txBody>
                    <a:bodyPr/>
                    <a:lstStyle/>
                    <a:p>
                      <a:r>
                        <a:rPr sz="1275" b="0">
                          <a:solidFill>
                            <a:srgbClr val="14171C"/>
                          </a:solidFill>
                          <a:latin typeface="Arial"/>
                          <a:ea typeface="Arial"/>
                          <a:cs typeface="Arial"/>
                        </a:rPr>
                        <a:t>40,536.85</a:t>
                      </a:r>
                    </a:p>
                  </a:txBody>
                  <a:tcPr marL="85725" marR="85725" marT="19050" marB="19050">
                    <a:solidFill>
                      <a:srgbClr val="FCFCFD"/>
                    </a:solidFill>
                  </a:tcPr>
                </a:tc>
              </a:tr>
            </a:tbl>
          </a:graphicData>
        </a:graphic>
      </p:graphicFrame>
      <p:sp>
        <p:nvSpPr>
          <p:cNvPr id="5" name="">
            <a:extLst xmlns:a="http://schemas.openxmlformats.org/drawingml/2006/main">
              <a:ext uri="{FF2B5EF4-FFF2-40B4-BE49-F238E27FC236}">
                <a16:creationId xmlns:a16="http://schemas.microsoft.com/office/drawing/2014/main" id="{83EB64D5-9347-4F7F-B7DC-9323FB5D400A}"/>
              </a:ext>
            </a:extLst>
          </p:cNvPr>
          <p:cNvSpPr>
            <a:spLocks xmlns:a="http://schemas.openxmlformats.org/drawingml/2006/main" noGrp="1"/>
          </p:cNvSpPr>
          <p:nvPr/>
        </p:nvSpPr>
        <p:spPr>
          <a:xfrm xmlns:a="http://schemas.openxmlformats.org/drawingml/2006/main">
            <a:off x="809625" y="6372225"/>
            <a:ext cx="10572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4A5260"/>
                </a:solidFill>
                <a:latin typeface="Arial"/>
                <a:ea typeface="Arial"/>
                <a:cs typeface="Arial"/>
              </a:defRPr>
            </a:pPr>
            <a:r>
              <a:rPr sz="1275" b="0">
                <a:solidFill>
                  <a:srgbClr val="4A5260"/>
                </a:solidFill>
                <a:latin typeface="Arial"/>
                <a:ea typeface="Arial"/>
                <a:cs typeface="Arial"/>
              </a:rPr>
              <a:t>Annual saving = sum of monthly savings = 40,536.85 EGP. Average/month = annual / 12 = 3,378.07 EGP.</a:t>
            </a:r>
          </a:p>
          <a:p xmlns:a="http://schemas.openxmlformats.org/drawingml/2006/main">
            <a:pPr>
              <a:defRPr sz="1275" b="0">
                <a:solidFill>
                  <a:srgbClr val="4A5260"/>
                </a:solidFill>
                <a:latin typeface="Arial"/>
                <a:ea typeface="Arial"/>
                <a:cs typeface="Arial"/>
              </a:defRPr>
            </a:pPr>
            <a:r>
              <a:rPr sz="1275" b="0">
                <a:solidFill>
                  <a:srgbClr val="4A5260"/>
                </a:solidFill>
                <a:latin typeface="Arial"/>
                <a:ea typeface="Arial"/>
                <a:cs typeface="Arial"/>
              </a:rPr>
              <a:t>Constant demand: 80.7 kWh/day, 50/50 split. Monthly average days, no hourly simulation. Displayed figures are rounded.</a:t>
            </a:r>
          </a:p>
        </p:txBody>
      </p:sp>
    </p:spTree>
    <p:extLst>
      <p:ext uri="{BB962C8B-B14F-4D97-AF65-F5344CB8AC3E}">
        <p14:creationId xmlns:p14="http://schemas.microsoft.com/office/powerpoint/2010/main" val="1243603021"/>
      </p:ext>
    </p:extLst>
  </p:cSld>
</p:sld>
</file>

<file path=ppt/slides/slide10.xml><?xml version="1.0" encoding="utf-8"?>
<p:sld xmlns:p="http://schemas.openxmlformats.org/presentationml/2006/main">
  <p:cSld>
    <p:bg>
      <p:bgPr>
        <a:solidFill xmlns:a="http://schemas.openxmlformats.org/drawingml/2006/main">
          <a:srgbClr val="F4F5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B403FEB-4301-4174-B173-7AC287DA033B}"/>
              </a:ext>
            </a:extLst>
          </p:cNvPr>
          <p:cNvSpPr>
            <a:spLocks xmlns:a="http://schemas.openxmlformats.org/drawingml/2006/main" noGrp="1"/>
          </p:cNvSpPr>
          <p:nvPr/>
        </p:nvSpPr>
        <p:spPr>
          <a:xfrm xmlns:a="http://schemas.openxmlformats.org/drawingml/2006/main">
            <a:off x="809625" y="80962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B84E0E"/>
                </a:solidFill>
                <a:latin typeface="Arial"/>
                <a:ea typeface="Arial"/>
                <a:cs typeface="Arial"/>
              </a:defRPr>
            </a:pPr>
            <a:r>
              <a:rPr sz="1350" b="1">
                <a:solidFill>
                  <a:srgbClr val="B84E0E"/>
                </a:solidFill>
                <a:latin typeface="Arial"/>
                <a:ea typeface="Arial"/>
                <a:cs typeface="Arial"/>
              </a:rPr>
              <a:t>OPTION A · SOLAR ONLY</a:t>
            </a:r>
          </a:p>
        </p:txBody>
      </p:sp>
      <p:sp>
        <p:nvSpPr>
          <p:cNvPr id="2" name="">
            <a:extLst xmlns:a="http://schemas.openxmlformats.org/drawingml/2006/main">
              <a:ext uri="{FF2B5EF4-FFF2-40B4-BE49-F238E27FC236}">
                <a16:creationId xmlns:a16="http://schemas.microsoft.com/office/drawing/2014/main" id="{D9EDF50C-F898-4862-8CF1-13653A93EED4}"/>
              </a:ext>
            </a:extLst>
          </p:cNvPr>
          <p:cNvSpPr>
            <a:spLocks xmlns:a="http://schemas.openxmlformats.org/drawingml/2006/main" noGrp="1"/>
          </p:cNvSpPr>
          <p:nvPr/>
        </p:nvSpPr>
        <p:spPr>
          <a:xfrm xmlns:a="http://schemas.openxmlformats.org/drawingml/2006/main">
            <a:off x="809625" y="1114425"/>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4171C"/>
                </a:solidFill>
                <a:latin typeface="Arial"/>
                <a:ea typeface="Arial"/>
                <a:cs typeface="Arial"/>
              </a:defRPr>
            </a:pPr>
            <a:r>
              <a:rPr sz="3150" b="1">
                <a:solidFill>
                  <a:srgbClr val="14171C"/>
                </a:solidFill>
                <a:latin typeface="Arial"/>
                <a:ea typeface="Arial"/>
                <a:cs typeface="Arial"/>
              </a:rPr>
              <a:t>5. Purchase payback and subscription</a:t>
            </a:r>
          </a:p>
        </p:txBody>
      </p:sp>
      <p:sp>
        <p:nvSpPr>
          <p:cNvPr id="3" name="">
            <a:extLst xmlns:a="http://schemas.openxmlformats.org/drawingml/2006/main">
              <a:ext uri="{FF2B5EF4-FFF2-40B4-BE49-F238E27FC236}">
                <a16:creationId xmlns:a16="http://schemas.microsoft.com/office/drawing/2014/main" id="{A6172CF1-D8E0-404C-AA54-BFD71AF34061}"/>
              </a:ext>
            </a:extLst>
          </p:cNvPr>
          <p:cNvSpPr>
            <a:spLocks xmlns:a="http://schemas.openxmlformats.org/drawingml/2006/main" noGrp="1"/>
          </p:cNvSpPr>
          <p:nvPr/>
        </p:nvSpPr>
        <p:spPr>
          <a:xfrm xmlns:a="http://schemas.openxmlformats.org/drawingml/2006/main">
            <a:off x="809625" y="1895475"/>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B84E0E"/>
                </a:solidFill>
                <a:latin typeface="Consolas"/>
                <a:ea typeface="Consolas"/>
                <a:cs typeface="Consolas"/>
              </a:defRPr>
            </a:pPr>
            <a:r>
              <a:rPr sz="1950" b="1">
                <a:solidFill>
                  <a:srgbClr val="B84E0E"/>
                </a:solidFill>
                <a:latin typeface="Consolas"/>
                <a:ea typeface="Consolas"/>
                <a:cs typeface="Consolas"/>
              </a:rPr>
              <a:t>Simple payback = price / annual saving</a:t>
            </a:r>
          </a:p>
          <a:p xmlns:a="http://schemas.openxmlformats.org/drawingml/2006/main">
            <a:pPr>
              <a:defRPr sz="1950" b="1">
                <a:solidFill>
                  <a:srgbClr val="B84E0E"/>
                </a:solidFill>
                <a:latin typeface="Consolas"/>
                <a:ea typeface="Consolas"/>
                <a:cs typeface="Consolas"/>
              </a:defRPr>
            </a:pPr>
            <a:r>
              <a:rPr sz="1950" b="1">
                <a:solidFill>
                  <a:srgbClr val="B84E0E"/>
                </a:solidFill>
                <a:latin typeface="Consolas"/>
                <a:ea typeface="Consolas"/>
                <a:cs typeface="Consolas"/>
              </a:rPr>
              <a:t>= 140,800 / 40,536.85 = 3.47 years</a:t>
            </a:r>
          </a:p>
        </p:txBody>
      </p:sp>
      <p:sp>
        <p:nvSpPr>
          <p:cNvPr id="4" name="">
            <a:extLst xmlns:a="http://schemas.openxmlformats.org/drawingml/2006/main">
              <a:ext uri="{FF2B5EF4-FFF2-40B4-BE49-F238E27FC236}">
                <a16:creationId xmlns:a16="http://schemas.microsoft.com/office/drawing/2014/main" id="{DD9CFC96-CBC6-49B1-A47F-D3377EE28BA5}"/>
              </a:ext>
            </a:extLst>
          </p:cNvPr>
          <p:cNvSpPr>
            <a:spLocks xmlns:a="http://schemas.openxmlformats.org/drawingml/2006/main" noGrp="1"/>
          </p:cNvSpPr>
          <p:nvPr/>
        </p:nvSpPr>
        <p:spPr>
          <a:xfrm xmlns:a="http://schemas.openxmlformats.org/drawingml/2006/main">
            <a:off x="809625" y="2895600"/>
            <a:ext cx="10572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4171C"/>
                </a:solidFill>
                <a:latin typeface="Consolas"/>
                <a:ea typeface="Consolas"/>
                <a:cs typeface="Consolas"/>
              </a:defRPr>
            </a:pPr>
            <a:r>
              <a:rPr sz="1725" b="0">
                <a:solidFill>
                  <a:srgbClr val="14171C"/>
                </a:solidFill>
                <a:latin typeface="Consolas"/>
                <a:ea typeface="Consolas"/>
                <a:cs typeface="Consolas"/>
              </a:rPr>
              <a:t>Monthly fee = price / (term in years × 12)</a:t>
            </a:r>
          </a:p>
          <a:p xmlns:a="http://schemas.openxmlformats.org/drawingml/2006/main">
            <a:pPr>
              <a:defRPr sz="1725" b="0">
                <a:solidFill>
                  <a:srgbClr val="14171C"/>
                </a:solidFill>
                <a:latin typeface="Consolas"/>
                <a:ea typeface="Consolas"/>
                <a:cs typeface="Consolas"/>
              </a:defRPr>
            </a:pPr>
            <a:r>
              <a:rPr sz="1725" b="0">
                <a:solidFill>
                  <a:srgbClr val="14171C"/>
                </a:solidFill>
                <a:latin typeface="Consolas"/>
                <a:ea typeface="Consolas"/>
                <a:cs typeface="Consolas"/>
              </a:rPr>
              <a:t>Average net benefit/month = annual saving / 12 − monthly fee</a:t>
            </a:r>
          </a:p>
        </p:txBody>
      </p:sp>
      <p:graphicFrame>
        <p:nvGraphicFramePr>
          <p:cNvPr id="12" name=""/>
          <p:cNvGraphicFramePr/>
          <p:nvPr/>
        </p:nvGraphicFramePr>
        <p:xfrm>
          <a:off xmlns:a="http://schemas.openxmlformats.org/drawingml/2006/main" x="809625" y="3762375"/>
          <a:ext xmlns:a="http://schemas.openxmlformats.org/drawingml/2006/main" cx="10572750" cy="1600200"/>
        </p:xfrm>
        <a:graphic xmlns:a="http://schemas.openxmlformats.org/drawingml/2006/main">
          <a:graphicData uri="http://schemas.openxmlformats.org/drawingml/2006/table">
            <a:tbl>
              <a:tblPr/>
              <a:tblGrid>
                <a:gridCol w="1524000"/>
                <a:gridCol w="3143250"/>
                <a:gridCol w="2857500"/>
                <a:gridCol w="3048000"/>
              </a:tblGrid>
              <a:tr h="400050">
                <a:tc>
                  <a:txBody>
                    <a:bodyPr/>
                    <a:lstStyle/>
                    <a:p>
                      <a:r>
                        <a:rPr sz="1575" b="1">
                          <a:solidFill>
                            <a:srgbClr val="14171C"/>
                          </a:solidFill>
                          <a:latin typeface="Arial"/>
                          <a:ea typeface="Arial"/>
                          <a:cs typeface="Arial"/>
                        </a:rPr>
                        <a:t>Term</a:t>
                      </a:r>
                    </a:p>
                  </a:txBody>
                  <a:tcPr marL="85725" marR="85725" marT="19050" marB="19050">
                    <a:solidFill>
                      <a:srgbClr val="E6E9ED"/>
                    </a:solidFill>
                  </a:tcPr>
                </a:tc>
                <a:tc>
                  <a:txBody>
                    <a:bodyPr/>
                    <a:lstStyle/>
                    <a:p>
                      <a:r>
                        <a:rPr sz="1575" b="1">
                          <a:solidFill>
                            <a:srgbClr val="14171C"/>
                          </a:solidFill>
                          <a:latin typeface="Arial"/>
                          <a:ea typeface="Arial"/>
                          <a:cs typeface="Arial"/>
                        </a:rPr>
                        <a:t>Fee calculation</a:t>
                      </a:r>
                    </a:p>
                  </a:txBody>
                  <a:tcPr marL="85725" marR="85725" marT="19050" marB="19050">
                    <a:solidFill>
                      <a:srgbClr val="E6E9ED"/>
                    </a:solidFill>
                  </a:tcPr>
                </a:tc>
                <a:tc>
                  <a:txBody>
                    <a:bodyPr/>
                    <a:lstStyle/>
                    <a:p>
                      <a:r>
                        <a:rPr sz="1575" b="1">
                          <a:solidFill>
                            <a:srgbClr val="14171C"/>
                          </a:solidFill>
                          <a:latin typeface="Arial"/>
                          <a:ea typeface="Arial"/>
                          <a:cs typeface="Arial"/>
                        </a:rPr>
                        <a:t>Fee EGP/month</a:t>
                      </a:r>
                    </a:p>
                  </a:txBody>
                  <a:tcPr marL="85725" marR="85725" marT="19050" marB="19050">
                    <a:solidFill>
                      <a:srgbClr val="E6E9ED"/>
                    </a:solidFill>
                  </a:tcPr>
                </a:tc>
                <a:tc>
                  <a:txBody>
                    <a:bodyPr/>
                    <a:lstStyle/>
                    <a:p>
                      <a:r>
                        <a:rPr sz="1575" b="1">
                          <a:solidFill>
                            <a:srgbClr val="14171C"/>
                          </a:solidFill>
                          <a:latin typeface="Arial"/>
                          <a:ea typeface="Arial"/>
                          <a:cs typeface="Arial"/>
                        </a:rPr>
                        <a:t>Avg. net EGP/month</a:t>
                      </a:r>
                    </a:p>
                  </a:txBody>
                  <a:tcPr marL="85725" marR="85725" marT="19050" marB="19050">
                    <a:solidFill>
                      <a:srgbClr val="E6E9ED"/>
                    </a:solidFill>
                  </a:tcPr>
                </a:tc>
              </a:tr>
              <a:tr h="400050">
                <a:tc>
                  <a:txBody>
                    <a:bodyPr/>
                    <a:lstStyle/>
                    <a:p>
                      <a:r>
                        <a:rPr sz="1575" b="0">
                          <a:solidFill>
                            <a:srgbClr val="14171C"/>
                          </a:solidFill>
                          <a:latin typeface="Arial"/>
                          <a:ea typeface="Arial"/>
                          <a:cs typeface="Arial"/>
                        </a:rPr>
                        <a:t>5 years</a:t>
                      </a:r>
                    </a:p>
                  </a:txBody>
                  <a:tcPr marL="85725" marR="85725" marT="19050" marB="19050">
                    <a:solidFill>
                      <a:srgbClr val="FCFCFD"/>
                    </a:solidFill>
                  </a:tcPr>
                </a:tc>
                <a:tc>
                  <a:txBody>
                    <a:bodyPr/>
                    <a:lstStyle/>
                    <a:p>
                      <a:r>
                        <a:rPr sz="1575" b="0">
                          <a:solidFill>
                            <a:srgbClr val="14171C"/>
                          </a:solidFill>
                          <a:latin typeface="Arial"/>
                          <a:ea typeface="Arial"/>
                          <a:cs typeface="Arial"/>
                        </a:rPr>
                        <a:t>140,800 / (5 × 12)</a:t>
                      </a:r>
                    </a:p>
                  </a:txBody>
                  <a:tcPr marL="85725" marR="85725" marT="19050" marB="19050">
                    <a:solidFill>
                      <a:srgbClr val="FCFCFD"/>
                    </a:solidFill>
                  </a:tcPr>
                </a:tc>
                <a:tc>
                  <a:txBody>
                    <a:bodyPr/>
                    <a:lstStyle/>
                    <a:p>
                      <a:r>
                        <a:rPr sz="1575" b="0">
                          <a:solidFill>
                            <a:srgbClr val="14171C"/>
                          </a:solidFill>
                          <a:latin typeface="Arial"/>
                          <a:ea typeface="Arial"/>
                          <a:cs typeface="Arial"/>
                        </a:rPr>
                        <a:t>2,346.67</a:t>
                      </a:r>
                    </a:p>
                  </a:txBody>
                  <a:tcPr marL="85725" marR="85725" marT="19050" marB="19050">
                    <a:solidFill>
                      <a:srgbClr val="FCFCFD"/>
                    </a:solidFill>
                  </a:tcPr>
                </a:tc>
                <a:tc>
                  <a:txBody>
                    <a:bodyPr/>
                    <a:lstStyle/>
                    <a:p>
                      <a:r>
                        <a:rPr sz="1575" b="0">
                          <a:solidFill>
                            <a:srgbClr val="14171C"/>
                          </a:solidFill>
                          <a:latin typeface="Arial"/>
                          <a:ea typeface="Arial"/>
                          <a:cs typeface="Arial"/>
                        </a:rPr>
                        <a:t>1,031.40</a:t>
                      </a:r>
                    </a:p>
                  </a:txBody>
                  <a:tcPr marL="85725" marR="85725" marT="19050" marB="19050">
                    <a:solidFill>
                      <a:srgbClr val="FCFCFD"/>
                    </a:solidFill>
                  </a:tcPr>
                </a:tc>
              </a:tr>
              <a:tr h="400050">
                <a:tc>
                  <a:txBody>
                    <a:bodyPr/>
                    <a:lstStyle/>
                    <a:p>
                      <a:r>
                        <a:rPr sz="1575" b="0">
                          <a:solidFill>
                            <a:srgbClr val="14171C"/>
                          </a:solidFill>
                          <a:latin typeface="Arial"/>
                          <a:ea typeface="Arial"/>
                          <a:cs typeface="Arial"/>
                        </a:rPr>
                        <a:t>8 years</a:t>
                      </a:r>
                    </a:p>
                  </a:txBody>
                  <a:tcPr marL="85725" marR="85725" marT="19050" marB="19050">
                    <a:solidFill>
                      <a:srgbClr val="F4F5F7"/>
                    </a:solidFill>
                  </a:tcPr>
                </a:tc>
                <a:tc>
                  <a:txBody>
                    <a:bodyPr/>
                    <a:lstStyle/>
                    <a:p>
                      <a:r>
                        <a:rPr sz="1575" b="0">
                          <a:solidFill>
                            <a:srgbClr val="14171C"/>
                          </a:solidFill>
                          <a:latin typeface="Arial"/>
                          <a:ea typeface="Arial"/>
                          <a:cs typeface="Arial"/>
                        </a:rPr>
                        <a:t>140,800 / (8 × 12)</a:t>
                      </a:r>
                    </a:p>
                  </a:txBody>
                  <a:tcPr marL="85725" marR="85725" marT="19050" marB="19050">
                    <a:solidFill>
                      <a:srgbClr val="F4F5F7"/>
                    </a:solidFill>
                  </a:tcPr>
                </a:tc>
                <a:tc>
                  <a:txBody>
                    <a:bodyPr/>
                    <a:lstStyle/>
                    <a:p>
                      <a:r>
                        <a:rPr sz="1575" b="0">
                          <a:solidFill>
                            <a:srgbClr val="14171C"/>
                          </a:solidFill>
                          <a:latin typeface="Arial"/>
                          <a:ea typeface="Arial"/>
                          <a:cs typeface="Arial"/>
                        </a:rPr>
                        <a:t>1,466.67</a:t>
                      </a:r>
                    </a:p>
                  </a:txBody>
                  <a:tcPr marL="85725" marR="85725" marT="19050" marB="19050">
                    <a:solidFill>
                      <a:srgbClr val="F4F5F7"/>
                    </a:solidFill>
                  </a:tcPr>
                </a:tc>
                <a:tc>
                  <a:txBody>
                    <a:bodyPr/>
                    <a:lstStyle/>
                    <a:p>
                      <a:r>
                        <a:rPr sz="1575" b="0">
                          <a:solidFill>
                            <a:srgbClr val="14171C"/>
                          </a:solidFill>
                          <a:latin typeface="Arial"/>
                          <a:ea typeface="Arial"/>
                          <a:cs typeface="Arial"/>
                        </a:rPr>
                        <a:t>1,911.40</a:t>
                      </a:r>
                    </a:p>
                  </a:txBody>
                  <a:tcPr marL="85725" marR="85725" marT="19050" marB="19050">
                    <a:solidFill>
                      <a:srgbClr val="F4F5F7"/>
                    </a:solidFill>
                  </a:tcPr>
                </a:tc>
              </a:tr>
              <a:tr h="400050">
                <a:tc>
                  <a:txBody>
                    <a:bodyPr/>
                    <a:lstStyle/>
                    <a:p>
                      <a:r>
                        <a:rPr sz="1575" b="0">
                          <a:solidFill>
                            <a:srgbClr val="14171C"/>
                          </a:solidFill>
                          <a:latin typeface="Arial"/>
                          <a:ea typeface="Arial"/>
                          <a:cs typeface="Arial"/>
                        </a:rPr>
                        <a:t>10 years</a:t>
                      </a:r>
                    </a:p>
                  </a:txBody>
                  <a:tcPr marL="85725" marR="85725" marT="19050" marB="19050">
                    <a:solidFill>
                      <a:srgbClr val="FCFCFD"/>
                    </a:solidFill>
                  </a:tcPr>
                </a:tc>
                <a:tc>
                  <a:txBody>
                    <a:bodyPr/>
                    <a:lstStyle/>
                    <a:p>
                      <a:r>
                        <a:rPr sz="1575" b="0">
                          <a:solidFill>
                            <a:srgbClr val="14171C"/>
                          </a:solidFill>
                          <a:latin typeface="Arial"/>
                          <a:ea typeface="Arial"/>
                          <a:cs typeface="Arial"/>
                        </a:rPr>
                        <a:t>140,800 / (10 × 12)</a:t>
                      </a:r>
                    </a:p>
                  </a:txBody>
                  <a:tcPr marL="85725" marR="85725" marT="19050" marB="19050">
                    <a:solidFill>
                      <a:srgbClr val="FCFCFD"/>
                    </a:solidFill>
                  </a:tcPr>
                </a:tc>
                <a:tc>
                  <a:txBody>
                    <a:bodyPr/>
                    <a:lstStyle/>
                    <a:p>
                      <a:r>
                        <a:rPr sz="1575" b="0">
                          <a:solidFill>
                            <a:srgbClr val="14171C"/>
                          </a:solidFill>
                          <a:latin typeface="Arial"/>
                          <a:ea typeface="Arial"/>
                          <a:cs typeface="Arial"/>
                        </a:rPr>
                        <a:t>1,173.33</a:t>
                      </a:r>
                    </a:p>
                  </a:txBody>
                  <a:tcPr marL="85725" marR="85725" marT="19050" marB="19050">
                    <a:solidFill>
                      <a:srgbClr val="FCFCFD"/>
                    </a:solidFill>
                  </a:tcPr>
                </a:tc>
                <a:tc>
                  <a:txBody>
                    <a:bodyPr/>
                    <a:lstStyle/>
                    <a:p>
                      <a:r>
                        <a:rPr sz="1575" b="0">
                          <a:solidFill>
                            <a:srgbClr val="14171C"/>
                          </a:solidFill>
                          <a:latin typeface="Arial"/>
                          <a:ea typeface="Arial"/>
                          <a:cs typeface="Arial"/>
                        </a:rPr>
                        <a:t>2,204.74</a:t>
                      </a:r>
                    </a:p>
                  </a:txBody>
                  <a:tcPr marL="85725" marR="85725" marT="19050" marB="19050">
                    <a:solidFill>
                      <a:srgbClr val="FCFCFD"/>
                    </a:solidFill>
                  </a:tcPr>
                </a:tc>
              </a:tr>
            </a:tbl>
          </a:graphicData>
        </a:graphic>
      </p:graphicFrame>
      <p:sp>
        <p:nvSpPr>
          <p:cNvPr id="6" name="">
            <a:extLst xmlns:a="http://schemas.openxmlformats.org/drawingml/2006/main">
              <a:ext uri="{FF2B5EF4-FFF2-40B4-BE49-F238E27FC236}">
                <a16:creationId xmlns:a16="http://schemas.microsoft.com/office/drawing/2014/main" id="{A15F8537-19CE-4CFF-BAFD-9A2FF2C40532}"/>
              </a:ext>
            </a:extLst>
          </p:cNvPr>
          <p:cNvSpPr>
            <a:spLocks xmlns:a="http://schemas.openxmlformats.org/drawingml/2006/main" noGrp="1"/>
          </p:cNvSpPr>
          <p:nvPr/>
        </p:nvSpPr>
        <p:spPr>
          <a:xfrm xmlns:a="http://schemas.openxmlformats.org/drawingml/2006/main">
            <a:off x="809625" y="554355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4171C"/>
                </a:solidFill>
                <a:latin typeface="Arial"/>
                <a:ea typeface="Arial"/>
                <a:cs typeface="Arial"/>
              </a:defRPr>
            </a:pPr>
            <a:r>
              <a:rPr sz="1500" b="0">
                <a:solidFill>
                  <a:srgbClr val="14171C"/>
                </a:solidFill>
                <a:latin typeface="Arial"/>
                <a:ea typeface="Arial"/>
                <a:cs typeface="Arial"/>
              </a:rPr>
              <a:t>Break-even term = price / annual saving = 3.47 years, where the average net benefit is zero.</a:t>
            </a:r>
          </a:p>
        </p:txBody>
      </p:sp>
      <p:sp>
        <p:nvSpPr>
          <p:cNvPr id="7" name="">
            <a:extLst xmlns:a="http://schemas.openxmlformats.org/drawingml/2006/main">
              <a:ext uri="{FF2B5EF4-FFF2-40B4-BE49-F238E27FC236}">
                <a16:creationId xmlns:a16="http://schemas.microsoft.com/office/drawing/2014/main" id="{ECB2343F-95CF-4D90-B3E6-D1CC553F7331}"/>
              </a:ext>
            </a:extLst>
          </p:cNvPr>
          <p:cNvSpPr>
            <a:spLocks xmlns:a="http://schemas.openxmlformats.org/drawingml/2006/main" noGrp="1"/>
          </p:cNvSpPr>
          <p:nvPr/>
        </p:nvSpPr>
        <p:spPr>
          <a:xfrm xmlns:a="http://schemas.openxmlformats.org/drawingml/2006/main">
            <a:off x="809625" y="6057900"/>
            <a:ext cx="10572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4A5260"/>
                </a:solidFill>
                <a:latin typeface="Arial"/>
                <a:ea typeface="Arial"/>
                <a:cs typeface="Arial"/>
              </a:defRPr>
            </a:pPr>
            <a:r>
              <a:rPr sz="1275" b="0">
                <a:solidFill>
                  <a:srgbClr val="4A5260"/>
                </a:solidFill>
                <a:latin typeface="Arial"/>
                <a:ea typeface="Arial"/>
                <a:cs typeface="Arial"/>
              </a:rPr>
              <a:t>Illustrative recovery of selling price. No extra subscription margin, maintenance, insurance, financing or replacement.</a:t>
            </a:r>
          </a:p>
          <a:p xmlns:a="http://schemas.openxmlformats.org/drawingml/2006/main">
            <a:pPr>
              <a:defRPr sz="1275" b="0">
                <a:solidFill>
                  <a:srgbClr val="4A5260"/>
                </a:solidFill>
                <a:latin typeface="Arial"/>
                <a:ea typeface="Arial"/>
                <a:cs typeface="Arial"/>
              </a:defRPr>
            </a:pPr>
            <a:r>
              <a:rPr sz="1275" b="0">
                <a:solidFill>
                  <a:srgbClr val="4A5260"/>
                </a:solidFill>
                <a:latin typeface="Arial"/>
                <a:ea typeface="Arial"/>
                <a:cs typeface="Arial"/>
              </a:rPr>
              <a:t>No degradation or tariff increases. Monthly benefits vary. Simple payback is not a discounted return calculation.</a:t>
            </a:r>
          </a:p>
        </p:txBody>
      </p:sp>
    </p:spTree>
    <p:extLst>
      <p:ext uri="{BB962C8B-B14F-4D97-AF65-F5344CB8AC3E}">
        <p14:creationId xmlns:p14="http://schemas.microsoft.com/office/powerpoint/2010/main" val="49176609"/>
      </p:ext>
    </p:extLst>
  </p:cSld>
</p:sld>
</file>

<file path=ppt/slides/slide11.xml><?xml version="1.0" encoding="utf-8"?>
<p:sld xmlns:p="http://schemas.openxmlformats.org/presentationml/2006/main">
  <p:cSld>
    <p:bg>
      <p:bgPr>
        <a:solidFill xmlns:a="http://schemas.openxmlformats.org/drawingml/2006/main">
          <a:srgbClr val="F4F5F7"/>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3272D75-24FA-4A42-A11C-56FDCDA11B24}"/>
              </a:ext>
            </a:extLst>
          </p:cNvPr>
          <p:cNvSpPr>
            <a:spLocks xmlns:a="http://schemas.openxmlformats.org/drawingml/2006/main" noGrp="1"/>
          </p:cNvSpPr>
          <p:nvPr/>
        </p:nvSpPr>
        <p:spPr>
          <a:xfrm xmlns:a="http://schemas.openxmlformats.org/drawingml/2006/main">
            <a:off x="809625" y="80962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B84E0E"/>
                </a:solidFill>
                <a:latin typeface="Arial"/>
                <a:ea typeface="Arial"/>
                <a:cs typeface="Arial"/>
              </a:defRPr>
            </a:pPr>
            <a:r>
              <a:rPr sz="1350" b="1">
                <a:solidFill>
                  <a:srgbClr val="B84E0E"/>
                </a:solidFill>
                <a:latin typeface="Arial"/>
                <a:ea typeface="Arial"/>
                <a:cs typeface="Arial"/>
              </a:rPr>
              <a:t>OPTION B · SOLAR + ONE LV_16</a:t>
            </a:r>
          </a:p>
        </p:txBody>
      </p:sp>
      <p:sp>
        <p:nvSpPr>
          <p:cNvPr id="2" name="">
            <a:extLst xmlns:a="http://schemas.openxmlformats.org/drawingml/2006/main">
              <a:ext uri="{FF2B5EF4-FFF2-40B4-BE49-F238E27FC236}">
                <a16:creationId xmlns:a16="http://schemas.microsoft.com/office/drawing/2014/main" id="{1ADA9A34-DE7C-4086-BB83-031515CBABD4}"/>
              </a:ext>
            </a:extLst>
          </p:cNvPr>
          <p:cNvSpPr>
            <a:spLocks xmlns:a="http://schemas.openxmlformats.org/drawingml/2006/main" noGrp="1"/>
          </p:cNvSpPr>
          <p:nvPr/>
        </p:nvSpPr>
        <p:spPr>
          <a:xfrm xmlns:a="http://schemas.openxmlformats.org/drawingml/2006/main">
            <a:off x="809625" y="1114425"/>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4171C"/>
                </a:solidFill>
                <a:latin typeface="Arial"/>
                <a:ea typeface="Arial"/>
                <a:cs typeface="Arial"/>
              </a:defRPr>
            </a:pPr>
            <a:r>
              <a:rPr sz="3150" b="1">
                <a:solidFill>
                  <a:srgbClr val="14171C"/>
                </a:solidFill>
                <a:latin typeface="Arial"/>
                <a:ea typeface="Arial"/>
                <a:cs typeface="Arial"/>
              </a:rPr>
              <a:t>1. Daily demand and system sizing</a:t>
            </a:r>
          </a:p>
        </p:txBody>
      </p:sp>
      <p:sp>
        <p:nvSpPr>
          <p:cNvPr id="3" name="">
            <a:extLst xmlns:a="http://schemas.openxmlformats.org/drawingml/2006/main">
              <a:ext uri="{FF2B5EF4-FFF2-40B4-BE49-F238E27FC236}">
                <a16:creationId xmlns:a16="http://schemas.microsoft.com/office/drawing/2014/main" id="{CE292F9C-AD8F-4DFA-B230-5A545CE1A5BC}"/>
              </a:ext>
            </a:extLst>
          </p:cNvPr>
          <p:cNvSpPr>
            <a:spLocks xmlns:a="http://schemas.openxmlformats.org/drawingml/2006/main" noGrp="1"/>
          </p:cNvSpPr>
          <p:nvPr/>
        </p:nvSpPr>
        <p:spPr>
          <a:xfrm xmlns:a="http://schemas.openxmlformats.org/drawingml/2006/main">
            <a:off x="809625" y="1962150"/>
            <a:ext cx="10572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B84E0E"/>
                </a:solidFill>
                <a:latin typeface="Arial"/>
                <a:ea typeface="Arial"/>
                <a:cs typeface="Arial"/>
              </a:defRPr>
            </a:pPr>
            <a:r>
              <a:rPr sz="1650" b="1">
                <a:solidFill>
                  <a:srgbClr val="B84E0E"/>
                </a:solidFill>
                <a:latin typeface="Arial"/>
                <a:ea typeface="Arial"/>
                <a:cs typeface="Arial"/>
              </a:rPr>
              <a:t>Daily demand and its split</a:t>
            </a:r>
          </a:p>
        </p:txBody>
      </p:sp>
      <p:sp>
        <p:nvSpPr>
          <p:cNvPr id="4" name="">
            <a:extLst xmlns:a="http://schemas.openxmlformats.org/drawingml/2006/main">
              <a:ext uri="{FF2B5EF4-FFF2-40B4-BE49-F238E27FC236}">
                <a16:creationId xmlns:a16="http://schemas.microsoft.com/office/drawing/2014/main" id="{E2833A82-B9CA-4D93-AB56-22DE2EB53D39}"/>
              </a:ext>
            </a:extLst>
          </p:cNvPr>
          <p:cNvSpPr>
            <a:spLocks xmlns:a="http://schemas.openxmlformats.org/drawingml/2006/main" noGrp="1"/>
          </p:cNvSpPr>
          <p:nvPr/>
        </p:nvSpPr>
        <p:spPr>
          <a:xfrm xmlns:a="http://schemas.openxmlformats.org/drawingml/2006/main">
            <a:off x="809625" y="22955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4171C"/>
                </a:solidFill>
                <a:latin typeface="Consolas"/>
                <a:ea typeface="Consolas"/>
                <a:cs typeface="Consolas"/>
              </a:defRPr>
            </a:pPr>
            <a:r>
              <a:rPr sz="1650" b="0">
                <a:solidFill>
                  <a:srgbClr val="14171C"/>
                </a:solidFill>
                <a:latin typeface="Consolas"/>
                <a:ea typeface="Consolas"/>
                <a:cs typeface="Consolas"/>
              </a:rPr>
              <a:t>E = 2,421 / 30 = 80.70 kWh/day; D = N = E × 50% = 40.35</a:t>
            </a:r>
          </a:p>
        </p:txBody>
      </p:sp>
      <p:sp>
        <p:nvSpPr>
          <p:cNvPr id="5" name="">
            <a:extLst xmlns:a="http://schemas.openxmlformats.org/drawingml/2006/main">
              <a:ext uri="{FF2B5EF4-FFF2-40B4-BE49-F238E27FC236}">
                <a16:creationId xmlns:a16="http://schemas.microsoft.com/office/drawing/2014/main" id="{2238CCC3-4A88-4DD4-901B-85DEC681F00D}"/>
              </a:ext>
            </a:extLst>
          </p:cNvPr>
          <p:cNvSpPr>
            <a:spLocks xmlns:a="http://schemas.openxmlformats.org/drawingml/2006/main" noGrp="1"/>
          </p:cNvSpPr>
          <p:nvPr/>
        </p:nvSpPr>
        <p:spPr>
          <a:xfrm xmlns:a="http://schemas.openxmlformats.org/drawingml/2006/main">
            <a:off x="809625" y="2905125"/>
            <a:ext cx="10572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B84E0E"/>
                </a:solidFill>
                <a:latin typeface="Arial"/>
                <a:ea typeface="Arial"/>
                <a:cs typeface="Arial"/>
              </a:defRPr>
            </a:pPr>
            <a:r>
              <a:rPr sz="1650" b="1">
                <a:solidFill>
                  <a:srgbClr val="B84E0E"/>
                </a:solidFill>
                <a:latin typeface="Arial"/>
                <a:ea typeface="Arial"/>
                <a:cs typeface="Arial"/>
              </a:rPr>
              <a:t>Battery capacity and energy delivered</a:t>
            </a:r>
          </a:p>
        </p:txBody>
      </p:sp>
      <p:sp>
        <p:nvSpPr>
          <p:cNvPr id="6" name="">
            <a:extLst xmlns:a="http://schemas.openxmlformats.org/drawingml/2006/main">
              <a:ext uri="{FF2B5EF4-FFF2-40B4-BE49-F238E27FC236}">
                <a16:creationId xmlns:a16="http://schemas.microsoft.com/office/drawing/2014/main" id="{127BA805-0809-4EAF-88A0-9FEF8AE9B533}"/>
              </a:ext>
            </a:extLst>
          </p:cNvPr>
          <p:cNvSpPr>
            <a:spLocks xmlns:a="http://schemas.openxmlformats.org/drawingml/2006/main" noGrp="1"/>
          </p:cNvSpPr>
          <p:nvPr/>
        </p:nvSpPr>
        <p:spPr>
          <a:xfrm xmlns:a="http://schemas.openxmlformats.org/drawingml/2006/main">
            <a:off x="809625" y="32385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4171C"/>
                </a:solidFill>
                <a:latin typeface="Consolas"/>
                <a:ea typeface="Consolas"/>
                <a:cs typeface="Consolas"/>
              </a:defRPr>
            </a:pPr>
            <a:r>
              <a:rPr sz="1650" b="0">
                <a:solidFill>
                  <a:srgbClr val="14171C"/>
                </a:solidFill>
                <a:latin typeface="Consolas"/>
                <a:ea typeface="Consolas"/>
                <a:cs typeface="Consolas"/>
              </a:rPr>
              <a:t>C = 16 kWh; U = C × 80% = 12.80; U × 95% = 12.16 kWh</a:t>
            </a:r>
          </a:p>
        </p:txBody>
      </p:sp>
      <p:sp>
        <p:nvSpPr>
          <p:cNvPr id="7" name="">
            <a:extLst xmlns:a="http://schemas.openxmlformats.org/drawingml/2006/main">
              <a:ext uri="{FF2B5EF4-FFF2-40B4-BE49-F238E27FC236}">
                <a16:creationId xmlns:a16="http://schemas.microsoft.com/office/drawing/2014/main" id="{907BCDD4-C315-4948-B596-8DB8D8C60A89}"/>
              </a:ext>
            </a:extLst>
          </p:cNvPr>
          <p:cNvSpPr>
            <a:spLocks xmlns:a="http://schemas.openxmlformats.org/drawingml/2006/main" noGrp="1"/>
          </p:cNvSpPr>
          <p:nvPr/>
        </p:nvSpPr>
        <p:spPr>
          <a:xfrm xmlns:a="http://schemas.openxmlformats.org/drawingml/2006/main">
            <a:off x="809625" y="3848100"/>
            <a:ext cx="10572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B84E0E"/>
                </a:solidFill>
                <a:latin typeface="Arial"/>
                <a:ea typeface="Arial"/>
                <a:cs typeface="Arial"/>
              </a:defRPr>
            </a:pPr>
            <a:r>
              <a:rPr sz="1650" b="1">
                <a:solidFill>
                  <a:srgbClr val="B84E0E"/>
                </a:solidFill>
                <a:latin typeface="Arial"/>
                <a:ea typeface="Arial"/>
                <a:cs typeface="Arial"/>
              </a:rPr>
              <a:t>PV capacity, rounded up to the next 0.5 kWp</a:t>
            </a:r>
          </a:p>
        </p:txBody>
      </p:sp>
      <p:sp>
        <p:nvSpPr>
          <p:cNvPr id="8" name="">
            <a:extLst xmlns:a="http://schemas.openxmlformats.org/drawingml/2006/main">
              <a:ext uri="{FF2B5EF4-FFF2-40B4-BE49-F238E27FC236}">
                <a16:creationId xmlns:a16="http://schemas.microsoft.com/office/drawing/2014/main" id="{DE480021-F1E4-4D6E-8BD5-19A0ACA6F472}"/>
              </a:ext>
            </a:extLst>
          </p:cNvPr>
          <p:cNvSpPr>
            <a:spLocks xmlns:a="http://schemas.openxmlformats.org/drawingml/2006/main" noGrp="1"/>
          </p:cNvSpPr>
          <p:nvPr/>
        </p:nvSpPr>
        <p:spPr>
          <a:xfrm xmlns:a="http://schemas.openxmlformats.org/drawingml/2006/main">
            <a:off x="809625" y="41814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4171C"/>
                </a:solidFill>
                <a:latin typeface="Consolas"/>
                <a:ea typeface="Consolas"/>
                <a:cs typeface="Consolas"/>
              </a:defRPr>
            </a:pPr>
            <a:r>
              <a:rPr sz="1650" b="0">
                <a:solidFill>
                  <a:srgbClr val="14171C"/>
                </a:solidFill>
                <a:latin typeface="Consolas"/>
                <a:ea typeface="Consolas"/>
                <a:cs typeface="Consolas"/>
              </a:rPr>
              <a:t>P = (D + min(N, U × η) / η) / Y</a:t>
            </a:r>
          </a:p>
          <a:p xmlns:a="http://schemas.openxmlformats.org/drawingml/2006/main">
            <a:pPr>
              <a:defRPr sz="1650" b="0">
                <a:solidFill>
                  <a:srgbClr val="14171C"/>
                </a:solidFill>
                <a:latin typeface="Consolas"/>
                <a:ea typeface="Consolas"/>
                <a:cs typeface="Consolas"/>
              </a:defRPr>
            </a:pPr>
            <a:r>
              <a:rPr sz="1650" b="0">
                <a:solidFill>
                  <a:srgbClr val="14171C"/>
                </a:solidFill>
                <a:latin typeface="Consolas"/>
                <a:ea typeface="Consolas"/>
                <a:cs typeface="Consolas"/>
              </a:rPr>
              <a:t>  = (40.35 + 12.16 / 0.95) / 4.98 = 10.673 → 11.0 kWp</a:t>
            </a:r>
          </a:p>
        </p:txBody>
      </p:sp>
      <p:sp>
        <p:nvSpPr>
          <p:cNvPr id="9" name="">
            <a:extLst xmlns:a="http://schemas.openxmlformats.org/drawingml/2006/main">
              <a:ext uri="{FF2B5EF4-FFF2-40B4-BE49-F238E27FC236}">
                <a16:creationId xmlns:a16="http://schemas.microsoft.com/office/drawing/2014/main" id="{B60ADA0A-8C1B-43F4-8917-1DDC114179D4}"/>
              </a:ext>
            </a:extLst>
          </p:cNvPr>
          <p:cNvSpPr>
            <a:spLocks xmlns:a="http://schemas.openxmlformats.org/drawingml/2006/main" noGrp="1"/>
          </p:cNvSpPr>
          <p:nvPr/>
        </p:nvSpPr>
        <p:spPr>
          <a:xfrm xmlns:a="http://schemas.openxmlformats.org/drawingml/2006/main">
            <a:off x="809625" y="4791075"/>
            <a:ext cx="10572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B84E0E"/>
                </a:solidFill>
                <a:latin typeface="Arial"/>
                <a:ea typeface="Arial"/>
                <a:cs typeface="Arial"/>
              </a:defRPr>
            </a:pPr>
            <a:r>
              <a:rPr sz="1650" b="1">
                <a:solidFill>
                  <a:srgbClr val="B84E0E"/>
                </a:solidFill>
                <a:latin typeface="Arial"/>
                <a:ea typeface="Arial"/>
                <a:cs typeface="Arial"/>
              </a:rPr>
              <a:t>Provisional inverter and roof allowance</a:t>
            </a:r>
          </a:p>
        </p:txBody>
      </p:sp>
      <p:sp>
        <p:nvSpPr>
          <p:cNvPr id="10" name="">
            <a:extLst xmlns:a="http://schemas.openxmlformats.org/drawingml/2006/main">
              <a:ext uri="{FF2B5EF4-FFF2-40B4-BE49-F238E27FC236}">
                <a16:creationId xmlns:a16="http://schemas.microsoft.com/office/drawing/2014/main" id="{376A3959-7A22-4B78-8F02-B8E331B0EBCA}"/>
              </a:ext>
            </a:extLst>
          </p:cNvPr>
          <p:cNvSpPr>
            <a:spLocks xmlns:a="http://schemas.openxmlformats.org/drawingml/2006/main" noGrp="1"/>
          </p:cNvSpPr>
          <p:nvPr/>
        </p:nvSpPr>
        <p:spPr>
          <a:xfrm xmlns:a="http://schemas.openxmlformats.org/drawingml/2006/main">
            <a:off x="809625" y="51244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4171C"/>
                </a:solidFill>
                <a:latin typeface="Consolas"/>
                <a:ea typeface="Consolas"/>
                <a:cs typeface="Consolas"/>
              </a:defRPr>
            </a:pPr>
            <a:r>
              <a:rPr sz="1650" b="0">
                <a:solidFill>
                  <a:srgbClr val="14171C"/>
                </a:solidFill>
                <a:latin typeface="Consolas"/>
                <a:ea typeface="Consolas"/>
                <a:cs typeface="Consolas"/>
              </a:rPr>
              <a:t>Selected inverter I = 12 kW (standard size ≥ P); roof ≈ 11.0 × 6 = 66 m²</a:t>
            </a:r>
          </a:p>
        </p:txBody>
      </p:sp>
      <p:sp>
        <p:nvSpPr>
          <p:cNvPr id="11" name="">
            <a:extLst xmlns:a="http://schemas.openxmlformats.org/drawingml/2006/main">
              <a:ext uri="{FF2B5EF4-FFF2-40B4-BE49-F238E27FC236}">
                <a16:creationId xmlns:a16="http://schemas.microsoft.com/office/drawing/2014/main" id="{74FDB9DB-0786-4C7D-9AFC-BD8D1DBD0035}"/>
              </a:ext>
            </a:extLst>
          </p:cNvPr>
          <p:cNvSpPr>
            <a:spLocks xmlns:a="http://schemas.openxmlformats.org/drawingml/2006/main" noGrp="1"/>
          </p:cNvSpPr>
          <p:nvPr/>
        </p:nvSpPr>
        <p:spPr>
          <a:xfrm xmlns:a="http://schemas.openxmlformats.org/drawingml/2006/main">
            <a:off x="809625" y="6057900"/>
            <a:ext cx="10572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4A5260"/>
                </a:solidFill>
                <a:latin typeface="Arial"/>
                <a:ea typeface="Arial"/>
                <a:cs typeface="Arial"/>
              </a:defRPr>
            </a:pPr>
            <a:r>
              <a:rPr sz="1275" b="0">
                <a:solidFill>
                  <a:srgbClr val="4A5260"/>
                </a:solidFill>
                <a:latin typeface="Arial"/>
                <a:ea typeface="Arial"/>
                <a:cs typeface="Arial"/>
              </a:rPr>
              <a:t>Partial-night storage. Backup estimate from full charge: 12.16 / (42.4 / 24) = 6.88 h for refrigeration only.</a:t>
            </a:r>
          </a:p>
          <a:p xmlns:a="http://schemas.openxmlformats.org/drawingml/2006/main">
            <a:pPr>
              <a:defRPr sz="1275" b="0">
                <a:solidFill>
                  <a:srgbClr val="4A5260"/>
                </a:solidFill>
                <a:latin typeface="Arial"/>
                <a:ea typeface="Arial"/>
                <a:cs typeface="Arial"/>
              </a:defRPr>
            </a:pPr>
            <a:r>
              <a:rPr sz="1275" b="0">
                <a:solidFill>
                  <a:srgbClr val="4A5260"/>
                </a:solidFill>
                <a:latin typeface="Arial"/>
                <a:ea typeface="Arial"/>
                <a:cs typeface="Arial"/>
              </a:rPr>
              <a:t>Night use reduces reserve. Confirm motor surge and an inverter that supports backup operation.</a:t>
            </a:r>
          </a:p>
        </p:txBody>
      </p:sp>
    </p:spTree>
    <p:extLst>
      <p:ext uri="{BB962C8B-B14F-4D97-AF65-F5344CB8AC3E}">
        <p14:creationId xmlns:p14="http://schemas.microsoft.com/office/powerpoint/2010/main" val="1612906320"/>
      </p:ext>
    </p:extLst>
  </p:cSld>
</p:sld>
</file>

<file path=ppt/slides/slide12.xml><?xml version="1.0" encoding="utf-8"?>
<p:sld xmlns:p="http://schemas.openxmlformats.org/presentationml/2006/main">
  <p:cSld>
    <p:bg>
      <p:bgPr>
        <a:solidFill xmlns:a="http://schemas.openxmlformats.org/drawingml/2006/main">
          <a:srgbClr val="F4F5F7"/>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2075994-9EE8-43E2-84D7-B50C57C28B99}"/>
              </a:ext>
            </a:extLst>
          </p:cNvPr>
          <p:cNvSpPr>
            <a:spLocks xmlns:a="http://schemas.openxmlformats.org/drawingml/2006/main" noGrp="1"/>
          </p:cNvSpPr>
          <p:nvPr/>
        </p:nvSpPr>
        <p:spPr>
          <a:xfrm xmlns:a="http://schemas.openxmlformats.org/drawingml/2006/main">
            <a:off x="809625" y="80962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B84E0E"/>
                </a:solidFill>
                <a:latin typeface="Arial"/>
                <a:ea typeface="Arial"/>
                <a:cs typeface="Arial"/>
              </a:defRPr>
            </a:pPr>
            <a:r>
              <a:rPr sz="1350" b="1">
                <a:solidFill>
                  <a:srgbClr val="B84E0E"/>
                </a:solidFill>
                <a:latin typeface="Arial"/>
                <a:ea typeface="Arial"/>
                <a:cs typeface="Arial"/>
              </a:rPr>
              <a:t>OPTION B · SOLAR + ONE LV_16</a:t>
            </a:r>
          </a:p>
        </p:txBody>
      </p:sp>
      <p:sp>
        <p:nvSpPr>
          <p:cNvPr id="2" name="">
            <a:extLst xmlns:a="http://schemas.openxmlformats.org/drawingml/2006/main">
              <a:ext uri="{FF2B5EF4-FFF2-40B4-BE49-F238E27FC236}">
                <a16:creationId xmlns:a16="http://schemas.microsoft.com/office/drawing/2014/main" id="{3AAA68F7-F08F-48A0-9241-F126CEE76655}"/>
              </a:ext>
            </a:extLst>
          </p:cNvPr>
          <p:cNvSpPr>
            <a:spLocks xmlns:a="http://schemas.openxmlformats.org/drawingml/2006/main" noGrp="1"/>
          </p:cNvSpPr>
          <p:nvPr/>
        </p:nvSpPr>
        <p:spPr>
          <a:xfrm xmlns:a="http://schemas.openxmlformats.org/drawingml/2006/main">
            <a:off x="809625" y="1114425"/>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4171C"/>
                </a:solidFill>
                <a:latin typeface="Arial"/>
                <a:ea typeface="Arial"/>
                <a:cs typeface="Arial"/>
              </a:defRPr>
            </a:pPr>
            <a:r>
              <a:rPr sz="3150" b="1">
                <a:solidFill>
                  <a:srgbClr val="14171C"/>
                </a:solidFill>
                <a:latin typeface="Arial"/>
                <a:ea typeface="Arial"/>
                <a:cs typeface="Arial"/>
              </a:rPr>
              <a:t>2. System price</a:t>
            </a:r>
          </a:p>
        </p:txBody>
      </p:sp>
      <p:sp>
        <p:nvSpPr>
          <p:cNvPr id="3" name="">
            <a:extLst xmlns:a="http://schemas.openxmlformats.org/drawingml/2006/main">
              <a:ext uri="{FF2B5EF4-FFF2-40B4-BE49-F238E27FC236}">
                <a16:creationId xmlns:a16="http://schemas.microsoft.com/office/drawing/2014/main" id="{9A333FDF-9BDA-4A54-8611-6F4B6C72E9BA}"/>
              </a:ext>
            </a:extLst>
          </p:cNvPr>
          <p:cNvSpPr>
            <a:spLocks xmlns:a="http://schemas.openxmlformats.org/drawingml/2006/main" noGrp="1"/>
          </p:cNvSpPr>
          <p:nvPr/>
        </p:nvSpPr>
        <p:spPr>
          <a:xfrm xmlns:a="http://schemas.openxmlformats.org/drawingml/2006/main">
            <a:off x="809625" y="1962150"/>
            <a:ext cx="10572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B84E0E"/>
                </a:solidFill>
                <a:latin typeface="Arial"/>
                <a:ea typeface="Arial"/>
                <a:cs typeface="Arial"/>
              </a:defRPr>
            </a:pPr>
            <a:r>
              <a:rPr sz="1650" b="1">
                <a:solidFill>
                  <a:srgbClr val="B84E0E"/>
                </a:solidFill>
                <a:latin typeface="Arial"/>
                <a:ea typeface="Arial"/>
                <a:cs typeface="Arial"/>
              </a:rPr>
              <a:t>Unit-price assumptions</a:t>
            </a:r>
          </a:p>
        </p:txBody>
      </p:sp>
      <p:sp>
        <p:nvSpPr>
          <p:cNvPr id="4" name="">
            <a:extLst xmlns:a="http://schemas.openxmlformats.org/drawingml/2006/main">
              <a:ext uri="{FF2B5EF4-FFF2-40B4-BE49-F238E27FC236}">
                <a16:creationId xmlns:a16="http://schemas.microsoft.com/office/drawing/2014/main" id="{FF866697-F120-4656-8DCA-EC86CCA62EB4}"/>
              </a:ext>
            </a:extLst>
          </p:cNvPr>
          <p:cNvSpPr>
            <a:spLocks xmlns:a="http://schemas.openxmlformats.org/drawingml/2006/main" noGrp="1"/>
          </p:cNvSpPr>
          <p:nvPr/>
        </p:nvSpPr>
        <p:spPr>
          <a:xfrm xmlns:a="http://schemas.openxmlformats.org/drawingml/2006/main">
            <a:off x="809625" y="22955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4171C"/>
                </a:solidFill>
                <a:latin typeface="Consolas"/>
                <a:ea typeface="Consolas"/>
                <a:cs typeface="Consolas"/>
              </a:defRPr>
            </a:pPr>
            <a:r>
              <a:rPr sz="1650" b="0">
                <a:solidFill>
                  <a:srgbClr val="14171C"/>
                </a:solidFill>
                <a:latin typeface="Consolas"/>
                <a:ea typeface="Consolas"/>
                <a:cs typeface="Consolas"/>
              </a:rPr>
              <a:t>PV = 8,000 EGP/kWp; inverter = 6,000 EGP/kW</a:t>
            </a:r>
          </a:p>
          <a:p xmlns:a="http://schemas.openxmlformats.org/drawingml/2006/main">
            <a:pPr>
              <a:defRPr sz="1650" b="0">
                <a:solidFill>
                  <a:srgbClr val="14171C"/>
                </a:solidFill>
                <a:latin typeface="Consolas"/>
                <a:ea typeface="Consolas"/>
                <a:cs typeface="Consolas"/>
              </a:defRPr>
            </a:pPr>
            <a:r>
              <a:rPr sz="1650" b="0">
                <a:solidFill>
                  <a:srgbClr val="14171C"/>
                </a:solidFill>
                <a:latin typeface="Consolas"/>
                <a:ea typeface="Consolas"/>
                <a:cs typeface="Consolas"/>
              </a:rPr>
              <a:t>Battery = 220 EUR/kWh × 62 EGP/EUR = 13,640 EGP/kWh</a:t>
            </a:r>
          </a:p>
        </p:txBody>
      </p:sp>
      <p:sp>
        <p:nvSpPr>
          <p:cNvPr id="5" name="">
            <a:extLst xmlns:a="http://schemas.openxmlformats.org/drawingml/2006/main">
              <a:ext uri="{FF2B5EF4-FFF2-40B4-BE49-F238E27FC236}">
                <a16:creationId xmlns:a16="http://schemas.microsoft.com/office/drawing/2014/main" id="{034773F0-F432-44FE-9BAC-287AD8698C8A}"/>
              </a:ext>
            </a:extLst>
          </p:cNvPr>
          <p:cNvSpPr>
            <a:spLocks xmlns:a="http://schemas.openxmlformats.org/drawingml/2006/main" noGrp="1"/>
          </p:cNvSpPr>
          <p:nvPr/>
        </p:nvSpPr>
        <p:spPr>
          <a:xfrm xmlns:a="http://schemas.openxmlformats.org/drawingml/2006/main">
            <a:off x="809625" y="2905125"/>
            <a:ext cx="10572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B84E0E"/>
                </a:solidFill>
                <a:latin typeface="Arial"/>
                <a:ea typeface="Arial"/>
                <a:cs typeface="Arial"/>
              </a:defRPr>
            </a:pPr>
            <a:r>
              <a:rPr sz="1650" b="1">
                <a:solidFill>
                  <a:srgbClr val="B84E0E"/>
                </a:solidFill>
                <a:latin typeface="Arial"/>
                <a:ea typeface="Arial"/>
                <a:cs typeface="Arial"/>
              </a:rPr>
              <a:t>PV and inverter subtotal</a:t>
            </a:r>
          </a:p>
        </p:txBody>
      </p:sp>
      <p:sp>
        <p:nvSpPr>
          <p:cNvPr id="6" name="">
            <a:extLst xmlns:a="http://schemas.openxmlformats.org/drawingml/2006/main">
              <a:ext uri="{FF2B5EF4-FFF2-40B4-BE49-F238E27FC236}">
                <a16:creationId xmlns:a16="http://schemas.microsoft.com/office/drawing/2014/main" id="{73FB0BEA-3B6F-4F07-84FD-981393207C53}"/>
              </a:ext>
            </a:extLst>
          </p:cNvPr>
          <p:cNvSpPr>
            <a:spLocks xmlns:a="http://schemas.openxmlformats.org/drawingml/2006/main" noGrp="1"/>
          </p:cNvSpPr>
          <p:nvPr/>
        </p:nvSpPr>
        <p:spPr>
          <a:xfrm xmlns:a="http://schemas.openxmlformats.org/drawingml/2006/main">
            <a:off x="809625" y="32385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4171C"/>
                </a:solidFill>
                <a:latin typeface="Consolas"/>
                <a:ea typeface="Consolas"/>
                <a:cs typeface="Consolas"/>
              </a:defRPr>
            </a:pPr>
            <a:r>
              <a:rPr sz="1650" b="0">
                <a:solidFill>
                  <a:srgbClr val="14171C"/>
                </a:solidFill>
                <a:latin typeface="Consolas"/>
                <a:ea typeface="Consolas"/>
                <a:cs typeface="Consolas"/>
              </a:rPr>
              <a:t>11.0 × 8,000 + 12 × 6,000 = 160,000 EGP</a:t>
            </a:r>
          </a:p>
        </p:txBody>
      </p:sp>
      <p:sp>
        <p:nvSpPr>
          <p:cNvPr id="7" name="">
            <a:extLst xmlns:a="http://schemas.openxmlformats.org/drawingml/2006/main">
              <a:ext uri="{FF2B5EF4-FFF2-40B4-BE49-F238E27FC236}">
                <a16:creationId xmlns:a16="http://schemas.microsoft.com/office/drawing/2014/main" id="{1A1AB952-A5A7-4704-8121-4AF029F50CCF}"/>
              </a:ext>
            </a:extLst>
          </p:cNvPr>
          <p:cNvSpPr>
            <a:spLocks xmlns:a="http://schemas.openxmlformats.org/drawingml/2006/main" noGrp="1"/>
          </p:cNvSpPr>
          <p:nvPr/>
        </p:nvSpPr>
        <p:spPr>
          <a:xfrm xmlns:a="http://schemas.openxmlformats.org/drawingml/2006/main">
            <a:off x="809625" y="3848100"/>
            <a:ext cx="10572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B84E0E"/>
                </a:solidFill>
                <a:latin typeface="Arial"/>
                <a:ea typeface="Arial"/>
                <a:cs typeface="Arial"/>
              </a:defRPr>
            </a:pPr>
            <a:r>
              <a:rPr sz="1650" b="1">
                <a:solidFill>
                  <a:srgbClr val="B84E0E"/>
                </a:solidFill>
                <a:latin typeface="Arial"/>
                <a:ea typeface="Arial"/>
                <a:cs typeface="Arial"/>
              </a:rPr>
              <a:t>Installation / BOS and battery cost</a:t>
            </a:r>
          </a:p>
        </p:txBody>
      </p:sp>
      <p:sp>
        <p:nvSpPr>
          <p:cNvPr id="8" name="">
            <a:extLst xmlns:a="http://schemas.openxmlformats.org/drawingml/2006/main">
              <a:ext uri="{FF2B5EF4-FFF2-40B4-BE49-F238E27FC236}">
                <a16:creationId xmlns:a16="http://schemas.microsoft.com/office/drawing/2014/main" id="{784E9F1F-113D-41CC-BA39-55970EA2362B}"/>
              </a:ext>
            </a:extLst>
          </p:cNvPr>
          <p:cNvSpPr>
            <a:spLocks xmlns:a="http://schemas.openxmlformats.org/drawingml/2006/main" noGrp="1"/>
          </p:cNvSpPr>
          <p:nvPr/>
        </p:nvSpPr>
        <p:spPr>
          <a:xfrm xmlns:a="http://schemas.openxmlformats.org/drawingml/2006/main">
            <a:off x="809625" y="41814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4171C"/>
                </a:solidFill>
                <a:latin typeface="Consolas"/>
                <a:ea typeface="Consolas"/>
                <a:cs typeface="Consolas"/>
              </a:defRPr>
            </a:pPr>
            <a:r>
              <a:rPr sz="1650" b="0">
                <a:solidFill>
                  <a:srgbClr val="14171C"/>
                </a:solidFill>
                <a:latin typeface="Consolas"/>
                <a:ea typeface="Consolas"/>
                <a:cs typeface="Consolas"/>
              </a:rPr>
              <a:t>Installation = 160,000 × 10% = 16,000 EGP</a:t>
            </a:r>
          </a:p>
          <a:p xmlns:a="http://schemas.openxmlformats.org/drawingml/2006/main">
            <a:pPr>
              <a:defRPr sz="1650" b="0">
                <a:solidFill>
                  <a:srgbClr val="14171C"/>
                </a:solidFill>
                <a:latin typeface="Consolas"/>
                <a:ea typeface="Consolas"/>
                <a:cs typeface="Consolas"/>
              </a:defRPr>
            </a:pPr>
            <a:r>
              <a:rPr sz="1650" b="0">
                <a:solidFill>
                  <a:srgbClr val="14171C"/>
                </a:solidFill>
                <a:latin typeface="Consolas"/>
                <a:ea typeface="Consolas"/>
                <a:cs typeface="Consolas"/>
              </a:rPr>
              <a:t>Battery = 16 × 13,640 = 218,240 EGP</a:t>
            </a:r>
          </a:p>
        </p:txBody>
      </p:sp>
      <p:sp>
        <p:nvSpPr>
          <p:cNvPr id="9" name="">
            <a:extLst xmlns:a="http://schemas.openxmlformats.org/drawingml/2006/main">
              <a:ext uri="{FF2B5EF4-FFF2-40B4-BE49-F238E27FC236}">
                <a16:creationId xmlns:a16="http://schemas.microsoft.com/office/drawing/2014/main" id="{B6023526-2666-4BD3-AD17-13351DDF9B80}"/>
              </a:ext>
            </a:extLst>
          </p:cNvPr>
          <p:cNvSpPr>
            <a:spLocks xmlns:a="http://schemas.openxmlformats.org/drawingml/2006/main" noGrp="1"/>
          </p:cNvSpPr>
          <p:nvPr/>
        </p:nvSpPr>
        <p:spPr>
          <a:xfrm xmlns:a="http://schemas.openxmlformats.org/drawingml/2006/main">
            <a:off x="809625" y="4791075"/>
            <a:ext cx="10572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B84E0E"/>
                </a:solidFill>
                <a:latin typeface="Arial"/>
                <a:ea typeface="Arial"/>
                <a:cs typeface="Arial"/>
              </a:defRPr>
            </a:pPr>
            <a:r>
              <a:rPr sz="1650" b="1">
                <a:solidFill>
                  <a:srgbClr val="B84E0E"/>
                </a:solidFill>
                <a:latin typeface="Arial"/>
                <a:ea typeface="Arial"/>
                <a:cs typeface="Arial"/>
              </a:rPr>
              <a:t>Total customer price</a:t>
            </a:r>
          </a:p>
        </p:txBody>
      </p:sp>
      <p:sp>
        <p:nvSpPr>
          <p:cNvPr id="10" name="">
            <a:extLst xmlns:a="http://schemas.openxmlformats.org/drawingml/2006/main">
              <a:ext uri="{FF2B5EF4-FFF2-40B4-BE49-F238E27FC236}">
                <a16:creationId xmlns:a16="http://schemas.microsoft.com/office/drawing/2014/main" id="{746D99AB-5FEA-474F-AD28-2C1E3BF282EC}"/>
              </a:ext>
            </a:extLst>
          </p:cNvPr>
          <p:cNvSpPr>
            <a:spLocks xmlns:a="http://schemas.openxmlformats.org/drawingml/2006/main" noGrp="1"/>
          </p:cNvSpPr>
          <p:nvPr/>
        </p:nvSpPr>
        <p:spPr>
          <a:xfrm xmlns:a="http://schemas.openxmlformats.org/drawingml/2006/main">
            <a:off x="809625" y="51244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4171C"/>
                </a:solidFill>
                <a:latin typeface="Consolas"/>
                <a:ea typeface="Consolas"/>
                <a:cs typeface="Consolas"/>
              </a:defRPr>
            </a:pPr>
            <a:r>
              <a:rPr sz="1650" b="0">
                <a:solidFill>
                  <a:srgbClr val="14171C"/>
                </a:solidFill>
                <a:latin typeface="Consolas"/>
                <a:ea typeface="Consolas"/>
                <a:cs typeface="Consolas"/>
              </a:rPr>
              <a:t>Price = (11.0 × 8,000 + 12 × 6,000) × 1.10 + 16 × 13,640</a:t>
            </a:r>
          </a:p>
          <a:p xmlns:a="http://schemas.openxmlformats.org/drawingml/2006/main">
            <a:pPr>
              <a:defRPr sz="1650" b="0">
                <a:solidFill>
                  <a:srgbClr val="14171C"/>
                </a:solidFill>
                <a:latin typeface="Consolas"/>
                <a:ea typeface="Consolas"/>
                <a:cs typeface="Consolas"/>
              </a:defRPr>
            </a:pPr>
            <a:r>
              <a:rPr sz="1650" b="0">
                <a:solidFill>
                  <a:srgbClr val="14171C"/>
                </a:solidFill>
                <a:latin typeface="Consolas"/>
                <a:ea typeface="Consolas"/>
                <a:cs typeface="Consolas"/>
              </a:rPr>
              <a:t>      = 394,240 EGP</a:t>
            </a:r>
          </a:p>
        </p:txBody>
      </p:sp>
      <p:sp>
        <p:nvSpPr>
          <p:cNvPr id="11" name="">
            <a:extLst xmlns:a="http://schemas.openxmlformats.org/drawingml/2006/main">
              <a:ext uri="{FF2B5EF4-FFF2-40B4-BE49-F238E27FC236}">
                <a16:creationId xmlns:a16="http://schemas.microsoft.com/office/drawing/2014/main" id="{0B5CE2CB-99CB-41DE-9AFD-3FC5DE55081C}"/>
              </a:ext>
            </a:extLst>
          </p:cNvPr>
          <p:cNvSpPr>
            <a:spLocks xmlns:a="http://schemas.openxmlformats.org/drawingml/2006/main" noGrp="1"/>
          </p:cNvSpPr>
          <p:nvPr/>
        </p:nvSpPr>
        <p:spPr>
          <a:xfrm xmlns:a="http://schemas.openxmlformats.org/drawingml/2006/main">
            <a:off x="809625" y="6057900"/>
            <a:ext cx="10572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4A5260"/>
                </a:solidFill>
                <a:latin typeface="Arial"/>
                <a:ea typeface="Arial"/>
                <a:cs typeface="Arial"/>
              </a:defRPr>
            </a:pPr>
            <a:r>
              <a:rPr sz="1275" b="0">
                <a:solidFill>
                  <a:srgbClr val="4A5260"/>
                </a:solidFill>
                <a:latin typeface="Arial"/>
                <a:ea typeface="Arial"/>
                <a:cs typeface="Arial"/>
              </a:rPr>
              <a:t>The 10% installation/BOS applies to PV and inverter only. Battery price comes from Home_Storage, slide 15.</a:t>
            </a:r>
          </a:p>
          <a:p xmlns:a="http://schemas.openxmlformats.org/drawingml/2006/main">
            <a:pPr>
              <a:defRPr sz="1275" b="0">
                <a:solidFill>
                  <a:srgbClr val="4A5260"/>
                </a:solidFill>
                <a:latin typeface="Arial"/>
                <a:ea typeface="Arial"/>
                <a:cs typeface="Arial"/>
              </a:defRPr>
            </a:pPr>
            <a:r>
              <a:rPr sz="1275" b="0">
                <a:solidFill>
                  <a:srgbClr val="4A5260"/>
                </a:solidFill>
                <a:latin typeface="Arial"/>
                <a:ea typeface="Arial"/>
                <a:cs typeface="Arial"/>
              </a:rPr>
              <a:t>Customer selling-price assumptions, including historical exchange rate 62 EGP/EUR. These are not current quotes.</a:t>
            </a:r>
          </a:p>
        </p:txBody>
      </p:sp>
    </p:spTree>
    <p:extLst>
      <p:ext uri="{BB962C8B-B14F-4D97-AF65-F5344CB8AC3E}">
        <p14:creationId xmlns:p14="http://schemas.microsoft.com/office/powerpoint/2010/main" val="1000472242"/>
      </p:ext>
    </p:extLst>
  </p:cSld>
</p:sld>
</file>

<file path=ppt/slides/slide13.xml><?xml version="1.0" encoding="utf-8"?>
<p:sld xmlns:p="http://schemas.openxmlformats.org/presentationml/2006/main">
  <p:cSld>
    <p:bg>
      <p:bgPr>
        <a:solidFill xmlns:a="http://schemas.openxmlformats.org/drawingml/2006/main">
          <a:srgbClr val="F4F5F7"/>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CA91166-1020-47AA-843F-B77F5B2281E7}"/>
              </a:ext>
            </a:extLst>
          </p:cNvPr>
          <p:cNvSpPr>
            <a:spLocks xmlns:a="http://schemas.openxmlformats.org/drawingml/2006/main" noGrp="1"/>
          </p:cNvSpPr>
          <p:nvPr/>
        </p:nvSpPr>
        <p:spPr>
          <a:xfrm xmlns:a="http://schemas.openxmlformats.org/drawingml/2006/main">
            <a:off x="809625" y="80962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B84E0E"/>
                </a:solidFill>
                <a:latin typeface="Arial"/>
                <a:ea typeface="Arial"/>
                <a:cs typeface="Arial"/>
              </a:defRPr>
            </a:pPr>
            <a:r>
              <a:rPr sz="1350" b="1">
                <a:solidFill>
                  <a:srgbClr val="B84E0E"/>
                </a:solidFill>
                <a:latin typeface="Arial"/>
                <a:ea typeface="Arial"/>
                <a:cs typeface="Arial"/>
              </a:rPr>
              <a:t>OPTION B · SOLAR + ONE LV_16</a:t>
            </a:r>
          </a:p>
        </p:txBody>
      </p:sp>
      <p:sp>
        <p:nvSpPr>
          <p:cNvPr id="2" name="">
            <a:extLst xmlns:a="http://schemas.openxmlformats.org/drawingml/2006/main">
              <a:ext uri="{FF2B5EF4-FFF2-40B4-BE49-F238E27FC236}">
                <a16:creationId xmlns:a16="http://schemas.microsoft.com/office/drawing/2014/main" id="{8176674C-11C8-4CFC-BB09-C75F8BEB51BF}"/>
              </a:ext>
            </a:extLst>
          </p:cNvPr>
          <p:cNvSpPr>
            <a:spLocks xmlns:a="http://schemas.openxmlformats.org/drawingml/2006/main" noGrp="1"/>
          </p:cNvSpPr>
          <p:nvPr/>
        </p:nvSpPr>
        <p:spPr>
          <a:xfrm xmlns:a="http://schemas.openxmlformats.org/drawingml/2006/main">
            <a:off x="809625" y="1114425"/>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4171C"/>
                </a:solidFill>
                <a:latin typeface="Arial"/>
                <a:ea typeface="Arial"/>
                <a:cs typeface="Arial"/>
              </a:defRPr>
            </a:pPr>
            <a:r>
              <a:rPr sz="3150" b="1">
                <a:solidFill>
                  <a:srgbClr val="14171C"/>
                </a:solidFill>
                <a:latin typeface="Arial"/>
                <a:ea typeface="Arial"/>
                <a:cs typeface="Arial"/>
              </a:rPr>
              <a:t>3. Energy balance and the monthly bill</a:t>
            </a:r>
          </a:p>
        </p:txBody>
      </p:sp>
      <p:sp>
        <p:nvSpPr>
          <p:cNvPr id="3" name="">
            <a:extLst xmlns:a="http://schemas.openxmlformats.org/drawingml/2006/main">
              <a:ext uri="{FF2B5EF4-FFF2-40B4-BE49-F238E27FC236}">
                <a16:creationId xmlns:a16="http://schemas.microsoft.com/office/drawing/2014/main" id="{0DC6319A-3301-4E0A-8ABE-A7F5365AFACF}"/>
              </a:ext>
            </a:extLst>
          </p:cNvPr>
          <p:cNvSpPr>
            <a:spLocks xmlns:a="http://schemas.openxmlformats.org/drawingml/2006/main" noGrp="1"/>
          </p:cNvSpPr>
          <p:nvPr/>
        </p:nvSpPr>
        <p:spPr>
          <a:xfrm xmlns:a="http://schemas.openxmlformats.org/drawingml/2006/main">
            <a:off x="809625" y="1962150"/>
            <a:ext cx="10572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B84E0E"/>
                </a:solidFill>
                <a:latin typeface="Arial"/>
                <a:ea typeface="Arial"/>
                <a:cs typeface="Arial"/>
              </a:defRPr>
            </a:pPr>
            <a:r>
              <a:rPr sz="1650" b="1">
                <a:solidFill>
                  <a:srgbClr val="B84E0E"/>
                </a:solidFill>
                <a:latin typeface="Arial"/>
                <a:ea typeface="Arial"/>
                <a:cs typeface="Arial"/>
              </a:rPr>
              <a:t>Solar generation and direct use</a:t>
            </a:r>
          </a:p>
        </p:txBody>
      </p:sp>
      <p:sp>
        <p:nvSpPr>
          <p:cNvPr id="4" name="">
            <a:extLst xmlns:a="http://schemas.openxmlformats.org/drawingml/2006/main">
              <a:ext uri="{FF2B5EF4-FFF2-40B4-BE49-F238E27FC236}">
                <a16:creationId xmlns:a16="http://schemas.microsoft.com/office/drawing/2014/main" id="{2C5E1B42-62CA-4773-AA38-6BEA7B812721}"/>
              </a:ext>
            </a:extLst>
          </p:cNvPr>
          <p:cNvSpPr>
            <a:spLocks xmlns:a="http://schemas.openxmlformats.org/drawingml/2006/main" noGrp="1"/>
          </p:cNvSpPr>
          <p:nvPr/>
        </p:nvSpPr>
        <p:spPr>
          <a:xfrm xmlns:a="http://schemas.openxmlformats.org/drawingml/2006/main">
            <a:off x="809625" y="22955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4171C"/>
                </a:solidFill>
                <a:latin typeface="Consolas"/>
                <a:ea typeface="Consolas"/>
                <a:cs typeface="Consolas"/>
              </a:defRPr>
            </a:pPr>
            <a:r>
              <a:rPr sz="1650" b="0">
                <a:solidFill>
                  <a:srgbClr val="14171C"/>
                </a:solidFill>
                <a:latin typeface="Consolas"/>
                <a:ea typeface="Consolas"/>
                <a:cs typeface="Consolas"/>
              </a:rPr>
              <a:t>G = P × Y = 11.0 × 4.98 = 54.78 kWh/day</a:t>
            </a:r>
          </a:p>
          <a:p xmlns:a="http://schemas.openxmlformats.org/drawingml/2006/main">
            <a:pPr>
              <a:defRPr sz="1650" b="0">
                <a:solidFill>
                  <a:srgbClr val="14171C"/>
                </a:solidFill>
                <a:latin typeface="Consolas"/>
                <a:ea typeface="Consolas"/>
                <a:cs typeface="Consolas"/>
              </a:defRPr>
            </a:pPr>
            <a:r>
              <a:rPr sz="1650" b="0">
                <a:solidFill>
                  <a:srgbClr val="14171C"/>
                </a:solidFill>
                <a:latin typeface="Consolas"/>
                <a:ea typeface="Consolas"/>
                <a:cs typeface="Consolas"/>
              </a:rPr>
              <a:t>Direct = min(G, D) = 40.35; surplus = G − Direct = 14.43</a:t>
            </a:r>
          </a:p>
        </p:txBody>
      </p:sp>
      <p:sp>
        <p:nvSpPr>
          <p:cNvPr id="5" name="">
            <a:extLst xmlns:a="http://schemas.openxmlformats.org/drawingml/2006/main">
              <a:ext uri="{FF2B5EF4-FFF2-40B4-BE49-F238E27FC236}">
                <a16:creationId xmlns:a16="http://schemas.microsoft.com/office/drawing/2014/main" id="{7BBE50A9-F183-4B98-95B1-44998CA3FC3D}"/>
              </a:ext>
            </a:extLst>
          </p:cNvPr>
          <p:cNvSpPr>
            <a:spLocks xmlns:a="http://schemas.openxmlformats.org/drawingml/2006/main" noGrp="1"/>
          </p:cNvSpPr>
          <p:nvPr/>
        </p:nvSpPr>
        <p:spPr>
          <a:xfrm xmlns:a="http://schemas.openxmlformats.org/drawingml/2006/main">
            <a:off x="809625" y="2905125"/>
            <a:ext cx="10572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B84E0E"/>
                </a:solidFill>
                <a:latin typeface="Arial"/>
                <a:ea typeface="Arial"/>
                <a:cs typeface="Arial"/>
              </a:defRPr>
            </a:pPr>
            <a:r>
              <a:rPr sz="1650" b="1">
                <a:solidFill>
                  <a:srgbClr val="B84E0E"/>
                </a:solidFill>
                <a:latin typeface="Arial"/>
                <a:ea typeface="Arial"/>
                <a:cs typeface="Arial"/>
              </a:rPr>
              <a:t>Battery energy delivered to the loads</a:t>
            </a:r>
          </a:p>
        </p:txBody>
      </p:sp>
      <p:sp>
        <p:nvSpPr>
          <p:cNvPr id="6" name="">
            <a:extLst xmlns:a="http://schemas.openxmlformats.org/drawingml/2006/main">
              <a:ext uri="{FF2B5EF4-FFF2-40B4-BE49-F238E27FC236}">
                <a16:creationId xmlns:a16="http://schemas.microsoft.com/office/drawing/2014/main" id="{40CC8D32-108D-413C-873F-D5F0217533A9}"/>
              </a:ext>
            </a:extLst>
          </p:cNvPr>
          <p:cNvSpPr>
            <a:spLocks xmlns:a="http://schemas.openxmlformats.org/drawingml/2006/main" noGrp="1"/>
          </p:cNvSpPr>
          <p:nvPr/>
        </p:nvSpPr>
        <p:spPr>
          <a:xfrm xmlns:a="http://schemas.openxmlformats.org/drawingml/2006/main">
            <a:off x="809625" y="32385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4171C"/>
                </a:solidFill>
                <a:latin typeface="Consolas"/>
                <a:ea typeface="Consolas"/>
                <a:cs typeface="Consolas"/>
              </a:defRPr>
            </a:pPr>
            <a:r>
              <a:rPr sz="1650" b="0">
                <a:solidFill>
                  <a:srgbClr val="14171C"/>
                </a:solidFill>
                <a:latin typeface="Consolas"/>
                <a:ea typeface="Consolas"/>
                <a:cs typeface="Consolas"/>
              </a:rPr>
              <a:t>B = min(surplus × η, U × η, N)</a:t>
            </a:r>
          </a:p>
          <a:p xmlns:a="http://schemas.openxmlformats.org/drawingml/2006/main">
            <a:pPr>
              <a:defRPr sz="1650" b="0">
                <a:solidFill>
                  <a:srgbClr val="14171C"/>
                </a:solidFill>
                <a:latin typeface="Consolas"/>
                <a:ea typeface="Consolas"/>
                <a:cs typeface="Consolas"/>
              </a:defRPr>
            </a:pPr>
            <a:r>
              <a:rPr sz="1650" b="0">
                <a:solidFill>
                  <a:srgbClr val="14171C"/>
                </a:solidFill>
                <a:latin typeface="Consolas"/>
                <a:ea typeface="Consolas"/>
                <a:cs typeface="Consolas"/>
              </a:rPr>
              <a:t>  = min(13.71, 12.16, 40.35) = 12.16 kWh/day</a:t>
            </a:r>
          </a:p>
        </p:txBody>
      </p:sp>
      <p:sp>
        <p:nvSpPr>
          <p:cNvPr id="7" name="">
            <a:extLst xmlns:a="http://schemas.openxmlformats.org/drawingml/2006/main">
              <a:ext uri="{FF2B5EF4-FFF2-40B4-BE49-F238E27FC236}">
                <a16:creationId xmlns:a16="http://schemas.microsoft.com/office/drawing/2014/main" id="{C1D9CE8D-E8E8-4E4C-A1AD-2982C1061139}"/>
              </a:ext>
            </a:extLst>
          </p:cNvPr>
          <p:cNvSpPr>
            <a:spLocks xmlns:a="http://schemas.openxmlformats.org/drawingml/2006/main" noGrp="1"/>
          </p:cNvSpPr>
          <p:nvPr/>
        </p:nvSpPr>
        <p:spPr>
          <a:xfrm xmlns:a="http://schemas.openxmlformats.org/drawingml/2006/main">
            <a:off x="809625" y="3848100"/>
            <a:ext cx="10572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B84E0E"/>
                </a:solidFill>
                <a:latin typeface="Arial"/>
                <a:ea typeface="Arial"/>
                <a:cs typeface="Arial"/>
              </a:defRPr>
            </a:pPr>
            <a:r>
              <a:rPr sz="1650" b="1">
                <a:solidFill>
                  <a:srgbClr val="B84E0E"/>
                </a:solidFill>
                <a:latin typeface="Arial"/>
                <a:ea typeface="Arial"/>
                <a:cs typeface="Arial"/>
              </a:rPr>
              <a:t>Grid imports in the 30-day reference month</a:t>
            </a:r>
          </a:p>
        </p:txBody>
      </p:sp>
      <p:sp>
        <p:nvSpPr>
          <p:cNvPr id="8" name="">
            <a:extLst xmlns:a="http://schemas.openxmlformats.org/drawingml/2006/main">
              <a:ext uri="{FF2B5EF4-FFF2-40B4-BE49-F238E27FC236}">
                <a16:creationId xmlns:a16="http://schemas.microsoft.com/office/drawing/2014/main" id="{6C0A060F-4C00-488E-88FF-54A1A4E7CE5D}"/>
              </a:ext>
            </a:extLst>
          </p:cNvPr>
          <p:cNvSpPr>
            <a:spLocks xmlns:a="http://schemas.openxmlformats.org/drawingml/2006/main" noGrp="1"/>
          </p:cNvSpPr>
          <p:nvPr/>
        </p:nvSpPr>
        <p:spPr>
          <a:xfrm xmlns:a="http://schemas.openxmlformats.org/drawingml/2006/main">
            <a:off x="809625" y="41814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4171C"/>
                </a:solidFill>
                <a:latin typeface="Consolas"/>
                <a:ea typeface="Consolas"/>
                <a:cs typeface="Consolas"/>
              </a:defRPr>
            </a:pPr>
            <a:r>
              <a:rPr sz="1650" b="0">
                <a:solidFill>
                  <a:srgbClr val="14171C"/>
                </a:solidFill>
                <a:latin typeface="Consolas"/>
                <a:ea typeface="Consolas"/>
                <a:cs typeface="Consolas"/>
              </a:rPr>
              <a:t>M_grid = (E − Direct − B) × 30</a:t>
            </a:r>
          </a:p>
          <a:p xmlns:a="http://schemas.openxmlformats.org/drawingml/2006/main">
            <a:pPr>
              <a:defRPr sz="1650" b="0">
                <a:solidFill>
                  <a:srgbClr val="14171C"/>
                </a:solidFill>
                <a:latin typeface="Consolas"/>
                <a:ea typeface="Consolas"/>
                <a:cs typeface="Consolas"/>
              </a:defRPr>
            </a:pPr>
            <a:r>
              <a:rPr sz="1650" b="0">
                <a:solidFill>
                  <a:srgbClr val="14171C"/>
                </a:solidFill>
                <a:latin typeface="Consolas"/>
                <a:ea typeface="Consolas"/>
                <a:cs typeface="Consolas"/>
              </a:rPr>
              <a:t>       = (80.70 − 40.35 − 12.16) × 30 = 845.70 kWh</a:t>
            </a:r>
          </a:p>
        </p:txBody>
      </p:sp>
      <p:sp>
        <p:nvSpPr>
          <p:cNvPr id="9" name="">
            <a:extLst xmlns:a="http://schemas.openxmlformats.org/drawingml/2006/main">
              <a:ext uri="{FF2B5EF4-FFF2-40B4-BE49-F238E27FC236}">
                <a16:creationId xmlns:a16="http://schemas.microsoft.com/office/drawing/2014/main" id="{F060CE75-9234-4B48-B06B-A0D14C831F49}"/>
              </a:ext>
            </a:extLst>
          </p:cNvPr>
          <p:cNvSpPr>
            <a:spLocks xmlns:a="http://schemas.openxmlformats.org/drawingml/2006/main" noGrp="1"/>
          </p:cNvSpPr>
          <p:nvPr/>
        </p:nvSpPr>
        <p:spPr>
          <a:xfrm xmlns:a="http://schemas.openxmlformats.org/drawingml/2006/main">
            <a:off x="809625" y="4791075"/>
            <a:ext cx="10572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B84E0E"/>
                </a:solidFill>
                <a:latin typeface="Arial"/>
                <a:ea typeface="Arial"/>
                <a:cs typeface="Arial"/>
              </a:defRPr>
            </a:pPr>
            <a:r>
              <a:rPr sz="1650" b="1">
                <a:solidFill>
                  <a:srgbClr val="B84E0E"/>
                </a:solidFill>
                <a:latin typeface="Arial"/>
                <a:ea typeface="Arial"/>
                <a:cs typeface="Arial"/>
              </a:rPr>
              <a:t>New bill and monthly saving</a:t>
            </a:r>
          </a:p>
        </p:txBody>
      </p:sp>
      <p:sp>
        <p:nvSpPr>
          <p:cNvPr id="10" name="">
            <a:extLst xmlns:a="http://schemas.openxmlformats.org/drawingml/2006/main">
              <a:ext uri="{FF2B5EF4-FFF2-40B4-BE49-F238E27FC236}">
                <a16:creationId xmlns:a16="http://schemas.microsoft.com/office/drawing/2014/main" id="{60E327BC-05A4-4435-BC46-2B009D28B168}"/>
              </a:ext>
            </a:extLst>
          </p:cNvPr>
          <p:cNvSpPr>
            <a:spLocks xmlns:a="http://schemas.openxmlformats.org/drawingml/2006/main" noGrp="1"/>
          </p:cNvSpPr>
          <p:nvPr/>
        </p:nvSpPr>
        <p:spPr>
          <a:xfrm xmlns:a="http://schemas.openxmlformats.org/drawingml/2006/main">
            <a:off x="809625" y="51244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4171C"/>
                </a:solidFill>
                <a:latin typeface="Consolas"/>
                <a:ea typeface="Consolas"/>
                <a:cs typeface="Consolas"/>
              </a:defRPr>
            </a:pPr>
            <a:r>
              <a:rPr sz="1650" b="0">
                <a:solidFill>
                  <a:srgbClr val="14171C"/>
                </a:solidFill>
                <a:latin typeface="Consolas"/>
                <a:ea typeface="Consolas"/>
                <a:cs typeface="Consolas"/>
              </a:rPr>
              <a:t>Bill = 600 × 2.64 + 245.70 × 2.74 + 25 + 845.70 × 0.03 = 2,307.59</a:t>
            </a:r>
          </a:p>
          <a:p xmlns:a="http://schemas.openxmlformats.org/drawingml/2006/main">
            <a:pPr>
              <a:defRPr sz="1650" b="0">
                <a:solidFill>
                  <a:srgbClr val="14171C"/>
                </a:solidFill>
                <a:latin typeface="Consolas"/>
                <a:ea typeface="Consolas"/>
                <a:cs typeface="Consolas"/>
              </a:defRPr>
            </a:pPr>
            <a:r>
              <a:rPr sz="1650" b="0">
                <a:solidFill>
                  <a:srgbClr val="14171C"/>
                </a:solidFill>
                <a:latin typeface="Consolas"/>
                <a:ea typeface="Consolas"/>
                <a:cs typeface="Consolas"/>
              </a:rPr>
              <a:t>Saving = 6,867.22 − 2,307.59 = 4,559.63 EGP</a:t>
            </a:r>
          </a:p>
        </p:txBody>
      </p:sp>
      <p:sp>
        <p:nvSpPr>
          <p:cNvPr id="11" name="">
            <a:extLst xmlns:a="http://schemas.openxmlformats.org/drawingml/2006/main">
              <a:ext uri="{FF2B5EF4-FFF2-40B4-BE49-F238E27FC236}">
                <a16:creationId xmlns:a16="http://schemas.microsoft.com/office/drawing/2014/main" id="{D79D3D11-AC91-4CAE-8DE3-8AC9F38122FB}"/>
              </a:ext>
            </a:extLst>
          </p:cNvPr>
          <p:cNvSpPr>
            <a:spLocks xmlns:a="http://schemas.openxmlformats.org/drawingml/2006/main" noGrp="1"/>
          </p:cNvSpPr>
          <p:nvPr/>
        </p:nvSpPr>
        <p:spPr>
          <a:xfrm xmlns:a="http://schemas.openxmlformats.org/drawingml/2006/main">
            <a:off x="809625" y="6057900"/>
            <a:ext cx="10572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4A5260"/>
                </a:solidFill>
                <a:latin typeface="Arial"/>
                <a:ea typeface="Arial"/>
                <a:cs typeface="Arial"/>
              </a:defRPr>
            </a:pPr>
            <a:r>
              <a:rPr sz="1275" b="0">
                <a:solidFill>
                  <a:srgbClr val="4A5260"/>
                </a:solidFill>
                <a:latin typeface="Arial"/>
                <a:ea typeface="Arial"/>
                <a:cs typeface="Arial"/>
              </a:rPr>
              <a:t>This is a 30-day example at Y = 4.98. Solar charges the battery. Surplus export earns zero revenue.</a:t>
            </a:r>
          </a:p>
          <a:p xmlns:a="http://schemas.openxmlformats.org/drawingml/2006/main">
            <a:pPr>
              <a:defRPr sz="1275" b="0">
                <a:solidFill>
                  <a:srgbClr val="4A5260"/>
                </a:solidFill>
                <a:latin typeface="Arial"/>
                <a:ea typeface="Arial"/>
                <a:cs typeface="Arial"/>
              </a:defRPr>
            </a:pPr>
            <a:r>
              <a:rPr sz="1275" b="0">
                <a:solidFill>
                  <a:srgbClr val="4A5260"/>
                </a:solidFill>
                <a:latin typeface="Arial"/>
                <a:ea typeface="Arial"/>
                <a:cs typeface="Arial"/>
              </a:rPr>
              <a:t>Storage losses are applied once. The annual calculation on the next slide accounts for monthly solar variation.</a:t>
            </a:r>
          </a:p>
        </p:txBody>
      </p:sp>
    </p:spTree>
    <p:extLst>
      <p:ext uri="{BB962C8B-B14F-4D97-AF65-F5344CB8AC3E}">
        <p14:creationId xmlns:p14="http://schemas.microsoft.com/office/powerpoint/2010/main" val="1540567807"/>
      </p:ext>
    </p:extLst>
  </p:cSld>
</p:sld>
</file>

<file path=ppt/slides/slide14.xml><?xml version="1.0" encoding="utf-8"?>
<p:sld xmlns:p="http://schemas.openxmlformats.org/presentationml/2006/main">
  <p:cSld>
    <p:bg>
      <p:bgPr>
        <a:solidFill xmlns:a="http://schemas.openxmlformats.org/drawingml/2006/main">
          <a:srgbClr val="F4F5F7"/>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45077EB-E0E7-4CBB-A988-9AFBFB457B40}"/>
              </a:ext>
            </a:extLst>
          </p:cNvPr>
          <p:cNvSpPr>
            <a:spLocks xmlns:a="http://schemas.openxmlformats.org/drawingml/2006/main" noGrp="1"/>
          </p:cNvSpPr>
          <p:nvPr/>
        </p:nvSpPr>
        <p:spPr>
          <a:xfrm xmlns:a="http://schemas.openxmlformats.org/drawingml/2006/main">
            <a:off x="809625" y="80962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B84E0E"/>
                </a:solidFill>
                <a:latin typeface="Arial"/>
                <a:ea typeface="Arial"/>
                <a:cs typeface="Arial"/>
              </a:defRPr>
            </a:pPr>
            <a:r>
              <a:rPr sz="1350" b="1">
                <a:solidFill>
                  <a:srgbClr val="B84E0E"/>
                </a:solidFill>
                <a:latin typeface="Arial"/>
                <a:ea typeface="Arial"/>
                <a:cs typeface="Arial"/>
              </a:rPr>
              <a:t>OPTION B · SOLAR + ONE LV_16</a:t>
            </a:r>
          </a:p>
        </p:txBody>
      </p:sp>
      <p:sp>
        <p:nvSpPr>
          <p:cNvPr id="2" name="">
            <a:extLst xmlns:a="http://schemas.openxmlformats.org/drawingml/2006/main">
              <a:ext uri="{FF2B5EF4-FFF2-40B4-BE49-F238E27FC236}">
                <a16:creationId xmlns:a16="http://schemas.microsoft.com/office/drawing/2014/main" id="{7F7EF779-EC42-4C50-8643-91D528D500EB}"/>
              </a:ext>
            </a:extLst>
          </p:cNvPr>
          <p:cNvSpPr>
            <a:spLocks xmlns:a="http://schemas.openxmlformats.org/drawingml/2006/main" noGrp="1"/>
          </p:cNvSpPr>
          <p:nvPr/>
        </p:nvSpPr>
        <p:spPr>
          <a:xfrm xmlns:a="http://schemas.openxmlformats.org/drawingml/2006/main">
            <a:off x="809625" y="1114425"/>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4171C"/>
                </a:solidFill>
                <a:latin typeface="Arial"/>
                <a:ea typeface="Arial"/>
                <a:cs typeface="Arial"/>
              </a:defRPr>
            </a:pPr>
            <a:r>
              <a:rPr sz="3150" b="1">
                <a:solidFill>
                  <a:srgbClr val="14171C"/>
                </a:solidFill>
                <a:latin typeface="Arial"/>
                <a:ea typeface="Arial"/>
                <a:cs typeface="Arial"/>
              </a:rPr>
              <a:t>4. Twelve monthly results and annual saving</a:t>
            </a:r>
          </a:p>
        </p:txBody>
      </p:sp>
      <p:sp>
        <p:nvSpPr>
          <p:cNvPr id="3" name="">
            <a:extLst xmlns:a="http://schemas.openxmlformats.org/drawingml/2006/main">
              <a:ext uri="{FF2B5EF4-FFF2-40B4-BE49-F238E27FC236}">
                <a16:creationId xmlns:a16="http://schemas.microsoft.com/office/drawing/2014/main" id="{7DADCA2A-E65E-4535-AFE2-5884B17B834F}"/>
              </a:ext>
            </a:extLst>
          </p:cNvPr>
          <p:cNvSpPr>
            <a:spLocks xmlns:a="http://schemas.openxmlformats.org/drawingml/2006/main" noGrp="1"/>
          </p:cNvSpPr>
          <p:nvPr/>
        </p:nvSpPr>
        <p:spPr>
          <a:xfrm xmlns:a="http://schemas.openxmlformats.org/drawingml/2006/main">
            <a:off x="809625" y="1743075"/>
            <a:ext cx="10572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4A5260"/>
                </a:solidFill>
                <a:latin typeface="Arial"/>
                <a:ea typeface="Arial"/>
                <a:cs typeface="Arial"/>
              </a:defRPr>
            </a:pPr>
            <a:r>
              <a:rPr sz="1350" b="0">
                <a:solidFill>
                  <a:srgbClr val="4A5260"/>
                </a:solidFill>
                <a:latin typeface="Arial"/>
                <a:ea typeface="Arial"/>
                <a:cs typeface="Arial"/>
              </a:rPr>
              <a:t>Each month: daily PV = P × PVGIS monthly kWh/kWp ÷ days. Grid = (E − Direct − B) × days.</a:t>
            </a:r>
          </a:p>
        </p:txBody>
      </p:sp>
      <p:graphicFrame>
        <p:nvGraphicFramePr>
          <p:cNvPr id="9" name=""/>
          <p:cNvGraphicFramePr/>
          <p:nvPr/>
        </p:nvGraphicFramePr>
        <p:xfrm>
          <a:off xmlns:a="http://schemas.openxmlformats.org/drawingml/2006/main" x="809625" y="2095500"/>
          <a:ext xmlns:a="http://schemas.openxmlformats.org/drawingml/2006/main" cx="10572750" cy="4200525"/>
        </p:xfrm>
        <a:graphic xmlns:a="http://schemas.openxmlformats.org/drawingml/2006/main">
          <a:graphicData uri="http://schemas.openxmlformats.org/drawingml/2006/table">
            <a:tbl>
              <a:tblPr/>
              <a:tblGrid>
                <a:gridCol w="857250"/>
                <a:gridCol w="619125"/>
                <a:gridCol w="1428750"/>
                <a:gridCol w="1762125"/>
                <a:gridCol w="1905000"/>
                <a:gridCol w="1905000"/>
                <a:gridCol w="2095500"/>
              </a:tblGrid>
              <a:tr h="361950">
                <a:tc>
                  <a:txBody>
                    <a:bodyPr/>
                    <a:lstStyle/>
                    <a:p>
                      <a:r>
                        <a:rPr sz="1275" b="1">
                          <a:solidFill>
                            <a:srgbClr val="14171C"/>
                          </a:solidFill>
                          <a:latin typeface="Arial"/>
                          <a:ea typeface="Arial"/>
                          <a:cs typeface="Arial"/>
                        </a:rPr>
                        <a:t>Month</a:t>
                      </a:r>
                    </a:p>
                  </a:txBody>
                  <a:tcPr marL="85725" marR="85725" marT="19050" marB="19050">
                    <a:solidFill>
                      <a:srgbClr val="E6E9ED"/>
                    </a:solidFill>
                  </a:tcPr>
                </a:tc>
                <a:tc>
                  <a:txBody>
                    <a:bodyPr/>
                    <a:lstStyle/>
                    <a:p>
                      <a:r>
                        <a:rPr sz="1275" b="1">
                          <a:solidFill>
                            <a:srgbClr val="14171C"/>
                          </a:solidFill>
                          <a:latin typeface="Arial"/>
                          <a:ea typeface="Arial"/>
                          <a:cs typeface="Arial"/>
                        </a:rPr>
                        <a:t>Days</a:t>
                      </a:r>
                    </a:p>
                  </a:txBody>
                  <a:tcPr marL="85725" marR="85725" marT="19050" marB="19050">
                    <a:solidFill>
                      <a:srgbClr val="E6E9ED"/>
                    </a:solidFill>
                  </a:tcPr>
                </a:tc>
                <a:tc>
                  <a:txBody>
                    <a:bodyPr/>
                    <a:lstStyle/>
                    <a:p>
                      <a:r>
                        <a:rPr sz="1275" b="1">
                          <a:solidFill>
                            <a:srgbClr val="14171C"/>
                          </a:solidFill>
                          <a:latin typeface="Arial"/>
                          <a:ea typeface="Arial"/>
                          <a:cs typeface="Arial"/>
                        </a:rPr>
                        <a:t>PV kWh</a:t>
                      </a:r>
                    </a:p>
                  </a:txBody>
                  <a:tcPr marL="85725" marR="85725" marT="19050" marB="19050">
                    <a:solidFill>
                      <a:srgbClr val="E6E9ED"/>
                    </a:solidFill>
                  </a:tcPr>
                </a:tc>
                <a:tc>
                  <a:txBody>
                    <a:bodyPr/>
                    <a:lstStyle/>
                    <a:p>
                      <a:r>
                        <a:rPr sz="1275" b="1">
                          <a:solidFill>
                            <a:srgbClr val="14171C"/>
                          </a:solidFill>
                          <a:latin typeface="Arial"/>
                          <a:ea typeface="Arial"/>
                          <a:cs typeface="Arial"/>
                        </a:rPr>
                        <a:t>Grid kWh</a:t>
                      </a:r>
                    </a:p>
                  </a:txBody>
                  <a:tcPr marL="85725" marR="85725" marT="19050" marB="19050">
                    <a:solidFill>
                      <a:srgbClr val="E6E9ED"/>
                    </a:solidFill>
                  </a:tcPr>
                </a:tc>
                <a:tc>
                  <a:txBody>
                    <a:bodyPr/>
                    <a:lstStyle/>
                    <a:p>
                      <a:r>
                        <a:rPr sz="1275" b="1">
                          <a:solidFill>
                            <a:srgbClr val="14171C"/>
                          </a:solidFill>
                          <a:latin typeface="Arial"/>
                          <a:ea typeface="Arial"/>
                          <a:cs typeface="Arial"/>
                        </a:rPr>
                        <a:t>Baseline EGP</a:t>
                      </a:r>
                    </a:p>
                  </a:txBody>
                  <a:tcPr marL="85725" marR="85725" marT="19050" marB="19050">
                    <a:solidFill>
                      <a:srgbClr val="E6E9ED"/>
                    </a:solidFill>
                  </a:tcPr>
                </a:tc>
                <a:tc>
                  <a:txBody>
                    <a:bodyPr/>
                    <a:lstStyle/>
                    <a:p>
                      <a:r>
                        <a:rPr sz="1275" b="1">
                          <a:solidFill>
                            <a:srgbClr val="14171C"/>
                          </a:solidFill>
                          <a:latin typeface="Arial"/>
                          <a:ea typeface="Arial"/>
                          <a:cs typeface="Arial"/>
                        </a:rPr>
                        <a:t>New bill EGP</a:t>
                      </a:r>
                    </a:p>
                  </a:txBody>
                  <a:tcPr marL="85725" marR="85725" marT="19050" marB="19050">
                    <a:solidFill>
                      <a:srgbClr val="E6E9ED"/>
                    </a:solidFill>
                  </a:tcPr>
                </a:tc>
                <a:tc>
                  <a:txBody>
                    <a:bodyPr/>
                    <a:lstStyle/>
                    <a:p>
                      <a:r>
                        <a:rPr sz="1275" b="1">
                          <a:solidFill>
                            <a:srgbClr val="14171C"/>
                          </a:solidFill>
                          <a:latin typeface="Arial"/>
                          <a:ea typeface="Arial"/>
                          <a:cs typeface="Arial"/>
                        </a:rPr>
                        <a:t>Saving EGP</a:t>
                      </a:r>
                    </a:p>
                  </a:txBody>
                  <a:tcPr marL="85725" marR="85725" marT="19050" marB="19050">
                    <a:solidFill>
                      <a:srgbClr val="E6E9ED"/>
                    </a:solidFill>
                  </a:tcPr>
                </a:tc>
              </a:tr>
              <a:tr h="295275">
                <a:tc>
                  <a:txBody>
                    <a:bodyPr/>
                    <a:lstStyle/>
                    <a:p>
                      <a:r>
                        <a:rPr sz="1275" b="0">
                          <a:solidFill>
                            <a:srgbClr val="14171C"/>
                          </a:solidFill>
                          <a:latin typeface="Arial"/>
                          <a:ea typeface="Arial"/>
                          <a:cs typeface="Arial"/>
                        </a:rPr>
                        <a:t>Jan</a:t>
                      </a:r>
                    </a:p>
                  </a:txBody>
                  <a:tcPr marL="85725" marR="85725" marT="19050" marB="19050">
                    <a:solidFill>
                      <a:srgbClr val="FCFCFD"/>
                    </a:solidFill>
                  </a:tcPr>
                </a:tc>
                <a:tc>
                  <a:txBody>
                    <a:bodyPr/>
                    <a:lstStyle/>
                    <a:p>
                      <a:r>
                        <a:rPr sz="1275" b="0">
                          <a:solidFill>
                            <a:srgbClr val="14171C"/>
                          </a:solidFill>
                          <a:latin typeface="Arial"/>
                          <a:ea typeface="Arial"/>
                          <a:cs typeface="Arial"/>
                        </a:rPr>
                        <a:t>31</a:t>
                      </a:r>
                    </a:p>
                  </a:txBody>
                  <a:tcPr marL="85725" marR="85725" marT="19050" marB="19050">
                    <a:solidFill>
                      <a:srgbClr val="FCFCFD"/>
                    </a:solidFill>
                  </a:tcPr>
                </a:tc>
                <a:tc>
                  <a:txBody>
                    <a:bodyPr/>
                    <a:lstStyle/>
                    <a:p>
                      <a:r>
                        <a:rPr sz="1275" b="0">
                          <a:solidFill>
                            <a:srgbClr val="14171C"/>
                          </a:solidFill>
                          <a:latin typeface="Arial"/>
                          <a:ea typeface="Arial"/>
                          <a:cs typeface="Arial"/>
                        </a:rPr>
                        <a:t>1,444.30</a:t>
                      </a:r>
                    </a:p>
                  </a:txBody>
                  <a:tcPr marL="85725" marR="85725" marT="19050" marB="19050">
                    <a:solidFill>
                      <a:srgbClr val="FCFCFD"/>
                    </a:solidFill>
                  </a:tcPr>
                </a:tc>
                <a:tc>
                  <a:txBody>
                    <a:bodyPr/>
                    <a:lstStyle/>
                    <a:p>
                      <a:r>
                        <a:rPr sz="1275" b="0">
                          <a:solidFill>
                            <a:srgbClr val="14171C"/>
                          </a:solidFill>
                          <a:latin typeface="Arial"/>
                          <a:ea typeface="Arial"/>
                          <a:cs typeface="Arial"/>
                        </a:rPr>
                        <a:t>1,067.07</a:t>
                      </a:r>
                    </a:p>
                  </a:txBody>
                  <a:tcPr marL="85725" marR="85725" marT="19050" marB="19050">
                    <a:solidFill>
                      <a:srgbClr val="FCFCFD"/>
                    </a:solidFill>
                  </a:tcPr>
                </a:tc>
                <a:tc>
                  <a:txBody>
                    <a:bodyPr/>
                    <a:lstStyle/>
                    <a:p>
                      <a:r>
                        <a:rPr sz="1275" b="0">
                          <a:solidFill>
                            <a:srgbClr val="14171C"/>
                          </a:solidFill>
                          <a:latin typeface="Arial"/>
                          <a:ea typeface="Arial"/>
                          <a:cs typeface="Arial"/>
                        </a:rPr>
                        <a:t>7,094.79</a:t>
                      </a:r>
                    </a:p>
                  </a:txBody>
                  <a:tcPr marL="85725" marR="85725" marT="19050" marB="19050">
                    <a:solidFill>
                      <a:srgbClr val="FCFCFD"/>
                    </a:solidFill>
                  </a:tcPr>
                </a:tc>
                <a:tc>
                  <a:txBody>
                    <a:bodyPr/>
                    <a:lstStyle/>
                    <a:p>
                      <a:r>
                        <a:rPr sz="1275" b="0">
                          <a:solidFill>
                            <a:srgbClr val="14171C"/>
                          </a:solidFill>
                          <a:latin typeface="Arial"/>
                          <a:ea typeface="Arial"/>
                          <a:cs typeface="Arial"/>
                        </a:rPr>
                        <a:t>3,049.14</a:t>
                      </a:r>
                    </a:p>
                  </a:txBody>
                  <a:tcPr marL="85725" marR="85725" marT="19050" marB="19050">
                    <a:solidFill>
                      <a:srgbClr val="FCFCFD"/>
                    </a:solidFill>
                  </a:tcPr>
                </a:tc>
                <a:tc>
                  <a:txBody>
                    <a:bodyPr/>
                    <a:lstStyle/>
                    <a:p>
                      <a:r>
                        <a:rPr sz="1275" b="0">
                          <a:solidFill>
                            <a:srgbClr val="14171C"/>
                          </a:solidFill>
                          <a:latin typeface="Arial"/>
                          <a:ea typeface="Arial"/>
                          <a:cs typeface="Arial"/>
                        </a:rPr>
                        <a:t>4,045.65</a:t>
                      </a:r>
                    </a:p>
                  </a:txBody>
                  <a:tcPr marL="85725" marR="85725" marT="19050" marB="19050">
                    <a:solidFill>
                      <a:srgbClr val="FCFCFD"/>
                    </a:solidFill>
                  </a:tcPr>
                </a:tc>
              </a:tr>
              <a:tr h="295275">
                <a:tc>
                  <a:txBody>
                    <a:bodyPr/>
                    <a:lstStyle/>
                    <a:p>
                      <a:r>
                        <a:rPr sz="1275" b="0">
                          <a:solidFill>
                            <a:srgbClr val="14171C"/>
                          </a:solidFill>
                          <a:latin typeface="Arial"/>
                          <a:ea typeface="Arial"/>
                          <a:cs typeface="Arial"/>
                        </a:rPr>
                        <a:t>Feb</a:t>
                      </a:r>
                    </a:p>
                  </a:txBody>
                  <a:tcPr marL="85725" marR="85725" marT="19050" marB="19050">
                    <a:solidFill>
                      <a:srgbClr val="F4F5F7"/>
                    </a:solidFill>
                  </a:tcPr>
                </a:tc>
                <a:tc>
                  <a:txBody>
                    <a:bodyPr/>
                    <a:lstStyle/>
                    <a:p>
                      <a:r>
                        <a:rPr sz="1275" b="0">
                          <a:solidFill>
                            <a:srgbClr val="14171C"/>
                          </a:solidFill>
                          <a:latin typeface="Arial"/>
                          <a:ea typeface="Arial"/>
                          <a:cs typeface="Arial"/>
                        </a:rPr>
                        <a:t>28</a:t>
                      </a:r>
                    </a:p>
                  </a:txBody>
                  <a:tcPr marL="85725" marR="85725" marT="19050" marB="19050">
                    <a:solidFill>
                      <a:srgbClr val="F4F5F7"/>
                    </a:solidFill>
                  </a:tcPr>
                </a:tc>
                <a:tc>
                  <a:txBody>
                    <a:bodyPr/>
                    <a:lstStyle/>
                    <a:p>
                      <a:r>
                        <a:rPr sz="1275" b="0">
                          <a:solidFill>
                            <a:srgbClr val="14171C"/>
                          </a:solidFill>
                          <a:latin typeface="Arial"/>
                          <a:ea typeface="Arial"/>
                          <a:cs typeface="Arial"/>
                        </a:rPr>
                        <a:t>1,423.95</a:t>
                      </a:r>
                    </a:p>
                  </a:txBody>
                  <a:tcPr marL="85725" marR="85725" marT="19050" marB="19050">
                    <a:solidFill>
                      <a:srgbClr val="F4F5F7"/>
                    </a:solidFill>
                  </a:tcPr>
                </a:tc>
                <a:tc>
                  <a:txBody>
                    <a:bodyPr/>
                    <a:lstStyle/>
                    <a:p>
                      <a:r>
                        <a:rPr sz="1275" b="0">
                          <a:solidFill>
                            <a:srgbClr val="14171C"/>
                          </a:solidFill>
                          <a:latin typeface="Arial"/>
                          <a:ea typeface="Arial"/>
                          <a:cs typeface="Arial"/>
                        </a:rPr>
                        <a:t>850.36</a:t>
                      </a:r>
                    </a:p>
                  </a:txBody>
                  <a:tcPr marL="85725" marR="85725" marT="19050" marB="19050">
                    <a:solidFill>
                      <a:srgbClr val="F4F5F7"/>
                    </a:solidFill>
                  </a:tcPr>
                </a:tc>
                <a:tc>
                  <a:txBody>
                    <a:bodyPr/>
                    <a:lstStyle/>
                    <a:p>
                      <a:r>
                        <a:rPr sz="1275" b="0">
                          <a:solidFill>
                            <a:srgbClr val="14171C"/>
                          </a:solidFill>
                          <a:latin typeface="Arial"/>
                          <a:ea typeface="Arial"/>
                          <a:cs typeface="Arial"/>
                        </a:rPr>
                        <a:t>6,412.07</a:t>
                      </a:r>
                    </a:p>
                  </a:txBody>
                  <a:tcPr marL="85725" marR="85725" marT="19050" marB="19050">
                    <a:solidFill>
                      <a:srgbClr val="F4F5F7"/>
                    </a:solidFill>
                  </a:tcPr>
                </a:tc>
                <a:tc>
                  <a:txBody>
                    <a:bodyPr/>
                    <a:lstStyle/>
                    <a:p>
                      <a:r>
                        <a:rPr sz="1275" b="0">
                          <a:solidFill>
                            <a:srgbClr val="14171C"/>
                          </a:solidFill>
                          <a:latin typeface="Arial"/>
                          <a:ea typeface="Arial"/>
                          <a:cs typeface="Arial"/>
                        </a:rPr>
                        <a:t>2,320.49</a:t>
                      </a:r>
                    </a:p>
                  </a:txBody>
                  <a:tcPr marL="85725" marR="85725" marT="19050" marB="19050">
                    <a:solidFill>
                      <a:srgbClr val="F4F5F7"/>
                    </a:solidFill>
                  </a:tcPr>
                </a:tc>
                <a:tc>
                  <a:txBody>
                    <a:bodyPr/>
                    <a:lstStyle/>
                    <a:p>
                      <a:r>
                        <a:rPr sz="1275" b="0">
                          <a:solidFill>
                            <a:srgbClr val="14171C"/>
                          </a:solidFill>
                          <a:latin typeface="Arial"/>
                          <a:ea typeface="Arial"/>
                          <a:cs typeface="Arial"/>
                        </a:rPr>
                        <a:t>4,091.58</a:t>
                      </a:r>
                    </a:p>
                  </a:txBody>
                  <a:tcPr marL="85725" marR="85725" marT="19050" marB="19050">
                    <a:solidFill>
                      <a:srgbClr val="F4F5F7"/>
                    </a:solidFill>
                  </a:tcPr>
                </a:tc>
              </a:tr>
              <a:tr h="295275">
                <a:tc>
                  <a:txBody>
                    <a:bodyPr/>
                    <a:lstStyle/>
                    <a:p>
                      <a:r>
                        <a:rPr sz="1275" b="0">
                          <a:solidFill>
                            <a:srgbClr val="14171C"/>
                          </a:solidFill>
                          <a:latin typeface="Arial"/>
                          <a:ea typeface="Arial"/>
                          <a:cs typeface="Arial"/>
                        </a:rPr>
                        <a:t>Mar</a:t>
                      </a:r>
                    </a:p>
                  </a:txBody>
                  <a:tcPr marL="85725" marR="85725" marT="19050" marB="19050">
                    <a:solidFill>
                      <a:srgbClr val="FCFCFD"/>
                    </a:solidFill>
                  </a:tcPr>
                </a:tc>
                <a:tc>
                  <a:txBody>
                    <a:bodyPr/>
                    <a:lstStyle/>
                    <a:p>
                      <a:r>
                        <a:rPr sz="1275" b="0">
                          <a:solidFill>
                            <a:srgbClr val="14171C"/>
                          </a:solidFill>
                          <a:latin typeface="Arial"/>
                          <a:ea typeface="Arial"/>
                          <a:cs typeface="Arial"/>
                        </a:rPr>
                        <a:t>31</a:t>
                      </a:r>
                    </a:p>
                  </a:txBody>
                  <a:tcPr marL="85725" marR="85725" marT="19050" marB="19050">
                    <a:solidFill>
                      <a:srgbClr val="FCFCFD"/>
                    </a:solidFill>
                  </a:tcPr>
                </a:tc>
                <a:tc>
                  <a:txBody>
                    <a:bodyPr/>
                    <a:lstStyle/>
                    <a:p>
                      <a:r>
                        <a:rPr sz="1275" b="0">
                          <a:solidFill>
                            <a:srgbClr val="14171C"/>
                          </a:solidFill>
                          <a:latin typeface="Arial"/>
                          <a:ea typeface="Arial"/>
                          <a:cs typeface="Arial"/>
                        </a:rPr>
                        <a:t>1,771.66</a:t>
                      </a:r>
                    </a:p>
                  </a:txBody>
                  <a:tcPr marL="85725" marR="85725" marT="19050" marB="19050">
                    <a:solidFill>
                      <a:srgbClr val="FCFCFD"/>
                    </a:solidFill>
                  </a:tcPr>
                </a:tc>
                <a:tc>
                  <a:txBody>
                    <a:bodyPr/>
                    <a:lstStyle/>
                    <a:p>
                      <a:r>
                        <a:rPr sz="1275" b="0">
                          <a:solidFill>
                            <a:srgbClr val="14171C"/>
                          </a:solidFill>
                          <a:latin typeface="Arial"/>
                          <a:ea typeface="Arial"/>
                          <a:cs typeface="Arial"/>
                        </a:rPr>
                        <a:t>873.89</a:t>
                      </a:r>
                    </a:p>
                  </a:txBody>
                  <a:tcPr marL="85725" marR="85725" marT="19050" marB="19050">
                    <a:solidFill>
                      <a:srgbClr val="FCFCFD"/>
                    </a:solidFill>
                  </a:tcPr>
                </a:tc>
                <a:tc>
                  <a:txBody>
                    <a:bodyPr/>
                    <a:lstStyle/>
                    <a:p>
                      <a:r>
                        <a:rPr sz="1275" b="0">
                          <a:solidFill>
                            <a:srgbClr val="14171C"/>
                          </a:solidFill>
                          <a:latin typeface="Arial"/>
                          <a:ea typeface="Arial"/>
                          <a:cs typeface="Arial"/>
                        </a:rPr>
                        <a:t>7,094.79</a:t>
                      </a:r>
                    </a:p>
                  </a:txBody>
                  <a:tcPr marL="85725" marR="85725" marT="19050" marB="19050">
                    <a:solidFill>
                      <a:srgbClr val="FCFCFD"/>
                    </a:solidFill>
                  </a:tcPr>
                </a:tc>
                <a:tc>
                  <a:txBody>
                    <a:bodyPr/>
                    <a:lstStyle/>
                    <a:p>
                      <a:r>
                        <a:rPr sz="1275" b="0">
                          <a:solidFill>
                            <a:srgbClr val="14171C"/>
                          </a:solidFill>
                          <a:latin typeface="Arial"/>
                          <a:ea typeface="Arial"/>
                          <a:cs typeface="Arial"/>
                        </a:rPr>
                        <a:t>2,385.68</a:t>
                      </a:r>
                    </a:p>
                  </a:txBody>
                  <a:tcPr marL="85725" marR="85725" marT="19050" marB="19050">
                    <a:solidFill>
                      <a:srgbClr val="FCFCFD"/>
                    </a:solidFill>
                  </a:tcPr>
                </a:tc>
                <a:tc>
                  <a:txBody>
                    <a:bodyPr/>
                    <a:lstStyle/>
                    <a:p>
                      <a:r>
                        <a:rPr sz="1275" b="0">
                          <a:solidFill>
                            <a:srgbClr val="14171C"/>
                          </a:solidFill>
                          <a:latin typeface="Arial"/>
                          <a:ea typeface="Arial"/>
                          <a:cs typeface="Arial"/>
                        </a:rPr>
                        <a:t>4,709.12</a:t>
                      </a:r>
                    </a:p>
                  </a:txBody>
                  <a:tcPr marL="85725" marR="85725" marT="19050" marB="19050">
                    <a:solidFill>
                      <a:srgbClr val="FCFCFD"/>
                    </a:solidFill>
                  </a:tcPr>
                </a:tc>
              </a:tr>
              <a:tr h="295275">
                <a:tc>
                  <a:txBody>
                    <a:bodyPr/>
                    <a:lstStyle/>
                    <a:p>
                      <a:r>
                        <a:rPr sz="1275" b="0">
                          <a:solidFill>
                            <a:srgbClr val="14171C"/>
                          </a:solidFill>
                          <a:latin typeface="Arial"/>
                          <a:ea typeface="Arial"/>
                          <a:cs typeface="Arial"/>
                        </a:rPr>
                        <a:t>Apr</a:t>
                      </a:r>
                    </a:p>
                  </a:txBody>
                  <a:tcPr marL="85725" marR="85725" marT="19050" marB="19050">
                    <a:solidFill>
                      <a:srgbClr val="F4F5F7"/>
                    </a:solidFill>
                  </a:tcPr>
                </a:tc>
                <a:tc>
                  <a:txBody>
                    <a:bodyPr/>
                    <a:lstStyle/>
                    <a:p>
                      <a:r>
                        <a:rPr sz="1275" b="0">
                          <a:solidFill>
                            <a:srgbClr val="14171C"/>
                          </a:solidFill>
                          <a:latin typeface="Arial"/>
                          <a:ea typeface="Arial"/>
                          <a:cs typeface="Arial"/>
                        </a:rPr>
                        <a:t>30</a:t>
                      </a:r>
                    </a:p>
                  </a:txBody>
                  <a:tcPr marL="85725" marR="85725" marT="19050" marB="19050">
                    <a:solidFill>
                      <a:srgbClr val="F4F5F7"/>
                    </a:solidFill>
                  </a:tcPr>
                </a:tc>
                <a:tc>
                  <a:txBody>
                    <a:bodyPr/>
                    <a:lstStyle/>
                    <a:p>
                      <a:r>
                        <a:rPr sz="1275" b="0">
                          <a:solidFill>
                            <a:srgbClr val="14171C"/>
                          </a:solidFill>
                          <a:latin typeface="Arial"/>
                          <a:ea typeface="Arial"/>
                          <a:cs typeface="Arial"/>
                        </a:rPr>
                        <a:t>1,769.46</a:t>
                      </a:r>
                    </a:p>
                  </a:txBody>
                  <a:tcPr marL="85725" marR="85725" marT="19050" marB="19050">
                    <a:solidFill>
                      <a:srgbClr val="F4F5F7"/>
                    </a:solidFill>
                  </a:tcPr>
                </a:tc>
                <a:tc>
                  <a:txBody>
                    <a:bodyPr/>
                    <a:lstStyle/>
                    <a:p>
                      <a:r>
                        <a:rPr sz="1275" b="0">
                          <a:solidFill>
                            <a:srgbClr val="14171C"/>
                          </a:solidFill>
                          <a:latin typeface="Arial"/>
                          <a:ea typeface="Arial"/>
                          <a:cs typeface="Arial"/>
                        </a:rPr>
                        <a:t>845.70</a:t>
                      </a:r>
                    </a:p>
                  </a:txBody>
                  <a:tcPr marL="85725" marR="85725" marT="19050" marB="19050">
                    <a:solidFill>
                      <a:srgbClr val="F4F5F7"/>
                    </a:solidFill>
                  </a:tcPr>
                </a:tc>
                <a:tc>
                  <a:txBody>
                    <a:bodyPr/>
                    <a:lstStyle/>
                    <a:p>
                      <a:r>
                        <a:rPr sz="1275" b="0">
                          <a:solidFill>
                            <a:srgbClr val="14171C"/>
                          </a:solidFill>
                          <a:latin typeface="Arial"/>
                          <a:ea typeface="Arial"/>
                          <a:cs typeface="Arial"/>
                        </a:rPr>
                        <a:t>6,867.22</a:t>
                      </a:r>
                    </a:p>
                  </a:txBody>
                  <a:tcPr marL="85725" marR="85725" marT="19050" marB="19050">
                    <a:solidFill>
                      <a:srgbClr val="F4F5F7"/>
                    </a:solidFill>
                  </a:tcPr>
                </a:tc>
                <a:tc>
                  <a:txBody>
                    <a:bodyPr/>
                    <a:lstStyle/>
                    <a:p>
                      <a:r>
                        <a:rPr sz="1275" b="0">
                          <a:solidFill>
                            <a:srgbClr val="14171C"/>
                          </a:solidFill>
                          <a:latin typeface="Arial"/>
                          <a:ea typeface="Arial"/>
                          <a:cs typeface="Arial"/>
                        </a:rPr>
                        <a:t>2,307.59</a:t>
                      </a:r>
                    </a:p>
                  </a:txBody>
                  <a:tcPr marL="85725" marR="85725" marT="19050" marB="19050">
                    <a:solidFill>
                      <a:srgbClr val="F4F5F7"/>
                    </a:solidFill>
                  </a:tcPr>
                </a:tc>
                <a:tc>
                  <a:txBody>
                    <a:bodyPr/>
                    <a:lstStyle/>
                    <a:p>
                      <a:r>
                        <a:rPr sz="1275" b="0">
                          <a:solidFill>
                            <a:srgbClr val="14171C"/>
                          </a:solidFill>
                          <a:latin typeface="Arial"/>
                          <a:ea typeface="Arial"/>
                          <a:cs typeface="Arial"/>
                        </a:rPr>
                        <a:t>4,559.63</a:t>
                      </a:r>
                    </a:p>
                  </a:txBody>
                  <a:tcPr marL="85725" marR="85725" marT="19050" marB="19050">
                    <a:solidFill>
                      <a:srgbClr val="F4F5F7"/>
                    </a:solidFill>
                  </a:tcPr>
                </a:tc>
              </a:tr>
              <a:tr h="295275">
                <a:tc>
                  <a:txBody>
                    <a:bodyPr/>
                    <a:lstStyle/>
                    <a:p>
                      <a:r>
                        <a:rPr sz="1275" b="0">
                          <a:solidFill>
                            <a:srgbClr val="14171C"/>
                          </a:solidFill>
                          <a:latin typeface="Arial"/>
                          <a:ea typeface="Arial"/>
                          <a:cs typeface="Arial"/>
                        </a:rPr>
                        <a:t>May</a:t>
                      </a:r>
                    </a:p>
                  </a:txBody>
                  <a:tcPr marL="85725" marR="85725" marT="19050" marB="19050">
                    <a:solidFill>
                      <a:srgbClr val="FCFCFD"/>
                    </a:solidFill>
                  </a:tcPr>
                </a:tc>
                <a:tc>
                  <a:txBody>
                    <a:bodyPr/>
                    <a:lstStyle/>
                    <a:p>
                      <a:r>
                        <a:rPr sz="1275" b="0">
                          <a:solidFill>
                            <a:srgbClr val="14171C"/>
                          </a:solidFill>
                          <a:latin typeface="Arial"/>
                          <a:ea typeface="Arial"/>
                          <a:cs typeface="Arial"/>
                        </a:rPr>
                        <a:t>31</a:t>
                      </a:r>
                    </a:p>
                  </a:txBody>
                  <a:tcPr marL="85725" marR="85725" marT="19050" marB="19050">
                    <a:solidFill>
                      <a:srgbClr val="FCFCFD"/>
                    </a:solidFill>
                  </a:tcPr>
                </a:tc>
                <a:tc>
                  <a:txBody>
                    <a:bodyPr/>
                    <a:lstStyle/>
                    <a:p>
                      <a:r>
                        <a:rPr sz="1275" b="0">
                          <a:solidFill>
                            <a:srgbClr val="14171C"/>
                          </a:solidFill>
                          <a:latin typeface="Arial"/>
                          <a:ea typeface="Arial"/>
                          <a:cs typeface="Arial"/>
                        </a:rPr>
                        <a:t>1,789.92</a:t>
                      </a:r>
                    </a:p>
                  </a:txBody>
                  <a:tcPr marL="85725" marR="85725" marT="19050" marB="19050">
                    <a:solidFill>
                      <a:srgbClr val="FCFCFD"/>
                    </a:solidFill>
                  </a:tcPr>
                </a:tc>
                <a:tc>
                  <a:txBody>
                    <a:bodyPr/>
                    <a:lstStyle/>
                    <a:p>
                      <a:r>
                        <a:rPr sz="1275" b="0">
                          <a:solidFill>
                            <a:srgbClr val="14171C"/>
                          </a:solidFill>
                          <a:latin typeface="Arial"/>
                          <a:ea typeface="Arial"/>
                          <a:cs typeface="Arial"/>
                        </a:rPr>
                        <a:t>873.89</a:t>
                      </a:r>
                    </a:p>
                  </a:txBody>
                  <a:tcPr marL="85725" marR="85725" marT="19050" marB="19050">
                    <a:solidFill>
                      <a:srgbClr val="FCFCFD"/>
                    </a:solidFill>
                  </a:tcPr>
                </a:tc>
                <a:tc>
                  <a:txBody>
                    <a:bodyPr/>
                    <a:lstStyle/>
                    <a:p>
                      <a:r>
                        <a:rPr sz="1275" b="0">
                          <a:solidFill>
                            <a:srgbClr val="14171C"/>
                          </a:solidFill>
                          <a:latin typeface="Arial"/>
                          <a:ea typeface="Arial"/>
                          <a:cs typeface="Arial"/>
                        </a:rPr>
                        <a:t>7,094.79</a:t>
                      </a:r>
                    </a:p>
                  </a:txBody>
                  <a:tcPr marL="85725" marR="85725" marT="19050" marB="19050">
                    <a:solidFill>
                      <a:srgbClr val="FCFCFD"/>
                    </a:solidFill>
                  </a:tcPr>
                </a:tc>
                <a:tc>
                  <a:txBody>
                    <a:bodyPr/>
                    <a:lstStyle/>
                    <a:p>
                      <a:r>
                        <a:rPr sz="1275" b="0">
                          <a:solidFill>
                            <a:srgbClr val="14171C"/>
                          </a:solidFill>
                          <a:latin typeface="Arial"/>
                          <a:ea typeface="Arial"/>
                          <a:cs typeface="Arial"/>
                        </a:rPr>
                        <a:t>2,385.68</a:t>
                      </a:r>
                    </a:p>
                  </a:txBody>
                  <a:tcPr marL="85725" marR="85725" marT="19050" marB="19050">
                    <a:solidFill>
                      <a:srgbClr val="FCFCFD"/>
                    </a:solidFill>
                  </a:tcPr>
                </a:tc>
                <a:tc>
                  <a:txBody>
                    <a:bodyPr/>
                    <a:lstStyle/>
                    <a:p>
                      <a:r>
                        <a:rPr sz="1275" b="0">
                          <a:solidFill>
                            <a:srgbClr val="14171C"/>
                          </a:solidFill>
                          <a:latin typeface="Arial"/>
                          <a:ea typeface="Arial"/>
                          <a:cs typeface="Arial"/>
                        </a:rPr>
                        <a:t>4,709.12</a:t>
                      </a:r>
                    </a:p>
                  </a:txBody>
                  <a:tcPr marL="85725" marR="85725" marT="19050" marB="19050">
                    <a:solidFill>
                      <a:srgbClr val="FCFCFD"/>
                    </a:solidFill>
                  </a:tcPr>
                </a:tc>
              </a:tr>
              <a:tr h="295275">
                <a:tc>
                  <a:txBody>
                    <a:bodyPr/>
                    <a:lstStyle/>
                    <a:p>
                      <a:r>
                        <a:rPr sz="1275" b="0">
                          <a:solidFill>
                            <a:srgbClr val="14171C"/>
                          </a:solidFill>
                          <a:latin typeface="Arial"/>
                          <a:ea typeface="Arial"/>
                          <a:cs typeface="Arial"/>
                        </a:rPr>
                        <a:t>Jun</a:t>
                      </a:r>
                    </a:p>
                  </a:txBody>
                  <a:tcPr marL="85725" marR="85725" marT="19050" marB="19050">
                    <a:solidFill>
                      <a:srgbClr val="F4F5F7"/>
                    </a:solidFill>
                  </a:tcPr>
                </a:tc>
                <a:tc>
                  <a:txBody>
                    <a:bodyPr/>
                    <a:lstStyle/>
                    <a:p>
                      <a:r>
                        <a:rPr sz="1275" b="0">
                          <a:solidFill>
                            <a:srgbClr val="14171C"/>
                          </a:solidFill>
                          <a:latin typeface="Arial"/>
                          <a:ea typeface="Arial"/>
                          <a:cs typeface="Arial"/>
                        </a:rPr>
                        <a:t>30</a:t>
                      </a:r>
                    </a:p>
                  </a:txBody>
                  <a:tcPr marL="85725" marR="85725" marT="19050" marB="19050">
                    <a:solidFill>
                      <a:srgbClr val="F4F5F7"/>
                    </a:solidFill>
                  </a:tcPr>
                </a:tc>
                <a:tc>
                  <a:txBody>
                    <a:bodyPr/>
                    <a:lstStyle/>
                    <a:p>
                      <a:r>
                        <a:rPr sz="1275" b="0">
                          <a:solidFill>
                            <a:srgbClr val="14171C"/>
                          </a:solidFill>
                          <a:latin typeface="Arial"/>
                          <a:ea typeface="Arial"/>
                          <a:cs typeface="Arial"/>
                        </a:rPr>
                        <a:t>1,744.82</a:t>
                      </a:r>
                    </a:p>
                  </a:txBody>
                  <a:tcPr marL="85725" marR="85725" marT="19050" marB="19050">
                    <a:solidFill>
                      <a:srgbClr val="F4F5F7"/>
                    </a:solidFill>
                  </a:tcPr>
                </a:tc>
                <a:tc>
                  <a:txBody>
                    <a:bodyPr/>
                    <a:lstStyle/>
                    <a:p>
                      <a:r>
                        <a:rPr sz="1275" b="0">
                          <a:solidFill>
                            <a:srgbClr val="14171C"/>
                          </a:solidFill>
                          <a:latin typeface="Arial"/>
                          <a:ea typeface="Arial"/>
                          <a:cs typeface="Arial"/>
                        </a:rPr>
                        <a:t>845.70</a:t>
                      </a:r>
                    </a:p>
                  </a:txBody>
                  <a:tcPr marL="85725" marR="85725" marT="19050" marB="19050">
                    <a:solidFill>
                      <a:srgbClr val="F4F5F7"/>
                    </a:solidFill>
                  </a:tcPr>
                </a:tc>
                <a:tc>
                  <a:txBody>
                    <a:bodyPr/>
                    <a:lstStyle/>
                    <a:p>
                      <a:r>
                        <a:rPr sz="1275" b="0">
                          <a:solidFill>
                            <a:srgbClr val="14171C"/>
                          </a:solidFill>
                          <a:latin typeface="Arial"/>
                          <a:ea typeface="Arial"/>
                          <a:cs typeface="Arial"/>
                        </a:rPr>
                        <a:t>6,867.22</a:t>
                      </a:r>
                    </a:p>
                  </a:txBody>
                  <a:tcPr marL="85725" marR="85725" marT="19050" marB="19050">
                    <a:solidFill>
                      <a:srgbClr val="F4F5F7"/>
                    </a:solidFill>
                  </a:tcPr>
                </a:tc>
                <a:tc>
                  <a:txBody>
                    <a:bodyPr/>
                    <a:lstStyle/>
                    <a:p>
                      <a:r>
                        <a:rPr sz="1275" b="0">
                          <a:solidFill>
                            <a:srgbClr val="14171C"/>
                          </a:solidFill>
                          <a:latin typeface="Arial"/>
                          <a:ea typeface="Arial"/>
                          <a:cs typeface="Arial"/>
                        </a:rPr>
                        <a:t>2,307.59</a:t>
                      </a:r>
                    </a:p>
                  </a:txBody>
                  <a:tcPr marL="85725" marR="85725" marT="19050" marB="19050">
                    <a:solidFill>
                      <a:srgbClr val="F4F5F7"/>
                    </a:solidFill>
                  </a:tcPr>
                </a:tc>
                <a:tc>
                  <a:txBody>
                    <a:bodyPr/>
                    <a:lstStyle/>
                    <a:p>
                      <a:r>
                        <a:rPr sz="1275" b="0">
                          <a:solidFill>
                            <a:srgbClr val="14171C"/>
                          </a:solidFill>
                          <a:latin typeface="Arial"/>
                          <a:ea typeface="Arial"/>
                          <a:cs typeface="Arial"/>
                        </a:rPr>
                        <a:t>4,559.63</a:t>
                      </a:r>
                    </a:p>
                  </a:txBody>
                  <a:tcPr marL="85725" marR="85725" marT="19050" marB="19050">
                    <a:solidFill>
                      <a:srgbClr val="F4F5F7"/>
                    </a:solidFill>
                  </a:tcPr>
                </a:tc>
              </a:tr>
              <a:tr h="295275">
                <a:tc>
                  <a:txBody>
                    <a:bodyPr/>
                    <a:lstStyle/>
                    <a:p>
                      <a:r>
                        <a:rPr sz="1275" b="0">
                          <a:solidFill>
                            <a:srgbClr val="14171C"/>
                          </a:solidFill>
                          <a:latin typeface="Arial"/>
                          <a:ea typeface="Arial"/>
                          <a:cs typeface="Arial"/>
                        </a:rPr>
                        <a:t>Jul</a:t>
                      </a:r>
                    </a:p>
                  </a:txBody>
                  <a:tcPr marL="85725" marR="85725" marT="19050" marB="19050">
                    <a:solidFill>
                      <a:srgbClr val="FCFCFD"/>
                    </a:solidFill>
                  </a:tcPr>
                </a:tc>
                <a:tc>
                  <a:txBody>
                    <a:bodyPr/>
                    <a:lstStyle/>
                    <a:p>
                      <a:r>
                        <a:rPr sz="1275" b="0">
                          <a:solidFill>
                            <a:srgbClr val="14171C"/>
                          </a:solidFill>
                          <a:latin typeface="Arial"/>
                          <a:ea typeface="Arial"/>
                          <a:cs typeface="Arial"/>
                        </a:rPr>
                        <a:t>31</a:t>
                      </a:r>
                    </a:p>
                  </a:txBody>
                  <a:tcPr marL="85725" marR="85725" marT="19050" marB="19050">
                    <a:solidFill>
                      <a:srgbClr val="FCFCFD"/>
                    </a:solidFill>
                  </a:tcPr>
                </a:tc>
                <a:tc>
                  <a:txBody>
                    <a:bodyPr/>
                    <a:lstStyle/>
                    <a:p>
                      <a:r>
                        <a:rPr sz="1275" b="0">
                          <a:solidFill>
                            <a:srgbClr val="14171C"/>
                          </a:solidFill>
                          <a:latin typeface="Arial"/>
                          <a:ea typeface="Arial"/>
                          <a:cs typeface="Arial"/>
                        </a:rPr>
                        <a:t>1,811.26</a:t>
                      </a:r>
                    </a:p>
                  </a:txBody>
                  <a:tcPr marL="85725" marR="85725" marT="19050" marB="19050">
                    <a:solidFill>
                      <a:srgbClr val="FCFCFD"/>
                    </a:solidFill>
                  </a:tcPr>
                </a:tc>
                <a:tc>
                  <a:txBody>
                    <a:bodyPr/>
                    <a:lstStyle/>
                    <a:p>
                      <a:r>
                        <a:rPr sz="1275" b="0">
                          <a:solidFill>
                            <a:srgbClr val="14171C"/>
                          </a:solidFill>
                          <a:latin typeface="Arial"/>
                          <a:ea typeface="Arial"/>
                          <a:cs typeface="Arial"/>
                        </a:rPr>
                        <a:t>873.89</a:t>
                      </a:r>
                    </a:p>
                  </a:txBody>
                  <a:tcPr marL="85725" marR="85725" marT="19050" marB="19050">
                    <a:solidFill>
                      <a:srgbClr val="FCFCFD"/>
                    </a:solidFill>
                  </a:tcPr>
                </a:tc>
                <a:tc>
                  <a:txBody>
                    <a:bodyPr/>
                    <a:lstStyle/>
                    <a:p>
                      <a:r>
                        <a:rPr sz="1275" b="0">
                          <a:solidFill>
                            <a:srgbClr val="14171C"/>
                          </a:solidFill>
                          <a:latin typeface="Arial"/>
                          <a:ea typeface="Arial"/>
                          <a:cs typeface="Arial"/>
                        </a:rPr>
                        <a:t>7,094.79</a:t>
                      </a:r>
                    </a:p>
                  </a:txBody>
                  <a:tcPr marL="85725" marR="85725" marT="19050" marB="19050">
                    <a:solidFill>
                      <a:srgbClr val="FCFCFD"/>
                    </a:solidFill>
                  </a:tcPr>
                </a:tc>
                <a:tc>
                  <a:txBody>
                    <a:bodyPr/>
                    <a:lstStyle/>
                    <a:p>
                      <a:r>
                        <a:rPr sz="1275" b="0">
                          <a:solidFill>
                            <a:srgbClr val="14171C"/>
                          </a:solidFill>
                          <a:latin typeface="Arial"/>
                          <a:ea typeface="Arial"/>
                          <a:cs typeface="Arial"/>
                        </a:rPr>
                        <a:t>2,385.68</a:t>
                      </a:r>
                    </a:p>
                  </a:txBody>
                  <a:tcPr marL="85725" marR="85725" marT="19050" marB="19050">
                    <a:solidFill>
                      <a:srgbClr val="FCFCFD"/>
                    </a:solidFill>
                  </a:tcPr>
                </a:tc>
                <a:tc>
                  <a:txBody>
                    <a:bodyPr/>
                    <a:lstStyle/>
                    <a:p>
                      <a:r>
                        <a:rPr sz="1275" b="0">
                          <a:solidFill>
                            <a:srgbClr val="14171C"/>
                          </a:solidFill>
                          <a:latin typeface="Arial"/>
                          <a:ea typeface="Arial"/>
                          <a:cs typeface="Arial"/>
                        </a:rPr>
                        <a:t>4,709.12</a:t>
                      </a:r>
                    </a:p>
                  </a:txBody>
                  <a:tcPr marL="85725" marR="85725" marT="19050" marB="19050">
                    <a:solidFill>
                      <a:srgbClr val="FCFCFD"/>
                    </a:solidFill>
                  </a:tcPr>
                </a:tc>
              </a:tr>
              <a:tr h="295275">
                <a:tc>
                  <a:txBody>
                    <a:bodyPr/>
                    <a:lstStyle/>
                    <a:p>
                      <a:r>
                        <a:rPr sz="1275" b="0">
                          <a:solidFill>
                            <a:srgbClr val="14171C"/>
                          </a:solidFill>
                          <a:latin typeface="Arial"/>
                          <a:ea typeface="Arial"/>
                          <a:cs typeface="Arial"/>
                        </a:rPr>
                        <a:t>Aug</a:t>
                      </a:r>
                    </a:p>
                  </a:txBody>
                  <a:tcPr marL="85725" marR="85725" marT="19050" marB="19050">
                    <a:solidFill>
                      <a:srgbClr val="F4F5F7"/>
                    </a:solidFill>
                  </a:tcPr>
                </a:tc>
                <a:tc>
                  <a:txBody>
                    <a:bodyPr/>
                    <a:lstStyle/>
                    <a:p>
                      <a:r>
                        <a:rPr sz="1275" b="0">
                          <a:solidFill>
                            <a:srgbClr val="14171C"/>
                          </a:solidFill>
                          <a:latin typeface="Arial"/>
                          <a:ea typeface="Arial"/>
                          <a:cs typeface="Arial"/>
                        </a:rPr>
                        <a:t>31</a:t>
                      </a:r>
                    </a:p>
                  </a:txBody>
                  <a:tcPr marL="85725" marR="85725" marT="19050" marB="19050">
                    <a:solidFill>
                      <a:srgbClr val="F4F5F7"/>
                    </a:solidFill>
                  </a:tcPr>
                </a:tc>
                <a:tc>
                  <a:txBody>
                    <a:bodyPr/>
                    <a:lstStyle/>
                    <a:p>
                      <a:r>
                        <a:rPr sz="1275" b="0">
                          <a:solidFill>
                            <a:srgbClr val="14171C"/>
                          </a:solidFill>
                          <a:latin typeface="Arial"/>
                          <a:ea typeface="Arial"/>
                          <a:cs typeface="Arial"/>
                        </a:rPr>
                        <a:t>1,834.80</a:t>
                      </a:r>
                    </a:p>
                  </a:txBody>
                  <a:tcPr marL="85725" marR="85725" marT="19050" marB="19050">
                    <a:solidFill>
                      <a:srgbClr val="F4F5F7"/>
                    </a:solidFill>
                  </a:tcPr>
                </a:tc>
                <a:tc>
                  <a:txBody>
                    <a:bodyPr/>
                    <a:lstStyle/>
                    <a:p>
                      <a:r>
                        <a:rPr sz="1275" b="0">
                          <a:solidFill>
                            <a:srgbClr val="14171C"/>
                          </a:solidFill>
                          <a:latin typeface="Arial"/>
                          <a:ea typeface="Arial"/>
                          <a:cs typeface="Arial"/>
                        </a:rPr>
                        <a:t>873.89</a:t>
                      </a:r>
                    </a:p>
                  </a:txBody>
                  <a:tcPr marL="85725" marR="85725" marT="19050" marB="19050">
                    <a:solidFill>
                      <a:srgbClr val="F4F5F7"/>
                    </a:solidFill>
                  </a:tcPr>
                </a:tc>
                <a:tc>
                  <a:txBody>
                    <a:bodyPr/>
                    <a:lstStyle/>
                    <a:p>
                      <a:r>
                        <a:rPr sz="1275" b="0">
                          <a:solidFill>
                            <a:srgbClr val="14171C"/>
                          </a:solidFill>
                          <a:latin typeface="Arial"/>
                          <a:ea typeface="Arial"/>
                          <a:cs typeface="Arial"/>
                        </a:rPr>
                        <a:t>7,094.79</a:t>
                      </a:r>
                    </a:p>
                  </a:txBody>
                  <a:tcPr marL="85725" marR="85725" marT="19050" marB="19050">
                    <a:solidFill>
                      <a:srgbClr val="F4F5F7"/>
                    </a:solidFill>
                  </a:tcPr>
                </a:tc>
                <a:tc>
                  <a:txBody>
                    <a:bodyPr/>
                    <a:lstStyle/>
                    <a:p>
                      <a:r>
                        <a:rPr sz="1275" b="0">
                          <a:solidFill>
                            <a:srgbClr val="14171C"/>
                          </a:solidFill>
                          <a:latin typeface="Arial"/>
                          <a:ea typeface="Arial"/>
                          <a:cs typeface="Arial"/>
                        </a:rPr>
                        <a:t>2,385.68</a:t>
                      </a:r>
                    </a:p>
                  </a:txBody>
                  <a:tcPr marL="85725" marR="85725" marT="19050" marB="19050">
                    <a:solidFill>
                      <a:srgbClr val="F4F5F7"/>
                    </a:solidFill>
                  </a:tcPr>
                </a:tc>
                <a:tc>
                  <a:txBody>
                    <a:bodyPr/>
                    <a:lstStyle/>
                    <a:p>
                      <a:r>
                        <a:rPr sz="1275" b="0">
                          <a:solidFill>
                            <a:srgbClr val="14171C"/>
                          </a:solidFill>
                          <a:latin typeface="Arial"/>
                          <a:ea typeface="Arial"/>
                          <a:cs typeface="Arial"/>
                        </a:rPr>
                        <a:t>4,709.12</a:t>
                      </a:r>
                    </a:p>
                  </a:txBody>
                  <a:tcPr marL="85725" marR="85725" marT="19050" marB="19050">
                    <a:solidFill>
                      <a:srgbClr val="F4F5F7"/>
                    </a:solidFill>
                  </a:tcPr>
                </a:tc>
              </a:tr>
              <a:tr h="295275">
                <a:tc>
                  <a:txBody>
                    <a:bodyPr/>
                    <a:lstStyle/>
                    <a:p>
                      <a:r>
                        <a:rPr sz="1275" b="0">
                          <a:solidFill>
                            <a:srgbClr val="14171C"/>
                          </a:solidFill>
                          <a:latin typeface="Arial"/>
                          <a:ea typeface="Arial"/>
                          <a:cs typeface="Arial"/>
                        </a:rPr>
                        <a:t>Sep</a:t>
                      </a:r>
                    </a:p>
                  </a:txBody>
                  <a:tcPr marL="85725" marR="85725" marT="19050" marB="19050">
                    <a:solidFill>
                      <a:srgbClr val="FCFCFD"/>
                    </a:solidFill>
                  </a:tcPr>
                </a:tc>
                <a:tc>
                  <a:txBody>
                    <a:bodyPr/>
                    <a:lstStyle/>
                    <a:p>
                      <a:r>
                        <a:rPr sz="1275" b="0">
                          <a:solidFill>
                            <a:srgbClr val="14171C"/>
                          </a:solidFill>
                          <a:latin typeface="Arial"/>
                          <a:ea typeface="Arial"/>
                          <a:cs typeface="Arial"/>
                        </a:rPr>
                        <a:t>30</a:t>
                      </a:r>
                    </a:p>
                  </a:txBody>
                  <a:tcPr marL="85725" marR="85725" marT="19050" marB="19050">
                    <a:solidFill>
                      <a:srgbClr val="FCFCFD"/>
                    </a:solidFill>
                  </a:tcPr>
                </a:tc>
                <a:tc>
                  <a:txBody>
                    <a:bodyPr/>
                    <a:lstStyle/>
                    <a:p>
                      <a:r>
                        <a:rPr sz="1275" b="0">
                          <a:solidFill>
                            <a:srgbClr val="14171C"/>
                          </a:solidFill>
                          <a:latin typeface="Arial"/>
                          <a:ea typeface="Arial"/>
                          <a:cs typeface="Arial"/>
                        </a:rPr>
                        <a:t>1,771.00</a:t>
                      </a:r>
                    </a:p>
                  </a:txBody>
                  <a:tcPr marL="85725" marR="85725" marT="19050" marB="19050">
                    <a:solidFill>
                      <a:srgbClr val="FCFCFD"/>
                    </a:solidFill>
                  </a:tcPr>
                </a:tc>
                <a:tc>
                  <a:txBody>
                    <a:bodyPr/>
                    <a:lstStyle/>
                    <a:p>
                      <a:r>
                        <a:rPr sz="1275" b="0">
                          <a:solidFill>
                            <a:srgbClr val="14171C"/>
                          </a:solidFill>
                          <a:latin typeface="Arial"/>
                          <a:ea typeface="Arial"/>
                          <a:cs typeface="Arial"/>
                        </a:rPr>
                        <a:t>845.70</a:t>
                      </a:r>
                    </a:p>
                  </a:txBody>
                  <a:tcPr marL="85725" marR="85725" marT="19050" marB="19050">
                    <a:solidFill>
                      <a:srgbClr val="FCFCFD"/>
                    </a:solidFill>
                  </a:tcPr>
                </a:tc>
                <a:tc>
                  <a:txBody>
                    <a:bodyPr/>
                    <a:lstStyle/>
                    <a:p>
                      <a:r>
                        <a:rPr sz="1275" b="0">
                          <a:solidFill>
                            <a:srgbClr val="14171C"/>
                          </a:solidFill>
                          <a:latin typeface="Arial"/>
                          <a:ea typeface="Arial"/>
                          <a:cs typeface="Arial"/>
                        </a:rPr>
                        <a:t>6,867.22</a:t>
                      </a:r>
                    </a:p>
                  </a:txBody>
                  <a:tcPr marL="85725" marR="85725" marT="19050" marB="19050">
                    <a:solidFill>
                      <a:srgbClr val="FCFCFD"/>
                    </a:solidFill>
                  </a:tcPr>
                </a:tc>
                <a:tc>
                  <a:txBody>
                    <a:bodyPr/>
                    <a:lstStyle/>
                    <a:p>
                      <a:r>
                        <a:rPr sz="1275" b="0">
                          <a:solidFill>
                            <a:srgbClr val="14171C"/>
                          </a:solidFill>
                          <a:latin typeface="Arial"/>
                          <a:ea typeface="Arial"/>
                          <a:cs typeface="Arial"/>
                        </a:rPr>
                        <a:t>2,307.59</a:t>
                      </a:r>
                    </a:p>
                  </a:txBody>
                  <a:tcPr marL="85725" marR="85725" marT="19050" marB="19050">
                    <a:solidFill>
                      <a:srgbClr val="FCFCFD"/>
                    </a:solidFill>
                  </a:tcPr>
                </a:tc>
                <a:tc>
                  <a:txBody>
                    <a:bodyPr/>
                    <a:lstStyle/>
                    <a:p>
                      <a:r>
                        <a:rPr sz="1275" b="0">
                          <a:solidFill>
                            <a:srgbClr val="14171C"/>
                          </a:solidFill>
                          <a:latin typeface="Arial"/>
                          <a:ea typeface="Arial"/>
                          <a:cs typeface="Arial"/>
                        </a:rPr>
                        <a:t>4,559.63</a:t>
                      </a:r>
                    </a:p>
                  </a:txBody>
                  <a:tcPr marL="85725" marR="85725" marT="19050" marB="19050">
                    <a:solidFill>
                      <a:srgbClr val="FCFCFD"/>
                    </a:solidFill>
                  </a:tcPr>
                </a:tc>
              </a:tr>
              <a:tr h="295275">
                <a:tc>
                  <a:txBody>
                    <a:bodyPr/>
                    <a:lstStyle/>
                    <a:p>
                      <a:r>
                        <a:rPr sz="1275" b="0">
                          <a:solidFill>
                            <a:srgbClr val="14171C"/>
                          </a:solidFill>
                          <a:latin typeface="Arial"/>
                          <a:ea typeface="Arial"/>
                          <a:cs typeface="Arial"/>
                        </a:rPr>
                        <a:t>Oct</a:t>
                      </a:r>
                    </a:p>
                  </a:txBody>
                  <a:tcPr marL="85725" marR="85725" marT="19050" marB="19050">
                    <a:solidFill>
                      <a:srgbClr val="F4F5F7"/>
                    </a:solidFill>
                  </a:tcPr>
                </a:tc>
                <a:tc>
                  <a:txBody>
                    <a:bodyPr/>
                    <a:lstStyle/>
                    <a:p>
                      <a:r>
                        <a:rPr sz="1275" b="0">
                          <a:solidFill>
                            <a:srgbClr val="14171C"/>
                          </a:solidFill>
                          <a:latin typeface="Arial"/>
                          <a:ea typeface="Arial"/>
                          <a:cs typeface="Arial"/>
                        </a:rPr>
                        <a:t>31</a:t>
                      </a:r>
                    </a:p>
                  </a:txBody>
                  <a:tcPr marL="85725" marR="85725" marT="19050" marB="19050">
                    <a:solidFill>
                      <a:srgbClr val="F4F5F7"/>
                    </a:solidFill>
                  </a:tcPr>
                </a:tc>
                <a:tc>
                  <a:txBody>
                    <a:bodyPr/>
                    <a:lstStyle/>
                    <a:p>
                      <a:r>
                        <a:rPr sz="1275" b="0">
                          <a:solidFill>
                            <a:srgbClr val="14171C"/>
                          </a:solidFill>
                          <a:latin typeface="Arial"/>
                          <a:ea typeface="Arial"/>
                          <a:cs typeface="Arial"/>
                        </a:rPr>
                        <a:t>1,699.83</a:t>
                      </a:r>
                    </a:p>
                  </a:txBody>
                  <a:tcPr marL="85725" marR="85725" marT="19050" marB="19050">
                    <a:solidFill>
                      <a:srgbClr val="F4F5F7"/>
                    </a:solidFill>
                  </a:tcPr>
                </a:tc>
                <a:tc>
                  <a:txBody>
                    <a:bodyPr/>
                    <a:lstStyle/>
                    <a:p>
                      <a:r>
                        <a:rPr sz="1275" b="0">
                          <a:solidFill>
                            <a:srgbClr val="14171C"/>
                          </a:solidFill>
                          <a:latin typeface="Arial"/>
                          <a:ea typeface="Arial"/>
                          <a:cs typeface="Arial"/>
                        </a:rPr>
                        <a:t>873.89</a:t>
                      </a:r>
                    </a:p>
                  </a:txBody>
                  <a:tcPr marL="85725" marR="85725" marT="19050" marB="19050">
                    <a:solidFill>
                      <a:srgbClr val="F4F5F7"/>
                    </a:solidFill>
                  </a:tcPr>
                </a:tc>
                <a:tc>
                  <a:txBody>
                    <a:bodyPr/>
                    <a:lstStyle/>
                    <a:p>
                      <a:r>
                        <a:rPr sz="1275" b="0">
                          <a:solidFill>
                            <a:srgbClr val="14171C"/>
                          </a:solidFill>
                          <a:latin typeface="Arial"/>
                          <a:ea typeface="Arial"/>
                          <a:cs typeface="Arial"/>
                        </a:rPr>
                        <a:t>7,094.79</a:t>
                      </a:r>
                    </a:p>
                  </a:txBody>
                  <a:tcPr marL="85725" marR="85725" marT="19050" marB="19050">
                    <a:solidFill>
                      <a:srgbClr val="F4F5F7"/>
                    </a:solidFill>
                  </a:tcPr>
                </a:tc>
                <a:tc>
                  <a:txBody>
                    <a:bodyPr/>
                    <a:lstStyle/>
                    <a:p>
                      <a:r>
                        <a:rPr sz="1275" b="0">
                          <a:solidFill>
                            <a:srgbClr val="14171C"/>
                          </a:solidFill>
                          <a:latin typeface="Arial"/>
                          <a:ea typeface="Arial"/>
                          <a:cs typeface="Arial"/>
                        </a:rPr>
                        <a:t>2,385.68</a:t>
                      </a:r>
                    </a:p>
                  </a:txBody>
                  <a:tcPr marL="85725" marR="85725" marT="19050" marB="19050">
                    <a:solidFill>
                      <a:srgbClr val="F4F5F7"/>
                    </a:solidFill>
                  </a:tcPr>
                </a:tc>
                <a:tc>
                  <a:txBody>
                    <a:bodyPr/>
                    <a:lstStyle/>
                    <a:p>
                      <a:r>
                        <a:rPr sz="1275" b="0">
                          <a:solidFill>
                            <a:srgbClr val="14171C"/>
                          </a:solidFill>
                          <a:latin typeface="Arial"/>
                          <a:ea typeface="Arial"/>
                          <a:cs typeface="Arial"/>
                        </a:rPr>
                        <a:t>4,709.12</a:t>
                      </a:r>
                    </a:p>
                  </a:txBody>
                  <a:tcPr marL="85725" marR="85725" marT="19050" marB="19050">
                    <a:solidFill>
                      <a:srgbClr val="F4F5F7"/>
                    </a:solidFill>
                  </a:tcPr>
                </a:tc>
              </a:tr>
              <a:tr h="295275">
                <a:tc>
                  <a:txBody>
                    <a:bodyPr/>
                    <a:lstStyle/>
                    <a:p>
                      <a:r>
                        <a:rPr sz="1275" b="0">
                          <a:solidFill>
                            <a:srgbClr val="14171C"/>
                          </a:solidFill>
                          <a:latin typeface="Arial"/>
                          <a:ea typeface="Arial"/>
                          <a:cs typeface="Arial"/>
                        </a:rPr>
                        <a:t>Nov</a:t>
                      </a:r>
                    </a:p>
                  </a:txBody>
                  <a:tcPr marL="85725" marR="85725" marT="19050" marB="19050">
                    <a:solidFill>
                      <a:srgbClr val="FCFCFD"/>
                    </a:solidFill>
                  </a:tcPr>
                </a:tc>
                <a:tc>
                  <a:txBody>
                    <a:bodyPr/>
                    <a:lstStyle/>
                    <a:p>
                      <a:r>
                        <a:rPr sz="1275" b="0">
                          <a:solidFill>
                            <a:srgbClr val="14171C"/>
                          </a:solidFill>
                          <a:latin typeface="Arial"/>
                          <a:ea typeface="Arial"/>
                          <a:cs typeface="Arial"/>
                        </a:rPr>
                        <a:t>30</a:t>
                      </a:r>
                    </a:p>
                  </a:txBody>
                  <a:tcPr marL="85725" marR="85725" marT="19050" marB="19050">
                    <a:solidFill>
                      <a:srgbClr val="FCFCFD"/>
                    </a:solidFill>
                  </a:tcPr>
                </a:tc>
                <a:tc>
                  <a:txBody>
                    <a:bodyPr/>
                    <a:lstStyle/>
                    <a:p>
                      <a:r>
                        <a:rPr sz="1275" b="0">
                          <a:solidFill>
                            <a:srgbClr val="14171C"/>
                          </a:solidFill>
                          <a:latin typeface="Arial"/>
                          <a:ea typeface="Arial"/>
                          <a:cs typeface="Arial"/>
                        </a:rPr>
                        <a:t>1,506.67</a:t>
                      </a:r>
                    </a:p>
                  </a:txBody>
                  <a:tcPr marL="85725" marR="85725" marT="19050" marB="19050">
                    <a:solidFill>
                      <a:srgbClr val="FCFCFD"/>
                    </a:solidFill>
                  </a:tcPr>
                </a:tc>
                <a:tc>
                  <a:txBody>
                    <a:bodyPr/>
                    <a:lstStyle/>
                    <a:p>
                      <a:r>
                        <a:rPr sz="1275" b="0">
                          <a:solidFill>
                            <a:srgbClr val="14171C"/>
                          </a:solidFill>
                          <a:latin typeface="Arial"/>
                          <a:ea typeface="Arial"/>
                          <a:cs typeface="Arial"/>
                        </a:rPr>
                        <a:t>929.14</a:t>
                      </a:r>
                    </a:p>
                  </a:txBody>
                  <a:tcPr marL="85725" marR="85725" marT="19050" marB="19050">
                    <a:solidFill>
                      <a:srgbClr val="FCFCFD"/>
                    </a:solidFill>
                  </a:tcPr>
                </a:tc>
                <a:tc>
                  <a:txBody>
                    <a:bodyPr/>
                    <a:lstStyle/>
                    <a:p>
                      <a:r>
                        <a:rPr sz="1275" b="0">
                          <a:solidFill>
                            <a:srgbClr val="14171C"/>
                          </a:solidFill>
                          <a:latin typeface="Arial"/>
                          <a:ea typeface="Arial"/>
                          <a:cs typeface="Arial"/>
                        </a:rPr>
                        <a:t>6,867.22</a:t>
                      </a:r>
                    </a:p>
                  </a:txBody>
                  <a:tcPr marL="85725" marR="85725" marT="19050" marB="19050">
                    <a:solidFill>
                      <a:srgbClr val="FCFCFD"/>
                    </a:solidFill>
                  </a:tcPr>
                </a:tc>
                <a:tc>
                  <a:txBody>
                    <a:bodyPr/>
                    <a:lstStyle/>
                    <a:p>
                      <a:r>
                        <a:rPr sz="1275" b="0">
                          <a:solidFill>
                            <a:srgbClr val="14171C"/>
                          </a:solidFill>
                          <a:latin typeface="Arial"/>
                          <a:ea typeface="Arial"/>
                          <a:cs typeface="Arial"/>
                        </a:rPr>
                        <a:t>2,538.71</a:t>
                      </a:r>
                    </a:p>
                  </a:txBody>
                  <a:tcPr marL="85725" marR="85725" marT="19050" marB="19050">
                    <a:solidFill>
                      <a:srgbClr val="FCFCFD"/>
                    </a:solidFill>
                  </a:tcPr>
                </a:tc>
                <a:tc>
                  <a:txBody>
                    <a:bodyPr/>
                    <a:lstStyle/>
                    <a:p>
                      <a:r>
                        <a:rPr sz="1275" b="0">
                          <a:solidFill>
                            <a:srgbClr val="14171C"/>
                          </a:solidFill>
                          <a:latin typeface="Arial"/>
                          <a:ea typeface="Arial"/>
                          <a:cs typeface="Arial"/>
                        </a:rPr>
                        <a:t>4,328.51</a:t>
                      </a:r>
                    </a:p>
                  </a:txBody>
                  <a:tcPr marL="85725" marR="85725" marT="19050" marB="19050">
                    <a:solidFill>
                      <a:srgbClr val="FCFCFD"/>
                    </a:solidFill>
                  </a:tcPr>
                </a:tc>
              </a:tr>
              <a:tr h="295275">
                <a:tc>
                  <a:txBody>
                    <a:bodyPr/>
                    <a:lstStyle/>
                    <a:p>
                      <a:r>
                        <a:rPr sz="1275" b="0">
                          <a:solidFill>
                            <a:srgbClr val="14171C"/>
                          </a:solidFill>
                          <a:latin typeface="Arial"/>
                          <a:ea typeface="Arial"/>
                          <a:cs typeface="Arial"/>
                        </a:rPr>
                        <a:t>Dec</a:t>
                      </a:r>
                    </a:p>
                  </a:txBody>
                  <a:tcPr marL="85725" marR="85725" marT="19050" marB="19050">
                    <a:solidFill>
                      <a:srgbClr val="F4F5F7"/>
                    </a:solidFill>
                  </a:tcPr>
                </a:tc>
                <a:tc>
                  <a:txBody>
                    <a:bodyPr/>
                    <a:lstStyle/>
                    <a:p>
                      <a:r>
                        <a:rPr sz="1275" b="0">
                          <a:solidFill>
                            <a:srgbClr val="14171C"/>
                          </a:solidFill>
                          <a:latin typeface="Arial"/>
                          <a:ea typeface="Arial"/>
                          <a:cs typeface="Arial"/>
                        </a:rPr>
                        <a:t>31</a:t>
                      </a:r>
                    </a:p>
                  </a:txBody>
                  <a:tcPr marL="85725" marR="85725" marT="19050" marB="19050">
                    <a:solidFill>
                      <a:srgbClr val="F4F5F7"/>
                    </a:solidFill>
                  </a:tcPr>
                </a:tc>
                <a:tc>
                  <a:txBody>
                    <a:bodyPr/>
                    <a:lstStyle/>
                    <a:p>
                      <a:r>
                        <a:rPr sz="1275" b="0">
                          <a:solidFill>
                            <a:srgbClr val="14171C"/>
                          </a:solidFill>
                          <a:latin typeface="Arial"/>
                          <a:ea typeface="Arial"/>
                          <a:cs typeface="Arial"/>
                        </a:rPr>
                        <a:t>1,434.40</a:t>
                      </a:r>
                    </a:p>
                  </a:txBody>
                  <a:tcPr marL="85725" marR="85725" marT="19050" marB="19050">
                    <a:solidFill>
                      <a:srgbClr val="F4F5F7"/>
                    </a:solidFill>
                  </a:tcPr>
                </a:tc>
                <a:tc>
                  <a:txBody>
                    <a:bodyPr/>
                    <a:lstStyle/>
                    <a:p>
                      <a:r>
                        <a:rPr sz="1275" b="0">
                          <a:solidFill>
                            <a:srgbClr val="14171C"/>
                          </a:solidFill>
                          <a:latin typeface="Arial"/>
                          <a:ea typeface="Arial"/>
                          <a:cs typeface="Arial"/>
                        </a:rPr>
                        <a:t>1,076.48</a:t>
                      </a:r>
                    </a:p>
                  </a:txBody>
                  <a:tcPr marL="85725" marR="85725" marT="19050" marB="19050">
                    <a:solidFill>
                      <a:srgbClr val="F4F5F7"/>
                    </a:solidFill>
                  </a:tcPr>
                </a:tc>
                <a:tc>
                  <a:txBody>
                    <a:bodyPr/>
                    <a:lstStyle/>
                    <a:p>
                      <a:r>
                        <a:rPr sz="1275" b="0">
                          <a:solidFill>
                            <a:srgbClr val="14171C"/>
                          </a:solidFill>
                          <a:latin typeface="Arial"/>
                          <a:ea typeface="Arial"/>
                          <a:cs typeface="Arial"/>
                        </a:rPr>
                        <a:t>7,094.79</a:t>
                      </a:r>
                    </a:p>
                  </a:txBody>
                  <a:tcPr marL="85725" marR="85725" marT="19050" marB="19050">
                    <a:solidFill>
                      <a:srgbClr val="F4F5F7"/>
                    </a:solidFill>
                  </a:tcPr>
                </a:tc>
                <a:tc>
                  <a:txBody>
                    <a:bodyPr/>
                    <a:lstStyle/>
                    <a:p>
                      <a:r>
                        <a:rPr sz="1275" b="0">
                          <a:solidFill>
                            <a:srgbClr val="14171C"/>
                          </a:solidFill>
                          <a:latin typeface="Arial"/>
                          <a:ea typeface="Arial"/>
                          <a:cs typeface="Arial"/>
                        </a:rPr>
                        <a:t>3,075.67</a:t>
                      </a:r>
                    </a:p>
                  </a:txBody>
                  <a:tcPr marL="85725" marR="85725" marT="19050" marB="19050">
                    <a:solidFill>
                      <a:srgbClr val="F4F5F7"/>
                    </a:solidFill>
                  </a:tcPr>
                </a:tc>
                <a:tc>
                  <a:txBody>
                    <a:bodyPr/>
                    <a:lstStyle/>
                    <a:p>
                      <a:r>
                        <a:rPr sz="1275" b="0">
                          <a:solidFill>
                            <a:srgbClr val="14171C"/>
                          </a:solidFill>
                          <a:latin typeface="Arial"/>
                          <a:ea typeface="Arial"/>
                          <a:cs typeface="Arial"/>
                        </a:rPr>
                        <a:t>4,019.13</a:t>
                      </a:r>
                    </a:p>
                  </a:txBody>
                  <a:tcPr marL="85725" marR="85725" marT="19050" marB="19050">
                    <a:solidFill>
                      <a:srgbClr val="F4F5F7"/>
                    </a:solidFill>
                  </a:tcPr>
                </a:tc>
              </a:tr>
              <a:tr h="295275">
                <a:tc>
                  <a:txBody>
                    <a:bodyPr/>
                    <a:lstStyle/>
                    <a:p>
                      <a:r>
                        <a:rPr sz="1275" b="0">
                          <a:solidFill>
                            <a:srgbClr val="14171C"/>
                          </a:solidFill>
                          <a:latin typeface="Arial"/>
                          <a:ea typeface="Arial"/>
                          <a:cs typeface="Arial"/>
                        </a:rPr>
                        <a:t>Year</a:t>
                      </a:r>
                    </a:p>
                  </a:txBody>
                  <a:tcPr marL="85725" marR="85725" marT="19050" marB="19050">
                    <a:solidFill>
                      <a:srgbClr val="FCFCFD"/>
                    </a:solidFill>
                  </a:tcPr>
                </a:tc>
                <a:tc>
                  <a:txBody>
                    <a:bodyPr/>
                    <a:lstStyle/>
                    <a:p>
                      <a:r>
                        <a:rPr sz="1275" b="0">
                          <a:solidFill>
                            <a:srgbClr val="14171C"/>
                          </a:solidFill>
                          <a:latin typeface="Arial"/>
                          <a:ea typeface="Arial"/>
                          <a:cs typeface="Arial"/>
                        </a:rPr>
                        <a:t>365</a:t>
                      </a:r>
                    </a:p>
                  </a:txBody>
                  <a:tcPr marL="85725" marR="85725" marT="19050" marB="19050">
                    <a:solidFill>
                      <a:srgbClr val="FCFCFD"/>
                    </a:solidFill>
                  </a:tcPr>
                </a:tc>
                <a:tc>
                  <a:txBody>
                    <a:bodyPr/>
                    <a:lstStyle/>
                    <a:p>
                      <a:r>
                        <a:rPr sz="1275" b="0">
                          <a:solidFill>
                            <a:srgbClr val="14171C"/>
                          </a:solidFill>
                          <a:latin typeface="Arial"/>
                          <a:ea typeface="Arial"/>
                          <a:cs typeface="Arial"/>
                        </a:rPr>
                        <a:t>20,002.07</a:t>
                      </a:r>
                    </a:p>
                  </a:txBody>
                  <a:tcPr marL="85725" marR="85725" marT="19050" marB="19050">
                    <a:solidFill>
                      <a:srgbClr val="FCFCFD"/>
                    </a:solidFill>
                  </a:tcPr>
                </a:tc>
                <a:tc>
                  <a:txBody>
                    <a:bodyPr/>
                    <a:lstStyle/>
                    <a:p>
                      <a:r>
                        <a:rPr sz="1275" b="0">
                          <a:solidFill>
                            <a:srgbClr val="14171C"/>
                          </a:solidFill>
                          <a:latin typeface="Arial"/>
                          <a:ea typeface="Arial"/>
                          <a:cs typeface="Arial"/>
                        </a:rPr>
                        <a:t>10,829.60</a:t>
                      </a:r>
                    </a:p>
                  </a:txBody>
                  <a:tcPr marL="85725" marR="85725" marT="19050" marB="19050">
                    <a:solidFill>
                      <a:srgbClr val="FCFCFD"/>
                    </a:solidFill>
                  </a:tcPr>
                </a:tc>
                <a:tc>
                  <a:txBody>
                    <a:bodyPr/>
                    <a:lstStyle/>
                    <a:p>
                      <a:r>
                        <a:rPr sz="1275" b="0">
                          <a:solidFill>
                            <a:srgbClr val="14171C"/>
                          </a:solidFill>
                          <a:latin typeface="Arial"/>
                          <a:ea typeface="Arial"/>
                          <a:cs typeface="Arial"/>
                        </a:rPr>
                        <a:t>83,544.51</a:t>
                      </a:r>
                    </a:p>
                  </a:txBody>
                  <a:tcPr marL="85725" marR="85725" marT="19050" marB="19050">
                    <a:solidFill>
                      <a:srgbClr val="FCFCFD"/>
                    </a:solidFill>
                  </a:tcPr>
                </a:tc>
                <a:tc>
                  <a:txBody>
                    <a:bodyPr/>
                    <a:lstStyle/>
                    <a:p>
                      <a:r>
                        <a:rPr sz="1275" b="0">
                          <a:solidFill>
                            <a:srgbClr val="14171C"/>
                          </a:solidFill>
                          <a:latin typeface="Arial"/>
                          <a:ea typeface="Arial"/>
                          <a:cs typeface="Arial"/>
                        </a:rPr>
                        <a:t>29,835.16</a:t>
                      </a:r>
                    </a:p>
                  </a:txBody>
                  <a:tcPr marL="85725" marR="85725" marT="19050" marB="19050">
                    <a:solidFill>
                      <a:srgbClr val="FCFCFD"/>
                    </a:solidFill>
                  </a:tcPr>
                </a:tc>
                <a:tc>
                  <a:txBody>
                    <a:bodyPr/>
                    <a:lstStyle/>
                    <a:p>
                      <a:r>
                        <a:rPr sz="1275" b="0">
                          <a:solidFill>
                            <a:srgbClr val="14171C"/>
                          </a:solidFill>
                          <a:latin typeface="Arial"/>
                          <a:ea typeface="Arial"/>
                          <a:cs typeface="Arial"/>
                        </a:rPr>
                        <a:t>53,709.35</a:t>
                      </a:r>
                    </a:p>
                  </a:txBody>
                  <a:tcPr marL="85725" marR="85725" marT="19050" marB="19050">
                    <a:solidFill>
                      <a:srgbClr val="FCFCFD"/>
                    </a:solidFill>
                  </a:tcPr>
                </a:tc>
              </a:tr>
            </a:tbl>
          </a:graphicData>
        </a:graphic>
      </p:graphicFrame>
      <p:sp>
        <p:nvSpPr>
          <p:cNvPr id="5" name="">
            <a:extLst xmlns:a="http://schemas.openxmlformats.org/drawingml/2006/main">
              <a:ext uri="{FF2B5EF4-FFF2-40B4-BE49-F238E27FC236}">
                <a16:creationId xmlns:a16="http://schemas.microsoft.com/office/drawing/2014/main" id="{1599F6FE-E00F-4E6F-99B6-D6E541C9E00B}"/>
              </a:ext>
            </a:extLst>
          </p:cNvPr>
          <p:cNvSpPr>
            <a:spLocks xmlns:a="http://schemas.openxmlformats.org/drawingml/2006/main" noGrp="1"/>
          </p:cNvSpPr>
          <p:nvPr/>
        </p:nvSpPr>
        <p:spPr>
          <a:xfrm xmlns:a="http://schemas.openxmlformats.org/drawingml/2006/main">
            <a:off x="809625" y="6372225"/>
            <a:ext cx="10572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4A5260"/>
                </a:solidFill>
                <a:latin typeface="Arial"/>
                <a:ea typeface="Arial"/>
                <a:cs typeface="Arial"/>
              </a:defRPr>
            </a:pPr>
            <a:r>
              <a:rPr sz="1275" b="0">
                <a:solidFill>
                  <a:srgbClr val="4A5260"/>
                </a:solidFill>
                <a:latin typeface="Arial"/>
                <a:ea typeface="Arial"/>
                <a:cs typeface="Arial"/>
              </a:rPr>
              <a:t>Annual saving = sum of monthly savings = 53,709.35 EGP. Average/month = annual / 12 = 4,475.78 EGP.</a:t>
            </a:r>
          </a:p>
          <a:p xmlns:a="http://schemas.openxmlformats.org/drawingml/2006/main">
            <a:pPr>
              <a:defRPr sz="1275" b="0">
                <a:solidFill>
                  <a:srgbClr val="4A5260"/>
                </a:solidFill>
                <a:latin typeface="Arial"/>
                <a:ea typeface="Arial"/>
                <a:cs typeface="Arial"/>
              </a:defRPr>
            </a:pPr>
            <a:r>
              <a:rPr sz="1275" b="0">
                <a:solidFill>
                  <a:srgbClr val="4A5260"/>
                </a:solidFill>
                <a:latin typeface="Arial"/>
                <a:ea typeface="Arial"/>
                <a:cs typeface="Arial"/>
              </a:rPr>
              <a:t>Constant demand: 80.7 kWh/day, 50/50 split. Monthly average days, no hourly simulation. Displayed figures are rounded.</a:t>
            </a:r>
          </a:p>
        </p:txBody>
      </p:sp>
    </p:spTree>
    <p:extLst>
      <p:ext uri="{BB962C8B-B14F-4D97-AF65-F5344CB8AC3E}">
        <p14:creationId xmlns:p14="http://schemas.microsoft.com/office/powerpoint/2010/main" val="1757623056"/>
      </p:ext>
    </p:extLst>
  </p:cSld>
</p:sld>
</file>

<file path=ppt/slides/slide15.xml><?xml version="1.0" encoding="utf-8"?>
<p:sld xmlns:p="http://schemas.openxmlformats.org/presentationml/2006/main">
  <p:cSld>
    <p:bg>
      <p:bgPr>
        <a:solidFill xmlns:a="http://schemas.openxmlformats.org/drawingml/2006/main">
          <a:srgbClr val="F4F5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372DE41-9BFA-4470-8CA3-C4152164BA8A}"/>
              </a:ext>
            </a:extLst>
          </p:cNvPr>
          <p:cNvSpPr>
            <a:spLocks xmlns:a="http://schemas.openxmlformats.org/drawingml/2006/main" noGrp="1"/>
          </p:cNvSpPr>
          <p:nvPr/>
        </p:nvSpPr>
        <p:spPr>
          <a:xfrm xmlns:a="http://schemas.openxmlformats.org/drawingml/2006/main">
            <a:off x="809625" y="80962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B84E0E"/>
                </a:solidFill>
                <a:latin typeface="Arial"/>
                <a:ea typeface="Arial"/>
                <a:cs typeface="Arial"/>
              </a:defRPr>
            </a:pPr>
            <a:r>
              <a:rPr sz="1350" b="1">
                <a:solidFill>
                  <a:srgbClr val="B84E0E"/>
                </a:solidFill>
                <a:latin typeface="Arial"/>
                <a:ea typeface="Arial"/>
                <a:cs typeface="Arial"/>
              </a:rPr>
              <a:t>OPTION B · SOLAR + ONE LV_16</a:t>
            </a:r>
          </a:p>
        </p:txBody>
      </p:sp>
      <p:sp>
        <p:nvSpPr>
          <p:cNvPr id="2" name="">
            <a:extLst xmlns:a="http://schemas.openxmlformats.org/drawingml/2006/main">
              <a:ext uri="{FF2B5EF4-FFF2-40B4-BE49-F238E27FC236}">
                <a16:creationId xmlns:a16="http://schemas.microsoft.com/office/drawing/2014/main" id="{FD32EA34-E527-4F6F-B0A2-9D5B2ACE1B17}"/>
              </a:ext>
            </a:extLst>
          </p:cNvPr>
          <p:cNvSpPr>
            <a:spLocks xmlns:a="http://schemas.openxmlformats.org/drawingml/2006/main" noGrp="1"/>
          </p:cNvSpPr>
          <p:nvPr/>
        </p:nvSpPr>
        <p:spPr>
          <a:xfrm xmlns:a="http://schemas.openxmlformats.org/drawingml/2006/main">
            <a:off x="809625" y="1114425"/>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4171C"/>
                </a:solidFill>
                <a:latin typeface="Arial"/>
                <a:ea typeface="Arial"/>
                <a:cs typeface="Arial"/>
              </a:defRPr>
            </a:pPr>
            <a:r>
              <a:rPr sz="3150" b="1">
                <a:solidFill>
                  <a:srgbClr val="14171C"/>
                </a:solidFill>
                <a:latin typeface="Arial"/>
                <a:ea typeface="Arial"/>
                <a:cs typeface="Arial"/>
              </a:rPr>
              <a:t>5. Purchase payback and subscription</a:t>
            </a:r>
          </a:p>
        </p:txBody>
      </p:sp>
      <p:sp>
        <p:nvSpPr>
          <p:cNvPr id="3" name="">
            <a:extLst xmlns:a="http://schemas.openxmlformats.org/drawingml/2006/main">
              <a:ext uri="{FF2B5EF4-FFF2-40B4-BE49-F238E27FC236}">
                <a16:creationId xmlns:a16="http://schemas.microsoft.com/office/drawing/2014/main" id="{F8504722-0BA8-4CB8-8744-4EB10AE76922}"/>
              </a:ext>
            </a:extLst>
          </p:cNvPr>
          <p:cNvSpPr>
            <a:spLocks xmlns:a="http://schemas.openxmlformats.org/drawingml/2006/main" noGrp="1"/>
          </p:cNvSpPr>
          <p:nvPr/>
        </p:nvSpPr>
        <p:spPr>
          <a:xfrm xmlns:a="http://schemas.openxmlformats.org/drawingml/2006/main">
            <a:off x="809625" y="1895475"/>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B84E0E"/>
                </a:solidFill>
                <a:latin typeface="Consolas"/>
                <a:ea typeface="Consolas"/>
                <a:cs typeface="Consolas"/>
              </a:defRPr>
            </a:pPr>
            <a:r>
              <a:rPr sz="1950" b="1">
                <a:solidFill>
                  <a:srgbClr val="B84E0E"/>
                </a:solidFill>
                <a:latin typeface="Consolas"/>
                <a:ea typeface="Consolas"/>
                <a:cs typeface="Consolas"/>
              </a:rPr>
              <a:t>Simple payback = price / annual saving</a:t>
            </a:r>
          </a:p>
          <a:p xmlns:a="http://schemas.openxmlformats.org/drawingml/2006/main">
            <a:pPr>
              <a:defRPr sz="1950" b="1">
                <a:solidFill>
                  <a:srgbClr val="B84E0E"/>
                </a:solidFill>
                <a:latin typeface="Consolas"/>
                <a:ea typeface="Consolas"/>
                <a:cs typeface="Consolas"/>
              </a:defRPr>
            </a:pPr>
            <a:r>
              <a:rPr sz="1950" b="1">
                <a:solidFill>
                  <a:srgbClr val="B84E0E"/>
                </a:solidFill>
                <a:latin typeface="Consolas"/>
                <a:ea typeface="Consolas"/>
                <a:cs typeface="Consolas"/>
              </a:rPr>
              <a:t>= 394,240 / 53,709.35 = 7.34 years</a:t>
            </a:r>
          </a:p>
        </p:txBody>
      </p:sp>
      <p:sp>
        <p:nvSpPr>
          <p:cNvPr id="4" name="">
            <a:extLst xmlns:a="http://schemas.openxmlformats.org/drawingml/2006/main">
              <a:ext uri="{FF2B5EF4-FFF2-40B4-BE49-F238E27FC236}">
                <a16:creationId xmlns:a16="http://schemas.microsoft.com/office/drawing/2014/main" id="{1010E7E8-63AC-47E2-8EE8-AB960918C700}"/>
              </a:ext>
            </a:extLst>
          </p:cNvPr>
          <p:cNvSpPr>
            <a:spLocks xmlns:a="http://schemas.openxmlformats.org/drawingml/2006/main" noGrp="1"/>
          </p:cNvSpPr>
          <p:nvPr/>
        </p:nvSpPr>
        <p:spPr>
          <a:xfrm xmlns:a="http://schemas.openxmlformats.org/drawingml/2006/main">
            <a:off x="809625" y="2895600"/>
            <a:ext cx="10572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4171C"/>
                </a:solidFill>
                <a:latin typeface="Consolas"/>
                <a:ea typeface="Consolas"/>
                <a:cs typeface="Consolas"/>
              </a:defRPr>
            </a:pPr>
            <a:r>
              <a:rPr sz="1725" b="0">
                <a:solidFill>
                  <a:srgbClr val="14171C"/>
                </a:solidFill>
                <a:latin typeface="Consolas"/>
                <a:ea typeface="Consolas"/>
                <a:cs typeface="Consolas"/>
              </a:rPr>
              <a:t>Monthly fee = price / (term in years × 12)</a:t>
            </a:r>
          </a:p>
          <a:p xmlns:a="http://schemas.openxmlformats.org/drawingml/2006/main">
            <a:pPr>
              <a:defRPr sz="1725" b="0">
                <a:solidFill>
                  <a:srgbClr val="14171C"/>
                </a:solidFill>
                <a:latin typeface="Consolas"/>
                <a:ea typeface="Consolas"/>
                <a:cs typeface="Consolas"/>
              </a:defRPr>
            </a:pPr>
            <a:r>
              <a:rPr sz="1725" b="0">
                <a:solidFill>
                  <a:srgbClr val="14171C"/>
                </a:solidFill>
                <a:latin typeface="Consolas"/>
                <a:ea typeface="Consolas"/>
                <a:cs typeface="Consolas"/>
              </a:rPr>
              <a:t>Average net benefit/month = annual saving / 12 − monthly fee</a:t>
            </a:r>
          </a:p>
        </p:txBody>
      </p:sp>
      <p:graphicFrame>
        <p:nvGraphicFramePr>
          <p:cNvPr id="12" name=""/>
          <p:cNvGraphicFramePr/>
          <p:nvPr/>
        </p:nvGraphicFramePr>
        <p:xfrm>
          <a:off xmlns:a="http://schemas.openxmlformats.org/drawingml/2006/main" x="809625" y="3762375"/>
          <a:ext xmlns:a="http://schemas.openxmlformats.org/drawingml/2006/main" cx="10572750" cy="1600200"/>
        </p:xfrm>
        <a:graphic xmlns:a="http://schemas.openxmlformats.org/drawingml/2006/main">
          <a:graphicData uri="http://schemas.openxmlformats.org/drawingml/2006/table">
            <a:tbl>
              <a:tblPr/>
              <a:tblGrid>
                <a:gridCol w="1524000"/>
                <a:gridCol w="3143250"/>
                <a:gridCol w="2857500"/>
                <a:gridCol w="3048000"/>
              </a:tblGrid>
              <a:tr h="400050">
                <a:tc>
                  <a:txBody>
                    <a:bodyPr/>
                    <a:lstStyle/>
                    <a:p>
                      <a:r>
                        <a:rPr sz="1575" b="1">
                          <a:solidFill>
                            <a:srgbClr val="14171C"/>
                          </a:solidFill>
                          <a:latin typeface="Arial"/>
                          <a:ea typeface="Arial"/>
                          <a:cs typeface="Arial"/>
                        </a:rPr>
                        <a:t>Term</a:t>
                      </a:r>
                    </a:p>
                  </a:txBody>
                  <a:tcPr marL="85725" marR="85725" marT="19050" marB="19050">
                    <a:solidFill>
                      <a:srgbClr val="E6E9ED"/>
                    </a:solidFill>
                  </a:tcPr>
                </a:tc>
                <a:tc>
                  <a:txBody>
                    <a:bodyPr/>
                    <a:lstStyle/>
                    <a:p>
                      <a:r>
                        <a:rPr sz="1575" b="1">
                          <a:solidFill>
                            <a:srgbClr val="14171C"/>
                          </a:solidFill>
                          <a:latin typeface="Arial"/>
                          <a:ea typeface="Arial"/>
                          <a:cs typeface="Arial"/>
                        </a:rPr>
                        <a:t>Fee calculation</a:t>
                      </a:r>
                    </a:p>
                  </a:txBody>
                  <a:tcPr marL="85725" marR="85725" marT="19050" marB="19050">
                    <a:solidFill>
                      <a:srgbClr val="E6E9ED"/>
                    </a:solidFill>
                  </a:tcPr>
                </a:tc>
                <a:tc>
                  <a:txBody>
                    <a:bodyPr/>
                    <a:lstStyle/>
                    <a:p>
                      <a:r>
                        <a:rPr sz="1575" b="1">
                          <a:solidFill>
                            <a:srgbClr val="14171C"/>
                          </a:solidFill>
                          <a:latin typeface="Arial"/>
                          <a:ea typeface="Arial"/>
                          <a:cs typeface="Arial"/>
                        </a:rPr>
                        <a:t>Fee EGP/month</a:t>
                      </a:r>
                    </a:p>
                  </a:txBody>
                  <a:tcPr marL="85725" marR="85725" marT="19050" marB="19050">
                    <a:solidFill>
                      <a:srgbClr val="E6E9ED"/>
                    </a:solidFill>
                  </a:tcPr>
                </a:tc>
                <a:tc>
                  <a:txBody>
                    <a:bodyPr/>
                    <a:lstStyle/>
                    <a:p>
                      <a:r>
                        <a:rPr sz="1575" b="1">
                          <a:solidFill>
                            <a:srgbClr val="14171C"/>
                          </a:solidFill>
                          <a:latin typeface="Arial"/>
                          <a:ea typeface="Arial"/>
                          <a:cs typeface="Arial"/>
                        </a:rPr>
                        <a:t>Avg. net EGP/month</a:t>
                      </a:r>
                    </a:p>
                  </a:txBody>
                  <a:tcPr marL="85725" marR="85725" marT="19050" marB="19050">
                    <a:solidFill>
                      <a:srgbClr val="E6E9ED"/>
                    </a:solidFill>
                  </a:tcPr>
                </a:tc>
              </a:tr>
              <a:tr h="400050">
                <a:tc>
                  <a:txBody>
                    <a:bodyPr/>
                    <a:lstStyle/>
                    <a:p>
                      <a:r>
                        <a:rPr sz="1575" b="0">
                          <a:solidFill>
                            <a:srgbClr val="14171C"/>
                          </a:solidFill>
                          <a:latin typeface="Arial"/>
                          <a:ea typeface="Arial"/>
                          <a:cs typeface="Arial"/>
                        </a:rPr>
                        <a:t>5 years</a:t>
                      </a:r>
                    </a:p>
                  </a:txBody>
                  <a:tcPr marL="85725" marR="85725" marT="19050" marB="19050">
                    <a:solidFill>
                      <a:srgbClr val="FCFCFD"/>
                    </a:solidFill>
                  </a:tcPr>
                </a:tc>
                <a:tc>
                  <a:txBody>
                    <a:bodyPr/>
                    <a:lstStyle/>
                    <a:p>
                      <a:r>
                        <a:rPr sz="1575" b="0">
                          <a:solidFill>
                            <a:srgbClr val="14171C"/>
                          </a:solidFill>
                          <a:latin typeface="Arial"/>
                          <a:ea typeface="Arial"/>
                          <a:cs typeface="Arial"/>
                        </a:rPr>
                        <a:t>394,240 / (5 × 12)</a:t>
                      </a:r>
                    </a:p>
                  </a:txBody>
                  <a:tcPr marL="85725" marR="85725" marT="19050" marB="19050">
                    <a:solidFill>
                      <a:srgbClr val="FCFCFD"/>
                    </a:solidFill>
                  </a:tcPr>
                </a:tc>
                <a:tc>
                  <a:txBody>
                    <a:bodyPr/>
                    <a:lstStyle/>
                    <a:p>
                      <a:r>
                        <a:rPr sz="1575" b="0">
                          <a:solidFill>
                            <a:srgbClr val="14171C"/>
                          </a:solidFill>
                          <a:latin typeface="Arial"/>
                          <a:ea typeface="Arial"/>
                          <a:cs typeface="Arial"/>
                        </a:rPr>
                        <a:t>6,570.67</a:t>
                      </a:r>
                    </a:p>
                  </a:txBody>
                  <a:tcPr marL="85725" marR="85725" marT="19050" marB="19050">
                    <a:solidFill>
                      <a:srgbClr val="FCFCFD"/>
                    </a:solidFill>
                  </a:tcPr>
                </a:tc>
                <a:tc>
                  <a:txBody>
                    <a:bodyPr/>
                    <a:lstStyle/>
                    <a:p>
                      <a:r>
                        <a:rPr sz="1575" b="0">
                          <a:solidFill>
                            <a:srgbClr val="14171C"/>
                          </a:solidFill>
                          <a:latin typeface="Arial"/>
                          <a:ea typeface="Arial"/>
                          <a:cs typeface="Arial"/>
                        </a:rPr>
                        <a:t>-2,094.89</a:t>
                      </a:r>
                    </a:p>
                  </a:txBody>
                  <a:tcPr marL="85725" marR="85725" marT="19050" marB="19050">
                    <a:solidFill>
                      <a:srgbClr val="FCFCFD"/>
                    </a:solidFill>
                  </a:tcPr>
                </a:tc>
              </a:tr>
              <a:tr h="400050">
                <a:tc>
                  <a:txBody>
                    <a:bodyPr/>
                    <a:lstStyle/>
                    <a:p>
                      <a:r>
                        <a:rPr sz="1575" b="0">
                          <a:solidFill>
                            <a:srgbClr val="14171C"/>
                          </a:solidFill>
                          <a:latin typeface="Arial"/>
                          <a:ea typeface="Arial"/>
                          <a:cs typeface="Arial"/>
                        </a:rPr>
                        <a:t>8 years</a:t>
                      </a:r>
                    </a:p>
                  </a:txBody>
                  <a:tcPr marL="85725" marR="85725" marT="19050" marB="19050">
                    <a:solidFill>
                      <a:srgbClr val="F4F5F7"/>
                    </a:solidFill>
                  </a:tcPr>
                </a:tc>
                <a:tc>
                  <a:txBody>
                    <a:bodyPr/>
                    <a:lstStyle/>
                    <a:p>
                      <a:r>
                        <a:rPr sz="1575" b="0">
                          <a:solidFill>
                            <a:srgbClr val="14171C"/>
                          </a:solidFill>
                          <a:latin typeface="Arial"/>
                          <a:ea typeface="Arial"/>
                          <a:cs typeface="Arial"/>
                        </a:rPr>
                        <a:t>394,240 / (8 × 12)</a:t>
                      </a:r>
                    </a:p>
                  </a:txBody>
                  <a:tcPr marL="85725" marR="85725" marT="19050" marB="19050">
                    <a:solidFill>
                      <a:srgbClr val="F4F5F7"/>
                    </a:solidFill>
                  </a:tcPr>
                </a:tc>
                <a:tc>
                  <a:txBody>
                    <a:bodyPr/>
                    <a:lstStyle/>
                    <a:p>
                      <a:r>
                        <a:rPr sz="1575" b="0">
                          <a:solidFill>
                            <a:srgbClr val="14171C"/>
                          </a:solidFill>
                          <a:latin typeface="Arial"/>
                          <a:ea typeface="Arial"/>
                          <a:cs typeface="Arial"/>
                        </a:rPr>
                        <a:t>4,106.67</a:t>
                      </a:r>
                    </a:p>
                  </a:txBody>
                  <a:tcPr marL="85725" marR="85725" marT="19050" marB="19050">
                    <a:solidFill>
                      <a:srgbClr val="F4F5F7"/>
                    </a:solidFill>
                  </a:tcPr>
                </a:tc>
                <a:tc>
                  <a:txBody>
                    <a:bodyPr/>
                    <a:lstStyle/>
                    <a:p>
                      <a:r>
                        <a:rPr sz="1575" b="0">
                          <a:solidFill>
                            <a:srgbClr val="14171C"/>
                          </a:solidFill>
                          <a:latin typeface="Arial"/>
                          <a:ea typeface="Arial"/>
                          <a:cs typeface="Arial"/>
                        </a:rPr>
                        <a:t>369.11</a:t>
                      </a:r>
                    </a:p>
                  </a:txBody>
                  <a:tcPr marL="85725" marR="85725" marT="19050" marB="19050">
                    <a:solidFill>
                      <a:srgbClr val="F4F5F7"/>
                    </a:solidFill>
                  </a:tcPr>
                </a:tc>
              </a:tr>
              <a:tr h="400050">
                <a:tc>
                  <a:txBody>
                    <a:bodyPr/>
                    <a:lstStyle/>
                    <a:p>
                      <a:r>
                        <a:rPr sz="1575" b="0">
                          <a:solidFill>
                            <a:srgbClr val="14171C"/>
                          </a:solidFill>
                          <a:latin typeface="Arial"/>
                          <a:ea typeface="Arial"/>
                          <a:cs typeface="Arial"/>
                        </a:rPr>
                        <a:t>10 years</a:t>
                      </a:r>
                    </a:p>
                  </a:txBody>
                  <a:tcPr marL="85725" marR="85725" marT="19050" marB="19050">
                    <a:solidFill>
                      <a:srgbClr val="FCFCFD"/>
                    </a:solidFill>
                  </a:tcPr>
                </a:tc>
                <a:tc>
                  <a:txBody>
                    <a:bodyPr/>
                    <a:lstStyle/>
                    <a:p>
                      <a:r>
                        <a:rPr sz="1575" b="0">
                          <a:solidFill>
                            <a:srgbClr val="14171C"/>
                          </a:solidFill>
                          <a:latin typeface="Arial"/>
                          <a:ea typeface="Arial"/>
                          <a:cs typeface="Arial"/>
                        </a:rPr>
                        <a:t>394,240 / (10 × 12)</a:t>
                      </a:r>
                    </a:p>
                  </a:txBody>
                  <a:tcPr marL="85725" marR="85725" marT="19050" marB="19050">
                    <a:solidFill>
                      <a:srgbClr val="FCFCFD"/>
                    </a:solidFill>
                  </a:tcPr>
                </a:tc>
                <a:tc>
                  <a:txBody>
                    <a:bodyPr/>
                    <a:lstStyle/>
                    <a:p>
                      <a:r>
                        <a:rPr sz="1575" b="0">
                          <a:solidFill>
                            <a:srgbClr val="14171C"/>
                          </a:solidFill>
                          <a:latin typeface="Arial"/>
                          <a:ea typeface="Arial"/>
                          <a:cs typeface="Arial"/>
                        </a:rPr>
                        <a:t>3,285.33</a:t>
                      </a:r>
                    </a:p>
                  </a:txBody>
                  <a:tcPr marL="85725" marR="85725" marT="19050" marB="19050">
                    <a:solidFill>
                      <a:srgbClr val="FCFCFD"/>
                    </a:solidFill>
                  </a:tcPr>
                </a:tc>
                <a:tc>
                  <a:txBody>
                    <a:bodyPr/>
                    <a:lstStyle/>
                    <a:p>
                      <a:r>
                        <a:rPr sz="1575" b="0">
                          <a:solidFill>
                            <a:srgbClr val="14171C"/>
                          </a:solidFill>
                          <a:latin typeface="Arial"/>
                          <a:ea typeface="Arial"/>
                          <a:cs typeface="Arial"/>
                        </a:rPr>
                        <a:t>1,190.45</a:t>
                      </a:r>
                    </a:p>
                  </a:txBody>
                  <a:tcPr marL="85725" marR="85725" marT="19050" marB="19050">
                    <a:solidFill>
                      <a:srgbClr val="FCFCFD"/>
                    </a:solidFill>
                  </a:tcPr>
                </a:tc>
              </a:tr>
            </a:tbl>
          </a:graphicData>
        </a:graphic>
      </p:graphicFrame>
      <p:sp>
        <p:nvSpPr>
          <p:cNvPr id="6" name="">
            <a:extLst xmlns:a="http://schemas.openxmlformats.org/drawingml/2006/main">
              <a:ext uri="{FF2B5EF4-FFF2-40B4-BE49-F238E27FC236}">
                <a16:creationId xmlns:a16="http://schemas.microsoft.com/office/drawing/2014/main" id="{22065DC0-AD3D-42A7-922C-5CF1726CB14A}"/>
              </a:ext>
            </a:extLst>
          </p:cNvPr>
          <p:cNvSpPr>
            <a:spLocks xmlns:a="http://schemas.openxmlformats.org/drawingml/2006/main" noGrp="1"/>
          </p:cNvSpPr>
          <p:nvPr/>
        </p:nvSpPr>
        <p:spPr>
          <a:xfrm xmlns:a="http://schemas.openxmlformats.org/drawingml/2006/main">
            <a:off x="809625" y="554355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4171C"/>
                </a:solidFill>
                <a:latin typeface="Arial"/>
                <a:ea typeface="Arial"/>
                <a:cs typeface="Arial"/>
              </a:defRPr>
            </a:pPr>
            <a:r>
              <a:rPr sz="1500" b="0">
                <a:solidFill>
                  <a:srgbClr val="14171C"/>
                </a:solidFill>
                <a:latin typeface="Arial"/>
                <a:ea typeface="Arial"/>
                <a:cs typeface="Arial"/>
              </a:rPr>
              <a:t>Break-even term = price / annual saving = 7.34 years, where the average net benefit is zero.</a:t>
            </a:r>
          </a:p>
        </p:txBody>
      </p:sp>
      <p:sp>
        <p:nvSpPr>
          <p:cNvPr id="7" name="">
            <a:extLst xmlns:a="http://schemas.openxmlformats.org/drawingml/2006/main">
              <a:ext uri="{FF2B5EF4-FFF2-40B4-BE49-F238E27FC236}">
                <a16:creationId xmlns:a16="http://schemas.microsoft.com/office/drawing/2014/main" id="{8888A379-5A56-46DB-8872-5A95B07246D6}"/>
              </a:ext>
            </a:extLst>
          </p:cNvPr>
          <p:cNvSpPr>
            <a:spLocks xmlns:a="http://schemas.openxmlformats.org/drawingml/2006/main" noGrp="1"/>
          </p:cNvSpPr>
          <p:nvPr/>
        </p:nvSpPr>
        <p:spPr>
          <a:xfrm xmlns:a="http://schemas.openxmlformats.org/drawingml/2006/main">
            <a:off x="809625" y="6057900"/>
            <a:ext cx="10572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4A5260"/>
                </a:solidFill>
                <a:latin typeface="Arial"/>
                <a:ea typeface="Arial"/>
                <a:cs typeface="Arial"/>
              </a:defRPr>
            </a:pPr>
            <a:r>
              <a:rPr sz="1275" b="0">
                <a:solidFill>
                  <a:srgbClr val="4A5260"/>
                </a:solidFill>
                <a:latin typeface="Arial"/>
                <a:ea typeface="Arial"/>
                <a:cs typeface="Arial"/>
              </a:rPr>
              <a:t>Illustrative recovery of selling price. No extra subscription margin, maintenance, insurance, financing or replacement.</a:t>
            </a:r>
          </a:p>
          <a:p xmlns:a="http://schemas.openxmlformats.org/drawingml/2006/main">
            <a:pPr>
              <a:defRPr sz="1275" b="0">
                <a:solidFill>
                  <a:srgbClr val="4A5260"/>
                </a:solidFill>
                <a:latin typeface="Arial"/>
                <a:ea typeface="Arial"/>
                <a:cs typeface="Arial"/>
              </a:defRPr>
            </a:pPr>
            <a:r>
              <a:rPr sz="1275" b="0">
                <a:solidFill>
                  <a:srgbClr val="4A5260"/>
                </a:solidFill>
                <a:latin typeface="Arial"/>
                <a:ea typeface="Arial"/>
                <a:cs typeface="Arial"/>
              </a:rPr>
              <a:t>No degradation or tariff increases. Monthly benefits vary. Simple payback is not a discounted return calculation.</a:t>
            </a:r>
          </a:p>
        </p:txBody>
      </p:sp>
    </p:spTree>
    <p:extLst>
      <p:ext uri="{BB962C8B-B14F-4D97-AF65-F5344CB8AC3E}">
        <p14:creationId xmlns:p14="http://schemas.microsoft.com/office/powerpoint/2010/main" val="1813286589"/>
      </p:ext>
    </p:extLst>
  </p:cSld>
</p:sld>
</file>

<file path=ppt/slides/slide16.xml><?xml version="1.0" encoding="utf-8"?>
<p:sld xmlns:p="http://schemas.openxmlformats.org/presentationml/2006/main">
  <p:cSld>
    <p:bg>
      <p:bgPr>
        <a:solidFill xmlns:a="http://schemas.openxmlformats.org/drawingml/2006/main">
          <a:srgbClr val="F4F5F7"/>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BA6405C-3698-4CB9-AB4B-E35AF1EF52E0}"/>
              </a:ext>
            </a:extLst>
          </p:cNvPr>
          <p:cNvSpPr>
            <a:spLocks xmlns:a="http://schemas.openxmlformats.org/drawingml/2006/main" noGrp="1"/>
          </p:cNvSpPr>
          <p:nvPr/>
        </p:nvSpPr>
        <p:spPr>
          <a:xfrm xmlns:a="http://schemas.openxmlformats.org/drawingml/2006/main">
            <a:off x="809625" y="80962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B84E0E"/>
                </a:solidFill>
                <a:latin typeface="Arial"/>
                <a:ea typeface="Arial"/>
                <a:cs typeface="Arial"/>
              </a:defRPr>
            </a:pPr>
            <a:r>
              <a:rPr sz="1350" b="1">
                <a:solidFill>
                  <a:srgbClr val="B84E0E"/>
                </a:solidFill>
                <a:latin typeface="Arial"/>
                <a:ea typeface="Arial"/>
                <a:cs typeface="Arial"/>
              </a:rPr>
              <a:t>OPTION C · SOLAR + TWO LV_32</a:t>
            </a:r>
          </a:p>
        </p:txBody>
      </p:sp>
      <p:sp>
        <p:nvSpPr>
          <p:cNvPr id="2" name="">
            <a:extLst xmlns:a="http://schemas.openxmlformats.org/drawingml/2006/main">
              <a:ext uri="{FF2B5EF4-FFF2-40B4-BE49-F238E27FC236}">
                <a16:creationId xmlns:a16="http://schemas.microsoft.com/office/drawing/2014/main" id="{B5B7B8C7-5304-44FF-A93E-EB0C971C2743}"/>
              </a:ext>
            </a:extLst>
          </p:cNvPr>
          <p:cNvSpPr>
            <a:spLocks xmlns:a="http://schemas.openxmlformats.org/drawingml/2006/main" noGrp="1"/>
          </p:cNvSpPr>
          <p:nvPr/>
        </p:nvSpPr>
        <p:spPr>
          <a:xfrm xmlns:a="http://schemas.openxmlformats.org/drawingml/2006/main">
            <a:off x="809625" y="1114425"/>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4171C"/>
                </a:solidFill>
                <a:latin typeface="Arial"/>
                <a:ea typeface="Arial"/>
                <a:cs typeface="Arial"/>
              </a:defRPr>
            </a:pPr>
            <a:r>
              <a:rPr sz="3150" b="1">
                <a:solidFill>
                  <a:srgbClr val="14171C"/>
                </a:solidFill>
                <a:latin typeface="Arial"/>
                <a:ea typeface="Arial"/>
                <a:cs typeface="Arial"/>
              </a:rPr>
              <a:t>1. Daily demand and system sizing</a:t>
            </a:r>
          </a:p>
        </p:txBody>
      </p:sp>
      <p:sp>
        <p:nvSpPr>
          <p:cNvPr id="3" name="">
            <a:extLst xmlns:a="http://schemas.openxmlformats.org/drawingml/2006/main">
              <a:ext uri="{FF2B5EF4-FFF2-40B4-BE49-F238E27FC236}">
                <a16:creationId xmlns:a16="http://schemas.microsoft.com/office/drawing/2014/main" id="{3FFD32BD-7016-4943-BBE8-22E74290C45F}"/>
              </a:ext>
            </a:extLst>
          </p:cNvPr>
          <p:cNvSpPr>
            <a:spLocks xmlns:a="http://schemas.openxmlformats.org/drawingml/2006/main" noGrp="1"/>
          </p:cNvSpPr>
          <p:nvPr/>
        </p:nvSpPr>
        <p:spPr>
          <a:xfrm xmlns:a="http://schemas.openxmlformats.org/drawingml/2006/main">
            <a:off x="809625" y="1962150"/>
            <a:ext cx="10572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B84E0E"/>
                </a:solidFill>
                <a:latin typeface="Arial"/>
                <a:ea typeface="Arial"/>
                <a:cs typeface="Arial"/>
              </a:defRPr>
            </a:pPr>
            <a:r>
              <a:rPr sz="1650" b="1">
                <a:solidFill>
                  <a:srgbClr val="B84E0E"/>
                </a:solidFill>
                <a:latin typeface="Arial"/>
                <a:ea typeface="Arial"/>
                <a:cs typeface="Arial"/>
              </a:rPr>
              <a:t>Daily demand and its split</a:t>
            </a:r>
          </a:p>
        </p:txBody>
      </p:sp>
      <p:sp>
        <p:nvSpPr>
          <p:cNvPr id="4" name="">
            <a:extLst xmlns:a="http://schemas.openxmlformats.org/drawingml/2006/main">
              <a:ext uri="{FF2B5EF4-FFF2-40B4-BE49-F238E27FC236}">
                <a16:creationId xmlns:a16="http://schemas.microsoft.com/office/drawing/2014/main" id="{B1B10FCF-DEE9-40BC-91AB-B36E6B0BF4F3}"/>
              </a:ext>
            </a:extLst>
          </p:cNvPr>
          <p:cNvSpPr>
            <a:spLocks xmlns:a="http://schemas.openxmlformats.org/drawingml/2006/main" noGrp="1"/>
          </p:cNvSpPr>
          <p:nvPr/>
        </p:nvSpPr>
        <p:spPr>
          <a:xfrm xmlns:a="http://schemas.openxmlformats.org/drawingml/2006/main">
            <a:off x="809625" y="22955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4171C"/>
                </a:solidFill>
                <a:latin typeface="Consolas"/>
                <a:ea typeface="Consolas"/>
                <a:cs typeface="Consolas"/>
              </a:defRPr>
            </a:pPr>
            <a:r>
              <a:rPr sz="1650" b="0">
                <a:solidFill>
                  <a:srgbClr val="14171C"/>
                </a:solidFill>
                <a:latin typeface="Consolas"/>
                <a:ea typeface="Consolas"/>
                <a:cs typeface="Consolas"/>
              </a:rPr>
              <a:t>E = 2,421 / 30 = 80.70 kWh/day; D = N = E × 50% = 40.35</a:t>
            </a:r>
          </a:p>
        </p:txBody>
      </p:sp>
      <p:sp>
        <p:nvSpPr>
          <p:cNvPr id="5" name="">
            <a:extLst xmlns:a="http://schemas.openxmlformats.org/drawingml/2006/main">
              <a:ext uri="{FF2B5EF4-FFF2-40B4-BE49-F238E27FC236}">
                <a16:creationId xmlns:a16="http://schemas.microsoft.com/office/drawing/2014/main" id="{724E3BE9-4649-46DE-B773-6D98AE82194F}"/>
              </a:ext>
            </a:extLst>
          </p:cNvPr>
          <p:cNvSpPr>
            <a:spLocks xmlns:a="http://schemas.openxmlformats.org/drawingml/2006/main" noGrp="1"/>
          </p:cNvSpPr>
          <p:nvPr/>
        </p:nvSpPr>
        <p:spPr>
          <a:xfrm xmlns:a="http://schemas.openxmlformats.org/drawingml/2006/main">
            <a:off x="809625" y="2905125"/>
            <a:ext cx="10572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B84E0E"/>
                </a:solidFill>
                <a:latin typeface="Arial"/>
                <a:ea typeface="Arial"/>
                <a:cs typeface="Arial"/>
              </a:defRPr>
            </a:pPr>
            <a:r>
              <a:rPr sz="1650" b="1">
                <a:solidFill>
                  <a:srgbClr val="B84E0E"/>
                </a:solidFill>
                <a:latin typeface="Arial"/>
                <a:ea typeface="Arial"/>
                <a:cs typeface="Arial"/>
              </a:rPr>
              <a:t>Battery capacity and energy delivered</a:t>
            </a:r>
          </a:p>
        </p:txBody>
      </p:sp>
      <p:sp>
        <p:nvSpPr>
          <p:cNvPr id="6" name="">
            <a:extLst xmlns:a="http://schemas.openxmlformats.org/drawingml/2006/main">
              <a:ext uri="{FF2B5EF4-FFF2-40B4-BE49-F238E27FC236}">
                <a16:creationId xmlns:a16="http://schemas.microsoft.com/office/drawing/2014/main" id="{B80E3CE6-629F-41AD-8D56-3DC672FB61DE}"/>
              </a:ext>
            </a:extLst>
          </p:cNvPr>
          <p:cNvSpPr>
            <a:spLocks xmlns:a="http://schemas.openxmlformats.org/drawingml/2006/main" noGrp="1"/>
          </p:cNvSpPr>
          <p:nvPr/>
        </p:nvSpPr>
        <p:spPr>
          <a:xfrm xmlns:a="http://schemas.openxmlformats.org/drawingml/2006/main">
            <a:off x="809625" y="32385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4171C"/>
                </a:solidFill>
                <a:latin typeface="Consolas"/>
                <a:ea typeface="Consolas"/>
                <a:cs typeface="Consolas"/>
              </a:defRPr>
            </a:pPr>
            <a:r>
              <a:rPr sz="1650" b="0">
                <a:solidFill>
                  <a:srgbClr val="14171C"/>
                </a:solidFill>
                <a:latin typeface="Consolas"/>
                <a:ea typeface="Consolas"/>
                <a:cs typeface="Consolas"/>
              </a:rPr>
              <a:t>C = 64 kWh; U = C × 80% = 51.20; U × 95% = 48.64 kWh</a:t>
            </a:r>
          </a:p>
        </p:txBody>
      </p:sp>
      <p:sp>
        <p:nvSpPr>
          <p:cNvPr id="7" name="">
            <a:extLst xmlns:a="http://schemas.openxmlformats.org/drawingml/2006/main">
              <a:ext uri="{FF2B5EF4-FFF2-40B4-BE49-F238E27FC236}">
                <a16:creationId xmlns:a16="http://schemas.microsoft.com/office/drawing/2014/main" id="{93CF177B-CF55-4EBC-91FC-9421B352290E}"/>
              </a:ext>
            </a:extLst>
          </p:cNvPr>
          <p:cNvSpPr>
            <a:spLocks xmlns:a="http://schemas.openxmlformats.org/drawingml/2006/main" noGrp="1"/>
          </p:cNvSpPr>
          <p:nvPr/>
        </p:nvSpPr>
        <p:spPr>
          <a:xfrm xmlns:a="http://schemas.openxmlformats.org/drawingml/2006/main">
            <a:off x="809625" y="3848100"/>
            <a:ext cx="10572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B84E0E"/>
                </a:solidFill>
                <a:latin typeface="Arial"/>
                <a:ea typeface="Arial"/>
                <a:cs typeface="Arial"/>
              </a:defRPr>
            </a:pPr>
            <a:r>
              <a:rPr sz="1650" b="1">
                <a:solidFill>
                  <a:srgbClr val="B84E0E"/>
                </a:solidFill>
                <a:latin typeface="Arial"/>
                <a:ea typeface="Arial"/>
                <a:cs typeface="Arial"/>
              </a:rPr>
              <a:t>PV capacity, rounded up to the next 0.5 kWp</a:t>
            </a:r>
          </a:p>
        </p:txBody>
      </p:sp>
      <p:sp>
        <p:nvSpPr>
          <p:cNvPr id="8" name="">
            <a:extLst xmlns:a="http://schemas.openxmlformats.org/drawingml/2006/main">
              <a:ext uri="{FF2B5EF4-FFF2-40B4-BE49-F238E27FC236}">
                <a16:creationId xmlns:a16="http://schemas.microsoft.com/office/drawing/2014/main" id="{C91AF61A-0307-484F-91D5-6F681D4A83AC}"/>
              </a:ext>
            </a:extLst>
          </p:cNvPr>
          <p:cNvSpPr>
            <a:spLocks xmlns:a="http://schemas.openxmlformats.org/drawingml/2006/main" noGrp="1"/>
          </p:cNvSpPr>
          <p:nvPr/>
        </p:nvSpPr>
        <p:spPr>
          <a:xfrm xmlns:a="http://schemas.openxmlformats.org/drawingml/2006/main">
            <a:off x="809625" y="41814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4171C"/>
                </a:solidFill>
                <a:latin typeface="Consolas"/>
                <a:ea typeface="Consolas"/>
                <a:cs typeface="Consolas"/>
              </a:defRPr>
            </a:pPr>
            <a:r>
              <a:rPr sz="1650" b="0">
                <a:solidFill>
                  <a:srgbClr val="14171C"/>
                </a:solidFill>
                <a:latin typeface="Consolas"/>
                <a:ea typeface="Consolas"/>
                <a:cs typeface="Consolas"/>
              </a:rPr>
              <a:t>P = (D + min(N, U × η) / η) / Y</a:t>
            </a:r>
          </a:p>
          <a:p xmlns:a="http://schemas.openxmlformats.org/drawingml/2006/main">
            <a:pPr>
              <a:defRPr sz="1650" b="0">
                <a:solidFill>
                  <a:srgbClr val="14171C"/>
                </a:solidFill>
                <a:latin typeface="Consolas"/>
                <a:ea typeface="Consolas"/>
                <a:cs typeface="Consolas"/>
              </a:defRPr>
            </a:pPr>
            <a:r>
              <a:rPr sz="1650" b="0">
                <a:solidFill>
                  <a:srgbClr val="14171C"/>
                </a:solidFill>
                <a:latin typeface="Consolas"/>
                <a:ea typeface="Consolas"/>
                <a:cs typeface="Consolas"/>
              </a:rPr>
              <a:t>  = (40.35 + 40.35 / 0.95) / 4.98 = 16.631 → 17.0 kWp</a:t>
            </a:r>
          </a:p>
        </p:txBody>
      </p:sp>
      <p:sp>
        <p:nvSpPr>
          <p:cNvPr id="9" name="">
            <a:extLst xmlns:a="http://schemas.openxmlformats.org/drawingml/2006/main">
              <a:ext uri="{FF2B5EF4-FFF2-40B4-BE49-F238E27FC236}">
                <a16:creationId xmlns:a16="http://schemas.microsoft.com/office/drawing/2014/main" id="{FD429BDE-9D47-41B8-A4C4-BA76549F983B}"/>
              </a:ext>
            </a:extLst>
          </p:cNvPr>
          <p:cNvSpPr>
            <a:spLocks xmlns:a="http://schemas.openxmlformats.org/drawingml/2006/main" noGrp="1"/>
          </p:cNvSpPr>
          <p:nvPr/>
        </p:nvSpPr>
        <p:spPr>
          <a:xfrm xmlns:a="http://schemas.openxmlformats.org/drawingml/2006/main">
            <a:off x="809625" y="4791075"/>
            <a:ext cx="10572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B84E0E"/>
                </a:solidFill>
                <a:latin typeface="Arial"/>
                <a:ea typeface="Arial"/>
                <a:cs typeface="Arial"/>
              </a:defRPr>
            </a:pPr>
            <a:r>
              <a:rPr sz="1650" b="1">
                <a:solidFill>
                  <a:srgbClr val="B84E0E"/>
                </a:solidFill>
                <a:latin typeface="Arial"/>
                <a:ea typeface="Arial"/>
                <a:cs typeface="Arial"/>
              </a:rPr>
              <a:t>Provisional inverter and roof allowance</a:t>
            </a:r>
          </a:p>
        </p:txBody>
      </p:sp>
      <p:sp>
        <p:nvSpPr>
          <p:cNvPr id="10" name="">
            <a:extLst xmlns:a="http://schemas.openxmlformats.org/drawingml/2006/main">
              <a:ext uri="{FF2B5EF4-FFF2-40B4-BE49-F238E27FC236}">
                <a16:creationId xmlns:a16="http://schemas.microsoft.com/office/drawing/2014/main" id="{A738B65A-B0BF-493B-B448-3B224555B76E}"/>
              </a:ext>
            </a:extLst>
          </p:cNvPr>
          <p:cNvSpPr>
            <a:spLocks xmlns:a="http://schemas.openxmlformats.org/drawingml/2006/main" noGrp="1"/>
          </p:cNvSpPr>
          <p:nvPr/>
        </p:nvSpPr>
        <p:spPr>
          <a:xfrm xmlns:a="http://schemas.openxmlformats.org/drawingml/2006/main">
            <a:off x="809625" y="51244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4171C"/>
                </a:solidFill>
                <a:latin typeface="Consolas"/>
                <a:ea typeface="Consolas"/>
                <a:cs typeface="Consolas"/>
              </a:defRPr>
            </a:pPr>
            <a:r>
              <a:rPr sz="1650" b="0">
                <a:solidFill>
                  <a:srgbClr val="14171C"/>
                </a:solidFill>
                <a:latin typeface="Consolas"/>
                <a:ea typeface="Consolas"/>
                <a:cs typeface="Consolas"/>
              </a:rPr>
              <a:t>Selected inverter I = 20 kW (standard size ≥ P); roof ≈ 17.0 × 6 = 102 m²</a:t>
            </a:r>
          </a:p>
        </p:txBody>
      </p:sp>
      <p:sp>
        <p:nvSpPr>
          <p:cNvPr id="11" name="">
            <a:extLst xmlns:a="http://schemas.openxmlformats.org/drawingml/2006/main">
              <a:ext uri="{FF2B5EF4-FFF2-40B4-BE49-F238E27FC236}">
                <a16:creationId xmlns:a16="http://schemas.microsoft.com/office/drawing/2014/main" id="{45FD0DBA-FACA-40E5-9C8D-A43917EE1FBF}"/>
              </a:ext>
            </a:extLst>
          </p:cNvPr>
          <p:cNvSpPr>
            <a:spLocks xmlns:a="http://schemas.openxmlformats.org/drawingml/2006/main" noGrp="1"/>
          </p:cNvSpPr>
          <p:nvPr/>
        </p:nvSpPr>
        <p:spPr>
          <a:xfrm xmlns:a="http://schemas.openxmlformats.org/drawingml/2006/main">
            <a:off x="809625" y="6057900"/>
            <a:ext cx="10572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4A5260"/>
                </a:solidFill>
                <a:latin typeface="Arial"/>
                <a:ea typeface="Arial"/>
                <a:cs typeface="Arial"/>
              </a:defRPr>
            </a:pPr>
            <a:r>
              <a:rPr sz="1275" b="0">
                <a:solidFill>
                  <a:srgbClr val="4A5260"/>
                </a:solidFill>
                <a:latin typeface="Arial"/>
                <a:ea typeface="Arial"/>
                <a:cs typeface="Arial"/>
              </a:rPr>
              <a:t>Whole-night capacity = N / (DoD × η) = 40.35 / 0.76 = 53.09 kWh. Selected product stack = 64 kWh.</a:t>
            </a:r>
          </a:p>
          <a:p xmlns:a="http://schemas.openxmlformats.org/drawingml/2006/main">
            <a:pPr>
              <a:defRPr sz="1275" b="0">
                <a:solidFill>
                  <a:srgbClr val="4A5260"/>
                </a:solidFill>
                <a:latin typeface="Arial"/>
                <a:ea typeface="Arial"/>
                <a:cs typeface="Arial"/>
              </a:defRPr>
            </a:pPr>
            <a:r>
              <a:rPr sz="1275" b="0">
                <a:solidFill>
                  <a:srgbClr val="4A5260"/>
                </a:solidFill>
                <a:latin typeface="Arial"/>
                <a:ea typeface="Arial"/>
                <a:cs typeface="Arial"/>
              </a:rPr>
              <a:t>Solar availability still limits nightly delivery. Inverter rating needs motor-surge confirmation.</a:t>
            </a:r>
          </a:p>
        </p:txBody>
      </p:sp>
    </p:spTree>
    <p:extLst>
      <p:ext uri="{BB962C8B-B14F-4D97-AF65-F5344CB8AC3E}">
        <p14:creationId xmlns:p14="http://schemas.microsoft.com/office/powerpoint/2010/main" val="777134164"/>
      </p:ext>
    </p:extLst>
  </p:cSld>
</p:sld>
</file>

<file path=ppt/slides/slide17.xml><?xml version="1.0" encoding="utf-8"?>
<p:sld xmlns:p="http://schemas.openxmlformats.org/presentationml/2006/main">
  <p:cSld>
    <p:bg>
      <p:bgPr>
        <a:solidFill xmlns:a="http://schemas.openxmlformats.org/drawingml/2006/main">
          <a:srgbClr val="F4F5F7"/>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B54DDEC-E54E-49C5-9B00-D4B8C689CECD}"/>
              </a:ext>
            </a:extLst>
          </p:cNvPr>
          <p:cNvSpPr>
            <a:spLocks xmlns:a="http://schemas.openxmlformats.org/drawingml/2006/main" noGrp="1"/>
          </p:cNvSpPr>
          <p:nvPr/>
        </p:nvSpPr>
        <p:spPr>
          <a:xfrm xmlns:a="http://schemas.openxmlformats.org/drawingml/2006/main">
            <a:off x="809625" y="80962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B84E0E"/>
                </a:solidFill>
                <a:latin typeface="Arial"/>
                <a:ea typeface="Arial"/>
                <a:cs typeface="Arial"/>
              </a:defRPr>
            </a:pPr>
            <a:r>
              <a:rPr sz="1350" b="1">
                <a:solidFill>
                  <a:srgbClr val="B84E0E"/>
                </a:solidFill>
                <a:latin typeface="Arial"/>
                <a:ea typeface="Arial"/>
                <a:cs typeface="Arial"/>
              </a:rPr>
              <a:t>OPTION C · SOLAR + TWO LV_32</a:t>
            </a:r>
          </a:p>
        </p:txBody>
      </p:sp>
      <p:sp>
        <p:nvSpPr>
          <p:cNvPr id="2" name="">
            <a:extLst xmlns:a="http://schemas.openxmlformats.org/drawingml/2006/main">
              <a:ext uri="{FF2B5EF4-FFF2-40B4-BE49-F238E27FC236}">
                <a16:creationId xmlns:a16="http://schemas.microsoft.com/office/drawing/2014/main" id="{F20FB6BC-0E3C-465A-AA87-A33A981DE3BE}"/>
              </a:ext>
            </a:extLst>
          </p:cNvPr>
          <p:cNvSpPr>
            <a:spLocks xmlns:a="http://schemas.openxmlformats.org/drawingml/2006/main" noGrp="1"/>
          </p:cNvSpPr>
          <p:nvPr/>
        </p:nvSpPr>
        <p:spPr>
          <a:xfrm xmlns:a="http://schemas.openxmlformats.org/drawingml/2006/main">
            <a:off x="809625" y="1114425"/>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4171C"/>
                </a:solidFill>
                <a:latin typeface="Arial"/>
                <a:ea typeface="Arial"/>
                <a:cs typeface="Arial"/>
              </a:defRPr>
            </a:pPr>
            <a:r>
              <a:rPr sz="3150" b="1">
                <a:solidFill>
                  <a:srgbClr val="14171C"/>
                </a:solidFill>
                <a:latin typeface="Arial"/>
                <a:ea typeface="Arial"/>
                <a:cs typeface="Arial"/>
              </a:rPr>
              <a:t>2. System price</a:t>
            </a:r>
          </a:p>
        </p:txBody>
      </p:sp>
      <p:sp>
        <p:nvSpPr>
          <p:cNvPr id="3" name="">
            <a:extLst xmlns:a="http://schemas.openxmlformats.org/drawingml/2006/main">
              <a:ext uri="{FF2B5EF4-FFF2-40B4-BE49-F238E27FC236}">
                <a16:creationId xmlns:a16="http://schemas.microsoft.com/office/drawing/2014/main" id="{C7E15231-C503-4A01-9471-74BB839FF914}"/>
              </a:ext>
            </a:extLst>
          </p:cNvPr>
          <p:cNvSpPr>
            <a:spLocks xmlns:a="http://schemas.openxmlformats.org/drawingml/2006/main" noGrp="1"/>
          </p:cNvSpPr>
          <p:nvPr/>
        </p:nvSpPr>
        <p:spPr>
          <a:xfrm xmlns:a="http://schemas.openxmlformats.org/drawingml/2006/main">
            <a:off x="809625" y="1962150"/>
            <a:ext cx="10572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B84E0E"/>
                </a:solidFill>
                <a:latin typeface="Arial"/>
                <a:ea typeface="Arial"/>
                <a:cs typeface="Arial"/>
              </a:defRPr>
            </a:pPr>
            <a:r>
              <a:rPr sz="1650" b="1">
                <a:solidFill>
                  <a:srgbClr val="B84E0E"/>
                </a:solidFill>
                <a:latin typeface="Arial"/>
                <a:ea typeface="Arial"/>
                <a:cs typeface="Arial"/>
              </a:rPr>
              <a:t>Unit-price assumptions</a:t>
            </a:r>
          </a:p>
        </p:txBody>
      </p:sp>
      <p:sp>
        <p:nvSpPr>
          <p:cNvPr id="4" name="">
            <a:extLst xmlns:a="http://schemas.openxmlformats.org/drawingml/2006/main">
              <a:ext uri="{FF2B5EF4-FFF2-40B4-BE49-F238E27FC236}">
                <a16:creationId xmlns:a16="http://schemas.microsoft.com/office/drawing/2014/main" id="{971F9433-EE3F-43EA-AE33-9CC3DA8DCACC}"/>
              </a:ext>
            </a:extLst>
          </p:cNvPr>
          <p:cNvSpPr>
            <a:spLocks xmlns:a="http://schemas.openxmlformats.org/drawingml/2006/main" noGrp="1"/>
          </p:cNvSpPr>
          <p:nvPr/>
        </p:nvSpPr>
        <p:spPr>
          <a:xfrm xmlns:a="http://schemas.openxmlformats.org/drawingml/2006/main">
            <a:off x="809625" y="22955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4171C"/>
                </a:solidFill>
                <a:latin typeface="Consolas"/>
                <a:ea typeface="Consolas"/>
                <a:cs typeface="Consolas"/>
              </a:defRPr>
            </a:pPr>
            <a:r>
              <a:rPr sz="1650" b="0">
                <a:solidFill>
                  <a:srgbClr val="14171C"/>
                </a:solidFill>
                <a:latin typeface="Consolas"/>
                <a:ea typeface="Consolas"/>
                <a:cs typeface="Consolas"/>
              </a:rPr>
              <a:t>PV = 8,000 EGP/kWp; inverter = 6,000 EGP/kW</a:t>
            </a:r>
          </a:p>
          <a:p xmlns:a="http://schemas.openxmlformats.org/drawingml/2006/main">
            <a:pPr>
              <a:defRPr sz="1650" b="0">
                <a:solidFill>
                  <a:srgbClr val="14171C"/>
                </a:solidFill>
                <a:latin typeface="Consolas"/>
                <a:ea typeface="Consolas"/>
                <a:cs typeface="Consolas"/>
              </a:defRPr>
            </a:pPr>
            <a:r>
              <a:rPr sz="1650" b="0">
                <a:solidFill>
                  <a:srgbClr val="14171C"/>
                </a:solidFill>
                <a:latin typeface="Consolas"/>
                <a:ea typeface="Consolas"/>
                <a:cs typeface="Consolas"/>
              </a:rPr>
              <a:t>Battery = 220 EUR/kWh × 62 EGP/EUR = 13,640 EGP/kWh</a:t>
            </a:r>
          </a:p>
        </p:txBody>
      </p:sp>
      <p:sp>
        <p:nvSpPr>
          <p:cNvPr id="5" name="">
            <a:extLst xmlns:a="http://schemas.openxmlformats.org/drawingml/2006/main">
              <a:ext uri="{FF2B5EF4-FFF2-40B4-BE49-F238E27FC236}">
                <a16:creationId xmlns:a16="http://schemas.microsoft.com/office/drawing/2014/main" id="{B3774012-3CDE-44B4-927C-3DF0138770BB}"/>
              </a:ext>
            </a:extLst>
          </p:cNvPr>
          <p:cNvSpPr>
            <a:spLocks xmlns:a="http://schemas.openxmlformats.org/drawingml/2006/main" noGrp="1"/>
          </p:cNvSpPr>
          <p:nvPr/>
        </p:nvSpPr>
        <p:spPr>
          <a:xfrm xmlns:a="http://schemas.openxmlformats.org/drawingml/2006/main">
            <a:off x="809625" y="2905125"/>
            <a:ext cx="10572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B84E0E"/>
                </a:solidFill>
                <a:latin typeface="Arial"/>
                <a:ea typeface="Arial"/>
                <a:cs typeface="Arial"/>
              </a:defRPr>
            </a:pPr>
            <a:r>
              <a:rPr sz="1650" b="1">
                <a:solidFill>
                  <a:srgbClr val="B84E0E"/>
                </a:solidFill>
                <a:latin typeface="Arial"/>
                <a:ea typeface="Arial"/>
                <a:cs typeface="Arial"/>
              </a:rPr>
              <a:t>PV and inverter subtotal</a:t>
            </a:r>
          </a:p>
        </p:txBody>
      </p:sp>
      <p:sp>
        <p:nvSpPr>
          <p:cNvPr id="6" name="">
            <a:extLst xmlns:a="http://schemas.openxmlformats.org/drawingml/2006/main">
              <a:ext uri="{FF2B5EF4-FFF2-40B4-BE49-F238E27FC236}">
                <a16:creationId xmlns:a16="http://schemas.microsoft.com/office/drawing/2014/main" id="{91A5AB3C-5A27-43A5-B19C-AA1F55937115}"/>
              </a:ext>
            </a:extLst>
          </p:cNvPr>
          <p:cNvSpPr>
            <a:spLocks xmlns:a="http://schemas.openxmlformats.org/drawingml/2006/main" noGrp="1"/>
          </p:cNvSpPr>
          <p:nvPr/>
        </p:nvSpPr>
        <p:spPr>
          <a:xfrm xmlns:a="http://schemas.openxmlformats.org/drawingml/2006/main">
            <a:off x="809625" y="32385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4171C"/>
                </a:solidFill>
                <a:latin typeface="Consolas"/>
                <a:ea typeface="Consolas"/>
                <a:cs typeface="Consolas"/>
              </a:defRPr>
            </a:pPr>
            <a:r>
              <a:rPr sz="1650" b="0">
                <a:solidFill>
                  <a:srgbClr val="14171C"/>
                </a:solidFill>
                <a:latin typeface="Consolas"/>
                <a:ea typeface="Consolas"/>
                <a:cs typeface="Consolas"/>
              </a:rPr>
              <a:t>17.0 × 8,000 + 20 × 6,000 = 256,000 EGP</a:t>
            </a:r>
          </a:p>
        </p:txBody>
      </p:sp>
      <p:sp>
        <p:nvSpPr>
          <p:cNvPr id="7" name="">
            <a:extLst xmlns:a="http://schemas.openxmlformats.org/drawingml/2006/main">
              <a:ext uri="{FF2B5EF4-FFF2-40B4-BE49-F238E27FC236}">
                <a16:creationId xmlns:a16="http://schemas.microsoft.com/office/drawing/2014/main" id="{4CB74AC5-4035-41F0-9443-AA9C1A5C5BC7}"/>
              </a:ext>
            </a:extLst>
          </p:cNvPr>
          <p:cNvSpPr>
            <a:spLocks xmlns:a="http://schemas.openxmlformats.org/drawingml/2006/main" noGrp="1"/>
          </p:cNvSpPr>
          <p:nvPr/>
        </p:nvSpPr>
        <p:spPr>
          <a:xfrm xmlns:a="http://schemas.openxmlformats.org/drawingml/2006/main">
            <a:off x="809625" y="3848100"/>
            <a:ext cx="10572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B84E0E"/>
                </a:solidFill>
                <a:latin typeface="Arial"/>
                <a:ea typeface="Arial"/>
                <a:cs typeface="Arial"/>
              </a:defRPr>
            </a:pPr>
            <a:r>
              <a:rPr sz="1650" b="1">
                <a:solidFill>
                  <a:srgbClr val="B84E0E"/>
                </a:solidFill>
                <a:latin typeface="Arial"/>
                <a:ea typeface="Arial"/>
                <a:cs typeface="Arial"/>
              </a:rPr>
              <a:t>Installation / BOS and battery cost</a:t>
            </a:r>
          </a:p>
        </p:txBody>
      </p:sp>
      <p:sp>
        <p:nvSpPr>
          <p:cNvPr id="8" name="">
            <a:extLst xmlns:a="http://schemas.openxmlformats.org/drawingml/2006/main">
              <a:ext uri="{FF2B5EF4-FFF2-40B4-BE49-F238E27FC236}">
                <a16:creationId xmlns:a16="http://schemas.microsoft.com/office/drawing/2014/main" id="{2567FDC3-24BD-46F2-8D7F-FE21CFAECB8C}"/>
              </a:ext>
            </a:extLst>
          </p:cNvPr>
          <p:cNvSpPr>
            <a:spLocks xmlns:a="http://schemas.openxmlformats.org/drawingml/2006/main" noGrp="1"/>
          </p:cNvSpPr>
          <p:nvPr/>
        </p:nvSpPr>
        <p:spPr>
          <a:xfrm xmlns:a="http://schemas.openxmlformats.org/drawingml/2006/main">
            <a:off x="809625" y="41814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4171C"/>
                </a:solidFill>
                <a:latin typeface="Consolas"/>
                <a:ea typeface="Consolas"/>
                <a:cs typeface="Consolas"/>
              </a:defRPr>
            </a:pPr>
            <a:r>
              <a:rPr sz="1650" b="0">
                <a:solidFill>
                  <a:srgbClr val="14171C"/>
                </a:solidFill>
                <a:latin typeface="Consolas"/>
                <a:ea typeface="Consolas"/>
                <a:cs typeface="Consolas"/>
              </a:rPr>
              <a:t>Installation = 256,000 × 10% = 25,600 EGP</a:t>
            </a:r>
          </a:p>
          <a:p xmlns:a="http://schemas.openxmlformats.org/drawingml/2006/main">
            <a:pPr>
              <a:defRPr sz="1650" b="0">
                <a:solidFill>
                  <a:srgbClr val="14171C"/>
                </a:solidFill>
                <a:latin typeface="Consolas"/>
                <a:ea typeface="Consolas"/>
                <a:cs typeface="Consolas"/>
              </a:defRPr>
            </a:pPr>
            <a:r>
              <a:rPr sz="1650" b="0">
                <a:solidFill>
                  <a:srgbClr val="14171C"/>
                </a:solidFill>
                <a:latin typeface="Consolas"/>
                <a:ea typeface="Consolas"/>
                <a:cs typeface="Consolas"/>
              </a:rPr>
              <a:t>Battery = 64 × 13,640 = 872,960 EGP</a:t>
            </a:r>
          </a:p>
        </p:txBody>
      </p:sp>
      <p:sp>
        <p:nvSpPr>
          <p:cNvPr id="9" name="">
            <a:extLst xmlns:a="http://schemas.openxmlformats.org/drawingml/2006/main">
              <a:ext uri="{FF2B5EF4-FFF2-40B4-BE49-F238E27FC236}">
                <a16:creationId xmlns:a16="http://schemas.microsoft.com/office/drawing/2014/main" id="{63B431B0-2605-4464-B5FF-E907DE7258D2}"/>
              </a:ext>
            </a:extLst>
          </p:cNvPr>
          <p:cNvSpPr>
            <a:spLocks xmlns:a="http://schemas.openxmlformats.org/drawingml/2006/main" noGrp="1"/>
          </p:cNvSpPr>
          <p:nvPr/>
        </p:nvSpPr>
        <p:spPr>
          <a:xfrm xmlns:a="http://schemas.openxmlformats.org/drawingml/2006/main">
            <a:off x="809625" y="4791075"/>
            <a:ext cx="10572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B84E0E"/>
                </a:solidFill>
                <a:latin typeface="Arial"/>
                <a:ea typeface="Arial"/>
                <a:cs typeface="Arial"/>
              </a:defRPr>
            </a:pPr>
            <a:r>
              <a:rPr sz="1650" b="1">
                <a:solidFill>
                  <a:srgbClr val="B84E0E"/>
                </a:solidFill>
                <a:latin typeface="Arial"/>
                <a:ea typeface="Arial"/>
                <a:cs typeface="Arial"/>
              </a:rPr>
              <a:t>Total customer price</a:t>
            </a:r>
          </a:p>
        </p:txBody>
      </p:sp>
      <p:sp>
        <p:nvSpPr>
          <p:cNvPr id="10" name="">
            <a:extLst xmlns:a="http://schemas.openxmlformats.org/drawingml/2006/main">
              <a:ext uri="{FF2B5EF4-FFF2-40B4-BE49-F238E27FC236}">
                <a16:creationId xmlns:a16="http://schemas.microsoft.com/office/drawing/2014/main" id="{44E560E8-854F-4104-ABE1-DDED28A39A3F}"/>
              </a:ext>
            </a:extLst>
          </p:cNvPr>
          <p:cNvSpPr>
            <a:spLocks xmlns:a="http://schemas.openxmlformats.org/drawingml/2006/main" noGrp="1"/>
          </p:cNvSpPr>
          <p:nvPr/>
        </p:nvSpPr>
        <p:spPr>
          <a:xfrm xmlns:a="http://schemas.openxmlformats.org/drawingml/2006/main">
            <a:off x="809625" y="51244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4171C"/>
                </a:solidFill>
                <a:latin typeface="Consolas"/>
                <a:ea typeface="Consolas"/>
                <a:cs typeface="Consolas"/>
              </a:defRPr>
            </a:pPr>
            <a:r>
              <a:rPr sz="1650" b="0">
                <a:solidFill>
                  <a:srgbClr val="14171C"/>
                </a:solidFill>
                <a:latin typeface="Consolas"/>
                <a:ea typeface="Consolas"/>
                <a:cs typeface="Consolas"/>
              </a:rPr>
              <a:t>Price = (17.0 × 8,000 + 20 × 6,000) × 1.10 + 64 × 13,640</a:t>
            </a:r>
          </a:p>
          <a:p xmlns:a="http://schemas.openxmlformats.org/drawingml/2006/main">
            <a:pPr>
              <a:defRPr sz="1650" b="0">
                <a:solidFill>
                  <a:srgbClr val="14171C"/>
                </a:solidFill>
                <a:latin typeface="Consolas"/>
                <a:ea typeface="Consolas"/>
                <a:cs typeface="Consolas"/>
              </a:defRPr>
            </a:pPr>
            <a:r>
              <a:rPr sz="1650" b="0">
                <a:solidFill>
                  <a:srgbClr val="14171C"/>
                </a:solidFill>
                <a:latin typeface="Consolas"/>
                <a:ea typeface="Consolas"/>
                <a:cs typeface="Consolas"/>
              </a:rPr>
              <a:t>      = 1,154,560 EGP</a:t>
            </a:r>
          </a:p>
        </p:txBody>
      </p:sp>
      <p:sp>
        <p:nvSpPr>
          <p:cNvPr id="11" name="">
            <a:extLst xmlns:a="http://schemas.openxmlformats.org/drawingml/2006/main">
              <a:ext uri="{FF2B5EF4-FFF2-40B4-BE49-F238E27FC236}">
                <a16:creationId xmlns:a16="http://schemas.microsoft.com/office/drawing/2014/main" id="{275CCE26-BADB-4D39-B6D7-3761BA61B318}"/>
              </a:ext>
            </a:extLst>
          </p:cNvPr>
          <p:cNvSpPr>
            <a:spLocks xmlns:a="http://schemas.openxmlformats.org/drawingml/2006/main" noGrp="1"/>
          </p:cNvSpPr>
          <p:nvPr/>
        </p:nvSpPr>
        <p:spPr>
          <a:xfrm xmlns:a="http://schemas.openxmlformats.org/drawingml/2006/main">
            <a:off x="809625" y="6057900"/>
            <a:ext cx="10572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4A5260"/>
                </a:solidFill>
                <a:latin typeface="Arial"/>
                <a:ea typeface="Arial"/>
                <a:cs typeface="Arial"/>
              </a:defRPr>
            </a:pPr>
            <a:r>
              <a:rPr sz="1275" b="0">
                <a:solidFill>
                  <a:srgbClr val="4A5260"/>
                </a:solidFill>
                <a:latin typeface="Arial"/>
                <a:ea typeface="Arial"/>
                <a:cs typeface="Arial"/>
              </a:rPr>
              <a:t>The 10% installation/BOS applies to PV and inverter only. Battery price comes from Home_Storage, slide 15.</a:t>
            </a:r>
          </a:p>
          <a:p xmlns:a="http://schemas.openxmlformats.org/drawingml/2006/main">
            <a:pPr>
              <a:defRPr sz="1275" b="0">
                <a:solidFill>
                  <a:srgbClr val="4A5260"/>
                </a:solidFill>
                <a:latin typeface="Arial"/>
                <a:ea typeface="Arial"/>
                <a:cs typeface="Arial"/>
              </a:defRPr>
            </a:pPr>
            <a:r>
              <a:rPr sz="1275" b="0">
                <a:solidFill>
                  <a:srgbClr val="4A5260"/>
                </a:solidFill>
                <a:latin typeface="Arial"/>
                <a:ea typeface="Arial"/>
                <a:cs typeface="Arial"/>
              </a:rPr>
              <a:t>Customer selling-price assumptions, including historical exchange rate 62 EGP/EUR. These are not current quotes.</a:t>
            </a:r>
          </a:p>
        </p:txBody>
      </p:sp>
    </p:spTree>
    <p:extLst>
      <p:ext uri="{BB962C8B-B14F-4D97-AF65-F5344CB8AC3E}">
        <p14:creationId xmlns:p14="http://schemas.microsoft.com/office/powerpoint/2010/main" val="125268874"/>
      </p:ext>
    </p:extLst>
  </p:cSld>
</p:sld>
</file>

<file path=ppt/slides/slide18.xml><?xml version="1.0" encoding="utf-8"?>
<p:sld xmlns:p="http://schemas.openxmlformats.org/presentationml/2006/main">
  <p:cSld>
    <p:bg>
      <p:bgPr>
        <a:solidFill xmlns:a="http://schemas.openxmlformats.org/drawingml/2006/main">
          <a:srgbClr val="F4F5F7"/>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8C2F8BF-6AAA-40BC-832B-90CED49B12D8}"/>
              </a:ext>
            </a:extLst>
          </p:cNvPr>
          <p:cNvSpPr>
            <a:spLocks xmlns:a="http://schemas.openxmlformats.org/drawingml/2006/main" noGrp="1"/>
          </p:cNvSpPr>
          <p:nvPr/>
        </p:nvSpPr>
        <p:spPr>
          <a:xfrm xmlns:a="http://schemas.openxmlformats.org/drawingml/2006/main">
            <a:off x="809625" y="80962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B84E0E"/>
                </a:solidFill>
                <a:latin typeface="Arial"/>
                <a:ea typeface="Arial"/>
                <a:cs typeface="Arial"/>
              </a:defRPr>
            </a:pPr>
            <a:r>
              <a:rPr sz="1350" b="1">
                <a:solidFill>
                  <a:srgbClr val="B84E0E"/>
                </a:solidFill>
                <a:latin typeface="Arial"/>
                <a:ea typeface="Arial"/>
                <a:cs typeface="Arial"/>
              </a:rPr>
              <a:t>OPTION C · SOLAR + TWO LV_32</a:t>
            </a:r>
          </a:p>
        </p:txBody>
      </p:sp>
      <p:sp>
        <p:nvSpPr>
          <p:cNvPr id="2" name="">
            <a:extLst xmlns:a="http://schemas.openxmlformats.org/drawingml/2006/main">
              <a:ext uri="{FF2B5EF4-FFF2-40B4-BE49-F238E27FC236}">
                <a16:creationId xmlns:a16="http://schemas.microsoft.com/office/drawing/2014/main" id="{76C81A21-B5E9-4F8D-BEC4-AAE455CEACA8}"/>
              </a:ext>
            </a:extLst>
          </p:cNvPr>
          <p:cNvSpPr>
            <a:spLocks xmlns:a="http://schemas.openxmlformats.org/drawingml/2006/main" noGrp="1"/>
          </p:cNvSpPr>
          <p:nvPr/>
        </p:nvSpPr>
        <p:spPr>
          <a:xfrm xmlns:a="http://schemas.openxmlformats.org/drawingml/2006/main">
            <a:off x="809625" y="1114425"/>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4171C"/>
                </a:solidFill>
                <a:latin typeface="Arial"/>
                <a:ea typeface="Arial"/>
                <a:cs typeface="Arial"/>
              </a:defRPr>
            </a:pPr>
            <a:r>
              <a:rPr sz="3150" b="1">
                <a:solidFill>
                  <a:srgbClr val="14171C"/>
                </a:solidFill>
                <a:latin typeface="Arial"/>
                <a:ea typeface="Arial"/>
                <a:cs typeface="Arial"/>
              </a:rPr>
              <a:t>3. Energy balance and the monthly bill</a:t>
            </a:r>
          </a:p>
        </p:txBody>
      </p:sp>
      <p:sp>
        <p:nvSpPr>
          <p:cNvPr id="3" name="">
            <a:extLst xmlns:a="http://schemas.openxmlformats.org/drawingml/2006/main">
              <a:ext uri="{FF2B5EF4-FFF2-40B4-BE49-F238E27FC236}">
                <a16:creationId xmlns:a16="http://schemas.microsoft.com/office/drawing/2014/main" id="{531ED7FD-694C-44D2-9748-5FBA8A4A9185}"/>
              </a:ext>
            </a:extLst>
          </p:cNvPr>
          <p:cNvSpPr>
            <a:spLocks xmlns:a="http://schemas.openxmlformats.org/drawingml/2006/main" noGrp="1"/>
          </p:cNvSpPr>
          <p:nvPr/>
        </p:nvSpPr>
        <p:spPr>
          <a:xfrm xmlns:a="http://schemas.openxmlformats.org/drawingml/2006/main">
            <a:off x="809625" y="1962150"/>
            <a:ext cx="10572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B84E0E"/>
                </a:solidFill>
                <a:latin typeface="Arial"/>
                <a:ea typeface="Arial"/>
                <a:cs typeface="Arial"/>
              </a:defRPr>
            </a:pPr>
            <a:r>
              <a:rPr sz="1650" b="1">
                <a:solidFill>
                  <a:srgbClr val="B84E0E"/>
                </a:solidFill>
                <a:latin typeface="Arial"/>
                <a:ea typeface="Arial"/>
                <a:cs typeface="Arial"/>
              </a:rPr>
              <a:t>Solar generation and direct use</a:t>
            </a:r>
          </a:p>
        </p:txBody>
      </p:sp>
      <p:sp>
        <p:nvSpPr>
          <p:cNvPr id="4" name="">
            <a:extLst xmlns:a="http://schemas.openxmlformats.org/drawingml/2006/main">
              <a:ext uri="{FF2B5EF4-FFF2-40B4-BE49-F238E27FC236}">
                <a16:creationId xmlns:a16="http://schemas.microsoft.com/office/drawing/2014/main" id="{178BF51D-C513-42CF-A76E-FC89D1677ECC}"/>
              </a:ext>
            </a:extLst>
          </p:cNvPr>
          <p:cNvSpPr>
            <a:spLocks xmlns:a="http://schemas.openxmlformats.org/drawingml/2006/main" noGrp="1"/>
          </p:cNvSpPr>
          <p:nvPr/>
        </p:nvSpPr>
        <p:spPr>
          <a:xfrm xmlns:a="http://schemas.openxmlformats.org/drawingml/2006/main">
            <a:off x="809625" y="22955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4171C"/>
                </a:solidFill>
                <a:latin typeface="Consolas"/>
                <a:ea typeface="Consolas"/>
                <a:cs typeface="Consolas"/>
              </a:defRPr>
            </a:pPr>
            <a:r>
              <a:rPr sz="1650" b="0">
                <a:solidFill>
                  <a:srgbClr val="14171C"/>
                </a:solidFill>
                <a:latin typeface="Consolas"/>
                <a:ea typeface="Consolas"/>
                <a:cs typeface="Consolas"/>
              </a:rPr>
              <a:t>G = P × Y = 17.0 × 4.98 = 84.66 kWh/day</a:t>
            </a:r>
          </a:p>
          <a:p xmlns:a="http://schemas.openxmlformats.org/drawingml/2006/main">
            <a:pPr>
              <a:defRPr sz="1650" b="0">
                <a:solidFill>
                  <a:srgbClr val="14171C"/>
                </a:solidFill>
                <a:latin typeface="Consolas"/>
                <a:ea typeface="Consolas"/>
                <a:cs typeface="Consolas"/>
              </a:defRPr>
            </a:pPr>
            <a:r>
              <a:rPr sz="1650" b="0">
                <a:solidFill>
                  <a:srgbClr val="14171C"/>
                </a:solidFill>
                <a:latin typeface="Consolas"/>
                <a:ea typeface="Consolas"/>
                <a:cs typeface="Consolas"/>
              </a:rPr>
              <a:t>Direct = min(G, D) = 40.35; surplus = G − Direct = 44.31</a:t>
            </a:r>
          </a:p>
        </p:txBody>
      </p:sp>
      <p:sp>
        <p:nvSpPr>
          <p:cNvPr id="5" name="">
            <a:extLst xmlns:a="http://schemas.openxmlformats.org/drawingml/2006/main">
              <a:ext uri="{FF2B5EF4-FFF2-40B4-BE49-F238E27FC236}">
                <a16:creationId xmlns:a16="http://schemas.microsoft.com/office/drawing/2014/main" id="{97864AAD-2276-4C1E-83C8-5D59FC57BC8A}"/>
              </a:ext>
            </a:extLst>
          </p:cNvPr>
          <p:cNvSpPr>
            <a:spLocks xmlns:a="http://schemas.openxmlformats.org/drawingml/2006/main" noGrp="1"/>
          </p:cNvSpPr>
          <p:nvPr/>
        </p:nvSpPr>
        <p:spPr>
          <a:xfrm xmlns:a="http://schemas.openxmlformats.org/drawingml/2006/main">
            <a:off x="809625" y="2905125"/>
            <a:ext cx="10572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B84E0E"/>
                </a:solidFill>
                <a:latin typeface="Arial"/>
                <a:ea typeface="Arial"/>
                <a:cs typeface="Arial"/>
              </a:defRPr>
            </a:pPr>
            <a:r>
              <a:rPr sz="1650" b="1">
                <a:solidFill>
                  <a:srgbClr val="B84E0E"/>
                </a:solidFill>
                <a:latin typeface="Arial"/>
                <a:ea typeface="Arial"/>
                <a:cs typeface="Arial"/>
              </a:rPr>
              <a:t>Battery energy delivered to the loads</a:t>
            </a:r>
          </a:p>
        </p:txBody>
      </p:sp>
      <p:sp>
        <p:nvSpPr>
          <p:cNvPr id="6" name="">
            <a:extLst xmlns:a="http://schemas.openxmlformats.org/drawingml/2006/main">
              <a:ext uri="{FF2B5EF4-FFF2-40B4-BE49-F238E27FC236}">
                <a16:creationId xmlns:a16="http://schemas.microsoft.com/office/drawing/2014/main" id="{ED9E638B-DAE7-4583-9BDA-9D6A55BDF801}"/>
              </a:ext>
            </a:extLst>
          </p:cNvPr>
          <p:cNvSpPr>
            <a:spLocks xmlns:a="http://schemas.openxmlformats.org/drawingml/2006/main" noGrp="1"/>
          </p:cNvSpPr>
          <p:nvPr/>
        </p:nvSpPr>
        <p:spPr>
          <a:xfrm xmlns:a="http://schemas.openxmlformats.org/drawingml/2006/main">
            <a:off x="809625" y="32385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4171C"/>
                </a:solidFill>
                <a:latin typeface="Consolas"/>
                <a:ea typeface="Consolas"/>
                <a:cs typeface="Consolas"/>
              </a:defRPr>
            </a:pPr>
            <a:r>
              <a:rPr sz="1650" b="0">
                <a:solidFill>
                  <a:srgbClr val="14171C"/>
                </a:solidFill>
                <a:latin typeface="Consolas"/>
                <a:ea typeface="Consolas"/>
                <a:cs typeface="Consolas"/>
              </a:rPr>
              <a:t>B = min(surplus × η, U × η, N)</a:t>
            </a:r>
          </a:p>
          <a:p xmlns:a="http://schemas.openxmlformats.org/drawingml/2006/main">
            <a:pPr>
              <a:defRPr sz="1650" b="0">
                <a:solidFill>
                  <a:srgbClr val="14171C"/>
                </a:solidFill>
                <a:latin typeface="Consolas"/>
                <a:ea typeface="Consolas"/>
                <a:cs typeface="Consolas"/>
              </a:defRPr>
            </a:pPr>
            <a:r>
              <a:rPr sz="1650" b="0">
                <a:solidFill>
                  <a:srgbClr val="14171C"/>
                </a:solidFill>
                <a:latin typeface="Consolas"/>
                <a:ea typeface="Consolas"/>
                <a:cs typeface="Consolas"/>
              </a:rPr>
              <a:t>  = min(42.09, 48.64, 40.35) = 40.35 kWh/day</a:t>
            </a:r>
          </a:p>
        </p:txBody>
      </p:sp>
      <p:sp>
        <p:nvSpPr>
          <p:cNvPr id="7" name="">
            <a:extLst xmlns:a="http://schemas.openxmlformats.org/drawingml/2006/main">
              <a:ext uri="{FF2B5EF4-FFF2-40B4-BE49-F238E27FC236}">
                <a16:creationId xmlns:a16="http://schemas.microsoft.com/office/drawing/2014/main" id="{DE4D0A60-E5BB-4F3A-B6AD-BA66F862B051}"/>
              </a:ext>
            </a:extLst>
          </p:cNvPr>
          <p:cNvSpPr>
            <a:spLocks xmlns:a="http://schemas.openxmlformats.org/drawingml/2006/main" noGrp="1"/>
          </p:cNvSpPr>
          <p:nvPr/>
        </p:nvSpPr>
        <p:spPr>
          <a:xfrm xmlns:a="http://schemas.openxmlformats.org/drawingml/2006/main">
            <a:off x="809625" y="3848100"/>
            <a:ext cx="10572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B84E0E"/>
                </a:solidFill>
                <a:latin typeface="Arial"/>
                <a:ea typeface="Arial"/>
                <a:cs typeface="Arial"/>
              </a:defRPr>
            </a:pPr>
            <a:r>
              <a:rPr sz="1650" b="1">
                <a:solidFill>
                  <a:srgbClr val="B84E0E"/>
                </a:solidFill>
                <a:latin typeface="Arial"/>
                <a:ea typeface="Arial"/>
                <a:cs typeface="Arial"/>
              </a:rPr>
              <a:t>Grid imports in the 30-day reference month</a:t>
            </a:r>
          </a:p>
        </p:txBody>
      </p:sp>
      <p:sp>
        <p:nvSpPr>
          <p:cNvPr id="8" name="">
            <a:extLst xmlns:a="http://schemas.openxmlformats.org/drawingml/2006/main">
              <a:ext uri="{FF2B5EF4-FFF2-40B4-BE49-F238E27FC236}">
                <a16:creationId xmlns:a16="http://schemas.microsoft.com/office/drawing/2014/main" id="{BD6A3783-AAEB-4803-9BA6-9BD85C9D1899}"/>
              </a:ext>
            </a:extLst>
          </p:cNvPr>
          <p:cNvSpPr>
            <a:spLocks xmlns:a="http://schemas.openxmlformats.org/drawingml/2006/main" noGrp="1"/>
          </p:cNvSpPr>
          <p:nvPr/>
        </p:nvSpPr>
        <p:spPr>
          <a:xfrm xmlns:a="http://schemas.openxmlformats.org/drawingml/2006/main">
            <a:off x="809625" y="41814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4171C"/>
                </a:solidFill>
                <a:latin typeface="Consolas"/>
                <a:ea typeface="Consolas"/>
                <a:cs typeface="Consolas"/>
              </a:defRPr>
            </a:pPr>
            <a:r>
              <a:rPr sz="1650" b="0">
                <a:solidFill>
                  <a:srgbClr val="14171C"/>
                </a:solidFill>
                <a:latin typeface="Consolas"/>
                <a:ea typeface="Consolas"/>
                <a:cs typeface="Consolas"/>
              </a:rPr>
              <a:t>M_grid = (E − Direct − B) × 30</a:t>
            </a:r>
          </a:p>
          <a:p xmlns:a="http://schemas.openxmlformats.org/drawingml/2006/main">
            <a:pPr>
              <a:defRPr sz="1650" b="0">
                <a:solidFill>
                  <a:srgbClr val="14171C"/>
                </a:solidFill>
                <a:latin typeface="Consolas"/>
                <a:ea typeface="Consolas"/>
                <a:cs typeface="Consolas"/>
              </a:defRPr>
            </a:pPr>
            <a:r>
              <a:rPr sz="1650" b="0">
                <a:solidFill>
                  <a:srgbClr val="14171C"/>
                </a:solidFill>
                <a:latin typeface="Consolas"/>
                <a:ea typeface="Consolas"/>
                <a:cs typeface="Consolas"/>
              </a:rPr>
              <a:t>       = (80.70 − 40.35 − 40.35) × 30 = 0.00 kWh</a:t>
            </a:r>
          </a:p>
        </p:txBody>
      </p:sp>
      <p:sp>
        <p:nvSpPr>
          <p:cNvPr id="9" name="">
            <a:extLst xmlns:a="http://schemas.openxmlformats.org/drawingml/2006/main">
              <a:ext uri="{FF2B5EF4-FFF2-40B4-BE49-F238E27FC236}">
                <a16:creationId xmlns:a16="http://schemas.microsoft.com/office/drawing/2014/main" id="{A3B6AB8E-B254-4F29-8DF8-8D633600D37B}"/>
              </a:ext>
            </a:extLst>
          </p:cNvPr>
          <p:cNvSpPr>
            <a:spLocks xmlns:a="http://schemas.openxmlformats.org/drawingml/2006/main" noGrp="1"/>
          </p:cNvSpPr>
          <p:nvPr/>
        </p:nvSpPr>
        <p:spPr>
          <a:xfrm xmlns:a="http://schemas.openxmlformats.org/drawingml/2006/main">
            <a:off x="809625" y="4791075"/>
            <a:ext cx="10572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B84E0E"/>
                </a:solidFill>
                <a:latin typeface="Arial"/>
                <a:ea typeface="Arial"/>
                <a:cs typeface="Arial"/>
              </a:defRPr>
            </a:pPr>
            <a:r>
              <a:rPr sz="1650" b="1">
                <a:solidFill>
                  <a:srgbClr val="B84E0E"/>
                </a:solidFill>
                <a:latin typeface="Arial"/>
                <a:ea typeface="Arial"/>
                <a:cs typeface="Arial"/>
              </a:rPr>
              <a:t>New bill and monthly saving</a:t>
            </a:r>
          </a:p>
        </p:txBody>
      </p:sp>
      <p:sp>
        <p:nvSpPr>
          <p:cNvPr id="10" name="">
            <a:extLst xmlns:a="http://schemas.openxmlformats.org/drawingml/2006/main">
              <a:ext uri="{FF2B5EF4-FFF2-40B4-BE49-F238E27FC236}">
                <a16:creationId xmlns:a16="http://schemas.microsoft.com/office/drawing/2014/main" id="{A756F0C4-C6E2-4761-8F5E-C637DDB52D6F}"/>
              </a:ext>
            </a:extLst>
          </p:cNvPr>
          <p:cNvSpPr>
            <a:spLocks xmlns:a="http://schemas.openxmlformats.org/drawingml/2006/main" noGrp="1"/>
          </p:cNvSpPr>
          <p:nvPr/>
        </p:nvSpPr>
        <p:spPr>
          <a:xfrm xmlns:a="http://schemas.openxmlformats.org/drawingml/2006/main">
            <a:off x="809625" y="51244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4171C"/>
                </a:solidFill>
                <a:latin typeface="Consolas"/>
                <a:ea typeface="Consolas"/>
                <a:cs typeface="Consolas"/>
              </a:defRPr>
            </a:pPr>
            <a:r>
              <a:rPr sz="1650" b="0">
                <a:solidFill>
                  <a:srgbClr val="14171C"/>
                </a:solidFill>
                <a:latin typeface="Consolas"/>
                <a:ea typeface="Consolas"/>
                <a:cs typeface="Consolas"/>
              </a:rPr>
              <a:t>Bill = zero-use service fee = 9.00 EGP</a:t>
            </a:r>
          </a:p>
          <a:p xmlns:a="http://schemas.openxmlformats.org/drawingml/2006/main">
            <a:pPr>
              <a:defRPr sz="1650" b="0">
                <a:solidFill>
                  <a:srgbClr val="14171C"/>
                </a:solidFill>
                <a:latin typeface="Consolas"/>
                <a:ea typeface="Consolas"/>
                <a:cs typeface="Consolas"/>
              </a:defRPr>
            </a:pPr>
            <a:r>
              <a:rPr sz="1650" b="0">
                <a:solidFill>
                  <a:srgbClr val="14171C"/>
                </a:solidFill>
                <a:latin typeface="Consolas"/>
                <a:ea typeface="Consolas"/>
                <a:cs typeface="Consolas"/>
              </a:rPr>
              <a:t>Saving = 6,867.22 − 9.00 = 6,858.22 EGP</a:t>
            </a:r>
          </a:p>
        </p:txBody>
      </p:sp>
      <p:sp>
        <p:nvSpPr>
          <p:cNvPr id="11" name="">
            <a:extLst xmlns:a="http://schemas.openxmlformats.org/drawingml/2006/main">
              <a:ext uri="{FF2B5EF4-FFF2-40B4-BE49-F238E27FC236}">
                <a16:creationId xmlns:a16="http://schemas.microsoft.com/office/drawing/2014/main" id="{32500801-067B-4AEB-A41B-22CC2735D251}"/>
              </a:ext>
            </a:extLst>
          </p:cNvPr>
          <p:cNvSpPr>
            <a:spLocks xmlns:a="http://schemas.openxmlformats.org/drawingml/2006/main" noGrp="1"/>
          </p:cNvSpPr>
          <p:nvPr/>
        </p:nvSpPr>
        <p:spPr>
          <a:xfrm xmlns:a="http://schemas.openxmlformats.org/drawingml/2006/main">
            <a:off x="809625" y="6057900"/>
            <a:ext cx="10572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4A5260"/>
                </a:solidFill>
                <a:latin typeface="Arial"/>
                <a:ea typeface="Arial"/>
                <a:cs typeface="Arial"/>
              </a:defRPr>
            </a:pPr>
            <a:r>
              <a:rPr sz="1275" b="0">
                <a:solidFill>
                  <a:srgbClr val="4A5260"/>
                </a:solidFill>
                <a:latin typeface="Arial"/>
                <a:ea typeface="Arial"/>
                <a:cs typeface="Arial"/>
              </a:rPr>
              <a:t>This is a 30-day example at Y = 4.98. Solar charges the battery. Surplus export earns zero revenue.</a:t>
            </a:r>
          </a:p>
          <a:p xmlns:a="http://schemas.openxmlformats.org/drawingml/2006/main">
            <a:pPr>
              <a:defRPr sz="1275" b="0">
                <a:solidFill>
                  <a:srgbClr val="4A5260"/>
                </a:solidFill>
                <a:latin typeface="Arial"/>
                <a:ea typeface="Arial"/>
                <a:cs typeface="Arial"/>
              </a:defRPr>
            </a:pPr>
            <a:r>
              <a:rPr sz="1275" b="0">
                <a:solidFill>
                  <a:srgbClr val="4A5260"/>
                </a:solidFill>
                <a:latin typeface="Arial"/>
                <a:ea typeface="Arial"/>
                <a:cs typeface="Arial"/>
              </a:rPr>
              <a:t>Storage losses are applied once. The annual calculation on the next slide accounts for monthly solar variation.</a:t>
            </a:r>
          </a:p>
        </p:txBody>
      </p:sp>
    </p:spTree>
    <p:extLst>
      <p:ext uri="{BB962C8B-B14F-4D97-AF65-F5344CB8AC3E}">
        <p14:creationId xmlns:p14="http://schemas.microsoft.com/office/powerpoint/2010/main" val="1423669755"/>
      </p:ext>
    </p:extLst>
  </p:cSld>
</p:sld>
</file>

<file path=ppt/slides/slide19.xml><?xml version="1.0" encoding="utf-8"?>
<p:sld xmlns:p="http://schemas.openxmlformats.org/presentationml/2006/main">
  <p:cSld>
    <p:bg>
      <p:bgPr>
        <a:solidFill xmlns:a="http://schemas.openxmlformats.org/drawingml/2006/main">
          <a:srgbClr val="F4F5F7"/>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3DE935F-417E-49FE-8BC6-D4936D920D36}"/>
              </a:ext>
            </a:extLst>
          </p:cNvPr>
          <p:cNvSpPr>
            <a:spLocks xmlns:a="http://schemas.openxmlformats.org/drawingml/2006/main" noGrp="1"/>
          </p:cNvSpPr>
          <p:nvPr/>
        </p:nvSpPr>
        <p:spPr>
          <a:xfrm xmlns:a="http://schemas.openxmlformats.org/drawingml/2006/main">
            <a:off x="809625" y="80962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B84E0E"/>
                </a:solidFill>
                <a:latin typeface="Arial"/>
                <a:ea typeface="Arial"/>
                <a:cs typeface="Arial"/>
              </a:defRPr>
            </a:pPr>
            <a:r>
              <a:rPr sz="1350" b="1">
                <a:solidFill>
                  <a:srgbClr val="B84E0E"/>
                </a:solidFill>
                <a:latin typeface="Arial"/>
                <a:ea typeface="Arial"/>
                <a:cs typeface="Arial"/>
              </a:rPr>
              <a:t>OPTION C · SOLAR + TWO LV_32</a:t>
            </a:r>
          </a:p>
        </p:txBody>
      </p:sp>
      <p:sp>
        <p:nvSpPr>
          <p:cNvPr id="2" name="">
            <a:extLst xmlns:a="http://schemas.openxmlformats.org/drawingml/2006/main">
              <a:ext uri="{FF2B5EF4-FFF2-40B4-BE49-F238E27FC236}">
                <a16:creationId xmlns:a16="http://schemas.microsoft.com/office/drawing/2014/main" id="{A82859E7-4B65-4BF0-83AC-0FFF2148A475}"/>
              </a:ext>
            </a:extLst>
          </p:cNvPr>
          <p:cNvSpPr>
            <a:spLocks xmlns:a="http://schemas.openxmlformats.org/drawingml/2006/main" noGrp="1"/>
          </p:cNvSpPr>
          <p:nvPr/>
        </p:nvSpPr>
        <p:spPr>
          <a:xfrm xmlns:a="http://schemas.openxmlformats.org/drawingml/2006/main">
            <a:off x="809625" y="1114425"/>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4171C"/>
                </a:solidFill>
                <a:latin typeface="Arial"/>
                <a:ea typeface="Arial"/>
                <a:cs typeface="Arial"/>
              </a:defRPr>
            </a:pPr>
            <a:r>
              <a:rPr sz="3150" b="1">
                <a:solidFill>
                  <a:srgbClr val="14171C"/>
                </a:solidFill>
                <a:latin typeface="Arial"/>
                <a:ea typeface="Arial"/>
                <a:cs typeface="Arial"/>
              </a:rPr>
              <a:t>4. Twelve monthly results and annual saving</a:t>
            </a:r>
          </a:p>
        </p:txBody>
      </p:sp>
      <p:sp>
        <p:nvSpPr>
          <p:cNvPr id="3" name="">
            <a:extLst xmlns:a="http://schemas.openxmlformats.org/drawingml/2006/main">
              <a:ext uri="{FF2B5EF4-FFF2-40B4-BE49-F238E27FC236}">
                <a16:creationId xmlns:a16="http://schemas.microsoft.com/office/drawing/2014/main" id="{3CE97EAB-C649-4DEE-91C0-25B82E5CF321}"/>
              </a:ext>
            </a:extLst>
          </p:cNvPr>
          <p:cNvSpPr>
            <a:spLocks xmlns:a="http://schemas.openxmlformats.org/drawingml/2006/main" noGrp="1"/>
          </p:cNvSpPr>
          <p:nvPr/>
        </p:nvSpPr>
        <p:spPr>
          <a:xfrm xmlns:a="http://schemas.openxmlformats.org/drawingml/2006/main">
            <a:off x="809625" y="1743075"/>
            <a:ext cx="10572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4A5260"/>
                </a:solidFill>
                <a:latin typeface="Arial"/>
                <a:ea typeface="Arial"/>
                <a:cs typeface="Arial"/>
              </a:defRPr>
            </a:pPr>
            <a:r>
              <a:rPr sz="1350" b="0">
                <a:solidFill>
                  <a:srgbClr val="4A5260"/>
                </a:solidFill>
                <a:latin typeface="Arial"/>
                <a:ea typeface="Arial"/>
                <a:cs typeface="Arial"/>
              </a:rPr>
              <a:t>Each month: daily PV = P × PVGIS monthly kWh/kWp ÷ days. Grid = (E − Direct − B) × days.</a:t>
            </a:r>
          </a:p>
        </p:txBody>
      </p:sp>
      <p:graphicFrame>
        <p:nvGraphicFramePr>
          <p:cNvPr id="9" name=""/>
          <p:cNvGraphicFramePr/>
          <p:nvPr/>
        </p:nvGraphicFramePr>
        <p:xfrm>
          <a:off xmlns:a="http://schemas.openxmlformats.org/drawingml/2006/main" x="809625" y="2095500"/>
          <a:ext xmlns:a="http://schemas.openxmlformats.org/drawingml/2006/main" cx="10572750" cy="4200525"/>
        </p:xfrm>
        <a:graphic xmlns:a="http://schemas.openxmlformats.org/drawingml/2006/main">
          <a:graphicData uri="http://schemas.openxmlformats.org/drawingml/2006/table">
            <a:tbl>
              <a:tblPr/>
              <a:tblGrid>
                <a:gridCol w="857250"/>
                <a:gridCol w="619125"/>
                <a:gridCol w="1428750"/>
                <a:gridCol w="1762125"/>
                <a:gridCol w="1905000"/>
                <a:gridCol w="1905000"/>
                <a:gridCol w="2095500"/>
              </a:tblGrid>
              <a:tr h="361950">
                <a:tc>
                  <a:txBody>
                    <a:bodyPr/>
                    <a:lstStyle/>
                    <a:p>
                      <a:r>
                        <a:rPr sz="1275" b="1">
                          <a:solidFill>
                            <a:srgbClr val="14171C"/>
                          </a:solidFill>
                          <a:latin typeface="Arial"/>
                          <a:ea typeface="Arial"/>
                          <a:cs typeface="Arial"/>
                        </a:rPr>
                        <a:t>Month</a:t>
                      </a:r>
                    </a:p>
                  </a:txBody>
                  <a:tcPr marL="85725" marR="85725" marT="19050" marB="19050">
                    <a:solidFill>
                      <a:srgbClr val="E6E9ED"/>
                    </a:solidFill>
                  </a:tcPr>
                </a:tc>
                <a:tc>
                  <a:txBody>
                    <a:bodyPr/>
                    <a:lstStyle/>
                    <a:p>
                      <a:r>
                        <a:rPr sz="1275" b="1">
                          <a:solidFill>
                            <a:srgbClr val="14171C"/>
                          </a:solidFill>
                          <a:latin typeface="Arial"/>
                          <a:ea typeface="Arial"/>
                          <a:cs typeface="Arial"/>
                        </a:rPr>
                        <a:t>Days</a:t>
                      </a:r>
                    </a:p>
                  </a:txBody>
                  <a:tcPr marL="85725" marR="85725" marT="19050" marB="19050">
                    <a:solidFill>
                      <a:srgbClr val="E6E9ED"/>
                    </a:solidFill>
                  </a:tcPr>
                </a:tc>
                <a:tc>
                  <a:txBody>
                    <a:bodyPr/>
                    <a:lstStyle/>
                    <a:p>
                      <a:r>
                        <a:rPr sz="1275" b="1">
                          <a:solidFill>
                            <a:srgbClr val="14171C"/>
                          </a:solidFill>
                          <a:latin typeface="Arial"/>
                          <a:ea typeface="Arial"/>
                          <a:cs typeface="Arial"/>
                        </a:rPr>
                        <a:t>PV kWh</a:t>
                      </a:r>
                    </a:p>
                  </a:txBody>
                  <a:tcPr marL="85725" marR="85725" marT="19050" marB="19050">
                    <a:solidFill>
                      <a:srgbClr val="E6E9ED"/>
                    </a:solidFill>
                  </a:tcPr>
                </a:tc>
                <a:tc>
                  <a:txBody>
                    <a:bodyPr/>
                    <a:lstStyle/>
                    <a:p>
                      <a:r>
                        <a:rPr sz="1275" b="1">
                          <a:solidFill>
                            <a:srgbClr val="14171C"/>
                          </a:solidFill>
                          <a:latin typeface="Arial"/>
                          <a:ea typeface="Arial"/>
                          <a:cs typeface="Arial"/>
                        </a:rPr>
                        <a:t>Grid kWh</a:t>
                      </a:r>
                    </a:p>
                  </a:txBody>
                  <a:tcPr marL="85725" marR="85725" marT="19050" marB="19050">
                    <a:solidFill>
                      <a:srgbClr val="E6E9ED"/>
                    </a:solidFill>
                  </a:tcPr>
                </a:tc>
                <a:tc>
                  <a:txBody>
                    <a:bodyPr/>
                    <a:lstStyle/>
                    <a:p>
                      <a:r>
                        <a:rPr sz="1275" b="1">
                          <a:solidFill>
                            <a:srgbClr val="14171C"/>
                          </a:solidFill>
                          <a:latin typeface="Arial"/>
                          <a:ea typeface="Arial"/>
                          <a:cs typeface="Arial"/>
                        </a:rPr>
                        <a:t>Baseline EGP</a:t>
                      </a:r>
                    </a:p>
                  </a:txBody>
                  <a:tcPr marL="85725" marR="85725" marT="19050" marB="19050">
                    <a:solidFill>
                      <a:srgbClr val="E6E9ED"/>
                    </a:solidFill>
                  </a:tcPr>
                </a:tc>
                <a:tc>
                  <a:txBody>
                    <a:bodyPr/>
                    <a:lstStyle/>
                    <a:p>
                      <a:r>
                        <a:rPr sz="1275" b="1">
                          <a:solidFill>
                            <a:srgbClr val="14171C"/>
                          </a:solidFill>
                          <a:latin typeface="Arial"/>
                          <a:ea typeface="Arial"/>
                          <a:cs typeface="Arial"/>
                        </a:rPr>
                        <a:t>New bill EGP</a:t>
                      </a:r>
                    </a:p>
                  </a:txBody>
                  <a:tcPr marL="85725" marR="85725" marT="19050" marB="19050">
                    <a:solidFill>
                      <a:srgbClr val="E6E9ED"/>
                    </a:solidFill>
                  </a:tcPr>
                </a:tc>
                <a:tc>
                  <a:txBody>
                    <a:bodyPr/>
                    <a:lstStyle/>
                    <a:p>
                      <a:r>
                        <a:rPr sz="1275" b="1">
                          <a:solidFill>
                            <a:srgbClr val="14171C"/>
                          </a:solidFill>
                          <a:latin typeface="Arial"/>
                          <a:ea typeface="Arial"/>
                          <a:cs typeface="Arial"/>
                        </a:rPr>
                        <a:t>Saving EGP</a:t>
                      </a:r>
                    </a:p>
                  </a:txBody>
                  <a:tcPr marL="85725" marR="85725" marT="19050" marB="19050">
                    <a:solidFill>
                      <a:srgbClr val="E6E9ED"/>
                    </a:solidFill>
                  </a:tcPr>
                </a:tc>
              </a:tr>
              <a:tr h="295275">
                <a:tc>
                  <a:txBody>
                    <a:bodyPr/>
                    <a:lstStyle/>
                    <a:p>
                      <a:r>
                        <a:rPr sz="1275" b="0">
                          <a:solidFill>
                            <a:srgbClr val="14171C"/>
                          </a:solidFill>
                          <a:latin typeface="Arial"/>
                          <a:ea typeface="Arial"/>
                          <a:cs typeface="Arial"/>
                        </a:rPr>
                        <a:t>Jan</a:t>
                      </a:r>
                    </a:p>
                  </a:txBody>
                  <a:tcPr marL="85725" marR="85725" marT="19050" marB="19050">
                    <a:solidFill>
                      <a:srgbClr val="FCFCFD"/>
                    </a:solidFill>
                  </a:tcPr>
                </a:tc>
                <a:tc>
                  <a:txBody>
                    <a:bodyPr/>
                    <a:lstStyle/>
                    <a:p>
                      <a:r>
                        <a:rPr sz="1275" b="0">
                          <a:solidFill>
                            <a:srgbClr val="14171C"/>
                          </a:solidFill>
                          <a:latin typeface="Arial"/>
                          <a:ea typeface="Arial"/>
                          <a:cs typeface="Arial"/>
                        </a:rPr>
                        <a:t>31</a:t>
                      </a:r>
                    </a:p>
                  </a:txBody>
                  <a:tcPr marL="85725" marR="85725" marT="19050" marB="19050">
                    <a:solidFill>
                      <a:srgbClr val="FCFCFD"/>
                    </a:solidFill>
                  </a:tcPr>
                </a:tc>
                <a:tc>
                  <a:txBody>
                    <a:bodyPr/>
                    <a:lstStyle/>
                    <a:p>
                      <a:r>
                        <a:rPr sz="1275" b="0">
                          <a:solidFill>
                            <a:srgbClr val="14171C"/>
                          </a:solidFill>
                          <a:latin typeface="Arial"/>
                          <a:ea typeface="Arial"/>
                          <a:cs typeface="Arial"/>
                        </a:rPr>
                        <a:t>2,232.10</a:t>
                      </a:r>
                    </a:p>
                  </a:txBody>
                  <a:tcPr marL="85725" marR="85725" marT="19050" marB="19050">
                    <a:solidFill>
                      <a:srgbClr val="FCFCFD"/>
                    </a:solidFill>
                  </a:tcPr>
                </a:tc>
                <a:tc>
                  <a:txBody>
                    <a:bodyPr/>
                    <a:lstStyle/>
                    <a:p>
                      <a:r>
                        <a:rPr sz="1275" b="0">
                          <a:solidFill>
                            <a:srgbClr val="14171C"/>
                          </a:solidFill>
                          <a:latin typeface="Arial"/>
                          <a:ea typeface="Arial"/>
                          <a:cs typeface="Arial"/>
                        </a:rPr>
                        <a:t>318.66</a:t>
                      </a:r>
                    </a:p>
                  </a:txBody>
                  <a:tcPr marL="85725" marR="85725" marT="19050" marB="19050">
                    <a:solidFill>
                      <a:srgbClr val="FCFCFD"/>
                    </a:solidFill>
                  </a:tcPr>
                </a:tc>
                <a:tc>
                  <a:txBody>
                    <a:bodyPr/>
                    <a:lstStyle/>
                    <a:p>
                      <a:r>
                        <a:rPr sz="1275" b="0">
                          <a:solidFill>
                            <a:srgbClr val="14171C"/>
                          </a:solidFill>
                          <a:latin typeface="Arial"/>
                          <a:ea typeface="Arial"/>
                          <a:cs typeface="Arial"/>
                        </a:rPr>
                        <a:t>7,094.79</a:t>
                      </a:r>
                    </a:p>
                  </a:txBody>
                  <a:tcPr marL="85725" marR="85725" marT="19050" marB="19050">
                    <a:solidFill>
                      <a:srgbClr val="FCFCFD"/>
                    </a:solidFill>
                  </a:tcPr>
                </a:tc>
                <a:tc>
                  <a:txBody>
                    <a:bodyPr/>
                    <a:lstStyle/>
                    <a:p>
                      <a:r>
                        <a:rPr sz="1275" b="0">
                          <a:solidFill>
                            <a:srgbClr val="14171C"/>
                          </a:solidFill>
                          <a:latin typeface="Arial"/>
                          <a:ea typeface="Arial"/>
                          <a:cs typeface="Arial"/>
                        </a:rPr>
                        <a:t>870.83</a:t>
                      </a:r>
                    </a:p>
                  </a:txBody>
                  <a:tcPr marL="85725" marR="85725" marT="19050" marB="19050">
                    <a:solidFill>
                      <a:srgbClr val="FCFCFD"/>
                    </a:solidFill>
                  </a:tcPr>
                </a:tc>
                <a:tc>
                  <a:txBody>
                    <a:bodyPr/>
                    <a:lstStyle/>
                    <a:p>
                      <a:r>
                        <a:rPr sz="1275" b="0">
                          <a:solidFill>
                            <a:srgbClr val="14171C"/>
                          </a:solidFill>
                          <a:latin typeface="Arial"/>
                          <a:ea typeface="Arial"/>
                          <a:cs typeface="Arial"/>
                        </a:rPr>
                        <a:t>6,223.97</a:t>
                      </a:r>
                    </a:p>
                  </a:txBody>
                  <a:tcPr marL="85725" marR="85725" marT="19050" marB="19050">
                    <a:solidFill>
                      <a:srgbClr val="FCFCFD"/>
                    </a:solidFill>
                  </a:tcPr>
                </a:tc>
              </a:tr>
              <a:tr h="295275">
                <a:tc>
                  <a:txBody>
                    <a:bodyPr/>
                    <a:lstStyle/>
                    <a:p>
                      <a:r>
                        <a:rPr sz="1275" b="0">
                          <a:solidFill>
                            <a:srgbClr val="14171C"/>
                          </a:solidFill>
                          <a:latin typeface="Arial"/>
                          <a:ea typeface="Arial"/>
                          <a:cs typeface="Arial"/>
                        </a:rPr>
                        <a:t>Feb</a:t>
                      </a:r>
                    </a:p>
                  </a:txBody>
                  <a:tcPr marL="85725" marR="85725" marT="19050" marB="19050">
                    <a:solidFill>
                      <a:srgbClr val="F4F5F7"/>
                    </a:solidFill>
                  </a:tcPr>
                </a:tc>
                <a:tc>
                  <a:txBody>
                    <a:bodyPr/>
                    <a:lstStyle/>
                    <a:p>
                      <a:r>
                        <a:rPr sz="1275" b="0">
                          <a:solidFill>
                            <a:srgbClr val="14171C"/>
                          </a:solidFill>
                          <a:latin typeface="Arial"/>
                          <a:ea typeface="Arial"/>
                          <a:cs typeface="Arial"/>
                        </a:rPr>
                        <a:t>28</a:t>
                      </a:r>
                    </a:p>
                  </a:txBody>
                  <a:tcPr marL="85725" marR="85725" marT="19050" marB="19050">
                    <a:solidFill>
                      <a:srgbClr val="F4F5F7"/>
                    </a:solidFill>
                  </a:tcPr>
                </a:tc>
                <a:tc>
                  <a:txBody>
                    <a:bodyPr/>
                    <a:lstStyle/>
                    <a:p>
                      <a:r>
                        <a:rPr sz="1275" b="0">
                          <a:solidFill>
                            <a:srgbClr val="14171C"/>
                          </a:solidFill>
                          <a:latin typeface="Arial"/>
                          <a:ea typeface="Arial"/>
                          <a:cs typeface="Arial"/>
                        </a:rPr>
                        <a:t>2,200.65</a:t>
                      </a:r>
                    </a:p>
                  </a:txBody>
                  <a:tcPr marL="85725" marR="85725" marT="19050" marB="19050">
                    <a:solidFill>
                      <a:srgbClr val="F4F5F7"/>
                    </a:solidFill>
                  </a:tcPr>
                </a:tc>
                <a:tc>
                  <a:txBody>
                    <a:bodyPr/>
                    <a:lstStyle/>
                    <a:p>
                      <a:r>
                        <a:rPr sz="1275" b="0">
                          <a:solidFill>
                            <a:srgbClr val="14171C"/>
                          </a:solidFill>
                          <a:latin typeface="Arial"/>
                          <a:ea typeface="Arial"/>
                          <a:cs typeface="Arial"/>
                        </a:rPr>
                        <a:t>112.49</a:t>
                      </a:r>
                    </a:p>
                  </a:txBody>
                  <a:tcPr marL="85725" marR="85725" marT="19050" marB="19050">
                    <a:solidFill>
                      <a:srgbClr val="F4F5F7"/>
                    </a:solidFill>
                  </a:tcPr>
                </a:tc>
                <a:tc>
                  <a:txBody>
                    <a:bodyPr/>
                    <a:lstStyle/>
                    <a:p>
                      <a:r>
                        <a:rPr sz="1275" b="0">
                          <a:solidFill>
                            <a:srgbClr val="14171C"/>
                          </a:solidFill>
                          <a:latin typeface="Arial"/>
                          <a:ea typeface="Arial"/>
                          <a:cs typeface="Arial"/>
                        </a:rPr>
                        <a:t>6,412.07</a:t>
                      </a:r>
                    </a:p>
                  </a:txBody>
                  <a:tcPr marL="85725" marR="85725" marT="19050" marB="19050">
                    <a:solidFill>
                      <a:srgbClr val="F4F5F7"/>
                    </a:solidFill>
                  </a:tcPr>
                </a:tc>
                <a:tc>
                  <a:txBody>
                    <a:bodyPr/>
                    <a:lstStyle/>
                    <a:p>
                      <a:r>
                        <a:rPr sz="1275" b="0">
                          <a:solidFill>
                            <a:srgbClr val="14171C"/>
                          </a:solidFill>
                          <a:latin typeface="Arial"/>
                          <a:ea typeface="Arial"/>
                          <a:cs typeface="Arial"/>
                        </a:rPr>
                        <a:t>261.36</a:t>
                      </a:r>
                    </a:p>
                  </a:txBody>
                  <a:tcPr marL="85725" marR="85725" marT="19050" marB="19050">
                    <a:solidFill>
                      <a:srgbClr val="F4F5F7"/>
                    </a:solidFill>
                  </a:tcPr>
                </a:tc>
                <a:tc>
                  <a:txBody>
                    <a:bodyPr/>
                    <a:lstStyle/>
                    <a:p>
                      <a:r>
                        <a:rPr sz="1275" b="0">
                          <a:solidFill>
                            <a:srgbClr val="14171C"/>
                          </a:solidFill>
                          <a:latin typeface="Arial"/>
                          <a:ea typeface="Arial"/>
                          <a:cs typeface="Arial"/>
                        </a:rPr>
                        <a:t>6,150.71</a:t>
                      </a:r>
                    </a:p>
                  </a:txBody>
                  <a:tcPr marL="85725" marR="85725" marT="19050" marB="19050">
                    <a:solidFill>
                      <a:srgbClr val="F4F5F7"/>
                    </a:solidFill>
                  </a:tcPr>
                </a:tc>
              </a:tr>
              <a:tr h="295275">
                <a:tc>
                  <a:txBody>
                    <a:bodyPr/>
                    <a:lstStyle/>
                    <a:p>
                      <a:r>
                        <a:rPr sz="1275" b="0">
                          <a:solidFill>
                            <a:srgbClr val="14171C"/>
                          </a:solidFill>
                          <a:latin typeface="Arial"/>
                          <a:ea typeface="Arial"/>
                          <a:cs typeface="Arial"/>
                        </a:rPr>
                        <a:t>Mar</a:t>
                      </a:r>
                    </a:p>
                  </a:txBody>
                  <a:tcPr marL="85725" marR="85725" marT="19050" marB="19050">
                    <a:solidFill>
                      <a:srgbClr val="FCFCFD"/>
                    </a:solidFill>
                  </a:tcPr>
                </a:tc>
                <a:tc>
                  <a:txBody>
                    <a:bodyPr/>
                    <a:lstStyle/>
                    <a:p>
                      <a:r>
                        <a:rPr sz="1275" b="0">
                          <a:solidFill>
                            <a:srgbClr val="14171C"/>
                          </a:solidFill>
                          <a:latin typeface="Arial"/>
                          <a:ea typeface="Arial"/>
                          <a:cs typeface="Arial"/>
                        </a:rPr>
                        <a:t>31</a:t>
                      </a:r>
                    </a:p>
                  </a:txBody>
                  <a:tcPr marL="85725" marR="85725" marT="19050" marB="19050">
                    <a:solidFill>
                      <a:srgbClr val="FCFCFD"/>
                    </a:solidFill>
                  </a:tcPr>
                </a:tc>
                <a:tc>
                  <a:txBody>
                    <a:bodyPr/>
                    <a:lstStyle/>
                    <a:p>
                      <a:r>
                        <a:rPr sz="1275" b="0">
                          <a:solidFill>
                            <a:srgbClr val="14171C"/>
                          </a:solidFill>
                          <a:latin typeface="Arial"/>
                          <a:ea typeface="Arial"/>
                          <a:cs typeface="Arial"/>
                        </a:rPr>
                        <a:t>2,738.02</a:t>
                      </a:r>
                    </a:p>
                  </a:txBody>
                  <a:tcPr marL="85725" marR="85725" marT="19050" marB="19050">
                    <a:solidFill>
                      <a:srgbClr val="FCFCFD"/>
                    </a:solidFill>
                  </a:tcPr>
                </a:tc>
                <a:tc>
                  <a:txBody>
                    <a:bodyPr/>
                    <a:lstStyle/>
                    <a:p>
                      <a:r>
                        <a:rPr sz="1275" b="0">
                          <a:solidFill>
                            <a:srgbClr val="14171C"/>
                          </a:solidFill>
                          <a:latin typeface="Arial"/>
                          <a:ea typeface="Arial"/>
                          <a:cs typeface="Arial"/>
                        </a:rPr>
                        <a:t>0.00</a:t>
                      </a:r>
                    </a:p>
                  </a:txBody>
                  <a:tcPr marL="85725" marR="85725" marT="19050" marB="19050">
                    <a:solidFill>
                      <a:srgbClr val="FCFCFD"/>
                    </a:solidFill>
                  </a:tcPr>
                </a:tc>
                <a:tc>
                  <a:txBody>
                    <a:bodyPr/>
                    <a:lstStyle/>
                    <a:p>
                      <a:r>
                        <a:rPr sz="1275" b="0">
                          <a:solidFill>
                            <a:srgbClr val="14171C"/>
                          </a:solidFill>
                          <a:latin typeface="Arial"/>
                          <a:ea typeface="Arial"/>
                          <a:cs typeface="Arial"/>
                        </a:rPr>
                        <a:t>7,094.79</a:t>
                      </a:r>
                    </a:p>
                  </a:txBody>
                  <a:tcPr marL="85725" marR="85725" marT="19050" marB="19050">
                    <a:solidFill>
                      <a:srgbClr val="FCFCFD"/>
                    </a:solidFill>
                  </a:tcPr>
                </a:tc>
                <a:tc>
                  <a:txBody>
                    <a:bodyPr/>
                    <a:lstStyle/>
                    <a:p>
                      <a:r>
                        <a:rPr sz="1275" b="0">
                          <a:solidFill>
                            <a:srgbClr val="14171C"/>
                          </a:solidFill>
                          <a:latin typeface="Arial"/>
                          <a:ea typeface="Arial"/>
                          <a:cs typeface="Arial"/>
                        </a:rPr>
                        <a:t>9.00</a:t>
                      </a:r>
                    </a:p>
                  </a:txBody>
                  <a:tcPr marL="85725" marR="85725" marT="19050" marB="19050">
                    <a:solidFill>
                      <a:srgbClr val="FCFCFD"/>
                    </a:solidFill>
                  </a:tcPr>
                </a:tc>
                <a:tc>
                  <a:txBody>
                    <a:bodyPr/>
                    <a:lstStyle/>
                    <a:p>
                      <a:r>
                        <a:rPr sz="1275" b="0">
                          <a:solidFill>
                            <a:srgbClr val="14171C"/>
                          </a:solidFill>
                          <a:latin typeface="Arial"/>
                          <a:ea typeface="Arial"/>
                          <a:cs typeface="Arial"/>
                        </a:rPr>
                        <a:t>7,085.79</a:t>
                      </a:r>
                    </a:p>
                  </a:txBody>
                  <a:tcPr marL="85725" marR="85725" marT="19050" marB="19050">
                    <a:solidFill>
                      <a:srgbClr val="FCFCFD"/>
                    </a:solidFill>
                  </a:tcPr>
                </a:tc>
              </a:tr>
              <a:tr h="295275">
                <a:tc>
                  <a:txBody>
                    <a:bodyPr/>
                    <a:lstStyle/>
                    <a:p>
                      <a:r>
                        <a:rPr sz="1275" b="0">
                          <a:solidFill>
                            <a:srgbClr val="14171C"/>
                          </a:solidFill>
                          <a:latin typeface="Arial"/>
                          <a:ea typeface="Arial"/>
                          <a:cs typeface="Arial"/>
                        </a:rPr>
                        <a:t>Apr</a:t>
                      </a:r>
                    </a:p>
                  </a:txBody>
                  <a:tcPr marL="85725" marR="85725" marT="19050" marB="19050">
                    <a:solidFill>
                      <a:srgbClr val="F4F5F7"/>
                    </a:solidFill>
                  </a:tcPr>
                </a:tc>
                <a:tc>
                  <a:txBody>
                    <a:bodyPr/>
                    <a:lstStyle/>
                    <a:p>
                      <a:r>
                        <a:rPr sz="1275" b="0">
                          <a:solidFill>
                            <a:srgbClr val="14171C"/>
                          </a:solidFill>
                          <a:latin typeface="Arial"/>
                          <a:ea typeface="Arial"/>
                          <a:cs typeface="Arial"/>
                        </a:rPr>
                        <a:t>30</a:t>
                      </a:r>
                    </a:p>
                  </a:txBody>
                  <a:tcPr marL="85725" marR="85725" marT="19050" marB="19050">
                    <a:solidFill>
                      <a:srgbClr val="F4F5F7"/>
                    </a:solidFill>
                  </a:tcPr>
                </a:tc>
                <a:tc>
                  <a:txBody>
                    <a:bodyPr/>
                    <a:lstStyle/>
                    <a:p>
                      <a:r>
                        <a:rPr sz="1275" b="0">
                          <a:solidFill>
                            <a:srgbClr val="14171C"/>
                          </a:solidFill>
                          <a:latin typeface="Arial"/>
                          <a:ea typeface="Arial"/>
                          <a:cs typeface="Arial"/>
                        </a:rPr>
                        <a:t>2,734.62</a:t>
                      </a:r>
                    </a:p>
                  </a:txBody>
                  <a:tcPr marL="85725" marR="85725" marT="19050" marB="19050">
                    <a:solidFill>
                      <a:srgbClr val="F4F5F7"/>
                    </a:solidFill>
                  </a:tcPr>
                </a:tc>
                <a:tc>
                  <a:txBody>
                    <a:bodyPr/>
                    <a:lstStyle/>
                    <a:p>
                      <a:r>
                        <a:rPr sz="1275" b="0">
                          <a:solidFill>
                            <a:srgbClr val="14171C"/>
                          </a:solidFill>
                          <a:latin typeface="Arial"/>
                          <a:ea typeface="Arial"/>
                          <a:cs typeface="Arial"/>
                        </a:rPr>
                        <a:t>0.00</a:t>
                      </a:r>
                    </a:p>
                  </a:txBody>
                  <a:tcPr marL="85725" marR="85725" marT="19050" marB="19050">
                    <a:solidFill>
                      <a:srgbClr val="F4F5F7"/>
                    </a:solidFill>
                  </a:tcPr>
                </a:tc>
                <a:tc>
                  <a:txBody>
                    <a:bodyPr/>
                    <a:lstStyle/>
                    <a:p>
                      <a:r>
                        <a:rPr sz="1275" b="0">
                          <a:solidFill>
                            <a:srgbClr val="14171C"/>
                          </a:solidFill>
                          <a:latin typeface="Arial"/>
                          <a:ea typeface="Arial"/>
                          <a:cs typeface="Arial"/>
                        </a:rPr>
                        <a:t>6,867.22</a:t>
                      </a:r>
                    </a:p>
                  </a:txBody>
                  <a:tcPr marL="85725" marR="85725" marT="19050" marB="19050">
                    <a:solidFill>
                      <a:srgbClr val="F4F5F7"/>
                    </a:solidFill>
                  </a:tcPr>
                </a:tc>
                <a:tc>
                  <a:txBody>
                    <a:bodyPr/>
                    <a:lstStyle/>
                    <a:p>
                      <a:r>
                        <a:rPr sz="1275" b="0">
                          <a:solidFill>
                            <a:srgbClr val="14171C"/>
                          </a:solidFill>
                          <a:latin typeface="Arial"/>
                          <a:ea typeface="Arial"/>
                          <a:cs typeface="Arial"/>
                        </a:rPr>
                        <a:t>9.00</a:t>
                      </a:r>
                    </a:p>
                  </a:txBody>
                  <a:tcPr marL="85725" marR="85725" marT="19050" marB="19050">
                    <a:solidFill>
                      <a:srgbClr val="F4F5F7"/>
                    </a:solidFill>
                  </a:tcPr>
                </a:tc>
                <a:tc>
                  <a:txBody>
                    <a:bodyPr/>
                    <a:lstStyle/>
                    <a:p>
                      <a:r>
                        <a:rPr sz="1275" b="0">
                          <a:solidFill>
                            <a:srgbClr val="14171C"/>
                          </a:solidFill>
                          <a:latin typeface="Arial"/>
                          <a:ea typeface="Arial"/>
                          <a:cs typeface="Arial"/>
                        </a:rPr>
                        <a:t>6,858.22</a:t>
                      </a:r>
                    </a:p>
                  </a:txBody>
                  <a:tcPr marL="85725" marR="85725" marT="19050" marB="19050">
                    <a:solidFill>
                      <a:srgbClr val="F4F5F7"/>
                    </a:solidFill>
                  </a:tcPr>
                </a:tc>
              </a:tr>
              <a:tr h="295275">
                <a:tc>
                  <a:txBody>
                    <a:bodyPr/>
                    <a:lstStyle/>
                    <a:p>
                      <a:r>
                        <a:rPr sz="1275" b="0">
                          <a:solidFill>
                            <a:srgbClr val="14171C"/>
                          </a:solidFill>
                          <a:latin typeface="Arial"/>
                          <a:ea typeface="Arial"/>
                          <a:cs typeface="Arial"/>
                        </a:rPr>
                        <a:t>May</a:t>
                      </a:r>
                    </a:p>
                  </a:txBody>
                  <a:tcPr marL="85725" marR="85725" marT="19050" marB="19050">
                    <a:solidFill>
                      <a:srgbClr val="FCFCFD"/>
                    </a:solidFill>
                  </a:tcPr>
                </a:tc>
                <a:tc>
                  <a:txBody>
                    <a:bodyPr/>
                    <a:lstStyle/>
                    <a:p>
                      <a:r>
                        <a:rPr sz="1275" b="0">
                          <a:solidFill>
                            <a:srgbClr val="14171C"/>
                          </a:solidFill>
                          <a:latin typeface="Arial"/>
                          <a:ea typeface="Arial"/>
                          <a:cs typeface="Arial"/>
                        </a:rPr>
                        <a:t>31</a:t>
                      </a:r>
                    </a:p>
                  </a:txBody>
                  <a:tcPr marL="85725" marR="85725" marT="19050" marB="19050">
                    <a:solidFill>
                      <a:srgbClr val="FCFCFD"/>
                    </a:solidFill>
                  </a:tcPr>
                </a:tc>
                <a:tc>
                  <a:txBody>
                    <a:bodyPr/>
                    <a:lstStyle/>
                    <a:p>
                      <a:r>
                        <a:rPr sz="1275" b="0">
                          <a:solidFill>
                            <a:srgbClr val="14171C"/>
                          </a:solidFill>
                          <a:latin typeface="Arial"/>
                          <a:ea typeface="Arial"/>
                          <a:cs typeface="Arial"/>
                        </a:rPr>
                        <a:t>2,766.24</a:t>
                      </a:r>
                    </a:p>
                  </a:txBody>
                  <a:tcPr marL="85725" marR="85725" marT="19050" marB="19050">
                    <a:solidFill>
                      <a:srgbClr val="FCFCFD"/>
                    </a:solidFill>
                  </a:tcPr>
                </a:tc>
                <a:tc>
                  <a:txBody>
                    <a:bodyPr/>
                    <a:lstStyle/>
                    <a:p>
                      <a:r>
                        <a:rPr sz="1275" b="0">
                          <a:solidFill>
                            <a:srgbClr val="14171C"/>
                          </a:solidFill>
                          <a:latin typeface="Arial"/>
                          <a:ea typeface="Arial"/>
                          <a:cs typeface="Arial"/>
                        </a:rPr>
                        <a:t>0.00</a:t>
                      </a:r>
                    </a:p>
                  </a:txBody>
                  <a:tcPr marL="85725" marR="85725" marT="19050" marB="19050">
                    <a:solidFill>
                      <a:srgbClr val="FCFCFD"/>
                    </a:solidFill>
                  </a:tcPr>
                </a:tc>
                <a:tc>
                  <a:txBody>
                    <a:bodyPr/>
                    <a:lstStyle/>
                    <a:p>
                      <a:r>
                        <a:rPr sz="1275" b="0">
                          <a:solidFill>
                            <a:srgbClr val="14171C"/>
                          </a:solidFill>
                          <a:latin typeface="Arial"/>
                          <a:ea typeface="Arial"/>
                          <a:cs typeface="Arial"/>
                        </a:rPr>
                        <a:t>7,094.79</a:t>
                      </a:r>
                    </a:p>
                  </a:txBody>
                  <a:tcPr marL="85725" marR="85725" marT="19050" marB="19050">
                    <a:solidFill>
                      <a:srgbClr val="FCFCFD"/>
                    </a:solidFill>
                  </a:tcPr>
                </a:tc>
                <a:tc>
                  <a:txBody>
                    <a:bodyPr/>
                    <a:lstStyle/>
                    <a:p>
                      <a:r>
                        <a:rPr sz="1275" b="0">
                          <a:solidFill>
                            <a:srgbClr val="14171C"/>
                          </a:solidFill>
                          <a:latin typeface="Arial"/>
                          <a:ea typeface="Arial"/>
                          <a:cs typeface="Arial"/>
                        </a:rPr>
                        <a:t>9.00</a:t>
                      </a:r>
                    </a:p>
                  </a:txBody>
                  <a:tcPr marL="85725" marR="85725" marT="19050" marB="19050">
                    <a:solidFill>
                      <a:srgbClr val="FCFCFD"/>
                    </a:solidFill>
                  </a:tcPr>
                </a:tc>
                <a:tc>
                  <a:txBody>
                    <a:bodyPr/>
                    <a:lstStyle/>
                    <a:p>
                      <a:r>
                        <a:rPr sz="1275" b="0">
                          <a:solidFill>
                            <a:srgbClr val="14171C"/>
                          </a:solidFill>
                          <a:latin typeface="Arial"/>
                          <a:ea typeface="Arial"/>
                          <a:cs typeface="Arial"/>
                        </a:rPr>
                        <a:t>7,085.79</a:t>
                      </a:r>
                    </a:p>
                  </a:txBody>
                  <a:tcPr marL="85725" marR="85725" marT="19050" marB="19050">
                    <a:solidFill>
                      <a:srgbClr val="FCFCFD"/>
                    </a:solidFill>
                  </a:tcPr>
                </a:tc>
              </a:tr>
              <a:tr h="295275">
                <a:tc>
                  <a:txBody>
                    <a:bodyPr/>
                    <a:lstStyle/>
                    <a:p>
                      <a:r>
                        <a:rPr sz="1275" b="0">
                          <a:solidFill>
                            <a:srgbClr val="14171C"/>
                          </a:solidFill>
                          <a:latin typeface="Arial"/>
                          <a:ea typeface="Arial"/>
                          <a:cs typeface="Arial"/>
                        </a:rPr>
                        <a:t>Jun</a:t>
                      </a:r>
                    </a:p>
                  </a:txBody>
                  <a:tcPr marL="85725" marR="85725" marT="19050" marB="19050">
                    <a:solidFill>
                      <a:srgbClr val="F4F5F7"/>
                    </a:solidFill>
                  </a:tcPr>
                </a:tc>
                <a:tc>
                  <a:txBody>
                    <a:bodyPr/>
                    <a:lstStyle/>
                    <a:p>
                      <a:r>
                        <a:rPr sz="1275" b="0">
                          <a:solidFill>
                            <a:srgbClr val="14171C"/>
                          </a:solidFill>
                          <a:latin typeface="Arial"/>
                          <a:ea typeface="Arial"/>
                          <a:cs typeface="Arial"/>
                        </a:rPr>
                        <a:t>30</a:t>
                      </a:r>
                    </a:p>
                  </a:txBody>
                  <a:tcPr marL="85725" marR="85725" marT="19050" marB="19050">
                    <a:solidFill>
                      <a:srgbClr val="F4F5F7"/>
                    </a:solidFill>
                  </a:tcPr>
                </a:tc>
                <a:tc>
                  <a:txBody>
                    <a:bodyPr/>
                    <a:lstStyle/>
                    <a:p>
                      <a:r>
                        <a:rPr sz="1275" b="0">
                          <a:solidFill>
                            <a:srgbClr val="14171C"/>
                          </a:solidFill>
                          <a:latin typeface="Arial"/>
                          <a:ea typeface="Arial"/>
                          <a:cs typeface="Arial"/>
                        </a:rPr>
                        <a:t>2,696.54</a:t>
                      </a:r>
                    </a:p>
                  </a:txBody>
                  <a:tcPr marL="85725" marR="85725" marT="19050" marB="19050">
                    <a:solidFill>
                      <a:srgbClr val="F4F5F7"/>
                    </a:solidFill>
                  </a:tcPr>
                </a:tc>
                <a:tc>
                  <a:txBody>
                    <a:bodyPr/>
                    <a:lstStyle/>
                    <a:p>
                      <a:r>
                        <a:rPr sz="1275" b="0">
                          <a:solidFill>
                            <a:srgbClr val="14171C"/>
                          </a:solidFill>
                          <a:latin typeface="Arial"/>
                          <a:ea typeface="Arial"/>
                          <a:cs typeface="Arial"/>
                        </a:rPr>
                        <a:t>0.00</a:t>
                      </a:r>
                    </a:p>
                  </a:txBody>
                  <a:tcPr marL="85725" marR="85725" marT="19050" marB="19050">
                    <a:solidFill>
                      <a:srgbClr val="F4F5F7"/>
                    </a:solidFill>
                  </a:tcPr>
                </a:tc>
                <a:tc>
                  <a:txBody>
                    <a:bodyPr/>
                    <a:lstStyle/>
                    <a:p>
                      <a:r>
                        <a:rPr sz="1275" b="0">
                          <a:solidFill>
                            <a:srgbClr val="14171C"/>
                          </a:solidFill>
                          <a:latin typeface="Arial"/>
                          <a:ea typeface="Arial"/>
                          <a:cs typeface="Arial"/>
                        </a:rPr>
                        <a:t>6,867.22</a:t>
                      </a:r>
                    </a:p>
                  </a:txBody>
                  <a:tcPr marL="85725" marR="85725" marT="19050" marB="19050">
                    <a:solidFill>
                      <a:srgbClr val="F4F5F7"/>
                    </a:solidFill>
                  </a:tcPr>
                </a:tc>
                <a:tc>
                  <a:txBody>
                    <a:bodyPr/>
                    <a:lstStyle/>
                    <a:p>
                      <a:r>
                        <a:rPr sz="1275" b="0">
                          <a:solidFill>
                            <a:srgbClr val="14171C"/>
                          </a:solidFill>
                          <a:latin typeface="Arial"/>
                          <a:ea typeface="Arial"/>
                          <a:cs typeface="Arial"/>
                        </a:rPr>
                        <a:t>9.00</a:t>
                      </a:r>
                    </a:p>
                  </a:txBody>
                  <a:tcPr marL="85725" marR="85725" marT="19050" marB="19050">
                    <a:solidFill>
                      <a:srgbClr val="F4F5F7"/>
                    </a:solidFill>
                  </a:tcPr>
                </a:tc>
                <a:tc>
                  <a:txBody>
                    <a:bodyPr/>
                    <a:lstStyle/>
                    <a:p>
                      <a:r>
                        <a:rPr sz="1275" b="0">
                          <a:solidFill>
                            <a:srgbClr val="14171C"/>
                          </a:solidFill>
                          <a:latin typeface="Arial"/>
                          <a:ea typeface="Arial"/>
                          <a:cs typeface="Arial"/>
                        </a:rPr>
                        <a:t>6,858.22</a:t>
                      </a:r>
                    </a:p>
                  </a:txBody>
                  <a:tcPr marL="85725" marR="85725" marT="19050" marB="19050">
                    <a:solidFill>
                      <a:srgbClr val="F4F5F7"/>
                    </a:solidFill>
                  </a:tcPr>
                </a:tc>
              </a:tr>
              <a:tr h="295275">
                <a:tc>
                  <a:txBody>
                    <a:bodyPr/>
                    <a:lstStyle/>
                    <a:p>
                      <a:r>
                        <a:rPr sz="1275" b="0">
                          <a:solidFill>
                            <a:srgbClr val="14171C"/>
                          </a:solidFill>
                          <a:latin typeface="Arial"/>
                          <a:ea typeface="Arial"/>
                          <a:cs typeface="Arial"/>
                        </a:rPr>
                        <a:t>Jul</a:t>
                      </a:r>
                    </a:p>
                  </a:txBody>
                  <a:tcPr marL="85725" marR="85725" marT="19050" marB="19050">
                    <a:solidFill>
                      <a:srgbClr val="FCFCFD"/>
                    </a:solidFill>
                  </a:tcPr>
                </a:tc>
                <a:tc>
                  <a:txBody>
                    <a:bodyPr/>
                    <a:lstStyle/>
                    <a:p>
                      <a:r>
                        <a:rPr sz="1275" b="0">
                          <a:solidFill>
                            <a:srgbClr val="14171C"/>
                          </a:solidFill>
                          <a:latin typeface="Arial"/>
                          <a:ea typeface="Arial"/>
                          <a:cs typeface="Arial"/>
                        </a:rPr>
                        <a:t>31</a:t>
                      </a:r>
                    </a:p>
                  </a:txBody>
                  <a:tcPr marL="85725" marR="85725" marT="19050" marB="19050">
                    <a:solidFill>
                      <a:srgbClr val="FCFCFD"/>
                    </a:solidFill>
                  </a:tcPr>
                </a:tc>
                <a:tc>
                  <a:txBody>
                    <a:bodyPr/>
                    <a:lstStyle/>
                    <a:p>
                      <a:r>
                        <a:rPr sz="1275" b="0">
                          <a:solidFill>
                            <a:srgbClr val="14171C"/>
                          </a:solidFill>
                          <a:latin typeface="Arial"/>
                          <a:ea typeface="Arial"/>
                          <a:cs typeface="Arial"/>
                        </a:rPr>
                        <a:t>2,799.22</a:t>
                      </a:r>
                    </a:p>
                  </a:txBody>
                  <a:tcPr marL="85725" marR="85725" marT="19050" marB="19050">
                    <a:solidFill>
                      <a:srgbClr val="FCFCFD"/>
                    </a:solidFill>
                  </a:tcPr>
                </a:tc>
                <a:tc>
                  <a:txBody>
                    <a:bodyPr/>
                    <a:lstStyle/>
                    <a:p>
                      <a:r>
                        <a:rPr sz="1275" b="0">
                          <a:solidFill>
                            <a:srgbClr val="14171C"/>
                          </a:solidFill>
                          <a:latin typeface="Arial"/>
                          <a:ea typeface="Arial"/>
                          <a:cs typeface="Arial"/>
                        </a:rPr>
                        <a:t>0.00</a:t>
                      </a:r>
                    </a:p>
                  </a:txBody>
                  <a:tcPr marL="85725" marR="85725" marT="19050" marB="19050">
                    <a:solidFill>
                      <a:srgbClr val="FCFCFD"/>
                    </a:solidFill>
                  </a:tcPr>
                </a:tc>
                <a:tc>
                  <a:txBody>
                    <a:bodyPr/>
                    <a:lstStyle/>
                    <a:p>
                      <a:r>
                        <a:rPr sz="1275" b="0">
                          <a:solidFill>
                            <a:srgbClr val="14171C"/>
                          </a:solidFill>
                          <a:latin typeface="Arial"/>
                          <a:ea typeface="Arial"/>
                          <a:cs typeface="Arial"/>
                        </a:rPr>
                        <a:t>7,094.79</a:t>
                      </a:r>
                    </a:p>
                  </a:txBody>
                  <a:tcPr marL="85725" marR="85725" marT="19050" marB="19050">
                    <a:solidFill>
                      <a:srgbClr val="FCFCFD"/>
                    </a:solidFill>
                  </a:tcPr>
                </a:tc>
                <a:tc>
                  <a:txBody>
                    <a:bodyPr/>
                    <a:lstStyle/>
                    <a:p>
                      <a:r>
                        <a:rPr sz="1275" b="0">
                          <a:solidFill>
                            <a:srgbClr val="14171C"/>
                          </a:solidFill>
                          <a:latin typeface="Arial"/>
                          <a:ea typeface="Arial"/>
                          <a:cs typeface="Arial"/>
                        </a:rPr>
                        <a:t>9.00</a:t>
                      </a:r>
                    </a:p>
                  </a:txBody>
                  <a:tcPr marL="85725" marR="85725" marT="19050" marB="19050">
                    <a:solidFill>
                      <a:srgbClr val="FCFCFD"/>
                    </a:solidFill>
                  </a:tcPr>
                </a:tc>
                <a:tc>
                  <a:txBody>
                    <a:bodyPr/>
                    <a:lstStyle/>
                    <a:p>
                      <a:r>
                        <a:rPr sz="1275" b="0">
                          <a:solidFill>
                            <a:srgbClr val="14171C"/>
                          </a:solidFill>
                          <a:latin typeface="Arial"/>
                          <a:ea typeface="Arial"/>
                          <a:cs typeface="Arial"/>
                        </a:rPr>
                        <a:t>7,085.79</a:t>
                      </a:r>
                    </a:p>
                  </a:txBody>
                  <a:tcPr marL="85725" marR="85725" marT="19050" marB="19050">
                    <a:solidFill>
                      <a:srgbClr val="FCFCFD"/>
                    </a:solidFill>
                  </a:tcPr>
                </a:tc>
              </a:tr>
              <a:tr h="295275">
                <a:tc>
                  <a:txBody>
                    <a:bodyPr/>
                    <a:lstStyle/>
                    <a:p>
                      <a:r>
                        <a:rPr sz="1275" b="0">
                          <a:solidFill>
                            <a:srgbClr val="14171C"/>
                          </a:solidFill>
                          <a:latin typeface="Arial"/>
                          <a:ea typeface="Arial"/>
                          <a:cs typeface="Arial"/>
                        </a:rPr>
                        <a:t>Aug</a:t>
                      </a:r>
                    </a:p>
                  </a:txBody>
                  <a:tcPr marL="85725" marR="85725" marT="19050" marB="19050">
                    <a:solidFill>
                      <a:srgbClr val="F4F5F7"/>
                    </a:solidFill>
                  </a:tcPr>
                </a:tc>
                <a:tc>
                  <a:txBody>
                    <a:bodyPr/>
                    <a:lstStyle/>
                    <a:p>
                      <a:r>
                        <a:rPr sz="1275" b="0">
                          <a:solidFill>
                            <a:srgbClr val="14171C"/>
                          </a:solidFill>
                          <a:latin typeface="Arial"/>
                          <a:ea typeface="Arial"/>
                          <a:cs typeface="Arial"/>
                        </a:rPr>
                        <a:t>31</a:t>
                      </a:r>
                    </a:p>
                  </a:txBody>
                  <a:tcPr marL="85725" marR="85725" marT="19050" marB="19050">
                    <a:solidFill>
                      <a:srgbClr val="F4F5F7"/>
                    </a:solidFill>
                  </a:tcPr>
                </a:tc>
                <a:tc>
                  <a:txBody>
                    <a:bodyPr/>
                    <a:lstStyle/>
                    <a:p>
                      <a:r>
                        <a:rPr sz="1275" b="0">
                          <a:solidFill>
                            <a:srgbClr val="14171C"/>
                          </a:solidFill>
                          <a:latin typeface="Arial"/>
                          <a:ea typeface="Arial"/>
                          <a:cs typeface="Arial"/>
                        </a:rPr>
                        <a:t>2,835.60</a:t>
                      </a:r>
                    </a:p>
                  </a:txBody>
                  <a:tcPr marL="85725" marR="85725" marT="19050" marB="19050">
                    <a:solidFill>
                      <a:srgbClr val="F4F5F7"/>
                    </a:solidFill>
                  </a:tcPr>
                </a:tc>
                <a:tc>
                  <a:txBody>
                    <a:bodyPr/>
                    <a:lstStyle/>
                    <a:p>
                      <a:r>
                        <a:rPr sz="1275" b="0">
                          <a:solidFill>
                            <a:srgbClr val="14171C"/>
                          </a:solidFill>
                          <a:latin typeface="Arial"/>
                          <a:ea typeface="Arial"/>
                          <a:cs typeface="Arial"/>
                        </a:rPr>
                        <a:t>0.00</a:t>
                      </a:r>
                    </a:p>
                  </a:txBody>
                  <a:tcPr marL="85725" marR="85725" marT="19050" marB="19050">
                    <a:solidFill>
                      <a:srgbClr val="F4F5F7"/>
                    </a:solidFill>
                  </a:tcPr>
                </a:tc>
                <a:tc>
                  <a:txBody>
                    <a:bodyPr/>
                    <a:lstStyle/>
                    <a:p>
                      <a:r>
                        <a:rPr sz="1275" b="0">
                          <a:solidFill>
                            <a:srgbClr val="14171C"/>
                          </a:solidFill>
                          <a:latin typeface="Arial"/>
                          <a:ea typeface="Arial"/>
                          <a:cs typeface="Arial"/>
                        </a:rPr>
                        <a:t>7,094.79</a:t>
                      </a:r>
                    </a:p>
                  </a:txBody>
                  <a:tcPr marL="85725" marR="85725" marT="19050" marB="19050">
                    <a:solidFill>
                      <a:srgbClr val="F4F5F7"/>
                    </a:solidFill>
                  </a:tcPr>
                </a:tc>
                <a:tc>
                  <a:txBody>
                    <a:bodyPr/>
                    <a:lstStyle/>
                    <a:p>
                      <a:r>
                        <a:rPr sz="1275" b="0">
                          <a:solidFill>
                            <a:srgbClr val="14171C"/>
                          </a:solidFill>
                          <a:latin typeface="Arial"/>
                          <a:ea typeface="Arial"/>
                          <a:cs typeface="Arial"/>
                        </a:rPr>
                        <a:t>9.00</a:t>
                      </a:r>
                    </a:p>
                  </a:txBody>
                  <a:tcPr marL="85725" marR="85725" marT="19050" marB="19050">
                    <a:solidFill>
                      <a:srgbClr val="F4F5F7"/>
                    </a:solidFill>
                  </a:tcPr>
                </a:tc>
                <a:tc>
                  <a:txBody>
                    <a:bodyPr/>
                    <a:lstStyle/>
                    <a:p>
                      <a:r>
                        <a:rPr sz="1275" b="0">
                          <a:solidFill>
                            <a:srgbClr val="14171C"/>
                          </a:solidFill>
                          <a:latin typeface="Arial"/>
                          <a:ea typeface="Arial"/>
                          <a:cs typeface="Arial"/>
                        </a:rPr>
                        <a:t>7,085.79</a:t>
                      </a:r>
                    </a:p>
                  </a:txBody>
                  <a:tcPr marL="85725" marR="85725" marT="19050" marB="19050">
                    <a:solidFill>
                      <a:srgbClr val="F4F5F7"/>
                    </a:solidFill>
                  </a:tcPr>
                </a:tc>
              </a:tr>
              <a:tr h="295275">
                <a:tc>
                  <a:txBody>
                    <a:bodyPr/>
                    <a:lstStyle/>
                    <a:p>
                      <a:r>
                        <a:rPr sz="1275" b="0">
                          <a:solidFill>
                            <a:srgbClr val="14171C"/>
                          </a:solidFill>
                          <a:latin typeface="Arial"/>
                          <a:ea typeface="Arial"/>
                          <a:cs typeface="Arial"/>
                        </a:rPr>
                        <a:t>Sep</a:t>
                      </a:r>
                    </a:p>
                  </a:txBody>
                  <a:tcPr marL="85725" marR="85725" marT="19050" marB="19050">
                    <a:solidFill>
                      <a:srgbClr val="FCFCFD"/>
                    </a:solidFill>
                  </a:tcPr>
                </a:tc>
                <a:tc>
                  <a:txBody>
                    <a:bodyPr/>
                    <a:lstStyle/>
                    <a:p>
                      <a:r>
                        <a:rPr sz="1275" b="0">
                          <a:solidFill>
                            <a:srgbClr val="14171C"/>
                          </a:solidFill>
                          <a:latin typeface="Arial"/>
                          <a:ea typeface="Arial"/>
                          <a:cs typeface="Arial"/>
                        </a:rPr>
                        <a:t>30</a:t>
                      </a:r>
                    </a:p>
                  </a:txBody>
                  <a:tcPr marL="85725" marR="85725" marT="19050" marB="19050">
                    <a:solidFill>
                      <a:srgbClr val="FCFCFD"/>
                    </a:solidFill>
                  </a:tcPr>
                </a:tc>
                <a:tc>
                  <a:txBody>
                    <a:bodyPr/>
                    <a:lstStyle/>
                    <a:p>
                      <a:r>
                        <a:rPr sz="1275" b="0">
                          <a:solidFill>
                            <a:srgbClr val="14171C"/>
                          </a:solidFill>
                          <a:latin typeface="Arial"/>
                          <a:ea typeface="Arial"/>
                          <a:cs typeface="Arial"/>
                        </a:rPr>
                        <a:t>2,737.00</a:t>
                      </a:r>
                    </a:p>
                  </a:txBody>
                  <a:tcPr marL="85725" marR="85725" marT="19050" marB="19050">
                    <a:solidFill>
                      <a:srgbClr val="FCFCFD"/>
                    </a:solidFill>
                  </a:tcPr>
                </a:tc>
                <a:tc>
                  <a:txBody>
                    <a:bodyPr/>
                    <a:lstStyle/>
                    <a:p>
                      <a:r>
                        <a:rPr sz="1275" b="0">
                          <a:solidFill>
                            <a:srgbClr val="14171C"/>
                          </a:solidFill>
                          <a:latin typeface="Arial"/>
                          <a:ea typeface="Arial"/>
                          <a:cs typeface="Arial"/>
                        </a:rPr>
                        <a:t>0.00</a:t>
                      </a:r>
                    </a:p>
                  </a:txBody>
                  <a:tcPr marL="85725" marR="85725" marT="19050" marB="19050">
                    <a:solidFill>
                      <a:srgbClr val="FCFCFD"/>
                    </a:solidFill>
                  </a:tcPr>
                </a:tc>
                <a:tc>
                  <a:txBody>
                    <a:bodyPr/>
                    <a:lstStyle/>
                    <a:p>
                      <a:r>
                        <a:rPr sz="1275" b="0">
                          <a:solidFill>
                            <a:srgbClr val="14171C"/>
                          </a:solidFill>
                          <a:latin typeface="Arial"/>
                          <a:ea typeface="Arial"/>
                          <a:cs typeface="Arial"/>
                        </a:rPr>
                        <a:t>6,867.22</a:t>
                      </a:r>
                    </a:p>
                  </a:txBody>
                  <a:tcPr marL="85725" marR="85725" marT="19050" marB="19050">
                    <a:solidFill>
                      <a:srgbClr val="FCFCFD"/>
                    </a:solidFill>
                  </a:tcPr>
                </a:tc>
                <a:tc>
                  <a:txBody>
                    <a:bodyPr/>
                    <a:lstStyle/>
                    <a:p>
                      <a:r>
                        <a:rPr sz="1275" b="0">
                          <a:solidFill>
                            <a:srgbClr val="14171C"/>
                          </a:solidFill>
                          <a:latin typeface="Arial"/>
                          <a:ea typeface="Arial"/>
                          <a:cs typeface="Arial"/>
                        </a:rPr>
                        <a:t>9.00</a:t>
                      </a:r>
                    </a:p>
                  </a:txBody>
                  <a:tcPr marL="85725" marR="85725" marT="19050" marB="19050">
                    <a:solidFill>
                      <a:srgbClr val="FCFCFD"/>
                    </a:solidFill>
                  </a:tcPr>
                </a:tc>
                <a:tc>
                  <a:txBody>
                    <a:bodyPr/>
                    <a:lstStyle/>
                    <a:p>
                      <a:r>
                        <a:rPr sz="1275" b="0">
                          <a:solidFill>
                            <a:srgbClr val="14171C"/>
                          </a:solidFill>
                          <a:latin typeface="Arial"/>
                          <a:ea typeface="Arial"/>
                          <a:cs typeface="Arial"/>
                        </a:rPr>
                        <a:t>6,858.22</a:t>
                      </a:r>
                    </a:p>
                  </a:txBody>
                  <a:tcPr marL="85725" marR="85725" marT="19050" marB="19050">
                    <a:solidFill>
                      <a:srgbClr val="FCFCFD"/>
                    </a:solidFill>
                  </a:tcPr>
                </a:tc>
              </a:tr>
              <a:tr h="295275">
                <a:tc>
                  <a:txBody>
                    <a:bodyPr/>
                    <a:lstStyle/>
                    <a:p>
                      <a:r>
                        <a:rPr sz="1275" b="0">
                          <a:solidFill>
                            <a:srgbClr val="14171C"/>
                          </a:solidFill>
                          <a:latin typeface="Arial"/>
                          <a:ea typeface="Arial"/>
                          <a:cs typeface="Arial"/>
                        </a:rPr>
                        <a:t>Oct</a:t>
                      </a:r>
                    </a:p>
                  </a:txBody>
                  <a:tcPr marL="85725" marR="85725" marT="19050" marB="19050">
                    <a:solidFill>
                      <a:srgbClr val="F4F5F7"/>
                    </a:solidFill>
                  </a:tcPr>
                </a:tc>
                <a:tc>
                  <a:txBody>
                    <a:bodyPr/>
                    <a:lstStyle/>
                    <a:p>
                      <a:r>
                        <a:rPr sz="1275" b="0">
                          <a:solidFill>
                            <a:srgbClr val="14171C"/>
                          </a:solidFill>
                          <a:latin typeface="Arial"/>
                          <a:ea typeface="Arial"/>
                          <a:cs typeface="Arial"/>
                        </a:rPr>
                        <a:t>31</a:t>
                      </a:r>
                    </a:p>
                  </a:txBody>
                  <a:tcPr marL="85725" marR="85725" marT="19050" marB="19050">
                    <a:solidFill>
                      <a:srgbClr val="F4F5F7"/>
                    </a:solidFill>
                  </a:tcPr>
                </a:tc>
                <a:tc>
                  <a:txBody>
                    <a:bodyPr/>
                    <a:lstStyle/>
                    <a:p>
                      <a:r>
                        <a:rPr sz="1275" b="0">
                          <a:solidFill>
                            <a:srgbClr val="14171C"/>
                          </a:solidFill>
                          <a:latin typeface="Arial"/>
                          <a:ea typeface="Arial"/>
                          <a:cs typeface="Arial"/>
                        </a:rPr>
                        <a:t>2,627.01</a:t>
                      </a:r>
                    </a:p>
                  </a:txBody>
                  <a:tcPr marL="85725" marR="85725" marT="19050" marB="19050">
                    <a:solidFill>
                      <a:srgbClr val="F4F5F7"/>
                    </a:solidFill>
                  </a:tcPr>
                </a:tc>
                <a:tc>
                  <a:txBody>
                    <a:bodyPr/>
                    <a:lstStyle/>
                    <a:p>
                      <a:r>
                        <a:rPr sz="1275" b="0">
                          <a:solidFill>
                            <a:srgbClr val="14171C"/>
                          </a:solidFill>
                          <a:latin typeface="Arial"/>
                          <a:ea typeface="Arial"/>
                          <a:cs typeface="Arial"/>
                        </a:rPr>
                        <a:t>0.00</a:t>
                      </a:r>
                    </a:p>
                  </a:txBody>
                  <a:tcPr marL="85725" marR="85725" marT="19050" marB="19050">
                    <a:solidFill>
                      <a:srgbClr val="F4F5F7"/>
                    </a:solidFill>
                  </a:tcPr>
                </a:tc>
                <a:tc>
                  <a:txBody>
                    <a:bodyPr/>
                    <a:lstStyle/>
                    <a:p>
                      <a:r>
                        <a:rPr sz="1275" b="0">
                          <a:solidFill>
                            <a:srgbClr val="14171C"/>
                          </a:solidFill>
                          <a:latin typeface="Arial"/>
                          <a:ea typeface="Arial"/>
                          <a:cs typeface="Arial"/>
                        </a:rPr>
                        <a:t>7,094.79</a:t>
                      </a:r>
                    </a:p>
                  </a:txBody>
                  <a:tcPr marL="85725" marR="85725" marT="19050" marB="19050">
                    <a:solidFill>
                      <a:srgbClr val="F4F5F7"/>
                    </a:solidFill>
                  </a:tcPr>
                </a:tc>
                <a:tc>
                  <a:txBody>
                    <a:bodyPr/>
                    <a:lstStyle/>
                    <a:p>
                      <a:r>
                        <a:rPr sz="1275" b="0">
                          <a:solidFill>
                            <a:srgbClr val="14171C"/>
                          </a:solidFill>
                          <a:latin typeface="Arial"/>
                          <a:ea typeface="Arial"/>
                          <a:cs typeface="Arial"/>
                        </a:rPr>
                        <a:t>9.00</a:t>
                      </a:r>
                    </a:p>
                  </a:txBody>
                  <a:tcPr marL="85725" marR="85725" marT="19050" marB="19050">
                    <a:solidFill>
                      <a:srgbClr val="F4F5F7"/>
                    </a:solidFill>
                  </a:tcPr>
                </a:tc>
                <a:tc>
                  <a:txBody>
                    <a:bodyPr/>
                    <a:lstStyle/>
                    <a:p>
                      <a:r>
                        <a:rPr sz="1275" b="0">
                          <a:solidFill>
                            <a:srgbClr val="14171C"/>
                          </a:solidFill>
                          <a:latin typeface="Arial"/>
                          <a:ea typeface="Arial"/>
                          <a:cs typeface="Arial"/>
                        </a:rPr>
                        <a:t>7,085.79</a:t>
                      </a:r>
                    </a:p>
                  </a:txBody>
                  <a:tcPr marL="85725" marR="85725" marT="19050" marB="19050">
                    <a:solidFill>
                      <a:srgbClr val="F4F5F7"/>
                    </a:solidFill>
                  </a:tcPr>
                </a:tc>
              </a:tr>
              <a:tr h="295275">
                <a:tc>
                  <a:txBody>
                    <a:bodyPr/>
                    <a:lstStyle/>
                    <a:p>
                      <a:r>
                        <a:rPr sz="1275" b="0">
                          <a:solidFill>
                            <a:srgbClr val="14171C"/>
                          </a:solidFill>
                          <a:latin typeface="Arial"/>
                          <a:ea typeface="Arial"/>
                          <a:cs typeface="Arial"/>
                        </a:rPr>
                        <a:t>Nov</a:t>
                      </a:r>
                    </a:p>
                  </a:txBody>
                  <a:tcPr marL="85725" marR="85725" marT="19050" marB="19050">
                    <a:solidFill>
                      <a:srgbClr val="FCFCFD"/>
                    </a:solidFill>
                  </a:tcPr>
                </a:tc>
                <a:tc>
                  <a:txBody>
                    <a:bodyPr/>
                    <a:lstStyle/>
                    <a:p>
                      <a:r>
                        <a:rPr sz="1275" b="0">
                          <a:solidFill>
                            <a:srgbClr val="14171C"/>
                          </a:solidFill>
                          <a:latin typeface="Arial"/>
                          <a:ea typeface="Arial"/>
                          <a:cs typeface="Arial"/>
                        </a:rPr>
                        <a:t>30</a:t>
                      </a:r>
                    </a:p>
                  </a:txBody>
                  <a:tcPr marL="85725" marR="85725" marT="19050" marB="19050">
                    <a:solidFill>
                      <a:srgbClr val="FCFCFD"/>
                    </a:solidFill>
                  </a:tcPr>
                </a:tc>
                <a:tc>
                  <a:txBody>
                    <a:bodyPr/>
                    <a:lstStyle/>
                    <a:p>
                      <a:r>
                        <a:rPr sz="1275" b="0">
                          <a:solidFill>
                            <a:srgbClr val="14171C"/>
                          </a:solidFill>
                          <a:latin typeface="Arial"/>
                          <a:ea typeface="Arial"/>
                          <a:cs typeface="Arial"/>
                        </a:rPr>
                        <a:t>2,328.49</a:t>
                      </a:r>
                    </a:p>
                  </a:txBody>
                  <a:tcPr marL="85725" marR="85725" marT="19050" marB="19050">
                    <a:solidFill>
                      <a:srgbClr val="FCFCFD"/>
                    </a:solidFill>
                  </a:tcPr>
                </a:tc>
                <a:tc>
                  <a:txBody>
                    <a:bodyPr/>
                    <a:lstStyle/>
                    <a:p>
                      <a:r>
                        <a:rPr sz="1275" b="0">
                          <a:solidFill>
                            <a:srgbClr val="14171C"/>
                          </a:solidFill>
                          <a:latin typeface="Arial"/>
                          <a:ea typeface="Arial"/>
                          <a:cs typeface="Arial"/>
                        </a:rPr>
                        <a:t>148.41</a:t>
                      </a:r>
                    </a:p>
                  </a:txBody>
                  <a:tcPr marL="85725" marR="85725" marT="19050" marB="19050">
                    <a:solidFill>
                      <a:srgbClr val="FCFCFD"/>
                    </a:solidFill>
                  </a:tcPr>
                </a:tc>
                <a:tc>
                  <a:txBody>
                    <a:bodyPr/>
                    <a:lstStyle/>
                    <a:p>
                      <a:r>
                        <a:rPr sz="1275" b="0">
                          <a:solidFill>
                            <a:srgbClr val="14171C"/>
                          </a:solidFill>
                          <a:latin typeface="Arial"/>
                          <a:ea typeface="Arial"/>
                          <a:cs typeface="Arial"/>
                        </a:rPr>
                        <a:t>6,867.22</a:t>
                      </a:r>
                    </a:p>
                  </a:txBody>
                  <a:tcPr marL="85725" marR="85725" marT="19050" marB="19050">
                    <a:solidFill>
                      <a:srgbClr val="FCFCFD"/>
                    </a:solidFill>
                  </a:tcPr>
                </a:tc>
                <a:tc>
                  <a:txBody>
                    <a:bodyPr/>
                    <a:lstStyle/>
                    <a:p>
                      <a:r>
                        <a:rPr sz="1275" b="0">
                          <a:solidFill>
                            <a:srgbClr val="14171C"/>
                          </a:solidFill>
                          <a:latin typeface="Arial"/>
                          <a:ea typeface="Arial"/>
                          <a:cs typeface="Arial"/>
                        </a:rPr>
                        <a:t>340.02</a:t>
                      </a:r>
                    </a:p>
                  </a:txBody>
                  <a:tcPr marL="85725" marR="85725" marT="19050" marB="19050">
                    <a:solidFill>
                      <a:srgbClr val="FCFCFD"/>
                    </a:solidFill>
                  </a:tcPr>
                </a:tc>
                <a:tc>
                  <a:txBody>
                    <a:bodyPr/>
                    <a:lstStyle/>
                    <a:p>
                      <a:r>
                        <a:rPr sz="1275" b="0">
                          <a:solidFill>
                            <a:srgbClr val="14171C"/>
                          </a:solidFill>
                          <a:latin typeface="Arial"/>
                          <a:ea typeface="Arial"/>
                          <a:cs typeface="Arial"/>
                        </a:rPr>
                        <a:t>6,527.20</a:t>
                      </a:r>
                    </a:p>
                  </a:txBody>
                  <a:tcPr marL="85725" marR="85725" marT="19050" marB="19050">
                    <a:solidFill>
                      <a:srgbClr val="FCFCFD"/>
                    </a:solidFill>
                  </a:tcPr>
                </a:tc>
              </a:tr>
              <a:tr h="295275">
                <a:tc>
                  <a:txBody>
                    <a:bodyPr/>
                    <a:lstStyle/>
                    <a:p>
                      <a:r>
                        <a:rPr sz="1275" b="0">
                          <a:solidFill>
                            <a:srgbClr val="14171C"/>
                          </a:solidFill>
                          <a:latin typeface="Arial"/>
                          <a:ea typeface="Arial"/>
                          <a:cs typeface="Arial"/>
                        </a:rPr>
                        <a:t>Dec</a:t>
                      </a:r>
                    </a:p>
                  </a:txBody>
                  <a:tcPr marL="85725" marR="85725" marT="19050" marB="19050">
                    <a:solidFill>
                      <a:srgbClr val="F4F5F7"/>
                    </a:solidFill>
                  </a:tcPr>
                </a:tc>
                <a:tc>
                  <a:txBody>
                    <a:bodyPr/>
                    <a:lstStyle/>
                    <a:p>
                      <a:r>
                        <a:rPr sz="1275" b="0">
                          <a:solidFill>
                            <a:srgbClr val="14171C"/>
                          </a:solidFill>
                          <a:latin typeface="Arial"/>
                          <a:ea typeface="Arial"/>
                          <a:cs typeface="Arial"/>
                        </a:rPr>
                        <a:t>31</a:t>
                      </a:r>
                    </a:p>
                  </a:txBody>
                  <a:tcPr marL="85725" marR="85725" marT="19050" marB="19050">
                    <a:solidFill>
                      <a:srgbClr val="F4F5F7"/>
                    </a:solidFill>
                  </a:tcPr>
                </a:tc>
                <a:tc>
                  <a:txBody>
                    <a:bodyPr/>
                    <a:lstStyle/>
                    <a:p>
                      <a:r>
                        <a:rPr sz="1275" b="0">
                          <a:solidFill>
                            <a:srgbClr val="14171C"/>
                          </a:solidFill>
                          <a:latin typeface="Arial"/>
                          <a:ea typeface="Arial"/>
                          <a:cs typeface="Arial"/>
                        </a:rPr>
                        <a:t>2,216.80</a:t>
                      </a:r>
                    </a:p>
                  </a:txBody>
                  <a:tcPr marL="85725" marR="85725" marT="19050" marB="19050">
                    <a:solidFill>
                      <a:srgbClr val="F4F5F7"/>
                    </a:solidFill>
                  </a:tcPr>
                </a:tc>
                <a:tc>
                  <a:txBody>
                    <a:bodyPr/>
                    <a:lstStyle/>
                    <a:p>
                      <a:r>
                        <a:rPr sz="1275" b="0">
                          <a:solidFill>
                            <a:srgbClr val="14171C"/>
                          </a:solidFill>
                          <a:latin typeface="Arial"/>
                          <a:ea typeface="Arial"/>
                          <a:cs typeface="Arial"/>
                        </a:rPr>
                        <a:t>333.20</a:t>
                      </a:r>
                    </a:p>
                  </a:txBody>
                  <a:tcPr marL="85725" marR="85725" marT="19050" marB="19050">
                    <a:solidFill>
                      <a:srgbClr val="F4F5F7"/>
                    </a:solidFill>
                  </a:tcPr>
                </a:tc>
                <a:tc>
                  <a:txBody>
                    <a:bodyPr/>
                    <a:lstStyle/>
                    <a:p>
                      <a:r>
                        <a:rPr sz="1275" b="0">
                          <a:solidFill>
                            <a:srgbClr val="14171C"/>
                          </a:solidFill>
                          <a:latin typeface="Arial"/>
                          <a:ea typeface="Arial"/>
                          <a:cs typeface="Arial"/>
                        </a:rPr>
                        <a:t>7,094.79</a:t>
                      </a:r>
                    </a:p>
                  </a:txBody>
                  <a:tcPr marL="85725" marR="85725" marT="19050" marB="19050">
                    <a:solidFill>
                      <a:srgbClr val="F4F5F7"/>
                    </a:solidFill>
                  </a:tcPr>
                </a:tc>
                <a:tc>
                  <a:txBody>
                    <a:bodyPr/>
                    <a:lstStyle/>
                    <a:p>
                      <a:r>
                        <a:rPr sz="1275" b="0">
                          <a:solidFill>
                            <a:srgbClr val="14171C"/>
                          </a:solidFill>
                          <a:latin typeface="Arial"/>
                          <a:ea typeface="Arial"/>
                          <a:cs typeface="Arial"/>
                        </a:rPr>
                        <a:t>909.64</a:t>
                      </a:r>
                    </a:p>
                  </a:txBody>
                  <a:tcPr marL="85725" marR="85725" marT="19050" marB="19050">
                    <a:solidFill>
                      <a:srgbClr val="F4F5F7"/>
                    </a:solidFill>
                  </a:tcPr>
                </a:tc>
                <a:tc>
                  <a:txBody>
                    <a:bodyPr/>
                    <a:lstStyle/>
                    <a:p>
                      <a:r>
                        <a:rPr sz="1275" b="0">
                          <a:solidFill>
                            <a:srgbClr val="14171C"/>
                          </a:solidFill>
                          <a:latin typeface="Arial"/>
                          <a:ea typeface="Arial"/>
                          <a:cs typeface="Arial"/>
                        </a:rPr>
                        <a:t>6,185.16</a:t>
                      </a:r>
                    </a:p>
                  </a:txBody>
                  <a:tcPr marL="85725" marR="85725" marT="19050" marB="19050">
                    <a:solidFill>
                      <a:srgbClr val="F4F5F7"/>
                    </a:solidFill>
                  </a:tcPr>
                </a:tc>
              </a:tr>
              <a:tr h="295275">
                <a:tc>
                  <a:txBody>
                    <a:bodyPr/>
                    <a:lstStyle/>
                    <a:p>
                      <a:r>
                        <a:rPr sz="1275" b="0">
                          <a:solidFill>
                            <a:srgbClr val="14171C"/>
                          </a:solidFill>
                          <a:latin typeface="Arial"/>
                          <a:ea typeface="Arial"/>
                          <a:cs typeface="Arial"/>
                        </a:rPr>
                        <a:t>Year</a:t>
                      </a:r>
                    </a:p>
                  </a:txBody>
                  <a:tcPr marL="85725" marR="85725" marT="19050" marB="19050">
                    <a:solidFill>
                      <a:srgbClr val="FCFCFD"/>
                    </a:solidFill>
                  </a:tcPr>
                </a:tc>
                <a:tc>
                  <a:txBody>
                    <a:bodyPr/>
                    <a:lstStyle/>
                    <a:p>
                      <a:r>
                        <a:rPr sz="1275" b="0">
                          <a:solidFill>
                            <a:srgbClr val="14171C"/>
                          </a:solidFill>
                          <a:latin typeface="Arial"/>
                          <a:ea typeface="Arial"/>
                          <a:cs typeface="Arial"/>
                        </a:rPr>
                        <a:t>365</a:t>
                      </a:r>
                    </a:p>
                  </a:txBody>
                  <a:tcPr marL="85725" marR="85725" marT="19050" marB="19050">
                    <a:solidFill>
                      <a:srgbClr val="FCFCFD"/>
                    </a:solidFill>
                  </a:tcPr>
                </a:tc>
                <a:tc>
                  <a:txBody>
                    <a:bodyPr/>
                    <a:lstStyle/>
                    <a:p>
                      <a:r>
                        <a:rPr sz="1275" b="0">
                          <a:solidFill>
                            <a:srgbClr val="14171C"/>
                          </a:solidFill>
                          <a:latin typeface="Arial"/>
                          <a:ea typeface="Arial"/>
                          <a:cs typeface="Arial"/>
                        </a:rPr>
                        <a:t>30,912.29</a:t>
                      </a:r>
                    </a:p>
                  </a:txBody>
                  <a:tcPr marL="85725" marR="85725" marT="19050" marB="19050">
                    <a:solidFill>
                      <a:srgbClr val="FCFCFD"/>
                    </a:solidFill>
                  </a:tcPr>
                </a:tc>
                <a:tc>
                  <a:txBody>
                    <a:bodyPr/>
                    <a:lstStyle/>
                    <a:p>
                      <a:r>
                        <a:rPr sz="1275" b="0">
                          <a:solidFill>
                            <a:srgbClr val="14171C"/>
                          </a:solidFill>
                          <a:latin typeface="Arial"/>
                          <a:ea typeface="Arial"/>
                          <a:cs typeface="Arial"/>
                        </a:rPr>
                        <a:t>912.76</a:t>
                      </a:r>
                    </a:p>
                  </a:txBody>
                  <a:tcPr marL="85725" marR="85725" marT="19050" marB="19050">
                    <a:solidFill>
                      <a:srgbClr val="FCFCFD"/>
                    </a:solidFill>
                  </a:tcPr>
                </a:tc>
                <a:tc>
                  <a:txBody>
                    <a:bodyPr/>
                    <a:lstStyle/>
                    <a:p>
                      <a:r>
                        <a:rPr sz="1275" b="0">
                          <a:solidFill>
                            <a:srgbClr val="14171C"/>
                          </a:solidFill>
                          <a:latin typeface="Arial"/>
                          <a:ea typeface="Arial"/>
                          <a:cs typeface="Arial"/>
                        </a:rPr>
                        <a:t>83,544.51</a:t>
                      </a:r>
                    </a:p>
                  </a:txBody>
                  <a:tcPr marL="85725" marR="85725" marT="19050" marB="19050">
                    <a:solidFill>
                      <a:srgbClr val="FCFCFD"/>
                    </a:solidFill>
                  </a:tcPr>
                </a:tc>
                <a:tc>
                  <a:txBody>
                    <a:bodyPr/>
                    <a:lstStyle/>
                    <a:p>
                      <a:r>
                        <a:rPr sz="1275" b="0">
                          <a:solidFill>
                            <a:srgbClr val="14171C"/>
                          </a:solidFill>
                          <a:latin typeface="Arial"/>
                          <a:ea typeface="Arial"/>
                          <a:cs typeface="Arial"/>
                        </a:rPr>
                        <a:t>2,453.84</a:t>
                      </a:r>
                    </a:p>
                  </a:txBody>
                  <a:tcPr marL="85725" marR="85725" marT="19050" marB="19050">
                    <a:solidFill>
                      <a:srgbClr val="FCFCFD"/>
                    </a:solidFill>
                  </a:tcPr>
                </a:tc>
                <a:tc>
                  <a:txBody>
                    <a:bodyPr/>
                    <a:lstStyle/>
                    <a:p>
                      <a:r>
                        <a:rPr sz="1275" b="0">
                          <a:solidFill>
                            <a:srgbClr val="14171C"/>
                          </a:solidFill>
                          <a:latin typeface="Arial"/>
                          <a:ea typeface="Arial"/>
                          <a:cs typeface="Arial"/>
                        </a:rPr>
                        <a:t>81,090.67</a:t>
                      </a:r>
                    </a:p>
                  </a:txBody>
                  <a:tcPr marL="85725" marR="85725" marT="19050" marB="19050">
                    <a:solidFill>
                      <a:srgbClr val="FCFCFD"/>
                    </a:solidFill>
                  </a:tcPr>
                </a:tc>
              </a:tr>
            </a:tbl>
          </a:graphicData>
        </a:graphic>
      </p:graphicFrame>
      <p:sp>
        <p:nvSpPr>
          <p:cNvPr id="5" name="">
            <a:extLst xmlns:a="http://schemas.openxmlformats.org/drawingml/2006/main">
              <a:ext uri="{FF2B5EF4-FFF2-40B4-BE49-F238E27FC236}">
                <a16:creationId xmlns:a16="http://schemas.microsoft.com/office/drawing/2014/main" id="{8E46C7E8-3814-4229-B416-BBEE015A1DD2}"/>
              </a:ext>
            </a:extLst>
          </p:cNvPr>
          <p:cNvSpPr>
            <a:spLocks xmlns:a="http://schemas.openxmlformats.org/drawingml/2006/main" noGrp="1"/>
          </p:cNvSpPr>
          <p:nvPr/>
        </p:nvSpPr>
        <p:spPr>
          <a:xfrm xmlns:a="http://schemas.openxmlformats.org/drawingml/2006/main">
            <a:off x="809625" y="6372225"/>
            <a:ext cx="10572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4A5260"/>
                </a:solidFill>
                <a:latin typeface="Arial"/>
                <a:ea typeface="Arial"/>
                <a:cs typeface="Arial"/>
              </a:defRPr>
            </a:pPr>
            <a:r>
              <a:rPr sz="1275" b="0">
                <a:solidFill>
                  <a:srgbClr val="4A5260"/>
                </a:solidFill>
                <a:latin typeface="Arial"/>
                <a:ea typeface="Arial"/>
                <a:cs typeface="Arial"/>
              </a:rPr>
              <a:t>Annual saving = sum of monthly savings = 81,090.67 EGP. Average/month = annual / 12 = 6,757.56 EGP.</a:t>
            </a:r>
          </a:p>
          <a:p xmlns:a="http://schemas.openxmlformats.org/drawingml/2006/main">
            <a:pPr>
              <a:defRPr sz="1275" b="0">
                <a:solidFill>
                  <a:srgbClr val="4A5260"/>
                </a:solidFill>
                <a:latin typeface="Arial"/>
                <a:ea typeface="Arial"/>
                <a:cs typeface="Arial"/>
              </a:defRPr>
            </a:pPr>
            <a:r>
              <a:rPr sz="1275" b="0">
                <a:solidFill>
                  <a:srgbClr val="4A5260"/>
                </a:solidFill>
                <a:latin typeface="Arial"/>
                <a:ea typeface="Arial"/>
                <a:cs typeface="Arial"/>
              </a:rPr>
              <a:t>Constant demand: 80.7 kWh/day, 50/50 split. Monthly average days, no hourly simulation. Displayed figures are rounded.</a:t>
            </a:r>
          </a:p>
        </p:txBody>
      </p:sp>
    </p:spTree>
    <p:extLst>
      <p:ext uri="{BB962C8B-B14F-4D97-AF65-F5344CB8AC3E}">
        <p14:creationId xmlns:p14="http://schemas.microsoft.com/office/powerpoint/2010/main" val="1030996701"/>
      </p:ext>
    </p:extLst>
  </p:cSld>
</p:sld>
</file>

<file path=ppt/slides/slide20.xml><?xml version="1.0" encoding="utf-8"?>
<p:sld xmlns:p="http://schemas.openxmlformats.org/presentationml/2006/main">
  <p:cSld>
    <p:bg>
      <p:bgPr>
        <a:solidFill xmlns:a="http://schemas.openxmlformats.org/drawingml/2006/main">
          <a:srgbClr val="F4F5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28E2639-47E1-4800-864F-3F0D6428B0EB}"/>
              </a:ext>
            </a:extLst>
          </p:cNvPr>
          <p:cNvSpPr>
            <a:spLocks xmlns:a="http://schemas.openxmlformats.org/drawingml/2006/main" noGrp="1"/>
          </p:cNvSpPr>
          <p:nvPr/>
        </p:nvSpPr>
        <p:spPr>
          <a:xfrm xmlns:a="http://schemas.openxmlformats.org/drawingml/2006/main">
            <a:off x="809625" y="80962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B84E0E"/>
                </a:solidFill>
                <a:latin typeface="Arial"/>
                <a:ea typeface="Arial"/>
                <a:cs typeface="Arial"/>
              </a:defRPr>
            </a:pPr>
            <a:r>
              <a:rPr sz="1350" b="1">
                <a:solidFill>
                  <a:srgbClr val="B84E0E"/>
                </a:solidFill>
                <a:latin typeface="Arial"/>
                <a:ea typeface="Arial"/>
                <a:cs typeface="Arial"/>
              </a:rPr>
              <a:t>OPTION C · SOLAR + TWO LV_32</a:t>
            </a:r>
          </a:p>
        </p:txBody>
      </p:sp>
      <p:sp>
        <p:nvSpPr>
          <p:cNvPr id="2" name="">
            <a:extLst xmlns:a="http://schemas.openxmlformats.org/drawingml/2006/main">
              <a:ext uri="{FF2B5EF4-FFF2-40B4-BE49-F238E27FC236}">
                <a16:creationId xmlns:a16="http://schemas.microsoft.com/office/drawing/2014/main" id="{6F0D4687-F135-493B-B138-F2E2E86B8CBC}"/>
              </a:ext>
            </a:extLst>
          </p:cNvPr>
          <p:cNvSpPr>
            <a:spLocks xmlns:a="http://schemas.openxmlformats.org/drawingml/2006/main" noGrp="1"/>
          </p:cNvSpPr>
          <p:nvPr/>
        </p:nvSpPr>
        <p:spPr>
          <a:xfrm xmlns:a="http://schemas.openxmlformats.org/drawingml/2006/main">
            <a:off x="809625" y="1114425"/>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4171C"/>
                </a:solidFill>
                <a:latin typeface="Arial"/>
                <a:ea typeface="Arial"/>
                <a:cs typeface="Arial"/>
              </a:defRPr>
            </a:pPr>
            <a:r>
              <a:rPr sz="3150" b="1">
                <a:solidFill>
                  <a:srgbClr val="14171C"/>
                </a:solidFill>
                <a:latin typeface="Arial"/>
                <a:ea typeface="Arial"/>
                <a:cs typeface="Arial"/>
              </a:rPr>
              <a:t>5. Purchase payback and subscription</a:t>
            </a:r>
          </a:p>
        </p:txBody>
      </p:sp>
      <p:sp>
        <p:nvSpPr>
          <p:cNvPr id="3" name="">
            <a:extLst xmlns:a="http://schemas.openxmlformats.org/drawingml/2006/main">
              <a:ext uri="{FF2B5EF4-FFF2-40B4-BE49-F238E27FC236}">
                <a16:creationId xmlns:a16="http://schemas.microsoft.com/office/drawing/2014/main" id="{72134331-6198-47BA-9B99-55581295A09C}"/>
              </a:ext>
            </a:extLst>
          </p:cNvPr>
          <p:cNvSpPr>
            <a:spLocks xmlns:a="http://schemas.openxmlformats.org/drawingml/2006/main" noGrp="1"/>
          </p:cNvSpPr>
          <p:nvPr/>
        </p:nvSpPr>
        <p:spPr>
          <a:xfrm xmlns:a="http://schemas.openxmlformats.org/drawingml/2006/main">
            <a:off x="809625" y="1895475"/>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B84E0E"/>
                </a:solidFill>
                <a:latin typeface="Consolas"/>
                <a:ea typeface="Consolas"/>
                <a:cs typeface="Consolas"/>
              </a:defRPr>
            </a:pPr>
            <a:r>
              <a:rPr sz="1950" b="1">
                <a:solidFill>
                  <a:srgbClr val="B84E0E"/>
                </a:solidFill>
                <a:latin typeface="Consolas"/>
                <a:ea typeface="Consolas"/>
                <a:cs typeface="Consolas"/>
              </a:rPr>
              <a:t>Simple payback = price / annual saving</a:t>
            </a:r>
          </a:p>
          <a:p xmlns:a="http://schemas.openxmlformats.org/drawingml/2006/main">
            <a:pPr>
              <a:defRPr sz="1950" b="1">
                <a:solidFill>
                  <a:srgbClr val="B84E0E"/>
                </a:solidFill>
                <a:latin typeface="Consolas"/>
                <a:ea typeface="Consolas"/>
                <a:cs typeface="Consolas"/>
              </a:defRPr>
            </a:pPr>
            <a:r>
              <a:rPr sz="1950" b="1">
                <a:solidFill>
                  <a:srgbClr val="B84E0E"/>
                </a:solidFill>
                <a:latin typeface="Consolas"/>
                <a:ea typeface="Consolas"/>
                <a:cs typeface="Consolas"/>
              </a:rPr>
              <a:t>= 1,154,560 / 81,090.67 = 14.24 years</a:t>
            </a:r>
          </a:p>
        </p:txBody>
      </p:sp>
      <p:sp>
        <p:nvSpPr>
          <p:cNvPr id="4" name="">
            <a:extLst xmlns:a="http://schemas.openxmlformats.org/drawingml/2006/main">
              <a:ext uri="{FF2B5EF4-FFF2-40B4-BE49-F238E27FC236}">
                <a16:creationId xmlns:a16="http://schemas.microsoft.com/office/drawing/2014/main" id="{E03B9E6A-7F25-4EEE-997F-D0A393FB1C2D}"/>
              </a:ext>
            </a:extLst>
          </p:cNvPr>
          <p:cNvSpPr>
            <a:spLocks xmlns:a="http://schemas.openxmlformats.org/drawingml/2006/main" noGrp="1"/>
          </p:cNvSpPr>
          <p:nvPr/>
        </p:nvSpPr>
        <p:spPr>
          <a:xfrm xmlns:a="http://schemas.openxmlformats.org/drawingml/2006/main">
            <a:off x="809625" y="2895600"/>
            <a:ext cx="10572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4171C"/>
                </a:solidFill>
                <a:latin typeface="Consolas"/>
                <a:ea typeface="Consolas"/>
                <a:cs typeface="Consolas"/>
              </a:defRPr>
            </a:pPr>
            <a:r>
              <a:rPr sz="1725" b="0">
                <a:solidFill>
                  <a:srgbClr val="14171C"/>
                </a:solidFill>
                <a:latin typeface="Consolas"/>
                <a:ea typeface="Consolas"/>
                <a:cs typeface="Consolas"/>
              </a:rPr>
              <a:t>Monthly fee = price / (term in years × 12)</a:t>
            </a:r>
          </a:p>
          <a:p xmlns:a="http://schemas.openxmlformats.org/drawingml/2006/main">
            <a:pPr>
              <a:defRPr sz="1725" b="0">
                <a:solidFill>
                  <a:srgbClr val="14171C"/>
                </a:solidFill>
                <a:latin typeface="Consolas"/>
                <a:ea typeface="Consolas"/>
                <a:cs typeface="Consolas"/>
              </a:defRPr>
            </a:pPr>
            <a:r>
              <a:rPr sz="1725" b="0">
                <a:solidFill>
                  <a:srgbClr val="14171C"/>
                </a:solidFill>
                <a:latin typeface="Consolas"/>
                <a:ea typeface="Consolas"/>
                <a:cs typeface="Consolas"/>
              </a:rPr>
              <a:t>Average net benefit/month = annual saving / 12 − monthly fee</a:t>
            </a:r>
          </a:p>
        </p:txBody>
      </p:sp>
      <p:graphicFrame>
        <p:nvGraphicFramePr>
          <p:cNvPr id="12" name=""/>
          <p:cNvGraphicFramePr/>
          <p:nvPr/>
        </p:nvGraphicFramePr>
        <p:xfrm>
          <a:off xmlns:a="http://schemas.openxmlformats.org/drawingml/2006/main" x="809625" y="3762375"/>
          <a:ext xmlns:a="http://schemas.openxmlformats.org/drawingml/2006/main" cx="10572750" cy="1600200"/>
        </p:xfrm>
        <a:graphic xmlns:a="http://schemas.openxmlformats.org/drawingml/2006/main">
          <a:graphicData uri="http://schemas.openxmlformats.org/drawingml/2006/table">
            <a:tbl>
              <a:tblPr/>
              <a:tblGrid>
                <a:gridCol w="1524000"/>
                <a:gridCol w="3143250"/>
                <a:gridCol w="2857500"/>
                <a:gridCol w="3048000"/>
              </a:tblGrid>
              <a:tr h="400050">
                <a:tc>
                  <a:txBody>
                    <a:bodyPr/>
                    <a:lstStyle/>
                    <a:p>
                      <a:r>
                        <a:rPr sz="1575" b="1">
                          <a:solidFill>
                            <a:srgbClr val="14171C"/>
                          </a:solidFill>
                          <a:latin typeface="Arial"/>
                          <a:ea typeface="Arial"/>
                          <a:cs typeface="Arial"/>
                        </a:rPr>
                        <a:t>Term</a:t>
                      </a:r>
                    </a:p>
                  </a:txBody>
                  <a:tcPr marL="85725" marR="85725" marT="19050" marB="19050">
                    <a:solidFill>
                      <a:srgbClr val="E6E9ED"/>
                    </a:solidFill>
                  </a:tcPr>
                </a:tc>
                <a:tc>
                  <a:txBody>
                    <a:bodyPr/>
                    <a:lstStyle/>
                    <a:p>
                      <a:r>
                        <a:rPr sz="1575" b="1">
                          <a:solidFill>
                            <a:srgbClr val="14171C"/>
                          </a:solidFill>
                          <a:latin typeface="Arial"/>
                          <a:ea typeface="Arial"/>
                          <a:cs typeface="Arial"/>
                        </a:rPr>
                        <a:t>Fee calculation</a:t>
                      </a:r>
                    </a:p>
                  </a:txBody>
                  <a:tcPr marL="85725" marR="85725" marT="19050" marB="19050">
                    <a:solidFill>
                      <a:srgbClr val="E6E9ED"/>
                    </a:solidFill>
                  </a:tcPr>
                </a:tc>
                <a:tc>
                  <a:txBody>
                    <a:bodyPr/>
                    <a:lstStyle/>
                    <a:p>
                      <a:r>
                        <a:rPr sz="1575" b="1">
                          <a:solidFill>
                            <a:srgbClr val="14171C"/>
                          </a:solidFill>
                          <a:latin typeface="Arial"/>
                          <a:ea typeface="Arial"/>
                          <a:cs typeface="Arial"/>
                        </a:rPr>
                        <a:t>Fee EGP/month</a:t>
                      </a:r>
                    </a:p>
                  </a:txBody>
                  <a:tcPr marL="85725" marR="85725" marT="19050" marB="19050">
                    <a:solidFill>
                      <a:srgbClr val="E6E9ED"/>
                    </a:solidFill>
                  </a:tcPr>
                </a:tc>
                <a:tc>
                  <a:txBody>
                    <a:bodyPr/>
                    <a:lstStyle/>
                    <a:p>
                      <a:r>
                        <a:rPr sz="1575" b="1">
                          <a:solidFill>
                            <a:srgbClr val="14171C"/>
                          </a:solidFill>
                          <a:latin typeface="Arial"/>
                          <a:ea typeface="Arial"/>
                          <a:cs typeface="Arial"/>
                        </a:rPr>
                        <a:t>Avg. net EGP/month</a:t>
                      </a:r>
                    </a:p>
                  </a:txBody>
                  <a:tcPr marL="85725" marR="85725" marT="19050" marB="19050">
                    <a:solidFill>
                      <a:srgbClr val="E6E9ED"/>
                    </a:solidFill>
                  </a:tcPr>
                </a:tc>
              </a:tr>
              <a:tr h="400050">
                <a:tc>
                  <a:txBody>
                    <a:bodyPr/>
                    <a:lstStyle/>
                    <a:p>
                      <a:r>
                        <a:rPr sz="1575" b="0">
                          <a:solidFill>
                            <a:srgbClr val="14171C"/>
                          </a:solidFill>
                          <a:latin typeface="Arial"/>
                          <a:ea typeface="Arial"/>
                          <a:cs typeface="Arial"/>
                        </a:rPr>
                        <a:t>5 years</a:t>
                      </a:r>
                    </a:p>
                  </a:txBody>
                  <a:tcPr marL="85725" marR="85725" marT="19050" marB="19050">
                    <a:solidFill>
                      <a:srgbClr val="FCFCFD"/>
                    </a:solidFill>
                  </a:tcPr>
                </a:tc>
                <a:tc>
                  <a:txBody>
                    <a:bodyPr/>
                    <a:lstStyle/>
                    <a:p>
                      <a:r>
                        <a:rPr sz="1575" b="0">
                          <a:solidFill>
                            <a:srgbClr val="14171C"/>
                          </a:solidFill>
                          <a:latin typeface="Arial"/>
                          <a:ea typeface="Arial"/>
                          <a:cs typeface="Arial"/>
                        </a:rPr>
                        <a:t>1,154,560 / (5 × 12)</a:t>
                      </a:r>
                    </a:p>
                  </a:txBody>
                  <a:tcPr marL="85725" marR="85725" marT="19050" marB="19050">
                    <a:solidFill>
                      <a:srgbClr val="FCFCFD"/>
                    </a:solidFill>
                  </a:tcPr>
                </a:tc>
                <a:tc>
                  <a:txBody>
                    <a:bodyPr/>
                    <a:lstStyle/>
                    <a:p>
                      <a:r>
                        <a:rPr sz="1575" b="0">
                          <a:solidFill>
                            <a:srgbClr val="14171C"/>
                          </a:solidFill>
                          <a:latin typeface="Arial"/>
                          <a:ea typeface="Arial"/>
                          <a:cs typeface="Arial"/>
                        </a:rPr>
                        <a:t>19,242.67</a:t>
                      </a:r>
                    </a:p>
                  </a:txBody>
                  <a:tcPr marL="85725" marR="85725" marT="19050" marB="19050">
                    <a:solidFill>
                      <a:srgbClr val="FCFCFD"/>
                    </a:solidFill>
                  </a:tcPr>
                </a:tc>
                <a:tc>
                  <a:txBody>
                    <a:bodyPr/>
                    <a:lstStyle/>
                    <a:p>
                      <a:r>
                        <a:rPr sz="1575" b="0">
                          <a:solidFill>
                            <a:srgbClr val="14171C"/>
                          </a:solidFill>
                          <a:latin typeface="Arial"/>
                          <a:ea typeface="Arial"/>
                          <a:cs typeface="Arial"/>
                        </a:rPr>
                        <a:t>-12,485.11</a:t>
                      </a:r>
                    </a:p>
                  </a:txBody>
                  <a:tcPr marL="85725" marR="85725" marT="19050" marB="19050">
                    <a:solidFill>
                      <a:srgbClr val="FCFCFD"/>
                    </a:solidFill>
                  </a:tcPr>
                </a:tc>
              </a:tr>
              <a:tr h="400050">
                <a:tc>
                  <a:txBody>
                    <a:bodyPr/>
                    <a:lstStyle/>
                    <a:p>
                      <a:r>
                        <a:rPr sz="1575" b="0">
                          <a:solidFill>
                            <a:srgbClr val="14171C"/>
                          </a:solidFill>
                          <a:latin typeface="Arial"/>
                          <a:ea typeface="Arial"/>
                          <a:cs typeface="Arial"/>
                        </a:rPr>
                        <a:t>8 years</a:t>
                      </a:r>
                    </a:p>
                  </a:txBody>
                  <a:tcPr marL="85725" marR="85725" marT="19050" marB="19050">
                    <a:solidFill>
                      <a:srgbClr val="F4F5F7"/>
                    </a:solidFill>
                  </a:tcPr>
                </a:tc>
                <a:tc>
                  <a:txBody>
                    <a:bodyPr/>
                    <a:lstStyle/>
                    <a:p>
                      <a:r>
                        <a:rPr sz="1575" b="0">
                          <a:solidFill>
                            <a:srgbClr val="14171C"/>
                          </a:solidFill>
                          <a:latin typeface="Arial"/>
                          <a:ea typeface="Arial"/>
                          <a:cs typeface="Arial"/>
                        </a:rPr>
                        <a:t>1,154,560 / (8 × 12)</a:t>
                      </a:r>
                    </a:p>
                  </a:txBody>
                  <a:tcPr marL="85725" marR="85725" marT="19050" marB="19050">
                    <a:solidFill>
                      <a:srgbClr val="F4F5F7"/>
                    </a:solidFill>
                  </a:tcPr>
                </a:tc>
                <a:tc>
                  <a:txBody>
                    <a:bodyPr/>
                    <a:lstStyle/>
                    <a:p>
                      <a:r>
                        <a:rPr sz="1575" b="0">
                          <a:solidFill>
                            <a:srgbClr val="14171C"/>
                          </a:solidFill>
                          <a:latin typeface="Arial"/>
                          <a:ea typeface="Arial"/>
                          <a:cs typeface="Arial"/>
                        </a:rPr>
                        <a:t>12,026.67</a:t>
                      </a:r>
                    </a:p>
                  </a:txBody>
                  <a:tcPr marL="85725" marR="85725" marT="19050" marB="19050">
                    <a:solidFill>
                      <a:srgbClr val="F4F5F7"/>
                    </a:solidFill>
                  </a:tcPr>
                </a:tc>
                <a:tc>
                  <a:txBody>
                    <a:bodyPr/>
                    <a:lstStyle/>
                    <a:p>
                      <a:r>
                        <a:rPr sz="1575" b="0">
                          <a:solidFill>
                            <a:srgbClr val="14171C"/>
                          </a:solidFill>
                          <a:latin typeface="Arial"/>
                          <a:ea typeface="Arial"/>
                          <a:cs typeface="Arial"/>
                        </a:rPr>
                        <a:t>-5,269.11</a:t>
                      </a:r>
                    </a:p>
                  </a:txBody>
                  <a:tcPr marL="85725" marR="85725" marT="19050" marB="19050">
                    <a:solidFill>
                      <a:srgbClr val="F4F5F7"/>
                    </a:solidFill>
                  </a:tcPr>
                </a:tc>
              </a:tr>
              <a:tr h="400050">
                <a:tc>
                  <a:txBody>
                    <a:bodyPr/>
                    <a:lstStyle/>
                    <a:p>
                      <a:r>
                        <a:rPr sz="1575" b="0">
                          <a:solidFill>
                            <a:srgbClr val="14171C"/>
                          </a:solidFill>
                          <a:latin typeface="Arial"/>
                          <a:ea typeface="Arial"/>
                          <a:cs typeface="Arial"/>
                        </a:rPr>
                        <a:t>10 years</a:t>
                      </a:r>
                    </a:p>
                  </a:txBody>
                  <a:tcPr marL="85725" marR="85725" marT="19050" marB="19050">
                    <a:solidFill>
                      <a:srgbClr val="FCFCFD"/>
                    </a:solidFill>
                  </a:tcPr>
                </a:tc>
                <a:tc>
                  <a:txBody>
                    <a:bodyPr/>
                    <a:lstStyle/>
                    <a:p>
                      <a:r>
                        <a:rPr sz="1575" b="0">
                          <a:solidFill>
                            <a:srgbClr val="14171C"/>
                          </a:solidFill>
                          <a:latin typeface="Arial"/>
                          <a:ea typeface="Arial"/>
                          <a:cs typeface="Arial"/>
                        </a:rPr>
                        <a:t>1,154,560 / (10 × 12)</a:t>
                      </a:r>
                    </a:p>
                  </a:txBody>
                  <a:tcPr marL="85725" marR="85725" marT="19050" marB="19050">
                    <a:solidFill>
                      <a:srgbClr val="FCFCFD"/>
                    </a:solidFill>
                  </a:tcPr>
                </a:tc>
                <a:tc>
                  <a:txBody>
                    <a:bodyPr/>
                    <a:lstStyle/>
                    <a:p>
                      <a:r>
                        <a:rPr sz="1575" b="0">
                          <a:solidFill>
                            <a:srgbClr val="14171C"/>
                          </a:solidFill>
                          <a:latin typeface="Arial"/>
                          <a:ea typeface="Arial"/>
                          <a:cs typeface="Arial"/>
                        </a:rPr>
                        <a:t>9,621.33</a:t>
                      </a:r>
                    </a:p>
                  </a:txBody>
                  <a:tcPr marL="85725" marR="85725" marT="19050" marB="19050">
                    <a:solidFill>
                      <a:srgbClr val="FCFCFD"/>
                    </a:solidFill>
                  </a:tcPr>
                </a:tc>
                <a:tc>
                  <a:txBody>
                    <a:bodyPr/>
                    <a:lstStyle/>
                    <a:p>
                      <a:r>
                        <a:rPr sz="1575" b="0">
                          <a:solidFill>
                            <a:srgbClr val="14171C"/>
                          </a:solidFill>
                          <a:latin typeface="Arial"/>
                          <a:ea typeface="Arial"/>
                          <a:cs typeface="Arial"/>
                        </a:rPr>
                        <a:t>-2,863.78</a:t>
                      </a:r>
                    </a:p>
                  </a:txBody>
                  <a:tcPr marL="85725" marR="85725" marT="19050" marB="19050">
                    <a:solidFill>
                      <a:srgbClr val="FCFCFD"/>
                    </a:solidFill>
                  </a:tcPr>
                </a:tc>
              </a:tr>
            </a:tbl>
          </a:graphicData>
        </a:graphic>
      </p:graphicFrame>
      <p:sp>
        <p:nvSpPr>
          <p:cNvPr id="6" name="">
            <a:extLst xmlns:a="http://schemas.openxmlformats.org/drawingml/2006/main">
              <a:ext uri="{FF2B5EF4-FFF2-40B4-BE49-F238E27FC236}">
                <a16:creationId xmlns:a16="http://schemas.microsoft.com/office/drawing/2014/main" id="{A06AD5A1-934E-4E25-8E49-93AF62567200}"/>
              </a:ext>
            </a:extLst>
          </p:cNvPr>
          <p:cNvSpPr>
            <a:spLocks xmlns:a="http://schemas.openxmlformats.org/drawingml/2006/main" noGrp="1"/>
          </p:cNvSpPr>
          <p:nvPr/>
        </p:nvSpPr>
        <p:spPr>
          <a:xfrm xmlns:a="http://schemas.openxmlformats.org/drawingml/2006/main">
            <a:off x="809625" y="554355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4171C"/>
                </a:solidFill>
                <a:latin typeface="Arial"/>
                <a:ea typeface="Arial"/>
                <a:cs typeface="Arial"/>
              </a:defRPr>
            </a:pPr>
            <a:r>
              <a:rPr sz="1500" b="0">
                <a:solidFill>
                  <a:srgbClr val="14171C"/>
                </a:solidFill>
                <a:latin typeface="Arial"/>
                <a:ea typeface="Arial"/>
                <a:cs typeface="Arial"/>
              </a:rPr>
              <a:t>Break-even term = price / annual saving = 14.24 years, where the average net benefit is zero.</a:t>
            </a:r>
          </a:p>
        </p:txBody>
      </p:sp>
      <p:sp>
        <p:nvSpPr>
          <p:cNvPr id="7" name="">
            <a:extLst xmlns:a="http://schemas.openxmlformats.org/drawingml/2006/main">
              <a:ext uri="{FF2B5EF4-FFF2-40B4-BE49-F238E27FC236}">
                <a16:creationId xmlns:a16="http://schemas.microsoft.com/office/drawing/2014/main" id="{106C69E1-26B5-4F7F-BF1F-220DE0E509F9}"/>
              </a:ext>
            </a:extLst>
          </p:cNvPr>
          <p:cNvSpPr>
            <a:spLocks xmlns:a="http://schemas.openxmlformats.org/drawingml/2006/main" noGrp="1"/>
          </p:cNvSpPr>
          <p:nvPr/>
        </p:nvSpPr>
        <p:spPr>
          <a:xfrm xmlns:a="http://schemas.openxmlformats.org/drawingml/2006/main">
            <a:off x="809625" y="6057900"/>
            <a:ext cx="10572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4A5260"/>
                </a:solidFill>
                <a:latin typeface="Arial"/>
                <a:ea typeface="Arial"/>
                <a:cs typeface="Arial"/>
              </a:defRPr>
            </a:pPr>
            <a:r>
              <a:rPr sz="1275" b="0">
                <a:solidFill>
                  <a:srgbClr val="4A5260"/>
                </a:solidFill>
                <a:latin typeface="Arial"/>
                <a:ea typeface="Arial"/>
                <a:cs typeface="Arial"/>
              </a:rPr>
              <a:t>Illustrative recovery of selling price. No extra subscription margin, maintenance, insurance, financing or replacement.</a:t>
            </a:r>
          </a:p>
          <a:p xmlns:a="http://schemas.openxmlformats.org/drawingml/2006/main">
            <a:pPr>
              <a:defRPr sz="1275" b="0">
                <a:solidFill>
                  <a:srgbClr val="4A5260"/>
                </a:solidFill>
                <a:latin typeface="Arial"/>
                <a:ea typeface="Arial"/>
                <a:cs typeface="Arial"/>
              </a:defRPr>
            </a:pPr>
            <a:r>
              <a:rPr sz="1275" b="0">
                <a:solidFill>
                  <a:srgbClr val="4A5260"/>
                </a:solidFill>
                <a:latin typeface="Arial"/>
                <a:ea typeface="Arial"/>
                <a:cs typeface="Arial"/>
              </a:rPr>
              <a:t>No degradation or tariff increases. Monthly benefits vary. Simple payback is not a discounted return calculation.</a:t>
            </a:r>
          </a:p>
        </p:txBody>
      </p:sp>
    </p:spTree>
    <p:extLst>
      <p:ext uri="{BB962C8B-B14F-4D97-AF65-F5344CB8AC3E}">
        <p14:creationId xmlns:p14="http://schemas.microsoft.com/office/powerpoint/2010/main" val="2109724455"/>
      </p:ext>
    </p:extLst>
  </p:cSld>
</p:sld>
</file>

<file path=ppt/slides/slide21.xml><?xml version="1.0" encoding="utf-8"?>
<p:sld xmlns:p="http://schemas.openxmlformats.org/presentationml/2006/main">
  <p:cSld>
    <p:bg>
      <p:bgPr>
        <a:solidFill xmlns:a="http://schemas.openxmlformats.org/drawingml/2006/main">
          <a:srgbClr val="F4F5F7"/>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1B4E9A5-EA07-4615-8B0B-11FAA11CB148}"/>
              </a:ext>
            </a:extLst>
          </p:cNvPr>
          <p:cNvSpPr>
            <a:spLocks xmlns:a="http://schemas.openxmlformats.org/drawingml/2006/main" noGrp="1"/>
          </p:cNvSpPr>
          <p:nvPr/>
        </p:nvSpPr>
        <p:spPr>
          <a:xfrm xmlns:a="http://schemas.openxmlformats.org/drawingml/2006/main">
            <a:off x="809625" y="80962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B84E0E"/>
                </a:solidFill>
                <a:latin typeface="Arial"/>
                <a:ea typeface="Arial"/>
                <a:cs typeface="Arial"/>
              </a:defRPr>
            </a:pPr>
            <a:r>
              <a:rPr sz="1350" b="1">
                <a:solidFill>
                  <a:srgbClr val="B84E0E"/>
                </a:solidFill>
                <a:latin typeface="Arial"/>
                <a:ea typeface="Arial"/>
                <a:cs typeface="Arial"/>
              </a:rPr>
              <a:t>FINAL COMPARISON</a:t>
            </a:r>
          </a:p>
        </p:txBody>
      </p:sp>
      <p:sp>
        <p:nvSpPr>
          <p:cNvPr id="2" name="">
            <a:extLst xmlns:a="http://schemas.openxmlformats.org/drawingml/2006/main">
              <a:ext uri="{FF2B5EF4-FFF2-40B4-BE49-F238E27FC236}">
                <a16:creationId xmlns:a16="http://schemas.microsoft.com/office/drawing/2014/main" id="{55B99CF4-9E51-49EB-AD08-61B7A837D0E0}"/>
              </a:ext>
            </a:extLst>
          </p:cNvPr>
          <p:cNvSpPr>
            <a:spLocks xmlns:a="http://schemas.openxmlformats.org/drawingml/2006/main" noGrp="1"/>
          </p:cNvSpPr>
          <p:nvPr/>
        </p:nvSpPr>
        <p:spPr>
          <a:xfrm xmlns:a="http://schemas.openxmlformats.org/drawingml/2006/main">
            <a:off x="809625" y="1114425"/>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4171C"/>
                </a:solidFill>
                <a:latin typeface="Arial"/>
                <a:ea typeface="Arial"/>
                <a:cs typeface="Arial"/>
              </a:defRPr>
            </a:pPr>
            <a:r>
              <a:rPr sz="3150" b="1">
                <a:solidFill>
                  <a:srgbClr val="14171C"/>
                </a:solidFill>
                <a:latin typeface="Arial"/>
                <a:ea typeface="Arial"/>
                <a:cs typeface="Arial"/>
              </a:rPr>
              <a:t>A, B and C: equations and final results</a:t>
            </a:r>
          </a:p>
        </p:txBody>
      </p:sp>
      <p:graphicFrame>
        <p:nvGraphicFramePr>
          <p:cNvPr id="7" name=""/>
          <p:cNvGraphicFramePr/>
          <p:nvPr/>
        </p:nvGraphicFramePr>
        <p:xfrm>
          <a:off xmlns:a="http://schemas.openxmlformats.org/drawingml/2006/main" x="809625" y="1924050"/>
          <a:ext xmlns:a="http://schemas.openxmlformats.org/drawingml/2006/main" cx="10572750" cy="3943350"/>
        </p:xfrm>
        <a:graphic xmlns:a="http://schemas.openxmlformats.org/drawingml/2006/main">
          <a:graphicData uri="http://schemas.openxmlformats.org/drawingml/2006/table">
            <a:tbl>
              <a:tblPr/>
              <a:tblGrid>
                <a:gridCol w="4619625"/>
                <a:gridCol w="1981200"/>
                <a:gridCol w="1981200"/>
                <a:gridCol w="1990725"/>
              </a:tblGrid>
              <a:tr h="381000">
                <a:tc>
                  <a:txBody>
                    <a:bodyPr/>
                    <a:lstStyle/>
                    <a:p>
                      <a:r>
                        <a:rPr sz="1275" b="1">
                          <a:solidFill>
                            <a:srgbClr val="14171C"/>
                          </a:solidFill>
                          <a:latin typeface="Arial"/>
                          <a:ea typeface="Arial"/>
                          <a:cs typeface="Arial"/>
                        </a:rPr>
                        <a:t>Metric / equation</a:t>
                      </a:r>
                    </a:p>
                  </a:txBody>
                  <a:tcPr marL="85725" marR="85725" marT="19050" marB="19050">
                    <a:solidFill>
                      <a:srgbClr val="E6E9ED"/>
                    </a:solidFill>
                  </a:tcPr>
                </a:tc>
                <a:tc>
                  <a:txBody>
                    <a:bodyPr/>
                    <a:lstStyle/>
                    <a:p>
                      <a:r>
                        <a:rPr sz="1275" b="1">
                          <a:solidFill>
                            <a:srgbClr val="14171C"/>
                          </a:solidFill>
                          <a:latin typeface="Arial"/>
                          <a:ea typeface="Arial"/>
                          <a:cs typeface="Arial"/>
                        </a:rPr>
                        <a:t>A · Solar only</a:t>
                      </a:r>
                    </a:p>
                  </a:txBody>
                  <a:tcPr marL="85725" marR="85725" marT="19050" marB="19050">
                    <a:solidFill>
                      <a:srgbClr val="E6E9ED"/>
                    </a:solidFill>
                  </a:tcPr>
                </a:tc>
                <a:tc>
                  <a:txBody>
                    <a:bodyPr/>
                    <a:lstStyle/>
                    <a:p>
                      <a:r>
                        <a:rPr sz="1275" b="1">
                          <a:solidFill>
                            <a:srgbClr val="14171C"/>
                          </a:solidFill>
                          <a:latin typeface="Arial"/>
                          <a:ea typeface="Arial"/>
                          <a:cs typeface="Arial"/>
                        </a:rPr>
                        <a:t>B · Solar + 16 kWh</a:t>
                      </a:r>
                    </a:p>
                  </a:txBody>
                  <a:tcPr marL="85725" marR="85725" marT="19050" marB="19050">
                    <a:solidFill>
                      <a:srgbClr val="E6E9ED"/>
                    </a:solidFill>
                  </a:tcPr>
                </a:tc>
                <a:tc>
                  <a:txBody>
                    <a:bodyPr/>
                    <a:lstStyle/>
                    <a:p>
                      <a:r>
                        <a:rPr sz="1275" b="1">
                          <a:solidFill>
                            <a:srgbClr val="14171C"/>
                          </a:solidFill>
                          <a:latin typeface="Arial"/>
                          <a:ea typeface="Arial"/>
                          <a:cs typeface="Arial"/>
                        </a:rPr>
                        <a:t>C · Solar + 64 kWh</a:t>
                      </a:r>
                    </a:p>
                  </a:txBody>
                  <a:tcPr marL="85725" marR="85725" marT="19050" marB="19050">
                    <a:solidFill>
                      <a:srgbClr val="E6E9ED"/>
                    </a:solidFill>
                  </a:tcPr>
                </a:tc>
              </a:tr>
              <a:tr h="323850">
                <a:tc>
                  <a:txBody>
                    <a:bodyPr/>
                    <a:lstStyle/>
                    <a:p>
                      <a:r>
                        <a:rPr sz="1275" b="0">
                          <a:solidFill>
                            <a:srgbClr val="14171C"/>
                          </a:solidFill>
                          <a:latin typeface="Arial"/>
                          <a:ea typeface="Arial"/>
                          <a:cs typeface="Arial"/>
                        </a:rPr>
                        <a:t>PV P / battery C / inverter</a:t>
                      </a:r>
                    </a:p>
                  </a:txBody>
                  <a:tcPr marL="85725" marR="85725" marT="19050" marB="19050">
                    <a:solidFill>
                      <a:srgbClr val="FCFCFD"/>
                    </a:solidFill>
                  </a:tcPr>
                </a:tc>
                <a:tc>
                  <a:txBody>
                    <a:bodyPr/>
                    <a:lstStyle/>
                    <a:p>
                      <a:r>
                        <a:rPr sz="1275" b="0">
                          <a:solidFill>
                            <a:srgbClr val="14171C"/>
                          </a:solidFill>
                          <a:latin typeface="Arial"/>
                          <a:ea typeface="Arial"/>
                          <a:cs typeface="Arial"/>
                        </a:rPr>
                        <a:t>8.5 kWp / 0 kWh / 10 kW</a:t>
                      </a:r>
                    </a:p>
                  </a:txBody>
                  <a:tcPr marL="85725" marR="85725" marT="19050" marB="19050">
                    <a:solidFill>
                      <a:srgbClr val="FCFCFD"/>
                    </a:solidFill>
                  </a:tcPr>
                </a:tc>
                <a:tc>
                  <a:txBody>
                    <a:bodyPr/>
                    <a:lstStyle/>
                    <a:p>
                      <a:r>
                        <a:rPr sz="1275" b="0">
                          <a:solidFill>
                            <a:srgbClr val="14171C"/>
                          </a:solidFill>
                          <a:latin typeface="Arial"/>
                          <a:ea typeface="Arial"/>
                          <a:cs typeface="Arial"/>
                        </a:rPr>
                        <a:t>11.0 kWp / 16 kWh / 12 kW</a:t>
                      </a:r>
                    </a:p>
                  </a:txBody>
                  <a:tcPr marL="85725" marR="85725" marT="19050" marB="19050">
                    <a:solidFill>
                      <a:srgbClr val="FCFCFD"/>
                    </a:solidFill>
                  </a:tcPr>
                </a:tc>
                <a:tc>
                  <a:txBody>
                    <a:bodyPr/>
                    <a:lstStyle/>
                    <a:p>
                      <a:r>
                        <a:rPr sz="1275" b="0">
                          <a:solidFill>
                            <a:srgbClr val="14171C"/>
                          </a:solidFill>
                          <a:latin typeface="Arial"/>
                          <a:ea typeface="Arial"/>
                          <a:cs typeface="Arial"/>
                        </a:rPr>
                        <a:t>17.0 kWp / 64 kWh / 20 kW</a:t>
                      </a:r>
                    </a:p>
                  </a:txBody>
                  <a:tcPr marL="85725" marR="85725" marT="19050" marB="19050">
                    <a:solidFill>
                      <a:srgbClr val="FCFCFD"/>
                    </a:solidFill>
                  </a:tcPr>
                </a:tc>
              </a:tr>
              <a:tr h="323850">
                <a:tc>
                  <a:txBody>
                    <a:bodyPr/>
                    <a:lstStyle/>
                    <a:p>
                      <a:r>
                        <a:rPr sz="1275" b="0">
                          <a:solidFill>
                            <a:srgbClr val="14171C"/>
                          </a:solidFill>
                          <a:latin typeface="Arial"/>
                          <a:ea typeface="Arial"/>
                          <a:cs typeface="Arial"/>
                        </a:rPr>
                        <a:t>Price = (8,000P + 6,000I) × 1.1 + 13,640C</a:t>
                      </a:r>
                    </a:p>
                  </a:txBody>
                  <a:tcPr marL="85725" marR="85725" marT="19050" marB="19050">
                    <a:solidFill>
                      <a:srgbClr val="F4F5F7"/>
                    </a:solidFill>
                  </a:tcPr>
                </a:tc>
                <a:tc>
                  <a:txBody>
                    <a:bodyPr/>
                    <a:lstStyle/>
                    <a:p>
                      <a:r>
                        <a:rPr sz="1275" b="0">
                          <a:solidFill>
                            <a:srgbClr val="14171C"/>
                          </a:solidFill>
                          <a:latin typeface="Arial"/>
                          <a:ea typeface="Arial"/>
                          <a:cs typeface="Arial"/>
                        </a:rPr>
                        <a:t>140,800 EGP</a:t>
                      </a:r>
                    </a:p>
                  </a:txBody>
                  <a:tcPr marL="85725" marR="85725" marT="19050" marB="19050">
                    <a:solidFill>
                      <a:srgbClr val="F4F5F7"/>
                    </a:solidFill>
                  </a:tcPr>
                </a:tc>
                <a:tc>
                  <a:txBody>
                    <a:bodyPr/>
                    <a:lstStyle/>
                    <a:p>
                      <a:r>
                        <a:rPr sz="1275" b="0">
                          <a:solidFill>
                            <a:srgbClr val="14171C"/>
                          </a:solidFill>
                          <a:latin typeface="Arial"/>
                          <a:ea typeface="Arial"/>
                          <a:cs typeface="Arial"/>
                        </a:rPr>
                        <a:t>394,240 EGP</a:t>
                      </a:r>
                    </a:p>
                  </a:txBody>
                  <a:tcPr marL="85725" marR="85725" marT="19050" marB="19050">
                    <a:solidFill>
                      <a:srgbClr val="F4F5F7"/>
                    </a:solidFill>
                  </a:tcPr>
                </a:tc>
                <a:tc>
                  <a:txBody>
                    <a:bodyPr/>
                    <a:lstStyle/>
                    <a:p>
                      <a:r>
                        <a:rPr sz="1275" b="0">
                          <a:solidFill>
                            <a:srgbClr val="14171C"/>
                          </a:solidFill>
                          <a:latin typeface="Arial"/>
                          <a:ea typeface="Arial"/>
                          <a:cs typeface="Arial"/>
                        </a:rPr>
                        <a:t>1,154,560 EGP</a:t>
                      </a:r>
                    </a:p>
                  </a:txBody>
                  <a:tcPr marL="85725" marR="85725" marT="19050" marB="19050">
                    <a:solidFill>
                      <a:srgbClr val="F4F5F7"/>
                    </a:solidFill>
                  </a:tcPr>
                </a:tc>
              </a:tr>
              <a:tr h="323850">
                <a:tc>
                  <a:txBody>
                    <a:bodyPr/>
                    <a:lstStyle/>
                    <a:p>
                      <a:r>
                        <a:rPr sz="1275" b="0">
                          <a:solidFill>
                            <a:srgbClr val="14171C"/>
                          </a:solidFill>
                          <a:latin typeface="Arial"/>
                          <a:ea typeface="Arial"/>
                          <a:cs typeface="Arial"/>
                        </a:rPr>
                        <a:t>Delivered battery = min(surplus × η, U × η, N)</a:t>
                      </a:r>
                    </a:p>
                  </a:txBody>
                  <a:tcPr marL="85725" marR="85725" marT="19050" marB="19050">
                    <a:solidFill>
                      <a:srgbClr val="FCFCFD"/>
                    </a:solidFill>
                  </a:tcPr>
                </a:tc>
                <a:tc>
                  <a:txBody>
                    <a:bodyPr/>
                    <a:lstStyle/>
                    <a:p>
                      <a:r>
                        <a:rPr sz="1275" b="0">
                          <a:solidFill>
                            <a:srgbClr val="14171C"/>
                          </a:solidFill>
                          <a:latin typeface="Arial"/>
                          <a:ea typeface="Arial"/>
                          <a:cs typeface="Arial"/>
                        </a:rPr>
                        <a:t>0.00 kWh/day</a:t>
                      </a:r>
                    </a:p>
                  </a:txBody>
                  <a:tcPr marL="85725" marR="85725" marT="19050" marB="19050">
                    <a:solidFill>
                      <a:srgbClr val="FCFCFD"/>
                    </a:solidFill>
                  </a:tcPr>
                </a:tc>
                <a:tc>
                  <a:txBody>
                    <a:bodyPr/>
                    <a:lstStyle/>
                    <a:p>
                      <a:r>
                        <a:rPr sz="1275" b="0">
                          <a:solidFill>
                            <a:srgbClr val="14171C"/>
                          </a:solidFill>
                          <a:latin typeface="Arial"/>
                          <a:ea typeface="Arial"/>
                          <a:cs typeface="Arial"/>
                        </a:rPr>
                        <a:t>12.16 kWh/day</a:t>
                      </a:r>
                    </a:p>
                  </a:txBody>
                  <a:tcPr marL="85725" marR="85725" marT="19050" marB="19050">
                    <a:solidFill>
                      <a:srgbClr val="FCFCFD"/>
                    </a:solidFill>
                  </a:tcPr>
                </a:tc>
                <a:tc>
                  <a:txBody>
                    <a:bodyPr/>
                    <a:lstStyle/>
                    <a:p>
                      <a:r>
                        <a:rPr sz="1275" b="0">
                          <a:solidFill>
                            <a:srgbClr val="14171C"/>
                          </a:solidFill>
                          <a:latin typeface="Arial"/>
                          <a:ea typeface="Arial"/>
                          <a:cs typeface="Arial"/>
                        </a:rPr>
                        <a:t>40.35 kWh/day</a:t>
                      </a:r>
                    </a:p>
                  </a:txBody>
                  <a:tcPr marL="85725" marR="85725" marT="19050" marB="19050">
                    <a:solidFill>
                      <a:srgbClr val="FCFCFD"/>
                    </a:solidFill>
                  </a:tcPr>
                </a:tc>
              </a:tr>
              <a:tr h="323850">
                <a:tc>
                  <a:txBody>
                    <a:bodyPr/>
                    <a:lstStyle/>
                    <a:p>
                      <a:r>
                        <a:rPr sz="1275" b="0">
                          <a:solidFill>
                            <a:srgbClr val="14171C"/>
                          </a:solidFill>
                          <a:latin typeface="Arial"/>
                          <a:ea typeface="Arial"/>
                          <a:cs typeface="Arial"/>
                        </a:rPr>
                        <a:t>30-day grid = (E − Direct − B) × 30</a:t>
                      </a:r>
                    </a:p>
                  </a:txBody>
                  <a:tcPr marL="85725" marR="85725" marT="19050" marB="19050">
                    <a:solidFill>
                      <a:srgbClr val="F4F5F7"/>
                    </a:solidFill>
                  </a:tcPr>
                </a:tc>
                <a:tc>
                  <a:txBody>
                    <a:bodyPr/>
                    <a:lstStyle/>
                    <a:p>
                      <a:r>
                        <a:rPr sz="1275" b="0">
                          <a:solidFill>
                            <a:srgbClr val="14171C"/>
                          </a:solidFill>
                          <a:latin typeface="Arial"/>
                          <a:ea typeface="Arial"/>
                          <a:cs typeface="Arial"/>
                        </a:rPr>
                        <a:t>1,210.50 kWh</a:t>
                      </a:r>
                    </a:p>
                  </a:txBody>
                  <a:tcPr marL="85725" marR="85725" marT="19050" marB="19050">
                    <a:solidFill>
                      <a:srgbClr val="F4F5F7"/>
                    </a:solidFill>
                  </a:tcPr>
                </a:tc>
                <a:tc>
                  <a:txBody>
                    <a:bodyPr/>
                    <a:lstStyle/>
                    <a:p>
                      <a:r>
                        <a:rPr sz="1275" b="0">
                          <a:solidFill>
                            <a:srgbClr val="14171C"/>
                          </a:solidFill>
                          <a:latin typeface="Arial"/>
                          <a:ea typeface="Arial"/>
                          <a:cs typeface="Arial"/>
                        </a:rPr>
                        <a:t>845.70 kWh</a:t>
                      </a:r>
                    </a:p>
                  </a:txBody>
                  <a:tcPr marL="85725" marR="85725" marT="19050" marB="19050">
                    <a:solidFill>
                      <a:srgbClr val="F4F5F7"/>
                    </a:solidFill>
                  </a:tcPr>
                </a:tc>
                <a:tc>
                  <a:txBody>
                    <a:bodyPr/>
                    <a:lstStyle/>
                    <a:p>
                      <a:r>
                        <a:rPr sz="1275" b="0">
                          <a:solidFill>
                            <a:srgbClr val="14171C"/>
                          </a:solidFill>
                          <a:latin typeface="Arial"/>
                          <a:ea typeface="Arial"/>
                          <a:cs typeface="Arial"/>
                        </a:rPr>
                        <a:t>0.00 kWh</a:t>
                      </a:r>
                    </a:p>
                  </a:txBody>
                  <a:tcPr marL="85725" marR="85725" marT="19050" marB="19050">
                    <a:solidFill>
                      <a:srgbClr val="F4F5F7"/>
                    </a:solidFill>
                  </a:tcPr>
                </a:tc>
              </a:tr>
              <a:tr h="323850">
                <a:tc>
                  <a:txBody>
                    <a:bodyPr/>
                    <a:lstStyle/>
                    <a:p>
                      <a:r>
                        <a:rPr sz="1275" b="0">
                          <a:solidFill>
                            <a:srgbClr val="14171C"/>
                          </a:solidFill>
                          <a:latin typeface="Arial"/>
                          <a:ea typeface="Arial"/>
                          <a:cs typeface="Arial"/>
                        </a:rPr>
                        <a:t>30-day saving = 6,867.22 − new bill</a:t>
                      </a:r>
                    </a:p>
                  </a:txBody>
                  <a:tcPr marL="85725" marR="85725" marT="19050" marB="19050">
                    <a:solidFill>
                      <a:srgbClr val="FCFCFD"/>
                    </a:solidFill>
                  </a:tcPr>
                </a:tc>
                <a:tc>
                  <a:txBody>
                    <a:bodyPr/>
                    <a:lstStyle/>
                    <a:p>
                      <a:r>
                        <a:rPr sz="1275" b="0">
                          <a:solidFill>
                            <a:srgbClr val="14171C"/>
                          </a:solidFill>
                          <a:latin typeface="Arial"/>
                          <a:ea typeface="Arial"/>
                          <a:cs typeface="Arial"/>
                        </a:rPr>
                        <a:t>3,413.61 EGP</a:t>
                      </a:r>
                    </a:p>
                  </a:txBody>
                  <a:tcPr marL="85725" marR="85725" marT="19050" marB="19050">
                    <a:solidFill>
                      <a:srgbClr val="FCFCFD"/>
                    </a:solidFill>
                  </a:tcPr>
                </a:tc>
                <a:tc>
                  <a:txBody>
                    <a:bodyPr/>
                    <a:lstStyle/>
                    <a:p>
                      <a:r>
                        <a:rPr sz="1275" b="0">
                          <a:solidFill>
                            <a:srgbClr val="14171C"/>
                          </a:solidFill>
                          <a:latin typeface="Arial"/>
                          <a:ea typeface="Arial"/>
                          <a:cs typeface="Arial"/>
                        </a:rPr>
                        <a:t>4,559.63 EGP</a:t>
                      </a:r>
                    </a:p>
                  </a:txBody>
                  <a:tcPr marL="85725" marR="85725" marT="19050" marB="19050">
                    <a:solidFill>
                      <a:srgbClr val="FCFCFD"/>
                    </a:solidFill>
                  </a:tcPr>
                </a:tc>
                <a:tc>
                  <a:txBody>
                    <a:bodyPr/>
                    <a:lstStyle/>
                    <a:p>
                      <a:r>
                        <a:rPr sz="1275" b="0">
                          <a:solidFill>
                            <a:srgbClr val="14171C"/>
                          </a:solidFill>
                          <a:latin typeface="Arial"/>
                          <a:ea typeface="Arial"/>
                          <a:cs typeface="Arial"/>
                        </a:rPr>
                        <a:t>6,858.22 EGP</a:t>
                      </a:r>
                    </a:p>
                  </a:txBody>
                  <a:tcPr marL="85725" marR="85725" marT="19050" marB="19050">
                    <a:solidFill>
                      <a:srgbClr val="FCFCFD"/>
                    </a:solidFill>
                  </a:tcPr>
                </a:tc>
              </a:tr>
              <a:tr h="323850">
                <a:tc>
                  <a:txBody>
                    <a:bodyPr/>
                    <a:lstStyle/>
                    <a:p>
                      <a:r>
                        <a:rPr sz="1275" b="0">
                          <a:solidFill>
                            <a:srgbClr val="14171C"/>
                          </a:solidFill>
                          <a:latin typeface="Arial"/>
                          <a:ea typeface="Arial"/>
                          <a:cs typeface="Arial"/>
                        </a:rPr>
                        <a:t>Annual saving = sum of 12 monthly savings</a:t>
                      </a:r>
                    </a:p>
                  </a:txBody>
                  <a:tcPr marL="85725" marR="85725" marT="19050" marB="19050">
                    <a:solidFill>
                      <a:srgbClr val="F4F5F7"/>
                    </a:solidFill>
                  </a:tcPr>
                </a:tc>
                <a:tc>
                  <a:txBody>
                    <a:bodyPr/>
                    <a:lstStyle/>
                    <a:p>
                      <a:r>
                        <a:rPr sz="1275" b="0">
                          <a:solidFill>
                            <a:srgbClr val="14171C"/>
                          </a:solidFill>
                          <a:latin typeface="Arial"/>
                          <a:ea typeface="Arial"/>
                          <a:cs typeface="Arial"/>
                        </a:rPr>
                        <a:t>40,537 EGP</a:t>
                      </a:r>
                    </a:p>
                  </a:txBody>
                  <a:tcPr marL="85725" marR="85725" marT="19050" marB="19050">
                    <a:solidFill>
                      <a:srgbClr val="F4F5F7"/>
                    </a:solidFill>
                  </a:tcPr>
                </a:tc>
                <a:tc>
                  <a:txBody>
                    <a:bodyPr/>
                    <a:lstStyle/>
                    <a:p>
                      <a:r>
                        <a:rPr sz="1275" b="0">
                          <a:solidFill>
                            <a:srgbClr val="14171C"/>
                          </a:solidFill>
                          <a:latin typeface="Arial"/>
                          <a:ea typeface="Arial"/>
                          <a:cs typeface="Arial"/>
                        </a:rPr>
                        <a:t>53,709 EGP</a:t>
                      </a:r>
                    </a:p>
                  </a:txBody>
                  <a:tcPr marL="85725" marR="85725" marT="19050" marB="19050">
                    <a:solidFill>
                      <a:srgbClr val="F4F5F7"/>
                    </a:solidFill>
                  </a:tcPr>
                </a:tc>
                <a:tc>
                  <a:txBody>
                    <a:bodyPr/>
                    <a:lstStyle/>
                    <a:p>
                      <a:r>
                        <a:rPr sz="1275" b="0">
                          <a:solidFill>
                            <a:srgbClr val="14171C"/>
                          </a:solidFill>
                          <a:latin typeface="Arial"/>
                          <a:ea typeface="Arial"/>
                          <a:cs typeface="Arial"/>
                        </a:rPr>
                        <a:t>81,091 EGP</a:t>
                      </a:r>
                    </a:p>
                  </a:txBody>
                  <a:tcPr marL="85725" marR="85725" marT="19050" marB="19050">
                    <a:solidFill>
                      <a:srgbClr val="F4F5F7"/>
                    </a:solidFill>
                  </a:tcPr>
                </a:tc>
              </a:tr>
              <a:tr h="323850">
                <a:tc>
                  <a:txBody>
                    <a:bodyPr/>
                    <a:lstStyle/>
                    <a:p>
                      <a:r>
                        <a:rPr sz="1275" b="0">
                          <a:solidFill>
                            <a:srgbClr val="14171C"/>
                          </a:solidFill>
                          <a:latin typeface="Arial"/>
                          <a:ea typeface="Arial"/>
                          <a:cs typeface="Arial"/>
                        </a:rPr>
                        <a:t>Average monthly saving = annual / 12</a:t>
                      </a:r>
                    </a:p>
                  </a:txBody>
                  <a:tcPr marL="85725" marR="85725" marT="19050" marB="19050">
                    <a:solidFill>
                      <a:srgbClr val="FCFCFD"/>
                    </a:solidFill>
                  </a:tcPr>
                </a:tc>
                <a:tc>
                  <a:txBody>
                    <a:bodyPr/>
                    <a:lstStyle/>
                    <a:p>
                      <a:r>
                        <a:rPr sz="1275" b="0">
                          <a:solidFill>
                            <a:srgbClr val="14171C"/>
                          </a:solidFill>
                          <a:latin typeface="Arial"/>
                          <a:ea typeface="Arial"/>
                          <a:cs typeface="Arial"/>
                        </a:rPr>
                        <a:t>3,378 EGP</a:t>
                      </a:r>
                    </a:p>
                  </a:txBody>
                  <a:tcPr marL="85725" marR="85725" marT="19050" marB="19050">
                    <a:solidFill>
                      <a:srgbClr val="FCFCFD"/>
                    </a:solidFill>
                  </a:tcPr>
                </a:tc>
                <a:tc>
                  <a:txBody>
                    <a:bodyPr/>
                    <a:lstStyle/>
                    <a:p>
                      <a:r>
                        <a:rPr sz="1275" b="0">
                          <a:solidFill>
                            <a:srgbClr val="14171C"/>
                          </a:solidFill>
                          <a:latin typeface="Arial"/>
                          <a:ea typeface="Arial"/>
                          <a:cs typeface="Arial"/>
                        </a:rPr>
                        <a:t>4,476 EGP</a:t>
                      </a:r>
                    </a:p>
                  </a:txBody>
                  <a:tcPr marL="85725" marR="85725" marT="19050" marB="19050">
                    <a:solidFill>
                      <a:srgbClr val="FCFCFD"/>
                    </a:solidFill>
                  </a:tcPr>
                </a:tc>
                <a:tc>
                  <a:txBody>
                    <a:bodyPr/>
                    <a:lstStyle/>
                    <a:p>
                      <a:r>
                        <a:rPr sz="1275" b="0">
                          <a:solidFill>
                            <a:srgbClr val="14171C"/>
                          </a:solidFill>
                          <a:latin typeface="Arial"/>
                          <a:ea typeface="Arial"/>
                          <a:cs typeface="Arial"/>
                        </a:rPr>
                        <a:t>6,758 EGP</a:t>
                      </a:r>
                    </a:p>
                  </a:txBody>
                  <a:tcPr marL="85725" marR="85725" marT="19050" marB="19050">
                    <a:solidFill>
                      <a:srgbClr val="FCFCFD"/>
                    </a:solidFill>
                  </a:tcPr>
                </a:tc>
              </a:tr>
              <a:tr h="323850">
                <a:tc>
                  <a:txBody>
                    <a:bodyPr/>
                    <a:lstStyle/>
                    <a:p>
                      <a:r>
                        <a:rPr sz="1275" b="0">
                          <a:solidFill>
                            <a:srgbClr val="14171C"/>
                          </a:solidFill>
                          <a:latin typeface="Arial"/>
                          <a:ea typeface="Arial"/>
                          <a:cs typeface="Arial"/>
                        </a:rPr>
                        <a:t>Simple payback = price / annual saving</a:t>
                      </a:r>
                    </a:p>
                  </a:txBody>
                  <a:tcPr marL="85725" marR="85725" marT="19050" marB="19050">
                    <a:solidFill>
                      <a:srgbClr val="F4F5F7"/>
                    </a:solidFill>
                  </a:tcPr>
                </a:tc>
                <a:tc>
                  <a:txBody>
                    <a:bodyPr/>
                    <a:lstStyle/>
                    <a:p>
                      <a:r>
                        <a:rPr sz="1275" b="0">
                          <a:solidFill>
                            <a:srgbClr val="14171C"/>
                          </a:solidFill>
                          <a:latin typeface="Arial"/>
                          <a:ea typeface="Arial"/>
                          <a:cs typeface="Arial"/>
                        </a:rPr>
                        <a:t>3.47 years</a:t>
                      </a:r>
                    </a:p>
                  </a:txBody>
                  <a:tcPr marL="85725" marR="85725" marT="19050" marB="19050">
                    <a:solidFill>
                      <a:srgbClr val="F4F5F7"/>
                    </a:solidFill>
                  </a:tcPr>
                </a:tc>
                <a:tc>
                  <a:txBody>
                    <a:bodyPr/>
                    <a:lstStyle/>
                    <a:p>
                      <a:r>
                        <a:rPr sz="1275" b="0">
                          <a:solidFill>
                            <a:srgbClr val="14171C"/>
                          </a:solidFill>
                          <a:latin typeface="Arial"/>
                          <a:ea typeface="Arial"/>
                          <a:cs typeface="Arial"/>
                        </a:rPr>
                        <a:t>7.34 years</a:t>
                      </a:r>
                    </a:p>
                  </a:txBody>
                  <a:tcPr marL="85725" marR="85725" marT="19050" marB="19050">
                    <a:solidFill>
                      <a:srgbClr val="F4F5F7"/>
                    </a:solidFill>
                  </a:tcPr>
                </a:tc>
                <a:tc>
                  <a:txBody>
                    <a:bodyPr/>
                    <a:lstStyle/>
                    <a:p>
                      <a:r>
                        <a:rPr sz="1275" b="0">
                          <a:solidFill>
                            <a:srgbClr val="14171C"/>
                          </a:solidFill>
                          <a:latin typeface="Arial"/>
                          <a:ea typeface="Arial"/>
                          <a:cs typeface="Arial"/>
                        </a:rPr>
                        <a:t>14.24 years</a:t>
                      </a:r>
                    </a:p>
                  </a:txBody>
                  <a:tcPr marL="85725" marR="85725" marT="19050" marB="19050">
                    <a:solidFill>
                      <a:srgbClr val="F4F5F7"/>
                    </a:solidFill>
                  </a:tcPr>
                </a:tc>
              </a:tr>
              <a:tr h="323850">
                <a:tc>
                  <a:txBody>
                    <a:bodyPr/>
                    <a:lstStyle/>
                    <a:p>
                      <a:r>
                        <a:rPr sz="1275" b="0">
                          <a:solidFill>
                            <a:srgbClr val="14171C"/>
                          </a:solidFill>
                          <a:latin typeface="Arial"/>
                          <a:ea typeface="Arial"/>
                          <a:cs typeface="Arial"/>
                        </a:rPr>
                        <a:t>10-year fee = price / 120</a:t>
                      </a:r>
                    </a:p>
                  </a:txBody>
                  <a:tcPr marL="85725" marR="85725" marT="19050" marB="19050">
                    <a:solidFill>
                      <a:srgbClr val="FCFCFD"/>
                    </a:solidFill>
                  </a:tcPr>
                </a:tc>
                <a:tc>
                  <a:txBody>
                    <a:bodyPr/>
                    <a:lstStyle/>
                    <a:p>
                      <a:r>
                        <a:rPr sz="1275" b="0">
                          <a:solidFill>
                            <a:srgbClr val="14171C"/>
                          </a:solidFill>
                          <a:latin typeface="Arial"/>
                          <a:ea typeface="Arial"/>
                          <a:cs typeface="Arial"/>
                        </a:rPr>
                        <a:t>1,173 EGP/month</a:t>
                      </a:r>
                    </a:p>
                  </a:txBody>
                  <a:tcPr marL="85725" marR="85725" marT="19050" marB="19050">
                    <a:solidFill>
                      <a:srgbClr val="FCFCFD"/>
                    </a:solidFill>
                  </a:tcPr>
                </a:tc>
                <a:tc>
                  <a:txBody>
                    <a:bodyPr/>
                    <a:lstStyle/>
                    <a:p>
                      <a:r>
                        <a:rPr sz="1275" b="0">
                          <a:solidFill>
                            <a:srgbClr val="14171C"/>
                          </a:solidFill>
                          <a:latin typeface="Arial"/>
                          <a:ea typeface="Arial"/>
                          <a:cs typeface="Arial"/>
                        </a:rPr>
                        <a:t>3,285 EGP/month</a:t>
                      </a:r>
                    </a:p>
                  </a:txBody>
                  <a:tcPr marL="85725" marR="85725" marT="19050" marB="19050">
                    <a:solidFill>
                      <a:srgbClr val="FCFCFD"/>
                    </a:solidFill>
                  </a:tcPr>
                </a:tc>
                <a:tc>
                  <a:txBody>
                    <a:bodyPr/>
                    <a:lstStyle/>
                    <a:p>
                      <a:r>
                        <a:rPr sz="1275" b="0">
                          <a:solidFill>
                            <a:srgbClr val="14171C"/>
                          </a:solidFill>
                          <a:latin typeface="Arial"/>
                          <a:ea typeface="Arial"/>
                          <a:cs typeface="Arial"/>
                        </a:rPr>
                        <a:t>9,621 EGP/month</a:t>
                      </a:r>
                    </a:p>
                  </a:txBody>
                  <a:tcPr marL="85725" marR="85725" marT="19050" marB="19050">
                    <a:solidFill>
                      <a:srgbClr val="FCFCFD"/>
                    </a:solidFill>
                  </a:tcPr>
                </a:tc>
              </a:tr>
              <a:tr h="323850">
                <a:tc>
                  <a:txBody>
                    <a:bodyPr/>
                    <a:lstStyle/>
                    <a:p>
                      <a:r>
                        <a:rPr sz="1275" b="0">
                          <a:solidFill>
                            <a:srgbClr val="14171C"/>
                          </a:solidFill>
                          <a:latin typeface="Arial"/>
                          <a:ea typeface="Arial"/>
                          <a:cs typeface="Arial"/>
                        </a:rPr>
                        <a:t>Avg. net/month = annual / 12 − 10-year fee</a:t>
                      </a:r>
                    </a:p>
                  </a:txBody>
                  <a:tcPr marL="85725" marR="85725" marT="19050" marB="19050">
                    <a:solidFill>
                      <a:srgbClr val="F4F5F7"/>
                    </a:solidFill>
                  </a:tcPr>
                </a:tc>
                <a:tc>
                  <a:txBody>
                    <a:bodyPr/>
                    <a:lstStyle/>
                    <a:p>
                      <a:r>
                        <a:rPr sz="1275" b="0">
                          <a:solidFill>
                            <a:srgbClr val="14171C"/>
                          </a:solidFill>
                          <a:latin typeface="Arial"/>
                          <a:ea typeface="Arial"/>
                          <a:cs typeface="Arial"/>
                        </a:rPr>
                        <a:t>2,205 EGP/month</a:t>
                      </a:r>
                    </a:p>
                  </a:txBody>
                  <a:tcPr marL="85725" marR="85725" marT="19050" marB="19050">
                    <a:solidFill>
                      <a:srgbClr val="F4F5F7"/>
                    </a:solidFill>
                  </a:tcPr>
                </a:tc>
                <a:tc>
                  <a:txBody>
                    <a:bodyPr/>
                    <a:lstStyle/>
                    <a:p>
                      <a:r>
                        <a:rPr sz="1275" b="0">
                          <a:solidFill>
                            <a:srgbClr val="14171C"/>
                          </a:solidFill>
                          <a:latin typeface="Arial"/>
                          <a:ea typeface="Arial"/>
                          <a:cs typeface="Arial"/>
                        </a:rPr>
                        <a:t>1,190 EGP/month</a:t>
                      </a:r>
                    </a:p>
                  </a:txBody>
                  <a:tcPr marL="85725" marR="85725" marT="19050" marB="19050">
                    <a:solidFill>
                      <a:srgbClr val="F4F5F7"/>
                    </a:solidFill>
                  </a:tcPr>
                </a:tc>
                <a:tc>
                  <a:txBody>
                    <a:bodyPr/>
                    <a:lstStyle/>
                    <a:p>
                      <a:r>
                        <a:rPr sz="1275" b="0">
                          <a:solidFill>
                            <a:srgbClr val="14171C"/>
                          </a:solidFill>
                          <a:latin typeface="Arial"/>
                          <a:ea typeface="Arial"/>
                          <a:cs typeface="Arial"/>
                        </a:rPr>
                        <a:t>-2,864 EGP/month</a:t>
                      </a:r>
                    </a:p>
                  </a:txBody>
                  <a:tcPr marL="85725" marR="85725" marT="19050" marB="19050">
                    <a:solidFill>
                      <a:srgbClr val="F4F5F7"/>
                    </a:solidFill>
                  </a:tcPr>
                </a:tc>
              </a:tr>
              <a:tr h="323850">
                <a:tc>
                  <a:txBody>
                    <a:bodyPr/>
                    <a:lstStyle/>
                    <a:p>
                      <a:r>
                        <a:rPr sz="1275" b="0">
                          <a:solidFill>
                            <a:srgbClr val="14171C"/>
                          </a:solidFill>
                          <a:latin typeface="Arial"/>
                          <a:ea typeface="Arial"/>
                          <a:cs typeface="Arial"/>
                        </a:rPr>
                        <a:t>Roof allowance = P × 6</a:t>
                      </a:r>
                    </a:p>
                  </a:txBody>
                  <a:tcPr marL="85725" marR="85725" marT="19050" marB="19050">
                    <a:solidFill>
                      <a:srgbClr val="FCFCFD"/>
                    </a:solidFill>
                  </a:tcPr>
                </a:tc>
                <a:tc>
                  <a:txBody>
                    <a:bodyPr/>
                    <a:lstStyle/>
                    <a:p>
                      <a:r>
                        <a:rPr sz="1275" b="0">
                          <a:solidFill>
                            <a:srgbClr val="14171C"/>
                          </a:solidFill>
                          <a:latin typeface="Arial"/>
                          <a:ea typeface="Arial"/>
                          <a:cs typeface="Arial"/>
                        </a:rPr>
                        <a:t>51 m²</a:t>
                      </a:r>
                    </a:p>
                  </a:txBody>
                  <a:tcPr marL="85725" marR="85725" marT="19050" marB="19050">
                    <a:solidFill>
                      <a:srgbClr val="FCFCFD"/>
                    </a:solidFill>
                  </a:tcPr>
                </a:tc>
                <a:tc>
                  <a:txBody>
                    <a:bodyPr/>
                    <a:lstStyle/>
                    <a:p>
                      <a:r>
                        <a:rPr sz="1275" b="0">
                          <a:solidFill>
                            <a:srgbClr val="14171C"/>
                          </a:solidFill>
                          <a:latin typeface="Arial"/>
                          <a:ea typeface="Arial"/>
                          <a:cs typeface="Arial"/>
                        </a:rPr>
                        <a:t>66 m²</a:t>
                      </a:r>
                    </a:p>
                  </a:txBody>
                  <a:tcPr marL="85725" marR="85725" marT="19050" marB="19050">
                    <a:solidFill>
                      <a:srgbClr val="FCFCFD"/>
                    </a:solidFill>
                  </a:tcPr>
                </a:tc>
                <a:tc>
                  <a:txBody>
                    <a:bodyPr/>
                    <a:lstStyle/>
                    <a:p>
                      <a:r>
                        <a:rPr sz="1275" b="0">
                          <a:solidFill>
                            <a:srgbClr val="14171C"/>
                          </a:solidFill>
                          <a:latin typeface="Arial"/>
                          <a:ea typeface="Arial"/>
                          <a:cs typeface="Arial"/>
                        </a:rPr>
                        <a:t>102 m²</a:t>
                      </a:r>
                    </a:p>
                  </a:txBody>
                  <a:tcPr marL="85725" marR="85725" marT="19050" marB="19050">
                    <a:solidFill>
                      <a:srgbClr val="FCFCFD"/>
                    </a:solidFill>
                  </a:tcPr>
                </a:tc>
              </a:tr>
            </a:tbl>
          </a:graphicData>
        </a:graphic>
      </p:graphicFrame>
      <p:sp>
        <p:nvSpPr>
          <p:cNvPr id="4" name="">
            <a:extLst xmlns:a="http://schemas.openxmlformats.org/drawingml/2006/main">
              <a:ext uri="{FF2B5EF4-FFF2-40B4-BE49-F238E27FC236}">
                <a16:creationId xmlns:a16="http://schemas.microsoft.com/office/drawing/2014/main" id="{90B1667B-2D63-47D8-A653-4F964B3BADDF}"/>
              </a:ext>
            </a:extLst>
          </p:cNvPr>
          <p:cNvSpPr>
            <a:spLocks xmlns:a="http://schemas.openxmlformats.org/drawingml/2006/main" noGrp="1"/>
          </p:cNvSpPr>
          <p:nvPr/>
        </p:nvSpPr>
        <p:spPr>
          <a:xfrm xmlns:a="http://schemas.openxmlformats.org/drawingml/2006/main">
            <a:off x="809625" y="6057900"/>
            <a:ext cx="10572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4A5260"/>
                </a:solidFill>
                <a:latin typeface="Arial"/>
                <a:ea typeface="Arial"/>
                <a:cs typeface="Arial"/>
              </a:defRPr>
            </a:pPr>
            <a:r>
              <a:rPr sz="1275" b="0">
                <a:solidFill>
                  <a:srgbClr val="4A5260"/>
                </a:solidFill>
                <a:latin typeface="Arial"/>
                <a:ea typeface="Arial"/>
                <a:cs typeface="Arial"/>
              </a:rPr>
              <a:t>All three use the same 50/50 demand split, prices and tariff. The 30-day example and annual averages have different bases.</a:t>
            </a:r>
          </a:p>
          <a:p xmlns:a="http://schemas.openxmlformats.org/drawingml/2006/main">
            <a:pPr>
              <a:defRPr sz="1275" b="0">
                <a:solidFill>
                  <a:srgbClr val="4A5260"/>
                </a:solidFill>
                <a:latin typeface="Arial"/>
                <a:ea typeface="Arial"/>
                <a:cs typeface="Arial"/>
              </a:defRPr>
            </a:pPr>
            <a:r>
              <a:rPr sz="1275" b="0">
                <a:solidFill>
                  <a:srgbClr val="4A5260"/>
                </a:solidFill>
                <a:latin typeface="Arial"/>
                <a:ea typeface="Arial"/>
                <a:cs typeface="Arial"/>
              </a:rPr>
              <a:t>Annual results assume constant daily demand and monthly PVGIS output. Larger storage does not guarantee zero winter imports.</a:t>
            </a:r>
          </a:p>
        </p:txBody>
      </p:sp>
    </p:spTree>
    <p:extLst>
      <p:ext uri="{BB962C8B-B14F-4D97-AF65-F5344CB8AC3E}">
        <p14:creationId xmlns:p14="http://schemas.microsoft.com/office/powerpoint/2010/main" val="2079687565"/>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2026-09-30T15:33:36.9460000Z</dcterms:created>
  <dcterms:modified xsi:type="dcterms:W3CDTF">2026-09-30T15:33:36.9460000Z</dcterms:modified>
</coreProperties>
</file>